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264" r:id="rId2"/>
    <p:sldId id="285" r:id="rId3"/>
    <p:sldId id="288" r:id="rId4"/>
    <p:sldId id="286" r:id="rId5"/>
    <p:sldId id="277" r:id="rId6"/>
    <p:sldId id="275" r:id="rId7"/>
    <p:sldId id="278" r:id="rId8"/>
    <p:sldId id="274" r:id="rId9"/>
    <p:sldId id="279" r:id="rId10"/>
    <p:sldId id="265" r:id="rId11"/>
    <p:sldId id="284" r:id="rId12"/>
    <p:sldId id="269" r:id="rId13"/>
    <p:sldId id="289" r:id="rId14"/>
    <p:sldId id="283" r:id="rId15"/>
    <p:sldId id="280" r:id="rId16"/>
    <p:sldId id="282" r:id="rId17"/>
    <p:sldId id="270" r:id="rId18"/>
    <p:sldId id="260" r:id="rId19"/>
    <p:sldId id="267" r:id="rId20"/>
    <p:sldId id="271" r:id="rId21"/>
    <p:sldId id="281" r:id="rId22"/>
    <p:sldId id="266" r:id="rId23"/>
    <p:sldId id="272" r:id="rId24"/>
    <p:sldId id="273" r:id="rId25"/>
    <p:sldId id="261" r:id="rId26"/>
    <p:sldId id="262" r:id="rId27"/>
  </p:sldIdLst>
  <p:sldSz cx="12192000" cy="6858000"/>
  <p:notesSz cx="6858000" cy="9144000"/>
  <p:defaultTextStyle>
    <a:defPPr>
      <a:defRPr lang="ja-JP"/>
    </a:defPPr>
    <a:lvl1pPr marL="0" algn="l" defTabSz="914314" rtl="0" eaLnBrk="1" latinLnBrk="0" hangingPunct="1">
      <a:defRPr kumimoji="1" sz="1800" kern="1200">
        <a:solidFill>
          <a:schemeClr val="tx1"/>
        </a:solidFill>
        <a:latin typeface="+mn-lt"/>
        <a:ea typeface="+mn-ea"/>
        <a:cs typeface="+mn-cs"/>
      </a:defRPr>
    </a:lvl1pPr>
    <a:lvl2pPr marL="457156" algn="l" defTabSz="914314" rtl="0" eaLnBrk="1" latinLnBrk="0" hangingPunct="1">
      <a:defRPr kumimoji="1" sz="1800" kern="1200">
        <a:solidFill>
          <a:schemeClr val="tx1"/>
        </a:solidFill>
        <a:latin typeface="+mn-lt"/>
        <a:ea typeface="+mn-ea"/>
        <a:cs typeface="+mn-cs"/>
      </a:defRPr>
    </a:lvl2pPr>
    <a:lvl3pPr marL="914314" algn="l" defTabSz="914314" rtl="0" eaLnBrk="1" latinLnBrk="0" hangingPunct="1">
      <a:defRPr kumimoji="1" sz="1800" kern="1200">
        <a:solidFill>
          <a:schemeClr val="tx1"/>
        </a:solidFill>
        <a:latin typeface="+mn-lt"/>
        <a:ea typeface="+mn-ea"/>
        <a:cs typeface="+mn-cs"/>
      </a:defRPr>
    </a:lvl3pPr>
    <a:lvl4pPr marL="1371471" algn="l" defTabSz="914314" rtl="0" eaLnBrk="1" latinLnBrk="0" hangingPunct="1">
      <a:defRPr kumimoji="1" sz="1800" kern="1200">
        <a:solidFill>
          <a:schemeClr val="tx1"/>
        </a:solidFill>
        <a:latin typeface="+mn-lt"/>
        <a:ea typeface="+mn-ea"/>
        <a:cs typeface="+mn-cs"/>
      </a:defRPr>
    </a:lvl4pPr>
    <a:lvl5pPr marL="1828628" algn="l" defTabSz="914314" rtl="0" eaLnBrk="1" latinLnBrk="0" hangingPunct="1">
      <a:defRPr kumimoji="1" sz="1800" kern="1200">
        <a:solidFill>
          <a:schemeClr val="tx1"/>
        </a:solidFill>
        <a:latin typeface="+mn-lt"/>
        <a:ea typeface="+mn-ea"/>
        <a:cs typeface="+mn-cs"/>
      </a:defRPr>
    </a:lvl5pPr>
    <a:lvl6pPr marL="2285784" algn="l" defTabSz="914314" rtl="0" eaLnBrk="1" latinLnBrk="0" hangingPunct="1">
      <a:defRPr kumimoji="1" sz="1800" kern="1200">
        <a:solidFill>
          <a:schemeClr val="tx1"/>
        </a:solidFill>
        <a:latin typeface="+mn-lt"/>
        <a:ea typeface="+mn-ea"/>
        <a:cs typeface="+mn-cs"/>
      </a:defRPr>
    </a:lvl6pPr>
    <a:lvl7pPr marL="2742940" algn="l" defTabSz="914314" rtl="0" eaLnBrk="1" latinLnBrk="0" hangingPunct="1">
      <a:defRPr kumimoji="1" sz="1800" kern="1200">
        <a:solidFill>
          <a:schemeClr val="tx1"/>
        </a:solidFill>
        <a:latin typeface="+mn-lt"/>
        <a:ea typeface="+mn-ea"/>
        <a:cs typeface="+mn-cs"/>
      </a:defRPr>
    </a:lvl7pPr>
    <a:lvl8pPr marL="3200098" algn="l" defTabSz="914314" rtl="0" eaLnBrk="1" latinLnBrk="0" hangingPunct="1">
      <a:defRPr kumimoji="1" sz="1800" kern="1200">
        <a:solidFill>
          <a:schemeClr val="tx1"/>
        </a:solidFill>
        <a:latin typeface="+mn-lt"/>
        <a:ea typeface="+mn-ea"/>
        <a:cs typeface="+mn-cs"/>
      </a:defRPr>
    </a:lvl8pPr>
    <a:lvl9pPr marL="3657255" algn="l" defTabSz="914314"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会議" id="{9D711B67-0D57-4F9E-8FC9-206C15F260C3}">
          <p14:sldIdLst>
            <p14:sldId id="264"/>
          </p14:sldIdLst>
        </p14:section>
        <p14:section name="背景目的" id="{F60AF086-5290-4E41-84F5-2E0BA461CAE5}">
          <p14:sldIdLst>
            <p14:sldId id="285"/>
            <p14:sldId id="288"/>
            <p14:sldId id="286"/>
          </p14:sldIdLst>
        </p14:section>
        <p14:section name="プロマネ" id="{6E71A3EB-4200-4336-A989-CDA3016418AD}">
          <p14:sldIdLst>
            <p14:sldId id="277"/>
            <p14:sldId id="275"/>
            <p14:sldId id="278"/>
            <p14:sldId id="274"/>
            <p14:sldId id="279"/>
          </p14:sldIdLst>
        </p14:section>
        <p14:section name="手順" id="{13BB5632-FC77-47DF-8C10-CB343E8762A1}">
          <p14:sldIdLst>
            <p14:sldId id="265"/>
            <p14:sldId id="284"/>
            <p14:sldId id="269"/>
          </p14:sldIdLst>
        </p14:section>
        <p14:section name="分析" id="{B1A46112-D2C6-4AA6-95C3-3DBA077C72E6}">
          <p14:sldIdLst>
            <p14:sldId id="289"/>
            <p14:sldId id="283"/>
            <p14:sldId id="280"/>
            <p14:sldId id="282"/>
          </p14:sldIdLst>
        </p14:section>
        <p14:section name="マトリックス" id="{60D77E99-81CD-4205-A1C7-6E159318B397}">
          <p14:sldIdLst>
            <p14:sldId id="270"/>
            <p14:sldId id="260"/>
            <p14:sldId id="267"/>
          </p14:sldIdLst>
        </p14:section>
        <p14:section name="集計" id="{F214EA92-5DD8-4166-9F46-08DA843CD24F}">
          <p14:sldIdLst>
            <p14:sldId id="271"/>
            <p14:sldId id="281"/>
            <p14:sldId id="266"/>
            <p14:sldId id="272"/>
            <p14:sldId id="273"/>
          </p14:sldIdLst>
        </p14:section>
        <p14:section name="その他" id="{2C4915F8-C112-427C-A8D9-F7B6F161DDF7}">
          <p14:sldIdLst>
            <p14:sldId id="261"/>
            <p14:sldId id="262"/>
          </p14:sldIdLst>
        </p14:section>
      </p14:sectionLst>
    </p:ext>
    <p:ext uri="{EFAFB233-063F-42B5-8137-9DF3F51BA10A}">
      <p15:sldGuideLst xmlns:p15="http://schemas.microsoft.com/office/powerpoint/2012/main">
        <p15:guide id="2" pos="3840" userDrawn="1">
          <p15:clr>
            <a:srgbClr val="A4A3A4"/>
          </p15:clr>
        </p15:guide>
        <p15:guide id="3" orient="horz" userDrawn="1">
          <p15:clr>
            <a:srgbClr val="A4A3A4"/>
          </p15:clr>
        </p15:guide>
        <p15:guide id="4" orient="horz" pos="2387" userDrawn="1">
          <p15:clr>
            <a:srgbClr val="A4A3A4"/>
          </p15:clr>
        </p15:guide>
        <p15:guide id="5" orient="horz" pos="2614" userDrawn="1">
          <p15:clr>
            <a:srgbClr val="A4A3A4"/>
          </p15:clr>
        </p15:guide>
        <p15:guide id="6" orient="horz" pos="40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1BB"/>
    <a:srgbClr val="99B7CB"/>
    <a:srgbClr val="C1E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8" autoAdjust="0"/>
    <p:restoredTop sz="96234" autoAdjust="0"/>
  </p:normalViewPr>
  <p:slideViewPr>
    <p:cSldViewPr snapToGrid="0" showGuides="1">
      <p:cViewPr varScale="1">
        <p:scale>
          <a:sx n="92" d="100"/>
          <a:sy n="92" d="100"/>
        </p:scale>
        <p:origin x="86" y="370"/>
      </p:cViewPr>
      <p:guideLst>
        <p:guide pos="3840"/>
        <p:guide orient="horz"/>
        <p:guide orient="horz" pos="2387"/>
        <p:guide orient="horz" pos="2614"/>
        <p:guide orient="horz" pos="4088"/>
      </p:guideLst>
    </p:cSldViewPr>
  </p:slideViewPr>
  <p:outlineViewPr>
    <p:cViewPr>
      <p:scale>
        <a:sx n="33" d="100"/>
        <a:sy n="33" d="100"/>
      </p:scale>
      <p:origin x="0" y="-4128"/>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0" d="100"/>
          <a:sy n="80" d="100"/>
        </p:scale>
        <p:origin x="2755"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zu ENDO" userId="394a0fe494bc10a7" providerId="LiveId" clId="{9B94F21E-C83F-4FE9-9F96-8B842C8D39FE}"/>
    <pc:docChg chg="undo redo custSel addSld delSld addSection delSection modSection">
      <pc:chgData name="Kazu ENDO" userId="394a0fe494bc10a7" providerId="LiveId" clId="{9B94F21E-C83F-4FE9-9F96-8B842C8D39FE}" dt="2025-10-19T06:19:02.972" v="15" actId="17851"/>
      <pc:docMkLst>
        <pc:docMk/>
      </pc:docMkLst>
      <pc:sldChg chg="del">
        <pc:chgData name="Kazu ENDO" userId="394a0fe494bc10a7" providerId="LiveId" clId="{9B94F21E-C83F-4FE9-9F96-8B842C8D39FE}" dt="2025-10-19T06:16:07.212" v="0" actId="47"/>
        <pc:sldMkLst>
          <pc:docMk/>
          <pc:sldMk cId="2193713691" sldId="256"/>
        </pc:sldMkLst>
      </pc:sldChg>
      <pc:sldChg chg="del">
        <pc:chgData name="Kazu ENDO" userId="394a0fe494bc10a7" providerId="LiveId" clId="{9B94F21E-C83F-4FE9-9F96-8B842C8D39FE}" dt="2025-10-19T06:16:07.880" v="1" actId="47"/>
        <pc:sldMkLst>
          <pc:docMk/>
          <pc:sldMk cId="2807574988" sldId="257"/>
        </pc:sldMkLst>
      </pc:sldChg>
      <pc:sldChg chg="del">
        <pc:chgData name="Kazu ENDO" userId="394a0fe494bc10a7" providerId="LiveId" clId="{9B94F21E-C83F-4FE9-9F96-8B842C8D39FE}" dt="2025-10-19T06:16:08.532" v="2" actId="47"/>
        <pc:sldMkLst>
          <pc:docMk/>
          <pc:sldMk cId="1863025141" sldId="258"/>
        </pc:sldMkLst>
      </pc:sldChg>
      <pc:sldChg chg="del">
        <pc:chgData name="Kazu ENDO" userId="394a0fe494bc10a7" providerId="LiveId" clId="{9B94F21E-C83F-4FE9-9F96-8B842C8D39FE}" dt="2025-10-19T06:16:09.120" v="3" actId="47"/>
        <pc:sldMkLst>
          <pc:docMk/>
          <pc:sldMk cId="79370908" sldId="259"/>
        </pc:sldMkLst>
      </pc:sldChg>
      <pc:sldChg chg="add del">
        <pc:chgData name="Kazu ENDO" userId="394a0fe494bc10a7" providerId="LiveId" clId="{9B94F21E-C83F-4FE9-9F96-8B842C8D39FE}" dt="2025-10-19T06:18:58.804" v="11" actId="47"/>
        <pc:sldMkLst>
          <pc:docMk/>
          <pc:sldMk cId="2578342070" sldId="264"/>
        </pc:sldMkLst>
      </pc:sldChg>
      <pc:sldChg chg="add del">
        <pc:chgData name="Kazu ENDO" userId="394a0fe494bc10a7" providerId="LiveId" clId="{9B94F21E-C83F-4FE9-9F96-8B842C8D39FE}" dt="2025-10-19T06:19:02.181" v="14" actId="47"/>
        <pc:sldMkLst>
          <pc:docMk/>
          <pc:sldMk cId="2067358580" sldId="287"/>
        </pc:sldMkLst>
      </pc:sldChg>
      <pc:sldChg chg="new del">
        <pc:chgData name="Kazu ENDO" userId="394a0fe494bc10a7" providerId="LiveId" clId="{9B94F21E-C83F-4FE9-9F96-8B842C8D39FE}" dt="2025-10-19T06:18:58.128" v="10" actId="680"/>
        <pc:sldMkLst>
          <pc:docMk/>
          <pc:sldMk cId="1973718985" sldId="290"/>
        </pc:sldMkLst>
      </pc:sldChg>
      <pc:sldChg chg="new del">
        <pc:chgData name="Kazu ENDO" userId="394a0fe494bc10a7" providerId="LiveId" clId="{9B94F21E-C83F-4FE9-9F96-8B842C8D39FE}" dt="2025-10-19T06:18:57.463" v="9" actId="680"/>
        <pc:sldMkLst>
          <pc:docMk/>
          <pc:sldMk cId="52695377" sldId="2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2820198-B303-F5B4-B84D-123BB9423CE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6B78AE9-8FF1-A19A-68CF-15F1E68B2F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6111EFB-F628-40F9-BEA8-8B741629A066}" type="datetimeFigureOut">
              <a:rPr kumimoji="1" lang="ja-JP" altLang="en-US" smtClean="0"/>
              <a:t>2025/10/19</a:t>
            </a:fld>
            <a:endParaRPr kumimoji="1" lang="ja-JP" altLang="en-US"/>
          </a:p>
        </p:txBody>
      </p:sp>
      <p:sp>
        <p:nvSpPr>
          <p:cNvPr id="4" name="フッター プレースホルダー 3">
            <a:extLst>
              <a:ext uri="{FF2B5EF4-FFF2-40B4-BE49-F238E27FC236}">
                <a16:creationId xmlns:a16="http://schemas.microsoft.com/office/drawing/2014/main" id="{C1F05596-5F0A-30AE-7814-80452262F1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B7ED2970-600E-B043-9C6E-26122FB918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FB8C93B-B4CB-432E-9311-FACF9FA5C83D}" type="slidenum">
              <a:rPr kumimoji="1" lang="ja-JP" altLang="en-US" smtClean="0"/>
              <a:t>‹#›</a:t>
            </a:fld>
            <a:endParaRPr kumimoji="1" lang="ja-JP" altLang="en-US"/>
          </a:p>
        </p:txBody>
      </p:sp>
    </p:spTree>
    <p:extLst>
      <p:ext uri="{BB962C8B-B14F-4D97-AF65-F5344CB8AC3E}">
        <p14:creationId xmlns:p14="http://schemas.microsoft.com/office/powerpoint/2010/main" val="220869962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1714D2-F2A7-4A29-BCB6-C0D2D9AA6AE5}" type="datetimeFigureOut">
              <a:rPr kumimoji="1" lang="ja-JP" altLang="en-US" smtClean="0"/>
              <a:t>2025/10/19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1D408-0708-441E-AE9B-ADAF392E03F9}" type="slidenum">
              <a:rPr kumimoji="1" lang="ja-JP" altLang="en-US" smtClean="0"/>
              <a:t>‹#›</a:t>
            </a:fld>
            <a:endParaRPr kumimoji="1" lang="ja-JP" altLang="en-US"/>
          </a:p>
        </p:txBody>
      </p:sp>
    </p:spTree>
    <p:extLst>
      <p:ext uri="{BB962C8B-B14F-4D97-AF65-F5344CB8AC3E}">
        <p14:creationId xmlns:p14="http://schemas.microsoft.com/office/powerpoint/2010/main" val="4117348487"/>
      </p:ext>
    </p:extLst>
  </p:cSld>
  <p:clrMap bg1="lt1" tx1="dk1" bg2="lt2" tx2="dk2" accent1="accent1" accent2="accent2" accent3="accent3" accent4="accent4" accent5="accent5" accent6="accent6" hlink="hlink" folHlink="folHlink"/>
  <p:notesStyle>
    <a:lvl1pPr marL="0" algn="l" defTabSz="914314" rtl="0" eaLnBrk="1" latinLnBrk="0" hangingPunct="1">
      <a:defRPr kumimoji="1" sz="1200" kern="1200">
        <a:solidFill>
          <a:schemeClr val="tx1"/>
        </a:solidFill>
        <a:latin typeface="+mn-lt"/>
        <a:ea typeface="+mn-ea"/>
        <a:cs typeface="+mn-cs"/>
      </a:defRPr>
    </a:lvl1pPr>
    <a:lvl2pPr marL="457156" algn="l" defTabSz="914314" rtl="0" eaLnBrk="1" latinLnBrk="0" hangingPunct="1">
      <a:defRPr kumimoji="1" sz="1200" kern="1200">
        <a:solidFill>
          <a:schemeClr val="tx1"/>
        </a:solidFill>
        <a:latin typeface="+mn-lt"/>
        <a:ea typeface="+mn-ea"/>
        <a:cs typeface="+mn-cs"/>
      </a:defRPr>
    </a:lvl2pPr>
    <a:lvl3pPr marL="914314" algn="l" defTabSz="914314" rtl="0" eaLnBrk="1" latinLnBrk="0" hangingPunct="1">
      <a:defRPr kumimoji="1" sz="1200" kern="1200">
        <a:solidFill>
          <a:schemeClr val="tx1"/>
        </a:solidFill>
        <a:latin typeface="+mn-lt"/>
        <a:ea typeface="+mn-ea"/>
        <a:cs typeface="+mn-cs"/>
      </a:defRPr>
    </a:lvl3pPr>
    <a:lvl4pPr marL="1371471" algn="l" defTabSz="914314" rtl="0" eaLnBrk="1" latinLnBrk="0" hangingPunct="1">
      <a:defRPr kumimoji="1" sz="1200" kern="1200">
        <a:solidFill>
          <a:schemeClr val="tx1"/>
        </a:solidFill>
        <a:latin typeface="+mn-lt"/>
        <a:ea typeface="+mn-ea"/>
        <a:cs typeface="+mn-cs"/>
      </a:defRPr>
    </a:lvl4pPr>
    <a:lvl5pPr marL="1828628" algn="l" defTabSz="914314" rtl="0" eaLnBrk="1" latinLnBrk="0" hangingPunct="1">
      <a:defRPr kumimoji="1" sz="1200" kern="1200">
        <a:solidFill>
          <a:schemeClr val="tx1"/>
        </a:solidFill>
        <a:latin typeface="+mn-lt"/>
        <a:ea typeface="+mn-ea"/>
        <a:cs typeface="+mn-cs"/>
      </a:defRPr>
    </a:lvl5pPr>
    <a:lvl6pPr marL="2285784" algn="l" defTabSz="914314" rtl="0" eaLnBrk="1" latinLnBrk="0" hangingPunct="1">
      <a:defRPr kumimoji="1" sz="1200" kern="1200">
        <a:solidFill>
          <a:schemeClr val="tx1"/>
        </a:solidFill>
        <a:latin typeface="+mn-lt"/>
        <a:ea typeface="+mn-ea"/>
        <a:cs typeface="+mn-cs"/>
      </a:defRPr>
    </a:lvl6pPr>
    <a:lvl7pPr marL="2742940" algn="l" defTabSz="914314" rtl="0" eaLnBrk="1" latinLnBrk="0" hangingPunct="1">
      <a:defRPr kumimoji="1" sz="1200" kern="1200">
        <a:solidFill>
          <a:schemeClr val="tx1"/>
        </a:solidFill>
        <a:latin typeface="+mn-lt"/>
        <a:ea typeface="+mn-ea"/>
        <a:cs typeface="+mn-cs"/>
      </a:defRPr>
    </a:lvl7pPr>
    <a:lvl8pPr marL="3200098" algn="l" defTabSz="914314" rtl="0" eaLnBrk="1" latinLnBrk="0" hangingPunct="1">
      <a:defRPr kumimoji="1" sz="1200" kern="1200">
        <a:solidFill>
          <a:schemeClr val="tx1"/>
        </a:solidFill>
        <a:latin typeface="+mn-lt"/>
        <a:ea typeface="+mn-ea"/>
        <a:cs typeface="+mn-cs"/>
      </a:defRPr>
    </a:lvl8pPr>
    <a:lvl9pPr marL="3657255" algn="l" defTabSz="914314" rtl="0" eaLnBrk="1" latinLnBrk="0" hangingPunct="1">
      <a:defRPr kumimoji="1"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685800" y="1143000"/>
            <a:ext cx="5486400" cy="3086100"/>
          </a:xfrm>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AD1D408-0708-441E-AE9B-ADAF392E03F9}" type="slidenum">
              <a:rPr kumimoji="1" lang="ja-JP" altLang="en-US" smtClean="0"/>
              <a:t>26</a:t>
            </a:fld>
            <a:endParaRPr kumimoji="1" lang="ja-JP" altLang="en-US"/>
          </a:p>
        </p:txBody>
      </p:sp>
    </p:spTree>
    <p:extLst>
      <p:ext uri="{BB962C8B-B14F-4D97-AF65-F5344CB8AC3E}">
        <p14:creationId xmlns:p14="http://schemas.microsoft.com/office/powerpoint/2010/main" val="38803775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0_タイトル">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89BD15-688A-D1E3-C6F5-DF5677C05AD5}"/>
              </a:ext>
            </a:extLst>
          </p:cNvPr>
          <p:cNvSpPr>
            <a:spLocks noGrp="1"/>
          </p:cNvSpPr>
          <p:nvPr>
            <p:ph type="ctrTitle" hasCustomPrompt="1"/>
          </p:nvPr>
        </p:nvSpPr>
        <p:spPr>
          <a:xfrm>
            <a:off x="1524000" y="1122363"/>
            <a:ext cx="9144000" cy="2387600"/>
          </a:xfrm>
        </p:spPr>
        <p:txBody>
          <a:bodyPr anchor="b">
            <a:normAutofit/>
          </a:bodyPr>
          <a:lstStyle>
            <a:lvl1pPr algn="ctr">
              <a:defRPr sz="3200" u="sng">
                <a:solidFill>
                  <a:schemeClr val="tx1"/>
                </a:solidFill>
                <a:latin typeface="BIZ UDPゴシック" panose="020B0400000000000000" pitchFamily="50" charset="-128"/>
                <a:ea typeface="BIZ UDPゴシック" panose="020B0400000000000000" pitchFamily="50" charset="-128"/>
              </a:defRPr>
            </a:lvl1pPr>
          </a:lstStyle>
          <a:p>
            <a:r>
              <a:rPr kumimoji="1" lang="ja-JP" altLang="en-US" dirty="0"/>
              <a:t>タイトル</a:t>
            </a:r>
          </a:p>
        </p:txBody>
      </p:sp>
      <p:sp>
        <p:nvSpPr>
          <p:cNvPr id="3" name="字幕 2">
            <a:extLst>
              <a:ext uri="{FF2B5EF4-FFF2-40B4-BE49-F238E27FC236}">
                <a16:creationId xmlns:a16="http://schemas.microsoft.com/office/drawing/2014/main" id="{D0BEFF7B-3EA3-EF87-F707-143A26841542}"/>
              </a:ext>
            </a:extLst>
          </p:cNvPr>
          <p:cNvSpPr>
            <a:spLocks noGrp="1"/>
          </p:cNvSpPr>
          <p:nvPr>
            <p:ph type="subTitle" idx="1" hasCustomPrompt="1"/>
          </p:nvPr>
        </p:nvSpPr>
        <p:spPr>
          <a:xfrm>
            <a:off x="1524000" y="3602039"/>
            <a:ext cx="9144000" cy="1655762"/>
          </a:xfrm>
        </p:spPr>
        <p:txBody>
          <a:bodyPr anchor="b" anchorCtr="0">
            <a:normAutofit/>
          </a:bodyPr>
          <a:lstStyle>
            <a:lvl1pPr marL="0" indent="0" algn="r">
              <a:buNone/>
              <a:defRPr sz="3200">
                <a:solidFill>
                  <a:schemeClr val="tx1"/>
                </a:solidFill>
                <a:latin typeface="BIZ UDPゴシック" panose="020B0400000000000000" pitchFamily="50" charset="-128"/>
                <a:ea typeface="BIZ UDPゴシック" panose="020B0400000000000000" pitchFamily="50" charset="-128"/>
              </a:defRPr>
            </a:lvl1pPr>
            <a:lvl2pPr marL="457186" indent="0" algn="ctr">
              <a:buNone/>
              <a:defRPr sz="2000"/>
            </a:lvl2pPr>
            <a:lvl3pPr marL="914373" indent="0" algn="ctr">
              <a:buNone/>
              <a:defRPr sz="1800"/>
            </a:lvl3pPr>
            <a:lvl4pPr marL="1371559" indent="0" algn="ctr">
              <a:buNone/>
              <a:defRPr sz="1600"/>
            </a:lvl4pPr>
            <a:lvl5pPr marL="1828745" indent="0" algn="ctr">
              <a:buNone/>
              <a:defRPr sz="1600"/>
            </a:lvl5pPr>
            <a:lvl6pPr marL="2285931" indent="0" algn="ctr">
              <a:buNone/>
              <a:defRPr sz="1600"/>
            </a:lvl6pPr>
            <a:lvl7pPr marL="2743118" indent="0" algn="ctr">
              <a:buNone/>
              <a:defRPr sz="1600"/>
            </a:lvl7pPr>
            <a:lvl8pPr marL="3200304" indent="0" algn="ctr">
              <a:buNone/>
              <a:defRPr sz="1600"/>
            </a:lvl8pPr>
            <a:lvl9pPr marL="3657490" indent="0" algn="ctr">
              <a:buNone/>
              <a:defRPr sz="1600"/>
            </a:lvl9pPr>
          </a:lstStyle>
          <a:p>
            <a:r>
              <a:rPr kumimoji="1" lang="ja-JP" altLang="en-US" dirty="0"/>
              <a:t>年月日</a:t>
            </a:r>
            <a:endParaRPr kumimoji="1" lang="en-US" altLang="ja-JP" dirty="0"/>
          </a:p>
          <a:p>
            <a:r>
              <a:rPr kumimoji="1" lang="ja-JP" altLang="en-US" dirty="0"/>
              <a:t>名前</a:t>
            </a:r>
          </a:p>
        </p:txBody>
      </p:sp>
      <p:sp>
        <p:nvSpPr>
          <p:cNvPr id="10" name="スライド番号プレースホルダー 5">
            <a:extLst>
              <a:ext uri="{FF2B5EF4-FFF2-40B4-BE49-F238E27FC236}">
                <a16:creationId xmlns:a16="http://schemas.microsoft.com/office/drawing/2014/main" id="{A20D74D0-E90E-8B4B-6AB8-6608A40BB427}"/>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sp>
        <p:nvSpPr>
          <p:cNvPr id="11" name="フッター プレースホルダー 4">
            <a:extLst>
              <a:ext uri="{FF2B5EF4-FFF2-40B4-BE49-F238E27FC236}">
                <a16:creationId xmlns:a16="http://schemas.microsoft.com/office/drawing/2014/main" id="{14E47EF6-31B8-070F-DD52-CE4E501329EA}"/>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9149468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概要・目次・結論">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2B98A-5E0B-335E-C425-E48A1C614D18}"/>
              </a:ext>
            </a:extLst>
          </p:cNvPr>
          <p:cNvSpPr>
            <a:spLocks noGrp="1"/>
          </p:cNvSpPr>
          <p:nvPr>
            <p:ph type="title" hasCustomPrompt="1"/>
          </p:nvPr>
        </p:nvSpPr>
        <p:spPr>
          <a:xfrm>
            <a:off x="0" y="2"/>
            <a:ext cx="12192000" cy="906087"/>
          </a:xfrm>
        </p:spPr>
        <p:txBody>
          <a:bodyPr anchor="b" anchorCtr="0">
            <a:normAutofit/>
          </a:bodyPr>
          <a:lstStyle>
            <a:lvl1pPr algn="l">
              <a:defRPr sz="2400">
                <a:solidFill>
                  <a:schemeClr val="tx1">
                    <a:lumMod val="75000"/>
                    <a:lumOff val="25000"/>
                  </a:schemeClr>
                </a:solidFill>
              </a:defRPr>
            </a:lvl1pPr>
          </a:lstStyle>
          <a:p>
            <a:r>
              <a:rPr kumimoji="1" lang="ja-JP" altLang="en-US" dirty="0"/>
              <a:t>概要</a:t>
            </a:r>
            <a:r>
              <a:rPr kumimoji="1" lang="en-US" altLang="ja-JP" dirty="0"/>
              <a:t>/</a:t>
            </a:r>
            <a:r>
              <a:rPr kumimoji="1" lang="ja-JP" altLang="en-US" dirty="0"/>
              <a:t>目次</a:t>
            </a:r>
            <a:r>
              <a:rPr kumimoji="1" lang="en-US" altLang="ja-JP" dirty="0"/>
              <a:t>/</a:t>
            </a:r>
            <a:r>
              <a:rPr kumimoji="1" lang="ja-JP" altLang="en-US" dirty="0"/>
              <a:t>結論</a:t>
            </a:r>
          </a:p>
        </p:txBody>
      </p:sp>
      <p:sp>
        <p:nvSpPr>
          <p:cNvPr id="5" name="フッター プレースホルダー 4">
            <a:extLst>
              <a:ext uri="{FF2B5EF4-FFF2-40B4-BE49-F238E27FC236}">
                <a16:creationId xmlns:a16="http://schemas.microsoft.com/office/drawing/2014/main" id="{073838D6-28D4-8AAD-8E5F-2F93892364C7}"/>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出所：</a:t>
            </a:r>
            <a:endParaRPr lang="ja-JP" altLang="en-US" dirty="0"/>
          </a:p>
        </p:txBody>
      </p:sp>
      <p:sp>
        <p:nvSpPr>
          <p:cNvPr id="6" name="スライド番号プレースホルダー 5">
            <a:extLst>
              <a:ext uri="{FF2B5EF4-FFF2-40B4-BE49-F238E27FC236}">
                <a16:creationId xmlns:a16="http://schemas.microsoft.com/office/drawing/2014/main" id="{600AD3A3-493E-1DC5-C673-6B04C0730253}"/>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4C9262B6-C232-FF1E-F30F-62C446446085}"/>
              </a:ext>
            </a:extLst>
          </p:cNvPr>
          <p:cNvCxnSpPr>
            <a:cxnSpLocks/>
          </p:cNvCxnSpPr>
          <p:nvPr userDrawn="1"/>
        </p:nvCxnSpPr>
        <p:spPr>
          <a:xfrm>
            <a:off x="0" y="906087"/>
            <a:ext cx="12192000"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テキスト プレースホルダー 6">
            <a:extLst>
              <a:ext uri="{FF2B5EF4-FFF2-40B4-BE49-F238E27FC236}">
                <a16:creationId xmlns:a16="http://schemas.microsoft.com/office/drawing/2014/main" id="{B9EA27F1-4F68-84A1-8405-DC968498641C}"/>
              </a:ext>
            </a:extLst>
          </p:cNvPr>
          <p:cNvSpPr>
            <a:spLocks noGrp="1"/>
          </p:cNvSpPr>
          <p:nvPr>
            <p:ph type="body" sz="quarter" idx="13" hasCustomPrompt="1"/>
          </p:nvPr>
        </p:nvSpPr>
        <p:spPr>
          <a:xfrm>
            <a:off x="407992" y="1628780"/>
            <a:ext cx="11376024" cy="4871772"/>
          </a:xfrm>
        </p:spPr>
        <p:txBody>
          <a:bodyPr>
            <a:normAutofit/>
          </a:bodyPr>
          <a:lstStyle>
            <a:lvl1pPr marL="285742" indent="-285742">
              <a:lnSpc>
                <a:spcPct val="150000"/>
              </a:lnSpc>
              <a:buFont typeface="Arial" panose="020B0604020202020204" pitchFamily="34" charset="0"/>
              <a:buChar char="•"/>
              <a:defRPr sz="1800">
                <a:solidFill>
                  <a:schemeClr val="tx1"/>
                </a:solidFill>
                <a:latin typeface="BIZ UDPゴシック" panose="020B0400000000000000" pitchFamily="50" charset="-128"/>
                <a:ea typeface="BIZ UDPゴシック" panose="020B0400000000000000" pitchFamily="50" charset="-128"/>
              </a:defRPr>
            </a:lvl1pPr>
          </a:lstStyle>
          <a:p>
            <a:pPr lvl="0"/>
            <a:r>
              <a:rPr kumimoji="1" lang="ja-JP" altLang="en-US" dirty="0"/>
              <a:t>論点</a:t>
            </a:r>
            <a:r>
              <a:rPr kumimoji="1" lang="en-US" altLang="ja-JP" dirty="0"/>
              <a:t>1</a:t>
            </a:r>
          </a:p>
        </p:txBody>
      </p:sp>
    </p:spTree>
    <p:extLst>
      <p:ext uri="{BB962C8B-B14F-4D97-AF65-F5344CB8AC3E}">
        <p14:creationId xmlns:p14="http://schemas.microsoft.com/office/powerpoint/2010/main" val="2616122183"/>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1026" userDrawn="1">
          <p15:clr>
            <a:srgbClr val="FBAE40"/>
          </p15:clr>
        </p15:guide>
        <p15:guide id="4" orient="horz" pos="3974" userDrawn="1">
          <p15:clr>
            <a:srgbClr val="FBAE40"/>
          </p15:clr>
        </p15:guide>
        <p15:guide id="5" pos="257" userDrawn="1">
          <p15:clr>
            <a:srgbClr val="FBAE40"/>
          </p15:clr>
        </p15:guide>
        <p15:guide id="6" pos="7423" userDrawn="1">
          <p15:clr>
            <a:srgbClr val="FBAE40"/>
          </p15:clr>
        </p15:guide>
        <p15:guide id="7" orient="horz" pos="250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62B98A-5E0B-335E-C425-E48A1C614D18}"/>
              </a:ext>
            </a:extLst>
          </p:cNvPr>
          <p:cNvSpPr>
            <a:spLocks noGrp="1"/>
          </p:cNvSpPr>
          <p:nvPr>
            <p:ph type="title" hasCustomPrompt="1"/>
          </p:nvPr>
        </p:nvSpPr>
        <p:spPr>
          <a:xfrm>
            <a:off x="0" y="2"/>
            <a:ext cx="12192000" cy="906087"/>
          </a:xfrm>
        </p:spPr>
        <p:txBody>
          <a:bodyPr anchor="b" anchorCtr="0">
            <a:normAutofit/>
          </a:bodyPr>
          <a:lstStyle>
            <a:lvl1pPr algn="l">
              <a:defRPr sz="2400"/>
            </a:lvl1pPr>
          </a:lstStyle>
          <a:p>
            <a:r>
              <a:rPr kumimoji="1" lang="ja-JP" altLang="en-US" dirty="0"/>
              <a:t>スライドタイトル</a:t>
            </a:r>
          </a:p>
        </p:txBody>
      </p:sp>
      <p:sp>
        <p:nvSpPr>
          <p:cNvPr id="5" name="フッター プレースホルダー 4">
            <a:extLst>
              <a:ext uri="{FF2B5EF4-FFF2-40B4-BE49-F238E27FC236}">
                <a16:creationId xmlns:a16="http://schemas.microsoft.com/office/drawing/2014/main" id="{073838D6-28D4-8AAD-8E5F-2F93892364C7}"/>
              </a:ext>
            </a:extLst>
          </p:cNvPr>
          <p:cNvSpPr>
            <a:spLocks noGrp="1"/>
          </p:cNvSpPr>
          <p:nvPr>
            <p:ph type="ftr" sz="quarter" idx="11"/>
          </p:nvPr>
        </p:nvSpPr>
        <p:spPr>
          <a:xfrm>
            <a:off x="407990" y="6500553"/>
            <a:ext cx="7745413" cy="220927"/>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出所：</a:t>
            </a:r>
            <a:endParaRPr lang="ja-JP" altLang="en-US" dirty="0"/>
          </a:p>
        </p:txBody>
      </p:sp>
      <p:sp>
        <p:nvSpPr>
          <p:cNvPr id="6" name="スライド番号プレースホルダー 5">
            <a:extLst>
              <a:ext uri="{FF2B5EF4-FFF2-40B4-BE49-F238E27FC236}">
                <a16:creationId xmlns:a16="http://schemas.microsoft.com/office/drawing/2014/main" id="{600AD3A3-493E-1DC5-C673-6B04C0730253}"/>
              </a:ext>
            </a:extLst>
          </p:cNvPr>
          <p:cNvSpPr>
            <a:spLocks noGrp="1"/>
          </p:cNvSpPr>
          <p:nvPr>
            <p:ph type="sldNum" sz="quarter" idx="12"/>
          </p:nvPr>
        </p:nvSpPr>
        <p:spPr>
          <a:xfrm>
            <a:off x="8610604" y="6500553"/>
            <a:ext cx="3173412" cy="220927"/>
          </a:xfrm>
          <a:prstGeom prst="rect">
            <a:avLst/>
          </a:prstGeom>
        </p:spPr>
        <p:txBody>
          <a:bodyPr/>
          <a:lstStyle>
            <a:lvl1pP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cxnSp>
        <p:nvCxnSpPr>
          <p:cNvPr id="8" name="直線コネクタ 7">
            <a:extLst>
              <a:ext uri="{FF2B5EF4-FFF2-40B4-BE49-F238E27FC236}">
                <a16:creationId xmlns:a16="http://schemas.microsoft.com/office/drawing/2014/main" id="{4C9262B6-C232-FF1E-F30F-62C446446085}"/>
              </a:ext>
            </a:extLst>
          </p:cNvPr>
          <p:cNvCxnSpPr>
            <a:cxnSpLocks/>
          </p:cNvCxnSpPr>
          <p:nvPr userDrawn="1"/>
        </p:nvCxnSpPr>
        <p:spPr>
          <a:xfrm>
            <a:off x="0" y="898136"/>
            <a:ext cx="12192000"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プレースホルダー 14">
            <a:extLst>
              <a:ext uri="{FF2B5EF4-FFF2-40B4-BE49-F238E27FC236}">
                <a16:creationId xmlns:a16="http://schemas.microsoft.com/office/drawing/2014/main" id="{BA39CC3F-561B-185B-B6F8-C69EB614A06F}"/>
              </a:ext>
            </a:extLst>
          </p:cNvPr>
          <p:cNvSpPr>
            <a:spLocks noGrp="1"/>
          </p:cNvSpPr>
          <p:nvPr>
            <p:ph type="body" sz="quarter" idx="13" hasCustomPrompt="1"/>
          </p:nvPr>
        </p:nvSpPr>
        <p:spPr>
          <a:xfrm>
            <a:off x="0" y="906088"/>
            <a:ext cx="12192000" cy="507074"/>
          </a:xfrm>
        </p:spPr>
        <p:txBody>
          <a:bodyPr>
            <a:normAutofit/>
          </a:bodyPr>
          <a:lstStyle>
            <a:lvl1pPr marL="0" indent="0">
              <a:buNone/>
              <a:defRPr sz="2000"/>
            </a:lvl1pPr>
          </a:lstStyle>
          <a:p>
            <a:pPr lvl="0"/>
            <a:r>
              <a:rPr kumimoji="1" lang="ja-JP" altLang="en-US" dirty="0"/>
              <a:t>スライドメッセージ</a:t>
            </a:r>
          </a:p>
        </p:txBody>
      </p:sp>
    </p:spTree>
    <p:extLst>
      <p:ext uri="{BB962C8B-B14F-4D97-AF65-F5344CB8AC3E}">
        <p14:creationId xmlns:p14="http://schemas.microsoft.com/office/powerpoint/2010/main" val="4111418134"/>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1026" userDrawn="1">
          <p15:clr>
            <a:srgbClr val="FBAE40"/>
          </p15:clr>
        </p15:guide>
        <p15:guide id="4" orient="horz" pos="3974" userDrawn="1">
          <p15:clr>
            <a:srgbClr val="FBAE40"/>
          </p15:clr>
        </p15:guide>
        <p15:guide id="5" pos="257" userDrawn="1">
          <p15:clr>
            <a:srgbClr val="FBAE40"/>
          </p15:clr>
        </p15:guide>
        <p15:guide id="6" pos="7423" userDrawn="1">
          <p15:clr>
            <a:srgbClr val="FBAE40"/>
          </p15:clr>
        </p15:guide>
        <p15:guide id="7" orient="horz" pos="250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520426D-55C7-5082-C5BB-DFCD609072B6}"/>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BE3B443A-32D9-F0FB-6B43-215C4ADBF892}"/>
              </a:ext>
            </a:extLst>
          </p:cNvPr>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スライド番号プレースホルダー 5">
            <a:extLst>
              <a:ext uri="{FF2B5EF4-FFF2-40B4-BE49-F238E27FC236}">
                <a16:creationId xmlns:a16="http://schemas.microsoft.com/office/drawing/2014/main" id="{35B89784-2D9B-BA7E-E0FB-DE043C5D34FE}"/>
              </a:ext>
            </a:extLst>
          </p:cNvPr>
          <p:cNvSpPr>
            <a:spLocks noGrp="1"/>
          </p:cNvSpPr>
          <p:nvPr>
            <p:ph type="sldNum" sz="quarter" idx="4"/>
          </p:nvPr>
        </p:nvSpPr>
        <p:spPr>
          <a:xfrm>
            <a:off x="8610604" y="6492874"/>
            <a:ext cx="3173412" cy="228606"/>
          </a:xfrm>
          <a:prstGeom prst="rect">
            <a:avLst/>
          </a:prstGeom>
        </p:spPr>
        <p:txBody>
          <a:bodyPr/>
          <a:lstStyle>
            <a:lvl1pPr algn="r">
              <a:defRPr sz="1000">
                <a:solidFill>
                  <a:schemeClr val="tx1"/>
                </a:solidFill>
                <a:latin typeface="BIZ UDPゴシック" panose="020B0400000000000000" pitchFamily="50" charset="-128"/>
                <a:ea typeface="BIZ UDPゴシック" panose="020B0400000000000000" pitchFamily="50" charset="-128"/>
              </a:defRPr>
            </a:lvl1pPr>
          </a:lstStyle>
          <a:p>
            <a:fld id="{DCB5AA93-092B-49A1-87A7-3C88D5F38AD7}" type="slidenum">
              <a:rPr lang="ja-JP" altLang="en-US" smtClean="0"/>
              <a:pPr/>
              <a:t>‹#›</a:t>
            </a:fld>
            <a:endParaRPr lang="ja-JP" altLang="en-US"/>
          </a:p>
        </p:txBody>
      </p:sp>
      <p:sp>
        <p:nvSpPr>
          <p:cNvPr id="8" name="フッター プレースホルダー 4">
            <a:extLst>
              <a:ext uri="{FF2B5EF4-FFF2-40B4-BE49-F238E27FC236}">
                <a16:creationId xmlns:a16="http://schemas.microsoft.com/office/drawing/2014/main" id="{3BC7A196-3ACE-A96D-7EC8-1F95E45AEC37}"/>
              </a:ext>
            </a:extLst>
          </p:cNvPr>
          <p:cNvSpPr>
            <a:spLocks noGrp="1"/>
          </p:cNvSpPr>
          <p:nvPr>
            <p:ph type="ftr" sz="quarter" idx="3"/>
          </p:nvPr>
        </p:nvSpPr>
        <p:spPr>
          <a:xfrm>
            <a:off x="407990" y="6492874"/>
            <a:ext cx="7745413" cy="228606"/>
          </a:xfrm>
          <a:prstGeom prst="rect">
            <a:avLst/>
          </a:prstGeom>
        </p:spPr>
        <p:txBody>
          <a:bodyPr/>
          <a:lstStyle>
            <a:lvl1pPr algn="l">
              <a:defRPr sz="1000">
                <a:solidFill>
                  <a:schemeClr val="tx1"/>
                </a:solidFill>
                <a:latin typeface="BIZ UDPゴシック" panose="020B0400000000000000" pitchFamily="50" charset="-128"/>
                <a:ea typeface="BIZ UDPゴシック" panose="020B0400000000000000" pitchFamily="50" charset="-128"/>
              </a:defRPr>
            </a:lvl1pPr>
          </a:lstStyle>
          <a:p>
            <a:r>
              <a:rPr lang="ja-JP" altLang="en-US"/>
              <a:t>プロジェクト</a:t>
            </a:r>
            <a:r>
              <a:rPr lang="en-US" altLang="ja-JP"/>
              <a:t>/</a:t>
            </a:r>
            <a:r>
              <a:rPr lang="ja-JP" altLang="en-US"/>
              <a:t>部署</a:t>
            </a:r>
            <a:r>
              <a:rPr lang="en-US" altLang="ja-JP"/>
              <a:t>/</a:t>
            </a:r>
            <a:r>
              <a:rPr lang="ja-JP" altLang="en-US"/>
              <a:t>書類管理情報</a:t>
            </a:r>
            <a:endParaRPr lang="en-US" altLang="ja-JP" dirty="0"/>
          </a:p>
        </p:txBody>
      </p:sp>
    </p:spTree>
    <p:extLst>
      <p:ext uri="{BB962C8B-B14F-4D97-AF65-F5344CB8AC3E}">
        <p14:creationId xmlns:p14="http://schemas.microsoft.com/office/powerpoint/2010/main" val="1990327497"/>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Lst>
  <p:hf hdr="0" dt="0"/>
  <p:txStyles>
    <p:titleStyle>
      <a:lvl1pPr algn="l" defTabSz="914373" rtl="0" eaLnBrk="1" latinLnBrk="0" hangingPunct="1">
        <a:lnSpc>
          <a:spcPct val="90000"/>
        </a:lnSpc>
        <a:spcBef>
          <a:spcPct val="0"/>
        </a:spcBef>
        <a:buNone/>
        <a:defRPr kumimoji="1" sz="4400" kern="1200">
          <a:solidFill>
            <a:schemeClr val="tx1"/>
          </a:solidFill>
          <a:latin typeface="BIZ UDPゴシック" panose="020B0400000000000000" pitchFamily="50" charset="-128"/>
          <a:ea typeface="BIZ UDPゴシック" panose="020B0400000000000000" pitchFamily="50" charset="-128"/>
          <a:cs typeface="+mj-cs"/>
        </a:defRPr>
      </a:lvl1pPr>
    </p:titleStyle>
    <p:bodyStyle>
      <a:lvl1pPr marL="228593" indent="-228593" algn="l" defTabSz="914373" rtl="0" eaLnBrk="1" latinLnBrk="0" hangingPunct="1">
        <a:lnSpc>
          <a:spcPct val="90000"/>
        </a:lnSpc>
        <a:spcBef>
          <a:spcPts val="1000"/>
        </a:spcBef>
        <a:buFont typeface="Arial" panose="020B0604020202020204" pitchFamily="34" charset="0"/>
        <a:buChar char="•"/>
        <a:defRPr kumimoji="1" sz="1800" kern="1200">
          <a:solidFill>
            <a:schemeClr val="tx1"/>
          </a:solidFill>
          <a:latin typeface="BIZ UDPゴシック" panose="020B0400000000000000" pitchFamily="50" charset="-128"/>
          <a:ea typeface="BIZ UDPゴシック" panose="020B0400000000000000" pitchFamily="50" charset="-128"/>
          <a:cs typeface="+mn-cs"/>
        </a:defRPr>
      </a:lvl1pPr>
      <a:lvl2pPr marL="685779"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2pPr>
      <a:lvl3pPr marL="1142966"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3pPr>
      <a:lvl4pPr marL="1600152"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4pPr>
      <a:lvl5pPr marL="2057338" indent="-228593" algn="l" defTabSz="914373" rtl="0" eaLnBrk="1" latinLnBrk="0" hangingPunct="1">
        <a:lnSpc>
          <a:spcPct val="90000"/>
        </a:lnSpc>
        <a:spcBef>
          <a:spcPts val="500"/>
        </a:spcBef>
        <a:buFont typeface="Arial" panose="020B0604020202020204" pitchFamily="34" charset="0"/>
        <a:buChar char="•"/>
        <a:defRPr kumimoji="1" sz="1400" kern="1200">
          <a:solidFill>
            <a:schemeClr val="tx1"/>
          </a:solidFill>
          <a:latin typeface="BIZ UDPゴシック" panose="020B0400000000000000" pitchFamily="50" charset="-128"/>
          <a:ea typeface="BIZ UDPゴシック" panose="020B0400000000000000" pitchFamily="50" charset="-128"/>
          <a:cs typeface="+mn-cs"/>
        </a:defRPr>
      </a:lvl5pPr>
      <a:lvl6pPr marL="2514525"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11"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897"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083" indent="-228593" algn="l" defTabSz="914373"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73" rtl="0" eaLnBrk="1" latinLnBrk="0" hangingPunct="1">
        <a:defRPr kumimoji="1" sz="1800" kern="1200">
          <a:solidFill>
            <a:schemeClr val="tx1"/>
          </a:solidFill>
          <a:latin typeface="+mn-lt"/>
          <a:ea typeface="+mn-ea"/>
          <a:cs typeface="+mn-cs"/>
        </a:defRPr>
      </a:lvl1pPr>
      <a:lvl2pPr marL="457186" algn="l" defTabSz="914373" rtl="0" eaLnBrk="1" latinLnBrk="0" hangingPunct="1">
        <a:defRPr kumimoji="1" sz="1800" kern="1200">
          <a:solidFill>
            <a:schemeClr val="tx1"/>
          </a:solidFill>
          <a:latin typeface="+mn-lt"/>
          <a:ea typeface="+mn-ea"/>
          <a:cs typeface="+mn-cs"/>
        </a:defRPr>
      </a:lvl2pPr>
      <a:lvl3pPr marL="914373" algn="l" defTabSz="914373" rtl="0" eaLnBrk="1" latinLnBrk="0" hangingPunct="1">
        <a:defRPr kumimoji="1" sz="1800" kern="1200">
          <a:solidFill>
            <a:schemeClr val="tx1"/>
          </a:solidFill>
          <a:latin typeface="+mn-lt"/>
          <a:ea typeface="+mn-ea"/>
          <a:cs typeface="+mn-cs"/>
        </a:defRPr>
      </a:lvl3pPr>
      <a:lvl4pPr marL="1371559" algn="l" defTabSz="914373" rtl="0" eaLnBrk="1" latinLnBrk="0" hangingPunct="1">
        <a:defRPr kumimoji="1" sz="1800" kern="1200">
          <a:solidFill>
            <a:schemeClr val="tx1"/>
          </a:solidFill>
          <a:latin typeface="+mn-lt"/>
          <a:ea typeface="+mn-ea"/>
          <a:cs typeface="+mn-cs"/>
        </a:defRPr>
      </a:lvl4pPr>
      <a:lvl5pPr marL="1828745" algn="l" defTabSz="914373" rtl="0" eaLnBrk="1" latinLnBrk="0" hangingPunct="1">
        <a:defRPr kumimoji="1" sz="1800" kern="1200">
          <a:solidFill>
            <a:schemeClr val="tx1"/>
          </a:solidFill>
          <a:latin typeface="+mn-lt"/>
          <a:ea typeface="+mn-ea"/>
          <a:cs typeface="+mn-cs"/>
        </a:defRPr>
      </a:lvl5pPr>
      <a:lvl6pPr marL="2285931" algn="l" defTabSz="914373" rtl="0" eaLnBrk="1" latinLnBrk="0" hangingPunct="1">
        <a:defRPr kumimoji="1" sz="1800" kern="1200">
          <a:solidFill>
            <a:schemeClr val="tx1"/>
          </a:solidFill>
          <a:latin typeface="+mn-lt"/>
          <a:ea typeface="+mn-ea"/>
          <a:cs typeface="+mn-cs"/>
        </a:defRPr>
      </a:lvl6pPr>
      <a:lvl7pPr marL="2743118" algn="l" defTabSz="914373" rtl="0" eaLnBrk="1" latinLnBrk="0" hangingPunct="1">
        <a:defRPr kumimoji="1" sz="1800" kern="1200">
          <a:solidFill>
            <a:schemeClr val="tx1"/>
          </a:solidFill>
          <a:latin typeface="+mn-lt"/>
          <a:ea typeface="+mn-ea"/>
          <a:cs typeface="+mn-cs"/>
        </a:defRPr>
      </a:lvl7pPr>
      <a:lvl8pPr marL="3200304" algn="l" defTabSz="914373" rtl="0" eaLnBrk="1" latinLnBrk="0" hangingPunct="1">
        <a:defRPr kumimoji="1" sz="1800" kern="1200">
          <a:solidFill>
            <a:schemeClr val="tx1"/>
          </a:solidFill>
          <a:latin typeface="+mn-lt"/>
          <a:ea typeface="+mn-ea"/>
          <a:cs typeface="+mn-cs"/>
        </a:defRPr>
      </a:lvl8pPr>
      <a:lvl9pPr marL="3657490" algn="l" defTabSz="914373"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B2D34-078A-FD7E-5C91-B98208D5A9F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23391E-9944-17B8-5DD8-233C67290118}"/>
              </a:ext>
            </a:extLst>
          </p:cNvPr>
          <p:cNvSpPr>
            <a:spLocks noGrp="1"/>
          </p:cNvSpPr>
          <p:nvPr>
            <p:ph type="title"/>
          </p:nvPr>
        </p:nvSpPr>
        <p:spPr/>
        <p:txBody>
          <a:bodyPr/>
          <a:lstStyle/>
          <a:p>
            <a:r>
              <a:rPr lang="ja-JP" altLang="en-US" dirty="0"/>
              <a:t>第</a:t>
            </a:r>
            <a:r>
              <a:rPr lang="en-US" altLang="ja-JP" dirty="0"/>
              <a:t>4</a:t>
            </a:r>
            <a:r>
              <a:rPr lang="ja-JP" altLang="en-US" dirty="0"/>
              <a:t>回 システム要件確認会</a:t>
            </a:r>
            <a:endParaRPr kumimoji="1" lang="ja-JP" altLang="en-US" dirty="0"/>
          </a:p>
        </p:txBody>
      </p:sp>
      <p:sp>
        <p:nvSpPr>
          <p:cNvPr id="3" name="フッター プレースホルダー 2">
            <a:extLst>
              <a:ext uri="{FF2B5EF4-FFF2-40B4-BE49-F238E27FC236}">
                <a16:creationId xmlns:a16="http://schemas.microsoft.com/office/drawing/2014/main" id="{0FA6058B-F171-A04D-79AC-35EA6469051D}"/>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B9C158C2-DAA6-CAF6-6BE5-BF5F8FD60204}"/>
              </a:ext>
            </a:extLst>
          </p:cNvPr>
          <p:cNvSpPr>
            <a:spLocks noGrp="1"/>
          </p:cNvSpPr>
          <p:nvPr>
            <p:ph type="sldNum" sz="quarter" idx="12"/>
          </p:nvPr>
        </p:nvSpPr>
        <p:spPr/>
        <p:txBody>
          <a:bodyPr/>
          <a:lstStyle/>
          <a:p>
            <a:fld id="{DCB5AA93-092B-49A1-87A7-3C88D5F38AD7}" type="slidenum">
              <a:rPr lang="ja-JP" altLang="en-US" smtClean="0"/>
              <a:pPr/>
              <a:t>1</a:t>
            </a:fld>
            <a:endParaRPr lang="ja-JP" altLang="en-US"/>
          </a:p>
        </p:txBody>
      </p:sp>
      <p:sp>
        <p:nvSpPr>
          <p:cNvPr id="5" name="テキスト プレースホルダー 4">
            <a:extLst>
              <a:ext uri="{FF2B5EF4-FFF2-40B4-BE49-F238E27FC236}">
                <a16:creationId xmlns:a16="http://schemas.microsoft.com/office/drawing/2014/main" id="{F15673B4-3184-AFE4-1FD2-52C205088E37}"/>
              </a:ext>
            </a:extLst>
          </p:cNvPr>
          <p:cNvSpPr>
            <a:spLocks noGrp="1"/>
          </p:cNvSpPr>
          <p:nvPr>
            <p:ph type="body" sz="quarter" idx="13"/>
          </p:nvPr>
        </p:nvSpPr>
        <p:spPr>
          <a:xfrm>
            <a:off x="407991" y="1127238"/>
            <a:ext cx="11376024" cy="5181490"/>
          </a:xfrm>
        </p:spPr>
        <p:txBody>
          <a:bodyPr>
            <a:normAutofit fontScale="77500" lnSpcReduction="20000"/>
          </a:bodyPr>
          <a:lstStyle/>
          <a:p>
            <a:pPr marL="0" indent="0">
              <a:buNone/>
            </a:pPr>
            <a:r>
              <a:rPr lang="ja-JP" altLang="en-US" sz="2000" b="1" u="sng" dirty="0"/>
              <a:t>主な決定事項・</a:t>
            </a:r>
            <a:r>
              <a:rPr lang="en-US" altLang="ja-JP" sz="2000" b="1" u="sng" dirty="0" err="1"/>
              <a:t>ToDO</a:t>
            </a:r>
            <a:r>
              <a:rPr lang="ja-JP" altLang="en-US" sz="2000" b="1" u="sng" dirty="0"/>
              <a:t>リスト</a:t>
            </a:r>
            <a:endParaRPr lang="en-US" altLang="ja-JP" sz="2000" b="1" u="sng" dirty="0"/>
          </a:p>
          <a:p>
            <a:pPr marL="342890" indent="-342890">
              <a:lnSpc>
                <a:spcPct val="80000"/>
              </a:lnSpc>
              <a:buFont typeface="+mj-lt"/>
              <a:buAutoNum type="arabicPeriod"/>
            </a:pPr>
            <a:r>
              <a:rPr lang="ja-JP" altLang="en-US" sz="1400" dirty="0"/>
              <a:t>データレイアウトの提供</a:t>
            </a:r>
            <a:r>
              <a:rPr lang="en-US" altLang="ja-JP" sz="1400" dirty="0"/>
              <a:t>	(</a:t>
            </a:r>
            <a:r>
              <a:rPr lang="ja-JP" altLang="en-US" sz="1400" dirty="0"/>
              <a:t>担当者：遠藤</a:t>
            </a:r>
            <a:r>
              <a:rPr lang="en-US" altLang="ja-JP" sz="1400" dirty="0"/>
              <a:t>	</a:t>
            </a:r>
            <a:r>
              <a:rPr lang="ja-JP" altLang="en-US" sz="1400" dirty="0"/>
              <a:t>期限：</a:t>
            </a:r>
            <a:r>
              <a:rPr lang="en-US" altLang="ja-JP" sz="1400" dirty="0"/>
              <a:t>2025/10/10(</a:t>
            </a:r>
            <a:r>
              <a:rPr lang="ja-JP" altLang="en-US" sz="1400" dirty="0"/>
              <a:t>金</a:t>
            </a:r>
            <a:r>
              <a:rPr lang="en-US" altLang="ja-JP" sz="1400" dirty="0"/>
              <a:t>))</a:t>
            </a:r>
          </a:p>
          <a:p>
            <a:pPr marL="342890" indent="-342890">
              <a:lnSpc>
                <a:spcPct val="80000"/>
              </a:lnSpc>
              <a:buFont typeface="+mj-lt"/>
              <a:buAutoNum type="arabicPeriod"/>
            </a:pPr>
            <a:r>
              <a:rPr lang="ja-JP" altLang="en-US" sz="1400" dirty="0"/>
              <a:t>機能要件の確定</a:t>
            </a:r>
            <a:r>
              <a:rPr lang="en-US" altLang="ja-JP" sz="1400" dirty="0"/>
              <a:t>	(</a:t>
            </a:r>
            <a:r>
              <a:rPr lang="ja-JP" altLang="en-US" sz="1400" dirty="0"/>
              <a:t>担当者：遠藤</a:t>
            </a:r>
            <a:r>
              <a:rPr lang="en-US" altLang="ja-JP" sz="1400" dirty="0"/>
              <a:t>	</a:t>
            </a:r>
            <a:r>
              <a:rPr lang="ja-JP" altLang="en-US" sz="1400" dirty="0"/>
              <a:t>期限：</a:t>
            </a:r>
            <a:r>
              <a:rPr lang="en-US" altLang="ja-JP" sz="1400" dirty="0"/>
              <a:t>2025/10/10(</a:t>
            </a:r>
            <a:r>
              <a:rPr lang="ja-JP" altLang="en-US" sz="1400" dirty="0"/>
              <a:t>金</a:t>
            </a:r>
            <a:r>
              <a:rPr lang="en-US" altLang="ja-JP" sz="1400" dirty="0"/>
              <a:t>))</a:t>
            </a:r>
          </a:p>
          <a:p>
            <a:pPr marL="0" indent="0">
              <a:buNone/>
            </a:pPr>
            <a:r>
              <a:rPr lang="ja-JP" altLang="en-US" sz="2000" b="1" u="sng" dirty="0"/>
              <a:t>議事内容</a:t>
            </a:r>
            <a:endParaRPr lang="en-US" altLang="ja-JP" sz="2000" b="1" u="sng" dirty="0"/>
          </a:p>
          <a:p>
            <a:pPr marL="0" indent="0">
              <a:lnSpc>
                <a:spcPct val="100000"/>
              </a:lnSpc>
              <a:buNone/>
            </a:pPr>
            <a:r>
              <a:rPr lang="ja-JP" altLang="en-US" sz="1700" b="1" dirty="0"/>
              <a:t>これまでの状況</a:t>
            </a:r>
            <a:endParaRPr lang="en-US" altLang="ja-JP" sz="1700" b="1" dirty="0"/>
          </a:p>
          <a:p>
            <a:pPr>
              <a:lnSpc>
                <a:spcPct val="80000"/>
              </a:lnSpc>
            </a:pPr>
            <a:r>
              <a:rPr lang="ja-JP" altLang="en-US" sz="1500" dirty="0"/>
              <a:t>役員報告前に新システムの要件を確認することは可能か．</a:t>
            </a:r>
            <a:r>
              <a:rPr lang="en-US" altLang="ja-JP" sz="1500" dirty="0"/>
              <a:t>(</a:t>
            </a:r>
            <a:r>
              <a:rPr lang="ja-JP" altLang="en-US" sz="1500" dirty="0"/>
              <a:t>遠藤</a:t>
            </a:r>
            <a:r>
              <a:rPr lang="en-US" altLang="ja-JP" sz="1500" dirty="0"/>
              <a:t>)</a:t>
            </a:r>
          </a:p>
          <a:p>
            <a:pPr lvl="1">
              <a:lnSpc>
                <a:spcPct val="80000"/>
              </a:lnSpc>
              <a:buFont typeface="Wingdings" panose="05000000000000000000" pitchFamily="2" charset="2"/>
              <a:buChar char="ü"/>
            </a:pPr>
            <a:r>
              <a:rPr lang="ja-JP" altLang="en-US" sz="1500" dirty="0"/>
              <a:t>作成中のため提示はできない．</a:t>
            </a:r>
            <a:r>
              <a:rPr lang="en-US" altLang="ja-JP" sz="1500" dirty="0"/>
              <a:t>(</a:t>
            </a:r>
            <a:r>
              <a:rPr lang="ja-JP" altLang="en-US" sz="1500" dirty="0"/>
              <a:t>遠藤</a:t>
            </a:r>
            <a:r>
              <a:rPr lang="en-US" altLang="ja-JP" sz="1500" dirty="0"/>
              <a:t>)</a:t>
            </a:r>
          </a:p>
          <a:p>
            <a:pPr marL="0" indent="0">
              <a:lnSpc>
                <a:spcPct val="120000"/>
              </a:lnSpc>
              <a:buNone/>
            </a:pPr>
            <a:r>
              <a:rPr lang="ja-JP" altLang="en-US" sz="1700" b="1" dirty="0"/>
              <a:t>提供チャネルの定義</a:t>
            </a:r>
            <a:endParaRPr lang="en-US" altLang="ja-JP" sz="1700" b="1" dirty="0"/>
          </a:p>
          <a:p>
            <a:pPr lvl="0">
              <a:lnSpc>
                <a:spcPct val="90000"/>
              </a:lnSpc>
            </a:pPr>
            <a:r>
              <a:rPr lang="ja-JP" altLang="ja-JP" sz="1500" dirty="0"/>
              <a:t>グループ全体としてオンラインショッピングのあるべき機能，既存の代理店が抱える販路を活用するマーケティングを考えている．</a:t>
            </a:r>
            <a:r>
              <a:rPr lang="en-US" altLang="ja-JP" sz="1500" dirty="0"/>
              <a:t>(</a:t>
            </a:r>
            <a:r>
              <a:rPr lang="ja-JP" altLang="ja-JP" sz="1500" dirty="0"/>
              <a:t>遠藤</a:t>
            </a:r>
            <a:r>
              <a:rPr lang="en-US" altLang="ja-JP" sz="1500" dirty="0"/>
              <a:t>)</a:t>
            </a:r>
            <a:endParaRPr lang="ja-JP" altLang="ja-JP" sz="1500" dirty="0"/>
          </a:p>
          <a:p>
            <a:pPr lvl="0">
              <a:lnSpc>
                <a:spcPct val="90000"/>
              </a:lnSpc>
            </a:pPr>
            <a:r>
              <a:rPr lang="ja-JP" altLang="ja-JP" sz="1500" dirty="0"/>
              <a:t>対面販売は全体</a:t>
            </a:r>
            <a:r>
              <a:rPr lang="en-US" altLang="ja-JP" sz="1500" dirty="0"/>
              <a:t>4</a:t>
            </a:r>
            <a:r>
              <a:rPr lang="ja-JP" altLang="ja-JP" sz="1500" dirty="0"/>
              <a:t>割を占め，今後も存続させる必要がある．モバイルによる販路も需要および今後の将来性から検討に含めて</a:t>
            </a:r>
            <a:r>
              <a:rPr lang="ja-JP" altLang="en-US" sz="1500" dirty="0"/>
              <a:t>いると</a:t>
            </a:r>
            <a:r>
              <a:rPr lang="ja-JP" altLang="ja-JP" sz="1500" dirty="0"/>
              <a:t>遠藤</a:t>
            </a:r>
            <a:r>
              <a:rPr lang="ja-JP" altLang="en-US" sz="1500" dirty="0"/>
              <a:t>さん</a:t>
            </a:r>
            <a:r>
              <a:rPr lang="ja-JP" altLang="ja-JP" sz="1500" dirty="0"/>
              <a:t>も認識している．</a:t>
            </a:r>
            <a:r>
              <a:rPr lang="en-US" altLang="ja-JP" sz="1500" dirty="0"/>
              <a:t>(</a:t>
            </a:r>
            <a:r>
              <a:rPr lang="ja-JP" altLang="ja-JP" sz="1500" dirty="0"/>
              <a:t>遠藤</a:t>
            </a:r>
            <a:r>
              <a:rPr lang="en-US" altLang="ja-JP" sz="1500" dirty="0"/>
              <a:t>)</a:t>
            </a:r>
            <a:endParaRPr lang="ja-JP" altLang="ja-JP" sz="1500" dirty="0"/>
          </a:p>
          <a:p>
            <a:pPr lvl="0">
              <a:lnSpc>
                <a:spcPct val="90000"/>
              </a:lnSpc>
            </a:pPr>
            <a:r>
              <a:rPr lang="ja-JP" altLang="ja-JP" sz="1500" dirty="0"/>
              <a:t>グッズ販売は本社もしくは代理店に集約すべきものの，両者とも実現可能性に疑問がある．</a:t>
            </a:r>
            <a:r>
              <a:rPr lang="en-US" altLang="ja-JP" sz="1500" dirty="0"/>
              <a:t>(</a:t>
            </a:r>
            <a:r>
              <a:rPr lang="ja-JP" altLang="ja-JP" sz="1500" dirty="0"/>
              <a:t>遠藤</a:t>
            </a:r>
            <a:r>
              <a:rPr lang="en-US" altLang="ja-JP" sz="1500" dirty="0"/>
              <a:t>)</a:t>
            </a:r>
          </a:p>
          <a:p>
            <a:pPr lvl="1">
              <a:buFont typeface="Wingdings" panose="05000000000000000000" pitchFamily="2" charset="2"/>
              <a:buChar char="ü"/>
            </a:pPr>
            <a:r>
              <a:rPr lang="ja-JP" altLang="ja-JP" sz="1500" dirty="0"/>
              <a:t>たとえばオンラインショッピングでグッズのクロスセルができれば，マーケティングの協業が可能と考える．</a:t>
            </a:r>
            <a:r>
              <a:rPr lang="en-US" altLang="ja-JP" sz="1500" dirty="0"/>
              <a:t>(</a:t>
            </a:r>
            <a:r>
              <a:rPr lang="ja-JP" altLang="ja-JP" sz="1500" dirty="0"/>
              <a:t>遠藤</a:t>
            </a:r>
            <a:r>
              <a:rPr lang="en-US" altLang="ja-JP" sz="1500" dirty="0"/>
              <a:t>)</a:t>
            </a:r>
          </a:p>
          <a:p>
            <a:pPr lvl="1">
              <a:buFont typeface="Wingdings" panose="05000000000000000000" pitchFamily="2" charset="2"/>
              <a:buChar char="ü"/>
            </a:pPr>
            <a:r>
              <a:rPr lang="ja-JP" altLang="ja-JP" sz="1500" dirty="0"/>
              <a:t>代理店では現在の会員をどのように活かすか検討している段階であり，本社との会員情報共有は前向きに考えたい．</a:t>
            </a:r>
            <a:r>
              <a:rPr lang="en-US" altLang="ja-JP" sz="1500" dirty="0"/>
              <a:t>(</a:t>
            </a:r>
            <a:r>
              <a:rPr lang="ja-JP" altLang="ja-JP" sz="1500" dirty="0"/>
              <a:t>遠藤</a:t>
            </a:r>
            <a:r>
              <a:rPr lang="en-US" altLang="ja-JP" sz="1500" dirty="0"/>
              <a:t>)</a:t>
            </a:r>
          </a:p>
          <a:p>
            <a:pPr marL="0" indent="0">
              <a:lnSpc>
                <a:spcPct val="120000"/>
              </a:lnSpc>
              <a:buNone/>
            </a:pPr>
            <a:r>
              <a:rPr lang="ja-JP" altLang="en-US" sz="1700" b="1" dirty="0"/>
              <a:t>提供チャネルの定義</a:t>
            </a:r>
            <a:endParaRPr lang="en-US" altLang="ja-JP" sz="1700" b="1" dirty="0"/>
          </a:p>
          <a:p>
            <a:pPr lvl="0">
              <a:lnSpc>
                <a:spcPct val="80000"/>
              </a:lnSpc>
            </a:pPr>
            <a:r>
              <a:rPr lang="ja-JP" altLang="ja-JP" sz="1500" dirty="0"/>
              <a:t>グループ全体としてオンラインショッピングのあるべき機能，既存の代理店が抱える販路を活用するマーケティングを考えている．</a:t>
            </a:r>
            <a:r>
              <a:rPr lang="en-US" altLang="ja-JP" sz="1500" dirty="0"/>
              <a:t>(</a:t>
            </a:r>
            <a:r>
              <a:rPr lang="ja-JP" altLang="ja-JP" sz="1500" dirty="0"/>
              <a:t>遠藤</a:t>
            </a:r>
            <a:r>
              <a:rPr lang="en-US" altLang="ja-JP" sz="1500" dirty="0"/>
              <a:t>)</a:t>
            </a:r>
            <a:endParaRPr lang="ja-JP" altLang="ja-JP" sz="1500" dirty="0"/>
          </a:p>
          <a:p>
            <a:pPr lvl="0">
              <a:lnSpc>
                <a:spcPct val="90000"/>
              </a:lnSpc>
            </a:pPr>
            <a:r>
              <a:rPr lang="ja-JP" altLang="ja-JP" sz="1500" dirty="0"/>
              <a:t>対面販売は全体</a:t>
            </a:r>
            <a:r>
              <a:rPr lang="en-US" altLang="ja-JP" sz="1500" dirty="0"/>
              <a:t>4</a:t>
            </a:r>
            <a:r>
              <a:rPr lang="ja-JP" altLang="ja-JP" sz="1500" dirty="0"/>
              <a:t>割を占め，今後も存続させる必要がある．モバイルによる販路も需要および今後の将来性から検討に含めて</a:t>
            </a:r>
            <a:r>
              <a:rPr lang="ja-JP" altLang="en-US" sz="1500" dirty="0"/>
              <a:t>いると</a:t>
            </a:r>
            <a:r>
              <a:rPr lang="ja-JP" altLang="ja-JP" sz="1500" dirty="0"/>
              <a:t>遠藤</a:t>
            </a:r>
            <a:r>
              <a:rPr lang="ja-JP" altLang="en-US" sz="1500" dirty="0"/>
              <a:t>さん</a:t>
            </a:r>
            <a:r>
              <a:rPr lang="ja-JP" altLang="ja-JP" sz="1500" dirty="0"/>
              <a:t>も認識している．</a:t>
            </a:r>
            <a:r>
              <a:rPr lang="en-US" altLang="ja-JP" sz="1500" dirty="0"/>
              <a:t>(</a:t>
            </a:r>
            <a:r>
              <a:rPr lang="ja-JP" altLang="ja-JP" sz="1500" dirty="0"/>
              <a:t>遠藤</a:t>
            </a:r>
            <a:r>
              <a:rPr lang="en-US" altLang="ja-JP" sz="1500" dirty="0"/>
              <a:t>)</a:t>
            </a:r>
            <a:endParaRPr lang="ja-JP" altLang="ja-JP" sz="1500" dirty="0"/>
          </a:p>
          <a:p>
            <a:pPr lvl="0">
              <a:lnSpc>
                <a:spcPct val="80000"/>
              </a:lnSpc>
            </a:pPr>
            <a:r>
              <a:rPr lang="ja-JP" altLang="ja-JP" sz="1500" dirty="0"/>
              <a:t>グッズ販売は本社もしくは代理店に集約すべきものの，両者とも実現可能性に疑問がある．</a:t>
            </a:r>
            <a:r>
              <a:rPr lang="en-US" altLang="ja-JP" sz="1500" dirty="0"/>
              <a:t>(</a:t>
            </a:r>
            <a:r>
              <a:rPr lang="ja-JP" altLang="ja-JP" sz="1500" dirty="0"/>
              <a:t>遠藤</a:t>
            </a:r>
            <a:r>
              <a:rPr lang="en-US" altLang="ja-JP" sz="1500" dirty="0"/>
              <a:t>)</a:t>
            </a:r>
          </a:p>
          <a:p>
            <a:pPr lvl="1">
              <a:lnSpc>
                <a:spcPct val="80000"/>
              </a:lnSpc>
              <a:buFont typeface="Wingdings" panose="05000000000000000000" pitchFamily="2" charset="2"/>
              <a:buChar char="ü"/>
            </a:pPr>
            <a:r>
              <a:rPr lang="ja-JP" altLang="ja-JP" sz="1500" dirty="0"/>
              <a:t>たとえばオンラインショッピングでグッズのクロスセルができれば，マーケティングの協業が可能と考える．</a:t>
            </a:r>
            <a:r>
              <a:rPr lang="en-US" altLang="ja-JP" sz="1500" dirty="0"/>
              <a:t>(</a:t>
            </a:r>
            <a:r>
              <a:rPr lang="ja-JP" altLang="ja-JP" sz="1500" dirty="0"/>
              <a:t>遠藤</a:t>
            </a:r>
            <a:r>
              <a:rPr lang="en-US" altLang="ja-JP" sz="1500" dirty="0"/>
              <a:t>)</a:t>
            </a:r>
          </a:p>
          <a:p>
            <a:pPr lvl="1">
              <a:lnSpc>
                <a:spcPct val="80000"/>
              </a:lnSpc>
              <a:buFont typeface="Wingdings" panose="05000000000000000000" pitchFamily="2" charset="2"/>
              <a:buChar char="ü"/>
            </a:pPr>
            <a:r>
              <a:rPr lang="ja-JP" altLang="ja-JP" sz="1500" dirty="0"/>
              <a:t>代理店では現在の会員をどのように活かすか検討している段階であり，本社との会員情報共有は前向きに考えたい．</a:t>
            </a:r>
            <a:r>
              <a:rPr lang="en-US" altLang="ja-JP" sz="1500" dirty="0"/>
              <a:t>(</a:t>
            </a:r>
            <a:r>
              <a:rPr lang="ja-JP" altLang="ja-JP" sz="1500" dirty="0"/>
              <a:t>遠藤</a:t>
            </a:r>
            <a:r>
              <a:rPr lang="en-US" altLang="ja-JP" sz="1500" dirty="0"/>
              <a:t>)</a:t>
            </a:r>
            <a:endParaRPr lang="ja-JP" altLang="ja-JP" sz="1500" dirty="0"/>
          </a:p>
          <a:p>
            <a:endParaRPr kumimoji="1" lang="ja-JP" altLang="en-US" dirty="0"/>
          </a:p>
        </p:txBody>
      </p:sp>
      <p:sp>
        <p:nvSpPr>
          <p:cNvPr id="6" name="テキスト ボックス 5">
            <a:extLst>
              <a:ext uri="{FF2B5EF4-FFF2-40B4-BE49-F238E27FC236}">
                <a16:creationId xmlns:a16="http://schemas.microsoft.com/office/drawing/2014/main" id="{6FB8AC92-AEB7-2E65-9C88-E0D62A22A8AC}"/>
              </a:ext>
            </a:extLst>
          </p:cNvPr>
          <p:cNvSpPr txBox="1"/>
          <p:nvPr/>
        </p:nvSpPr>
        <p:spPr>
          <a:xfrm>
            <a:off x="9257682" y="1127240"/>
            <a:ext cx="2526333" cy="1246495"/>
          </a:xfrm>
          <a:prstGeom prst="rect">
            <a:avLst/>
          </a:prstGeom>
          <a:noFill/>
        </p:spPr>
        <p:txBody>
          <a:bodyPr wrap="none" lIns="0" tIns="0" rIns="0" bIns="0" rtlCol="0">
            <a:spAutoFit/>
          </a:bodyPr>
          <a:lstStyle/>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日時：</a:t>
            </a:r>
            <a:r>
              <a:rPr lang="en-US" altLang="ja-JP" sz="900" dirty="0">
                <a:latin typeface="BIZ UDPゴシック" panose="020B0400000000000000" pitchFamily="50" charset="-128"/>
                <a:ea typeface="BIZ UDPゴシック" panose="020B0400000000000000" pitchFamily="50" charset="-128"/>
              </a:rPr>
              <a:t>2025/10/02(</a:t>
            </a:r>
            <a:r>
              <a:rPr lang="ja-JP" altLang="en-US" sz="900" dirty="0">
                <a:latin typeface="BIZ UDPゴシック" panose="020B0400000000000000" pitchFamily="50" charset="-128"/>
                <a:ea typeface="BIZ UDPゴシック" panose="020B0400000000000000" pitchFamily="50" charset="-128"/>
              </a:rPr>
              <a:t>火</a:t>
            </a:r>
            <a:r>
              <a:rPr lang="en-US" altLang="ja-JP" sz="900" dirty="0">
                <a:latin typeface="BIZ UDPゴシック" panose="020B0400000000000000" pitchFamily="50" charset="-128"/>
                <a:ea typeface="BIZ UDPゴシック" panose="020B0400000000000000" pitchFamily="50" charset="-128"/>
              </a:rPr>
              <a:t>) 15:00 – 16:00</a:t>
            </a: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出席者：</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A</a:t>
            </a:r>
            <a:r>
              <a:rPr lang="ja-JP" altLang="en-US" sz="900" dirty="0">
                <a:latin typeface="BIZ UDPゴシック" panose="020B0400000000000000" pitchFamily="50" charset="-128"/>
                <a:ea typeface="BIZ UDPゴシック" panose="020B0400000000000000" pitchFamily="50" charset="-128"/>
              </a:rPr>
              <a:t>社：遠藤</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B</a:t>
            </a:r>
            <a:r>
              <a:rPr lang="ja-JP" altLang="en-US" sz="900" dirty="0">
                <a:latin typeface="BIZ UDPゴシック" panose="020B0400000000000000" pitchFamily="50" charset="-128"/>
                <a:ea typeface="BIZ UDPゴシック" panose="020B0400000000000000" pitchFamily="50" charset="-128"/>
              </a:rPr>
              <a:t>社：遠藤</a:t>
            </a:r>
            <a:endParaRPr lang="en-US" altLang="ja-JP" sz="900" dirty="0">
              <a:latin typeface="BIZ UDPゴシック" panose="020B0400000000000000" pitchFamily="50" charset="-128"/>
              <a:ea typeface="BIZ UDPゴシック" panose="020B0400000000000000" pitchFamily="50" charset="-128"/>
            </a:endParaRP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議題：</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前回までの対応状況</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情報共有アイテム</a:t>
            </a:r>
            <a:endParaRPr lang="en-US" altLang="ja-JP" sz="900" dirty="0">
              <a:latin typeface="BIZ UDPゴシック" panose="020B0400000000000000" pitchFamily="50" charset="-128"/>
              <a:ea typeface="BIZ UDPゴシック" panose="020B0400000000000000" pitchFamily="50" charset="-128"/>
            </a:endParaRPr>
          </a:p>
          <a:p>
            <a:pPr marL="285742" indent="-285742">
              <a:buFont typeface="Arial" panose="020B0604020202020204" pitchFamily="34" charset="0"/>
              <a:buChar char="•"/>
            </a:pPr>
            <a:r>
              <a:rPr lang="ja-JP" altLang="en-US" sz="900" dirty="0">
                <a:latin typeface="BIZ UDPゴシック" panose="020B0400000000000000" pitchFamily="50" charset="-128"/>
                <a:ea typeface="BIZ UDPゴシック" panose="020B0400000000000000" pitchFamily="50" charset="-128"/>
              </a:rPr>
              <a:t>会議資料：</a:t>
            </a:r>
            <a:endParaRPr lang="en-US" altLang="ja-JP" sz="900" dirty="0">
              <a:latin typeface="BIZ UDPゴシック" panose="020B0400000000000000" pitchFamily="50" charset="-128"/>
              <a:ea typeface="BIZ UDPゴシック" panose="020B0400000000000000" pitchFamily="50" charset="-128"/>
            </a:endParaRPr>
          </a:p>
          <a:p>
            <a:pPr marL="742928" lvl="1" indent="-285742">
              <a:buFont typeface="Arial" panose="020B0604020202020204" pitchFamily="34" charset="0"/>
              <a:buChar char="•"/>
            </a:pPr>
            <a:r>
              <a:rPr lang="en-US" altLang="ja-JP" sz="900" dirty="0">
                <a:latin typeface="BIZ UDPゴシック" panose="020B0400000000000000" pitchFamily="50" charset="-128"/>
                <a:ea typeface="BIZ UDPゴシック" panose="020B0400000000000000" pitchFamily="50" charset="-128"/>
              </a:rPr>
              <a:t>20251002_</a:t>
            </a:r>
            <a:r>
              <a:rPr lang="ja-JP" altLang="en-US" sz="900" dirty="0">
                <a:latin typeface="BIZ UDPゴシック" panose="020B0400000000000000" pitchFamily="50" charset="-128"/>
                <a:ea typeface="BIZ UDPゴシック" panose="020B0400000000000000" pitchFamily="50" charset="-128"/>
              </a:rPr>
              <a:t>部内会議</a:t>
            </a:r>
            <a:r>
              <a:rPr lang="en-US" altLang="ja-JP" sz="900" dirty="0">
                <a:latin typeface="BIZ UDPゴシック" panose="020B0400000000000000" pitchFamily="50" charset="-128"/>
                <a:ea typeface="BIZ UDPゴシック" panose="020B0400000000000000" pitchFamily="50" charset="-128"/>
              </a:rPr>
              <a:t>.pptx</a:t>
            </a:r>
          </a:p>
        </p:txBody>
      </p:sp>
    </p:spTree>
    <p:extLst>
      <p:ext uri="{BB962C8B-B14F-4D97-AF65-F5344CB8AC3E}">
        <p14:creationId xmlns:p14="http://schemas.microsoft.com/office/powerpoint/2010/main" val="2578342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5D49D-B9F2-3608-9C7E-8034B029DDB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5D5F4F-7AE4-6803-98AF-C0460B92687F}"/>
              </a:ext>
            </a:extLst>
          </p:cNvPr>
          <p:cNvSpPr>
            <a:spLocks noGrp="1"/>
          </p:cNvSpPr>
          <p:nvPr>
            <p:ph type="title"/>
          </p:nvPr>
        </p:nvSpPr>
        <p:spPr/>
        <p:txBody>
          <a:bodyPr/>
          <a:lstStyle/>
          <a:p>
            <a:r>
              <a:rPr kumimoji="1" lang="ja-JP" altLang="en-US" dirty="0"/>
              <a:t>浜通り地域の産業集積状況の把握を目的に、福島県の産業実態調査を実施した</a:t>
            </a:r>
          </a:p>
        </p:txBody>
      </p:sp>
      <p:sp>
        <p:nvSpPr>
          <p:cNvPr id="3" name="フッター プレースホルダー 2">
            <a:extLst>
              <a:ext uri="{FF2B5EF4-FFF2-40B4-BE49-F238E27FC236}">
                <a16:creationId xmlns:a16="http://schemas.microsoft.com/office/drawing/2014/main" id="{81BE4F13-85E0-407A-2F76-FC450343BA69}"/>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927B6A32-F857-C36F-F3FE-A924E514616D}"/>
              </a:ext>
            </a:extLst>
          </p:cNvPr>
          <p:cNvSpPr>
            <a:spLocks noGrp="1"/>
          </p:cNvSpPr>
          <p:nvPr>
            <p:ph type="sldNum" sz="quarter" idx="12"/>
          </p:nvPr>
        </p:nvSpPr>
        <p:spPr/>
        <p:txBody>
          <a:bodyPr/>
          <a:lstStyle/>
          <a:p>
            <a:fld id="{DCB5AA93-092B-49A1-87A7-3C88D5F38AD7}" type="slidenum">
              <a:rPr lang="ja-JP" altLang="en-US" smtClean="0"/>
              <a:pPr/>
              <a:t>2</a:t>
            </a:fld>
            <a:endParaRPr lang="ja-JP" altLang="en-US"/>
          </a:p>
        </p:txBody>
      </p:sp>
      <p:sp>
        <p:nvSpPr>
          <p:cNvPr id="5" name="テキスト プレースホルダー 4">
            <a:extLst>
              <a:ext uri="{FF2B5EF4-FFF2-40B4-BE49-F238E27FC236}">
                <a16:creationId xmlns:a16="http://schemas.microsoft.com/office/drawing/2014/main" id="{622BF76D-C6BB-A752-4301-EF601845AA9B}"/>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FBCBF747-DA26-418B-6ADE-A6E384A8033C}"/>
              </a:ext>
            </a:extLst>
          </p:cNvPr>
          <p:cNvSpPr txBox="1"/>
          <p:nvPr/>
        </p:nvSpPr>
        <p:spPr>
          <a:xfrm>
            <a:off x="407987" y="1353935"/>
            <a:ext cx="2011015" cy="215444"/>
          </a:xfrm>
          <a:prstGeom prst="rect">
            <a:avLst/>
          </a:prstGeom>
          <a:noFill/>
        </p:spPr>
        <p:txBody>
          <a:bodyPr wrap="square" lIns="0" tIns="0" rIns="0" bIns="0" rtlCol="0" anchor="t" anchorCtr="0">
            <a:spAutoFit/>
          </a:bodyPr>
          <a:lstStyle/>
          <a:p>
            <a:pPr algn="l"/>
            <a:r>
              <a:rPr kumimoji="1" lang="ja-JP" altLang="en-US" sz="1400" b="1" dirty="0">
                <a:solidFill>
                  <a:schemeClr val="accent1"/>
                </a:solidFill>
                <a:latin typeface="BIZ UDPゴシック" panose="020B0400000000000000" pitchFamily="50" charset="-128"/>
                <a:ea typeface="BIZ UDPゴシック" panose="020B0400000000000000" pitchFamily="50" charset="-128"/>
              </a:rPr>
              <a:t>背景</a:t>
            </a:r>
          </a:p>
        </p:txBody>
      </p:sp>
      <p:sp>
        <p:nvSpPr>
          <p:cNvPr id="23" name="テキスト ボックス 22">
            <a:extLst>
              <a:ext uri="{FF2B5EF4-FFF2-40B4-BE49-F238E27FC236}">
                <a16:creationId xmlns:a16="http://schemas.microsoft.com/office/drawing/2014/main" id="{1872857B-2D11-B4C2-04A7-30063501D34B}"/>
              </a:ext>
            </a:extLst>
          </p:cNvPr>
          <p:cNvSpPr txBox="1"/>
          <p:nvPr/>
        </p:nvSpPr>
        <p:spPr>
          <a:xfrm>
            <a:off x="407984" y="1705748"/>
            <a:ext cx="5278118" cy="2585323"/>
          </a:xfrm>
          <a:prstGeom prst="rect">
            <a:avLst/>
          </a:prstGeom>
          <a:noFill/>
          <a:ln w="19050">
            <a:noFill/>
          </a:ln>
        </p:spPr>
        <p:txBody>
          <a:bodyPr wrap="square" lIns="0" tIns="0" rIns="0" bIns="0" rtlCol="0" anchor="t" anchorCtr="0">
            <a:spAutoFit/>
          </a:bodyPr>
          <a:lstStyle/>
          <a:p>
            <a:pPr marL="285750" indent="-285750"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9" name="直線コネクタ 8">
            <a:extLst>
              <a:ext uri="{FF2B5EF4-FFF2-40B4-BE49-F238E27FC236}">
                <a16:creationId xmlns:a16="http://schemas.microsoft.com/office/drawing/2014/main" id="{CAEE74A6-CB74-A939-927E-6974048B4933}"/>
              </a:ext>
            </a:extLst>
          </p:cNvPr>
          <p:cNvCxnSpPr>
            <a:cxnSpLocks/>
          </p:cNvCxnSpPr>
          <p:nvPr/>
        </p:nvCxnSpPr>
        <p:spPr>
          <a:xfrm flipV="1">
            <a:off x="6096000" y="1508658"/>
            <a:ext cx="0" cy="48000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66F4740-EF9F-DAA8-25A4-9CCC9A7C9332}"/>
              </a:ext>
            </a:extLst>
          </p:cNvPr>
          <p:cNvSpPr txBox="1"/>
          <p:nvPr/>
        </p:nvSpPr>
        <p:spPr>
          <a:xfrm>
            <a:off x="6505902" y="1353935"/>
            <a:ext cx="2011015" cy="215444"/>
          </a:xfrm>
          <a:prstGeom prst="rect">
            <a:avLst/>
          </a:prstGeom>
          <a:noFill/>
        </p:spPr>
        <p:txBody>
          <a:bodyPr wrap="square" lIns="0" tIns="0" rIns="0" bIns="0" rtlCol="0" anchor="t" anchorCtr="0">
            <a:spAutoFit/>
          </a:bodyPr>
          <a:lstStyle/>
          <a:p>
            <a:pPr algn="l"/>
            <a:r>
              <a:rPr lang="ja-JP" altLang="en-US" sz="1400" b="1" dirty="0">
                <a:solidFill>
                  <a:schemeClr val="accent1"/>
                </a:solidFill>
                <a:latin typeface="BIZ UDPゴシック" panose="020B0400000000000000" pitchFamily="50" charset="-128"/>
                <a:ea typeface="BIZ UDPゴシック" panose="020B0400000000000000" pitchFamily="50" charset="-128"/>
              </a:rPr>
              <a:t>目的</a:t>
            </a:r>
            <a:endParaRPr kumimoji="1" lang="ja-JP" altLang="en-US" sz="1400" b="1" dirty="0">
              <a:solidFill>
                <a:schemeClr val="accent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34620E23-704B-B92F-0DE5-FB52F928D08A}"/>
              </a:ext>
            </a:extLst>
          </p:cNvPr>
          <p:cNvSpPr txBox="1"/>
          <p:nvPr/>
        </p:nvSpPr>
        <p:spPr>
          <a:xfrm>
            <a:off x="6505899" y="1705748"/>
            <a:ext cx="5278118" cy="1292662"/>
          </a:xfrm>
          <a:prstGeom prst="rect">
            <a:avLst/>
          </a:prstGeom>
          <a:noFill/>
          <a:ln w="19050">
            <a:noFill/>
          </a:ln>
        </p:spPr>
        <p:txBody>
          <a:bodyPr wrap="square" lIns="0" tIns="0" rIns="0" bIns="0" rtlCol="0" anchor="t" anchorCtr="0">
            <a:spAutoFit/>
          </a:bodyPr>
          <a:lstStyle/>
          <a:p>
            <a:pPr marL="285750"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664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432FA-701D-0DC5-C91B-BFB6119B84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7BAE79-4B5B-B18F-6F11-353297511B60}"/>
              </a:ext>
            </a:extLst>
          </p:cNvPr>
          <p:cNvSpPr>
            <a:spLocks noGrp="1"/>
          </p:cNvSpPr>
          <p:nvPr>
            <p:ph type="title"/>
          </p:nvPr>
        </p:nvSpPr>
        <p:spPr/>
        <p:txBody>
          <a:bodyPr/>
          <a:lstStyle/>
          <a:p>
            <a:r>
              <a:rPr kumimoji="1" lang="ja-JP" altLang="en-US" dirty="0"/>
              <a:t>本事業の背景</a:t>
            </a:r>
            <a:r>
              <a:rPr kumimoji="1" lang="en-US" altLang="ja-JP" dirty="0"/>
              <a:t>/</a:t>
            </a:r>
            <a:r>
              <a:rPr kumimoji="1" lang="ja-JP" altLang="en-US" dirty="0"/>
              <a:t>目的 と 基本方針</a:t>
            </a:r>
          </a:p>
        </p:txBody>
      </p:sp>
      <p:sp>
        <p:nvSpPr>
          <p:cNvPr id="3" name="フッター プレースホルダー 2">
            <a:extLst>
              <a:ext uri="{FF2B5EF4-FFF2-40B4-BE49-F238E27FC236}">
                <a16:creationId xmlns:a16="http://schemas.microsoft.com/office/drawing/2014/main" id="{41AAFB23-94AF-85DF-68F6-E03DA7E3E77B}"/>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D60460E-39BC-61C6-AD64-1ECF139539AB}"/>
              </a:ext>
            </a:extLst>
          </p:cNvPr>
          <p:cNvSpPr>
            <a:spLocks noGrp="1"/>
          </p:cNvSpPr>
          <p:nvPr>
            <p:ph type="sldNum" sz="quarter" idx="12"/>
          </p:nvPr>
        </p:nvSpPr>
        <p:spPr/>
        <p:txBody>
          <a:bodyPr/>
          <a:lstStyle/>
          <a:p>
            <a:fld id="{DCB5AA93-092B-49A1-87A7-3C88D5F38AD7}" type="slidenum">
              <a:rPr lang="ja-JP" altLang="en-US" smtClean="0"/>
              <a:pPr/>
              <a:t>3</a:t>
            </a:fld>
            <a:endParaRPr lang="ja-JP" altLang="en-US"/>
          </a:p>
        </p:txBody>
      </p:sp>
      <p:sp>
        <p:nvSpPr>
          <p:cNvPr id="5" name="テキスト プレースホルダー 4">
            <a:extLst>
              <a:ext uri="{FF2B5EF4-FFF2-40B4-BE49-F238E27FC236}">
                <a16:creationId xmlns:a16="http://schemas.microsoft.com/office/drawing/2014/main" id="{006EB738-6271-58BF-C923-7DC51DD7EFB5}"/>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721C143A-6AB3-D0DC-715D-351BB20DD24F}"/>
              </a:ext>
            </a:extLst>
          </p:cNvPr>
          <p:cNvSpPr txBox="1"/>
          <p:nvPr/>
        </p:nvSpPr>
        <p:spPr>
          <a:xfrm>
            <a:off x="407987" y="1353935"/>
            <a:ext cx="2011015" cy="276999"/>
          </a:xfrm>
          <a:prstGeom prst="rect">
            <a:avLst/>
          </a:prstGeom>
          <a:noFill/>
        </p:spPr>
        <p:txBody>
          <a:bodyPr wrap="square" lIns="0" tIns="0" rIns="0" bIns="0" rtlCol="0" anchor="t" anchorCtr="0">
            <a:spAutoFit/>
          </a:bodyPr>
          <a:lstStyle/>
          <a:p>
            <a:pPr algn="l"/>
            <a:r>
              <a:rPr kumimoji="1" lang="ja-JP" altLang="en-US" dirty="0">
                <a:latin typeface="BIZ UDPゴシック" panose="020B0400000000000000" pitchFamily="50" charset="-128"/>
                <a:ea typeface="BIZ UDPゴシック" panose="020B0400000000000000" pitchFamily="50" charset="-128"/>
              </a:rPr>
              <a:t>背景</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目的</a:t>
            </a:r>
          </a:p>
        </p:txBody>
      </p:sp>
      <p:sp>
        <p:nvSpPr>
          <p:cNvPr id="23" name="テキスト ボックス 22">
            <a:extLst>
              <a:ext uri="{FF2B5EF4-FFF2-40B4-BE49-F238E27FC236}">
                <a16:creationId xmlns:a16="http://schemas.microsoft.com/office/drawing/2014/main" id="{F0397372-FC14-E744-D69C-F4F94A482DD7}"/>
              </a:ext>
            </a:extLst>
          </p:cNvPr>
          <p:cNvSpPr txBox="1"/>
          <p:nvPr/>
        </p:nvSpPr>
        <p:spPr>
          <a:xfrm>
            <a:off x="407984" y="1705748"/>
            <a:ext cx="5278118" cy="2369880"/>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本事業の背景：</a:t>
            </a:r>
            <a:endParaRPr lang="en-US" altLang="ja-JP" sz="1400" b="1"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デジタル時代において、データは付加価値の源泉であり、企業活動にとって、データの流通・活用により、その価値を引き出すことの重要性が増している。</a:t>
            </a:r>
            <a:endParaRPr lang="en-US" altLang="ja-JP" sz="1400" dirty="0">
              <a:latin typeface="BIZ UDPゴシック" panose="020B0400000000000000" pitchFamily="50" charset="-128"/>
              <a:ea typeface="BIZ UDPゴシック" panose="020B0400000000000000" pitchFamily="50" charset="-128"/>
            </a:endParaRPr>
          </a:p>
          <a:p>
            <a:pPr marL="182563" algn="l"/>
            <a:endParaRPr kumimoji="1" lang="en-US" altLang="ja-JP" sz="1400"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データの流通や越境移転を促進するための手段として、企業認証制度が存在する。</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において企業等の越境個人データの保護に関するプライバシー原則への適合性を認証するシステムである</a:t>
            </a:r>
            <a:r>
              <a:rPr lang="en-US" altLang="ja-JP" sz="1400" dirty="0">
                <a:latin typeface="BIZ UDPゴシック" panose="020B0400000000000000" pitchFamily="50" charset="-128"/>
                <a:ea typeface="BIZ UDPゴシック" panose="020B0400000000000000" pitchFamily="50" charset="-128"/>
              </a:rPr>
              <a:t>CBPR</a:t>
            </a:r>
            <a:r>
              <a:rPr lang="ja-JP" altLang="en-US" sz="1400" dirty="0">
                <a:latin typeface="BIZ UDPゴシック" panose="020B0400000000000000" pitchFamily="50" charset="-128"/>
                <a:ea typeface="BIZ UDPゴシック" panose="020B0400000000000000" pitchFamily="50" charset="-128"/>
              </a:rPr>
              <a:t>は、</a:t>
            </a:r>
            <a:r>
              <a:rPr lang="en-US" altLang="ja-JP" sz="1400" dirty="0">
                <a:latin typeface="BIZ UDPゴシック" panose="020B0400000000000000" pitchFamily="50" charset="-128"/>
                <a:ea typeface="BIZ UDPゴシック" panose="020B0400000000000000" pitchFamily="50" charset="-128"/>
              </a:rPr>
              <a:t>2022</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4</a:t>
            </a:r>
            <a:r>
              <a:rPr lang="ja-JP" altLang="en-US" sz="1400" dirty="0">
                <a:latin typeface="BIZ UDPゴシック" panose="020B0400000000000000" pitchFamily="50" charset="-128"/>
                <a:ea typeface="BIZ UDPゴシック" panose="020B0400000000000000" pitchFamily="50" charset="-128"/>
              </a:rPr>
              <a:t>月 </a:t>
            </a:r>
            <a:r>
              <a:rPr lang="en-US" altLang="ja-JP" sz="1400" dirty="0">
                <a:latin typeface="BIZ UDPゴシック" panose="020B0400000000000000" pitchFamily="50" charset="-128"/>
                <a:ea typeface="BIZ UDPゴシック" panose="020B0400000000000000" pitchFamily="50" charset="-128"/>
              </a:rPr>
              <a:t>APEC</a:t>
            </a:r>
            <a:r>
              <a:rPr lang="ja-JP" altLang="en-US" sz="1400" dirty="0">
                <a:latin typeface="BIZ UDPゴシック" panose="020B0400000000000000" pitchFamily="50" charset="-128"/>
                <a:ea typeface="BIZ UDPゴシック" panose="020B0400000000000000" pitchFamily="50" charset="-128"/>
              </a:rPr>
              <a:t>の枠にとらわれないより視野の広い国家間での自由なデータ流通圏を構築するための独立した新フォーラムとして立ち上げられることが宣言された。</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6" name="直線コネクタ 5">
            <a:extLst>
              <a:ext uri="{FF2B5EF4-FFF2-40B4-BE49-F238E27FC236}">
                <a16:creationId xmlns:a16="http://schemas.microsoft.com/office/drawing/2014/main" id="{516089CE-8845-D21E-2796-C0C834F41A9A}"/>
              </a:ext>
            </a:extLst>
          </p:cNvPr>
          <p:cNvCxnSpPr>
            <a:cxnSpLocks/>
          </p:cNvCxnSpPr>
          <p:nvPr/>
        </p:nvCxnSpPr>
        <p:spPr>
          <a:xfrm>
            <a:off x="407984" y="1628775"/>
            <a:ext cx="527811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9" name="直線コネクタ 8">
            <a:extLst>
              <a:ext uri="{FF2B5EF4-FFF2-40B4-BE49-F238E27FC236}">
                <a16:creationId xmlns:a16="http://schemas.microsoft.com/office/drawing/2014/main" id="{EDBCB8F4-3093-17AC-6994-EE21902A8833}"/>
              </a:ext>
            </a:extLst>
          </p:cNvPr>
          <p:cNvCxnSpPr>
            <a:cxnSpLocks/>
          </p:cNvCxnSpPr>
          <p:nvPr/>
        </p:nvCxnSpPr>
        <p:spPr>
          <a:xfrm flipV="1">
            <a:off x="6096000" y="1508658"/>
            <a:ext cx="0" cy="48000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D4B41B5F-564B-B606-032F-FE7B3709833C}"/>
              </a:ext>
            </a:extLst>
          </p:cNvPr>
          <p:cNvSpPr txBox="1"/>
          <p:nvPr/>
        </p:nvSpPr>
        <p:spPr>
          <a:xfrm>
            <a:off x="407984" y="4441891"/>
            <a:ext cx="5278118" cy="1508105"/>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本事業の目的：</a:t>
            </a:r>
            <a:endParaRPr lang="en-US" altLang="ja-JP" sz="1400" b="1" dirty="0">
              <a:latin typeface="BIZ UDPゴシック" panose="020B0400000000000000" pitchFamily="50" charset="-128"/>
              <a:ea typeface="BIZ UDPゴシック" panose="020B0400000000000000" pitchFamily="50" charset="-128"/>
            </a:endParaRPr>
          </a:p>
          <a:p>
            <a:pPr marL="182563" algn="l"/>
            <a:r>
              <a:rPr lang="ja-JP" altLang="en-US" sz="1400" dirty="0">
                <a:latin typeface="BIZ UDPゴシック" panose="020B0400000000000000" pitchFamily="50" charset="-128"/>
                <a:ea typeface="BIZ UDPゴシック" panose="020B0400000000000000" pitchFamily="50" charset="-128"/>
              </a:rPr>
              <a:t>本事業では、この新しいフォーラムが効果的なデータプライバシーの保護や各国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地域におけるデータ保護関連の規律の相互運用性の促進を実現できるものとして構築されていくための設計の前提となる情報の収集・分析を行うべく、各国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各地域で検討・導入されているデータの越境移転に関する認証制度等の内容を詳細に調査する</a:t>
            </a:r>
            <a:endParaRPr lang="en-US" altLang="ja-JP"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44866F0E-3E45-0465-962E-37137D1E1BED}"/>
              </a:ext>
            </a:extLst>
          </p:cNvPr>
          <p:cNvSpPr txBox="1"/>
          <p:nvPr/>
        </p:nvSpPr>
        <p:spPr>
          <a:xfrm>
            <a:off x="6505902" y="1353935"/>
            <a:ext cx="2011015" cy="276999"/>
          </a:xfrm>
          <a:prstGeom prst="rect">
            <a:avLst/>
          </a:prstGeom>
          <a:noFill/>
        </p:spPr>
        <p:txBody>
          <a:bodyPr wrap="square" lIns="0" tIns="0" rIns="0" bIns="0" rtlCol="0" anchor="t" anchorCtr="0">
            <a:spAutoFit/>
          </a:bodyPr>
          <a:lstStyle/>
          <a:p>
            <a:pPr algn="l"/>
            <a:r>
              <a:rPr lang="ja-JP" altLang="en-US" dirty="0">
                <a:latin typeface="BIZ UDPゴシック" panose="020B0400000000000000" pitchFamily="50" charset="-128"/>
                <a:ea typeface="BIZ UDPゴシック" panose="020B0400000000000000" pitchFamily="50" charset="-128"/>
              </a:rPr>
              <a:t>実施の基本方針</a:t>
            </a:r>
            <a:endParaRPr kumimoji="1" lang="ja-JP" altLang="en-US"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AE2B207B-96E4-ECE5-C723-F91A009CBA07}"/>
              </a:ext>
            </a:extLst>
          </p:cNvPr>
          <p:cNvSpPr txBox="1"/>
          <p:nvPr/>
        </p:nvSpPr>
        <p:spPr>
          <a:xfrm>
            <a:off x="6505899" y="1705748"/>
            <a:ext cx="5278118" cy="1508105"/>
          </a:xfrm>
          <a:prstGeom prst="rect">
            <a:avLst/>
          </a:prstGeom>
          <a:noFill/>
          <a:ln w="19050">
            <a:noFill/>
          </a:ln>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昨年度までの検討を踏まえて、以下を実施する</a:t>
            </a:r>
            <a:endParaRPr lang="en-US" altLang="ja-JP" sz="1400" dirty="0">
              <a:latin typeface="BIZ UDPゴシック" panose="020B0400000000000000" pitchFamily="50" charset="-128"/>
              <a:ea typeface="BIZ UDPゴシック" panose="020B0400000000000000" pitchFamily="50" charset="-128"/>
            </a:endParaRPr>
          </a:p>
          <a:p>
            <a:pPr algn="l"/>
            <a:endParaRPr lang="en-US" altLang="ja-JP" sz="1400" b="1"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各国</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地域での検討、導入されているデータの越境移転に関する規制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ツールの概念整理</a:t>
            </a:r>
            <a:endParaRPr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規制</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ツールの内容の詳細な整理・分析</a:t>
            </a:r>
            <a:endParaRPr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tabLst>
                <a:tab pos="266700" algn="l"/>
              </a:tabLst>
            </a:pPr>
            <a:r>
              <a:rPr lang="ja-JP" altLang="en-US" sz="1400" dirty="0">
                <a:latin typeface="BIZ UDPゴシック" panose="020B0400000000000000" pitchFamily="50" charset="-128"/>
                <a:ea typeface="BIZ UDPゴシック" panose="020B0400000000000000" pitchFamily="50" charset="-128"/>
              </a:rPr>
              <a:t>国内外の事業者インタビューを通じた既存ツールの課題、越境移転に関する事業者ニーズの洗い出し</a:t>
            </a:r>
            <a:endParaRPr lang="en-US" altLang="ja-JP" sz="1400" dirty="0">
              <a:latin typeface="BIZ UDPゴシック" panose="020B0400000000000000" pitchFamily="50" charset="-128"/>
              <a:ea typeface="BIZ UDPゴシック" panose="020B0400000000000000" pitchFamily="50" charset="-128"/>
            </a:endParaRPr>
          </a:p>
        </p:txBody>
      </p:sp>
      <p:cxnSp>
        <p:nvCxnSpPr>
          <p:cNvPr id="14" name="直線コネクタ 13">
            <a:extLst>
              <a:ext uri="{FF2B5EF4-FFF2-40B4-BE49-F238E27FC236}">
                <a16:creationId xmlns:a16="http://schemas.microsoft.com/office/drawing/2014/main" id="{AA6FA3AE-D8D2-2C7A-73E0-80B3716F44DA}"/>
              </a:ext>
            </a:extLst>
          </p:cNvPr>
          <p:cNvCxnSpPr>
            <a:cxnSpLocks/>
          </p:cNvCxnSpPr>
          <p:nvPr/>
        </p:nvCxnSpPr>
        <p:spPr>
          <a:xfrm>
            <a:off x="6505899" y="1628775"/>
            <a:ext cx="527811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30349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1E20CB-3002-6357-4E11-2E806C095719}"/>
              </a:ext>
            </a:extLst>
          </p:cNvPr>
          <p:cNvSpPr>
            <a:spLocks noGrp="1"/>
          </p:cNvSpPr>
          <p:nvPr>
            <p:ph type="title"/>
          </p:nvPr>
        </p:nvSpPr>
        <p:spPr/>
        <p:txBody>
          <a:bodyPr/>
          <a:lstStyle/>
          <a:p>
            <a:r>
              <a:rPr kumimoji="1" lang="ja-JP" altLang="en-US" dirty="0"/>
              <a:t>背景・プロジェクト目的</a:t>
            </a:r>
          </a:p>
        </p:txBody>
      </p:sp>
      <p:sp>
        <p:nvSpPr>
          <p:cNvPr id="3" name="フッター プレースホルダー 2">
            <a:extLst>
              <a:ext uri="{FF2B5EF4-FFF2-40B4-BE49-F238E27FC236}">
                <a16:creationId xmlns:a16="http://schemas.microsoft.com/office/drawing/2014/main" id="{E85BD320-F657-5049-EE5E-48A3592BFF89}"/>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71AC5BA5-D234-FED3-D4CF-56994C2462C0}"/>
              </a:ext>
            </a:extLst>
          </p:cNvPr>
          <p:cNvSpPr>
            <a:spLocks noGrp="1"/>
          </p:cNvSpPr>
          <p:nvPr>
            <p:ph type="sldNum" sz="quarter" idx="12"/>
          </p:nvPr>
        </p:nvSpPr>
        <p:spPr/>
        <p:txBody>
          <a:bodyPr/>
          <a:lstStyle/>
          <a:p>
            <a:fld id="{DCB5AA93-092B-49A1-87A7-3C88D5F38AD7}" type="slidenum">
              <a:rPr lang="ja-JP" altLang="en-US" smtClean="0"/>
              <a:pPr/>
              <a:t>4</a:t>
            </a:fld>
            <a:endParaRPr lang="ja-JP" altLang="en-US"/>
          </a:p>
        </p:txBody>
      </p:sp>
      <p:sp>
        <p:nvSpPr>
          <p:cNvPr id="5" name="テキスト プレースホルダー 4">
            <a:extLst>
              <a:ext uri="{FF2B5EF4-FFF2-40B4-BE49-F238E27FC236}">
                <a16:creationId xmlns:a16="http://schemas.microsoft.com/office/drawing/2014/main" id="{4651F455-8C30-3A62-6EDC-F6EBEAA6A48A}"/>
              </a:ext>
            </a:extLst>
          </p:cNvPr>
          <p:cNvSpPr>
            <a:spLocks noGrp="1"/>
          </p:cNvSpPr>
          <p:nvPr>
            <p:ph type="body" sz="quarter" idx="13"/>
          </p:nvPr>
        </p:nvSpPr>
        <p:spPr/>
        <p:txBody>
          <a:bodyPr>
            <a:noAutofit/>
          </a:bodyPr>
          <a:lstStyle/>
          <a:p>
            <a:r>
              <a:rPr kumimoji="1" lang="ja-JP" altLang="en-US" sz="1800" dirty="0"/>
              <a:t>世界的に</a:t>
            </a:r>
            <a:r>
              <a:rPr kumimoji="1" lang="en-US" altLang="ja-JP" sz="1800" dirty="0"/>
              <a:t>SC</a:t>
            </a:r>
            <a:r>
              <a:rPr kumimoji="1" lang="ja-JP" altLang="en-US" sz="1800" dirty="0"/>
              <a:t>全体での</a:t>
            </a:r>
            <a:r>
              <a:rPr kumimoji="1" lang="en-US" altLang="ja-JP" sz="1800" dirty="0"/>
              <a:t>CN</a:t>
            </a:r>
            <a:r>
              <a:rPr kumimoji="1" lang="ja-JP" altLang="en-US" sz="1800" dirty="0"/>
              <a:t>対応が求められる中、中堅・中小企業の</a:t>
            </a:r>
            <a:r>
              <a:rPr kumimoji="1" lang="en-US" altLang="ja-JP" sz="1800" dirty="0"/>
              <a:t>CN</a:t>
            </a:r>
            <a:r>
              <a:rPr kumimoji="1" lang="ja-JP" altLang="en-US" sz="1800" dirty="0"/>
              <a:t>対応が不十分な実態がある。中部地域における産業界の</a:t>
            </a:r>
            <a:r>
              <a:rPr kumimoji="1" lang="en-US" altLang="ja-JP" sz="1800" dirty="0"/>
              <a:t>CN</a:t>
            </a:r>
            <a:r>
              <a:rPr kumimoji="1" lang="ja-JP" altLang="en-US" sz="1800" dirty="0"/>
              <a:t>対応上の課題と支援ニーズを明らかにし、行政として効果的な支援策の検討を行う</a:t>
            </a:r>
          </a:p>
        </p:txBody>
      </p:sp>
      <p:sp>
        <p:nvSpPr>
          <p:cNvPr id="6" name="正方形/長方形 5">
            <a:extLst>
              <a:ext uri="{FF2B5EF4-FFF2-40B4-BE49-F238E27FC236}">
                <a16:creationId xmlns:a16="http://schemas.microsoft.com/office/drawing/2014/main" id="{85791A37-CDEB-A5AB-206F-9A9249503999}"/>
              </a:ext>
            </a:extLst>
          </p:cNvPr>
          <p:cNvSpPr/>
          <p:nvPr/>
        </p:nvSpPr>
        <p:spPr>
          <a:xfrm>
            <a:off x="407988" y="1628775"/>
            <a:ext cx="8202616"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lang="ja-JP" altLang="en-US" sz="1400" dirty="0">
                <a:solidFill>
                  <a:schemeClr val="tx1"/>
                </a:solidFill>
                <a:latin typeface="BIZ UDPゴシック" panose="020B0400000000000000" pitchFamily="50" charset="-128"/>
                <a:ea typeface="BIZ UDPゴシック" panose="020B0400000000000000" pitchFamily="50" charset="-128"/>
              </a:rPr>
              <a:t>背景</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08BA7081-7BB5-0520-7B6C-1C32C569179A}"/>
              </a:ext>
            </a:extLst>
          </p:cNvPr>
          <p:cNvSpPr/>
          <p:nvPr/>
        </p:nvSpPr>
        <p:spPr>
          <a:xfrm>
            <a:off x="407988" y="2143529"/>
            <a:ext cx="1088303" cy="109012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世界的潮流</a:t>
            </a:r>
          </a:p>
        </p:txBody>
      </p:sp>
      <p:sp>
        <p:nvSpPr>
          <p:cNvPr id="8" name="正方形/長方形 7">
            <a:extLst>
              <a:ext uri="{FF2B5EF4-FFF2-40B4-BE49-F238E27FC236}">
                <a16:creationId xmlns:a16="http://schemas.microsoft.com/office/drawing/2014/main" id="{87350A37-AA8E-4D0C-D4B8-9E0BAE304C05}"/>
              </a:ext>
            </a:extLst>
          </p:cNvPr>
          <p:cNvSpPr/>
          <p:nvPr/>
        </p:nvSpPr>
        <p:spPr>
          <a:xfrm>
            <a:off x="407987" y="3429000"/>
            <a:ext cx="1088303" cy="30607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中部地域の</a:t>
            </a:r>
            <a:endParaRPr kumimoji="1" lang="en-US" altLang="ja-JP" sz="1400" dirty="0">
              <a:solidFill>
                <a:schemeClr val="tx1"/>
              </a:solidFill>
              <a:latin typeface="BIZ UDPゴシック" panose="020B0400000000000000" pitchFamily="50" charset="-128"/>
              <a:ea typeface="BIZ UDPゴシック" panose="020B0400000000000000" pitchFamily="50" charset="-128"/>
            </a:endParaRPr>
          </a:p>
          <a:p>
            <a:pPr algn="l"/>
            <a:r>
              <a:rPr lang="ja-JP" altLang="en-US" sz="1400" dirty="0">
                <a:solidFill>
                  <a:schemeClr val="tx1"/>
                </a:solidFill>
                <a:latin typeface="BIZ UDPゴシック" panose="020B0400000000000000" pitchFamily="50" charset="-128"/>
                <a:ea typeface="BIZ UDPゴシック" panose="020B0400000000000000" pitchFamily="50" charset="-128"/>
              </a:rPr>
              <a:t>情勢</a:t>
            </a:r>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899116F3-D330-305E-8A00-2017356AEDD2}"/>
              </a:ext>
            </a:extLst>
          </p:cNvPr>
          <p:cNvSpPr txBox="1"/>
          <p:nvPr/>
        </p:nvSpPr>
        <p:spPr>
          <a:xfrm>
            <a:off x="1612670" y="2143528"/>
            <a:ext cx="3499657" cy="861774"/>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サプライチェーン全体での脱炭素化への動きが加速しており、国内外の大企業において、</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を宣言する企業が増加している</a:t>
            </a:r>
          </a:p>
        </p:txBody>
      </p:sp>
      <p:sp>
        <p:nvSpPr>
          <p:cNvPr id="10" name="テキスト ボックス 9">
            <a:extLst>
              <a:ext uri="{FF2B5EF4-FFF2-40B4-BE49-F238E27FC236}">
                <a16:creationId xmlns:a16="http://schemas.microsoft.com/office/drawing/2014/main" id="{256A90A8-4F03-615C-8016-FE336AAE21B0}"/>
              </a:ext>
            </a:extLst>
          </p:cNvPr>
          <p:cNvSpPr txBox="1"/>
          <p:nvPr/>
        </p:nvSpPr>
        <p:spPr>
          <a:xfrm>
            <a:off x="1612670" y="3429000"/>
            <a:ext cx="3499657" cy="3016210"/>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中部地域の基幹産業である自動車産業においても、先行する大企業ではサプライチェーン全体の</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に向けた取り組みが進められており、直接取引を行う主要部品メーカーに対して、</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排出量を前年比で一定の排出削減を要請する動きがみられている</a:t>
            </a:r>
            <a:endParaRPr kumimoji="1"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r>
              <a:rPr kumimoji="1" lang="ja-JP" altLang="en-US" sz="1400" dirty="0">
                <a:latin typeface="BIZ UDPゴシック" panose="020B0400000000000000" pitchFamily="50" charset="-128"/>
                <a:ea typeface="BIZ UDPゴシック" panose="020B0400000000000000" pitchFamily="50" charset="-128"/>
              </a:rPr>
              <a:t>今後は大企業のみならず、中堅・中小サプライヤーにおいても、</a:t>
            </a:r>
            <a:r>
              <a:rPr kumimoji="1" lang="en-US" altLang="ja-JP" sz="1400" dirty="0">
                <a:latin typeface="BIZ UDPゴシック" panose="020B0400000000000000" pitchFamily="50" charset="-128"/>
                <a:ea typeface="BIZ UDPゴシック" panose="020B0400000000000000" pitchFamily="50" charset="-128"/>
              </a:rPr>
              <a:t>CN</a:t>
            </a:r>
            <a:r>
              <a:rPr kumimoji="1" lang="ja-JP" altLang="en-US" sz="1400" dirty="0">
                <a:latin typeface="BIZ UDPゴシック" panose="020B0400000000000000" pitchFamily="50" charset="-128"/>
                <a:ea typeface="BIZ UDPゴシック" panose="020B0400000000000000" pitchFamily="50" charset="-128"/>
              </a:rPr>
              <a:t>対応の動きが広がっていくことが考えられ、サプライチェーン全体での</a:t>
            </a:r>
            <a:r>
              <a:rPr kumimoji="1" lang="en-US" altLang="ja-JP" sz="1400" dirty="0">
                <a:latin typeface="BIZ UDPゴシック" panose="020B0400000000000000" pitchFamily="50" charset="-128"/>
                <a:ea typeface="BIZ UDPゴシック" panose="020B0400000000000000" pitchFamily="50" charset="-128"/>
              </a:rPr>
              <a:t>Co2</a:t>
            </a:r>
            <a:r>
              <a:rPr kumimoji="1" lang="ja-JP" altLang="en-US" sz="1400" dirty="0">
                <a:latin typeface="BIZ UDPゴシック" panose="020B0400000000000000" pitchFamily="50" charset="-128"/>
                <a:ea typeface="BIZ UDPゴシック" panose="020B0400000000000000" pitchFamily="50" charset="-128"/>
              </a:rPr>
              <a:t>排出量の見える化から捻出削減に係る対応を実施していく必要がある</a:t>
            </a:r>
          </a:p>
        </p:txBody>
      </p:sp>
      <p:sp>
        <p:nvSpPr>
          <p:cNvPr id="13" name="正方形/長方形 12">
            <a:extLst>
              <a:ext uri="{FF2B5EF4-FFF2-40B4-BE49-F238E27FC236}">
                <a16:creationId xmlns:a16="http://schemas.microsoft.com/office/drawing/2014/main" id="{BCEFB6E5-EB98-D53E-4BF6-1BC54BAD5A7C}"/>
              </a:ext>
            </a:extLst>
          </p:cNvPr>
          <p:cNvSpPr/>
          <p:nvPr/>
        </p:nvSpPr>
        <p:spPr>
          <a:xfrm>
            <a:off x="5569528" y="2143528"/>
            <a:ext cx="3041076"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ステークホルダーの情勢</a:t>
            </a:r>
          </a:p>
        </p:txBody>
      </p:sp>
      <p:sp>
        <p:nvSpPr>
          <p:cNvPr id="14" name="テキスト ボックス 13">
            <a:extLst>
              <a:ext uri="{FF2B5EF4-FFF2-40B4-BE49-F238E27FC236}">
                <a16:creationId xmlns:a16="http://schemas.microsoft.com/office/drawing/2014/main" id="{56C4B524-50C4-0994-B0CB-E3219A97CF87}"/>
              </a:ext>
            </a:extLst>
          </p:cNvPr>
          <p:cNvSpPr txBox="1"/>
          <p:nvPr/>
        </p:nvSpPr>
        <p:spPr>
          <a:xfrm>
            <a:off x="5569528" y="2789859"/>
            <a:ext cx="3041076" cy="2369880"/>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l"/>
            </a:pPr>
            <a:r>
              <a:rPr lang="ja-JP" altLang="en-US" sz="1400" dirty="0">
                <a:latin typeface="BIZ UDPゴシック" panose="020B0400000000000000" pitchFamily="50" charset="-128"/>
                <a:ea typeface="BIZ UDPゴシック" panose="020B0400000000000000" pitchFamily="50" charset="-128"/>
              </a:rPr>
              <a:t>中堅・中小企業においては、</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に対して関心は高まっているものの、知識面・体制面が不十分なこともあり、具体的な対応などには手が付けられていない企業が多い</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endParaRPr kumimoji="1" lang="en-US" altLang="ja-JP" sz="1400" dirty="0">
              <a:latin typeface="BIZ UDPゴシック" panose="020B0400000000000000" pitchFamily="50" charset="-128"/>
              <a:ea typeface="BIZ UDPゴシック" panose="020B0400000000000000" pitchFamily="50" charset="-128"/>
            </a:endParaRPr>
          </a:p>
          <a:p>
            <a:pPr marL="285750" indent="-285750" algn="l">
              <a:buFont typeface="Wingdings" panose="05000000000000000000" pitchFamily="2" charset="2"/>
              <a:buChar char="l"/>
            </a:pPr>
            <a:r>
              <a:rPr lang="ja-JP" altLang="en-US" sz="1400" dirty="0">
                <a:latin typeface="BIZ UDPゴシック" panose="020B0400000000000000" pitchFamily="50" charset="-128"/>
                <a:ea typeface="BIZ UDPゴシック" panose="020B0400000000000000" pitchFamily="50" charset="-128"/>
              </a:rPr>
              <a:t>支援体制も確立されていないのが実情となっており、</a:t>
            </a:r>
            <a:r>
              <a:rPr lang="en-US" altLang="ja-JP" sz="1400" dirty="0">
                <a:latin typeface="BIZ UDPゴシック" panose="020B0400000000000000" pitchFamily="50" charset="-128"/>
                <a:ea typeface="BIZ UDPゴシック" panose="020B0400000000000000" pitchFamily="50" charset="-128"/>
              </a:rPr>
              <a:t>2030</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2050</a:t>
            </a:r>
            <a:r>
              <a:rPr lang="ja-JP" altLang="en-US" sz="1400" dirty="0">
                <a:latin typeface="BIZ UDPゴシック" panose="020B0400000000000000" pitchFamily="50" charset="-128"/>
                <a:ea typeface="BIZ UDPゴシック" panose="020B0400000000000000" pitchFamily="50" charset="-128"/>
              </a:rPr>
              <a:t>年の排出量の削減目標を達成していくためには中堅・中小奇病の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に向けた取り組みの加速が必要</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B6BE059-C325-ABED-CD49-0189863830A2}"/>
              </a:ext>
            </a:extLst>
          </p:cNvPr>
          <p:cNvSpPr/>
          <p:nvPr/>
        </p:nvSpPr>
        <p:spPr>
          <a:xfrm>
            <a:off x="9168937" y="1628775"/>
            <a:ext cx="2615075" cy="36512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r>
              <a:rPr kumimoji="1" lang="ja-JP" altLang="en-US" sz="1400" dirty="0">
                <a:solidFill>
                  <a:schemeClr val="tx1"/>
                </a:solidFill>
                <a:latin typeface="BIZ UDPゴシック" panose="020B0400000000000000" pitchFamily="50" charset="-128"/>
                <a:ea typeface="BIZ UDPゴシック" panose="020B0400000000000000" pitchFamily="50" charset="-128"/>
              </a:rPr>
              <a:t>目的</a:t>
            </a:r>
          </a:p>
        </p:txBody>
      </p:sp>
      <p:sp>
        <p:nvSpPr>
          <p:cNvPr id="16" name="テキスト ボックス 15">
            <a:extLst>
              <a:ext uri="{FF2B5EF4-FFF2-40B4-BE49-F238E27FC236}">
                <a16:creationId xmlns:a16="http://schemas.microsoft.com/office/drawing/2014/main" id="{E3AEA35E-E440-CBAF-D244-EB0FE99F35AC}"/>
              </a:ext>
            </a:extLst>
          </p:cNvPr>
          <p:cNvSpPr txBox="1"/>
          <p:nvPr/>
        </p:nvSpPr>
        <p:spPr>
          <a:xfrm>
            <a:off x="9168937" y="2143527"/>
            <a:ext cx="2615075" cy="1292662"/>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中部地域の産業界での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対応に係る現状と課題等を把握・整理したうえで、地域企業の</a:t>
            </a:r>
            <a:r>
              <a:rPr lang="en-US" altLang="ja-JP" sz="1400" dirty="0">
                <a:latin typeface="BIZ UDPゴシック" panose="020B0400000000000000" pitchFamily="50" charset="-128"/>
                <a:ea typeface="BIZ UDPゴシック" panose="020B0400000000000000" pitchFamily="50" charset="-128"/>
              </a:rPr>
              <a:t>CN</a:t>
            </a:r>
            <a:r>
              <a:rPr lang="ja-JP" altLang="en-US" sz="1400" dirty="0">
                <a:latin typeface="BIZ UDPゴシック" panose="020B0400000000000000" pitchFamily="50" charset="-128"/>
                <a:ea typeface="BIZ UDPゴシック" panose="020B0400000000000000" pitchFamily="50" charset="-128"/>
              </a:rPr>
              <a:t>対応をよりすすめるための具体的な支援モデルの作り上げや支援施策の検討を行う</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7" name="二等辺三角形 16">
            <a:extLst>
              <a:ext uri="{FF2B5EF4-FFF2-40B4-BE49-F238E27FC236}">
                <a16:creationId xmlns:a16="http://schemas.microsoft.com/office/drawing/2014/main" id="{868C591C-A435-B95A-B1E5-AB00C39D016A}"/>
              </a:ext>
            </a:extLst>
          </p:cNvPr>
          <p:cNvSpPr/>
          <p:nvPr/>
        </p:nvSpPr>
        <p:spPr>
          <a:xfrm rot="5400000">
            <a:off x="5144696" y="2900261"/>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
        <p:nvSpPr>
          <p:cNvPr id="18" name="二等辺三角形 17">
            <a:extLst>
              <a:ext uri="{FF2B5EF4-FFF2-40B4-BE49-F238E27FC236}">
                <a16:creationId xmlns:a16="http://schemas.microsoft.com/office/drawing/2014/main" id="{05D64119-850D-8F46-BBC0-101C4DA65B93}"/>
              </a:ext>
            </a:extLst>
          </p:cNvPr>
          <p:cNvSpPr/>
          <p:nvPr/>
        </p:nvSpPr>
        <p:spPr>
          <a:xfrm rot="5400000">
            <a:off x="8659600" y="2900261"/>
            <a:ext cx="375836" cy="290944"/>
          </a:xfrm>
          <a:prstGeom prst="triangl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63249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B5A76-B73C-5A35-742F-EE058145D9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3F7159F-90AA-EB42-AB31-790CB5D19EB1}"/>
              </a:ext>
            </a:extLst>
          </p:cNvPr>
          <p:cNvSpPr>
            <a:spLocks noGrp="1"/>
          </p:cNvSpPr>
          <p:nvPr>
            <p:ph type="title"/>
          </p:nvPr>
        </p:nvSpPr>
        <p:spPr/>
        <p:txBody>
          <a:bodyPr/>
          <a:lstStyle/>
          <a:p>
            <a:r>
              <a:rPr kumimoji="1" lang="ja-JP" altLang="en-US" dirty="0"/>
              <a:t>プロジェクト憲章</a:t>
            </a:r>
          </a:p>
        </p:txBody>
      </p:sp>
      <p:sp>
        <p:nvSpPr>
          <p:cNvPr id="4" name="スライド番号プレースホルダー 3">
            <a:extLst>
              <a:ext uri="{FF2B5EF4-FFF2-40B4-BE49-F238E27FC236}">
                <a16:creationId xmlns:a16="http://schemas.microsoft.com/office/drawing/2014/main" id="{60A62C53-7299-5C51-0C5C-FED9B7C76A63}"/>
              </a:ext>
            </a:extLst>
          </p:cNvPr>
          <p:cNvSpPr>
            <a:spLocks noGrp="1"/>
          </p:cNvSpPr>
          <p:nvPr>
            <p:ph type="sldNum" sz="quarter" idx="12"/>
          </p:nvPr>
        </p:nvSpPr>
        <p:spPr/>
        <p:txBody>
          <a:bodyPr/>
          <a:lstStyle/>
          <a:p>
            <a:fld id="{DCB5AA93-092B-49A1-87A7-3C88D5F38AD7}" type="slidenum">
              <a:rPr lang="ja-JP" altLang="en-US" smtClean="0"/>
              <a:pPr/>
              <a:t>5</a:t>
            </a:fld>
            <a:endParaRPr lang="ja-JP" altLang="en-US"/>
          </a:p>
        </p:txBody>
      </p:sp>
      <p:sp>
        <p:nvSpPr>
          <p:cNvPr id="8" name="テキスト ボックス 7">
            <a:extLst>
              <a:ext uri="{FF2B5EF4-FFF2-40B4-BE49-F238E27FC236}">
                <a16:creationId xmlns:a16="http://schemas.microsoft.com/office/drawing/2014/main" id="{FE82495A-ACCA-7388-6786-436A2E883CDE}"/>
              </a:ext>
            </a:extLst>
          </p:cNvPr>
          <p:cNvSpPr txBox="1"/>
          <p:nvPr/>
        </p:nvSpPr>
        <p:spPr>
          <a:xfrm>
            <a:off x="407989" y="1264129"/>
            <a:ext cx="5685241"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名前</a:t>
            </a:r>
            <a:r>
              <a:rPr lang="ja-JP" altLang="en-US"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960929E-9506-2B42-83D8-C35302D2C1CA}"/>
              </a:ext>
            </a:extLst>
          </p:cNvPr>
          <p:cNvSpPr txBox="1"/>
          <p:nvPr/>
        </p:nvSpPr>
        <p:spPr>
          <a:xfrm>
            <a:off x="6096002" y="1264129"/>
            <a:ext cx="2835082" cy="268215"/>
          </a:xfrm>
          <a:prstGeom prst="rect">
            <a:avLst/>
          </a:prstGeom>
          <a:noFill/>
          <a:ln>
            <a:solidFill>
              <a:schemeClr val="bg1">
                <a:lumMod val="65000"/>
              </a:schemeClr>
            </a:solidFill>
          </a:ln>
        </p:spPr>
        <p:txBody>
          <a:bodyPr wrap="square" lIns="0" tIns="0" rIns="0" bIns="0" rtlCol="0" anchor="ctr" anchorCtr="0">
            <a:spAutoFit/>
          </a:bodyPr>
          <a:lstStyle/>
          <a:p>
            <a:pPr indent="92075">
              <a:lnSpc>
                <a:spcPct val="150000"/>
              </a:lnSpc>
            </a:pPr>
            <a:r>
              <a:rPr lang="ja-JP" altLang="en-US" sz="1400" b="1" dirty="0">
                <a:latin typeface="BIZ UDPゴシック" panose="020B0400000000000000" pitchFamily="50" charset="-128"/>
                <a:ea typeface="BIZ UDPゴシック" panose="020B0400000000000000" pitchFamily="50" charset="-128"/>
              </a:rPr>
              <a:t>責任者</a:t>
            </a:r>
            <a:r>
              <a:rPr kumimoji="1" lang="ja-JP" altLang="en-US" sz="1400" dirty="0">
                <a:latin typeface="BIZ UDPゴシック" panose="020B0400000000000000" pitchFamily="50" charset="-128"/>
                <a:ea typeface="BIZ UDPゴシック" panose="020B0400000000000000" pitchFamily="50" charset="-128"/>
              </a:rPr>
              <a:t>：</a:t>
            </a:r>
          </a:p>
        </p:txBody>
      </p:sp>
      <p:sp>
        <p:nvSpPr>
          <p:cNvPr id="11" name="テキスト ボックス 10">
            <a:extLst>
              <a:ext uri="{FF2B5EF4-FFF2-40B4-BE49-F238E27FC236}">
                <a16:creationId xmlns:a16="http://schemas.microsoft.com/office/drawing/2014/main" id="{B1EFA672-EFEF-8478-3A0E-BA9620C3A613}"/>
              </a:ext>
            </a:extLst>
          </p:cNvPr>
          <p:cNvSpPr txBox="1"/>
          <p:nvPr/>
        </p:nvSpPr>
        <p:spPr>
          <a:xfrm>
            <a:off x="8931084" y="1264129"/>
            <a:ext cx="2852929" cy="268215"/>
          </a:xfrm>
          <a:prstGeom prst="rect">
            <a:avLst/>
          </a:prstGeom>
          <a:noFill/>
          <a:ln>
            <a:solidFill>
              <a:schemeClr val="bg1">
                <a:lumMod val="65000"/>
              </a:schemeClr>
            </a:solidFill>
          </a:ln>
        </p:spPr>
        <p:txBody>
          <a:bodyPr wrap="square" lIns="0" tIns="0" rIns="0" bIns="0" rtlCol="0" anchor="ctr" anchorCtr="0">
            <a:spAutoFit/>
          </a:bodyPr>
          <a:lstStyle/>
          <a:p>
            <a:pPr indent="92075">
              <a:lnSpc>
                <a:spcPct val="150000"/>
              </a:lnSpc>
            </a:pPr>
            <a:r>
              <a:rPr lang="ja-JP" altLang="en-US" sz="1400" b="1" dirty="0">
                <a:latin typeface="BIZ UDPゴシック" panose="020B0400000000000000" pitchFamily="50" charset="-128"/>
                <a:ea typeface="BIZ UDPゴシック" panose="020B0400000000000000" pitchFamily="50" charset="-128"/>
              </a:rPr>
              <a:t>リーダー</a:t>
            </a:r>
            <a:r>
              <a:rPr lang="ja-JP" altLang="en-US"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3B00B6BC-9323-AD6F-A5D9-D372318E82BF}"/>
              </a:ext>
            </a:extLst>
          </p:cNvPr>
          <p:cNvSpPr txBox="1"/>
          <p:nvPr/>
        </p:nvSpPr>
        <p:spPr>
          <a:xfrm>
            <a:off x="407990" y="156150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背景</a:t>
            </a:r>
            <a:r>
              <a:rPr lang="en-US" altLang="ja-JP" sz="1400" b="1" dirty="0">
                <a:latin typeface="BIZ UDPゴシック" panose="020B0400000000000000" pitchFamily="50" charset="-128"/>
                <a:ea typeface="BIZ UDPゴシック" panose="020B0400000000000000" pitchFamily="50" charset="-128"/>
              </a:rPr>
              <a:t>/</a:t>
            </a:r>
            <a:r>
              <a:rPr lang="ja-JP" altLang="en-US" sz="1400" b="1" dirty="0">
                <a:latin typeface="BIZ UDPゴシック" panose="020B0400000000000000" pitchFamily="50" charset="-128"/>
                <a:ea typeface="BIZ UDPゴシック" panose="020B0400000000000000" pitchFamily="50" charset="-128"/>
              </a:rPr>
              <a:t>目的</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8775EE47-813F-8451-807D-FD4F761209D7}"/>
              </a:ext>
            </a:extLst>
          </p:cNvPr>
          <p:cNvSpPr txBox="1"/>
          <p:nvPr/>
        </p:nvSpPr>
        <p:spPr>
          <a:xfrm>
            <a:off x="407990" y="1843733"/>
            <a:ext cx="5688010" cy="1205468"/>
          </a:xfrm>
          <a:prstGeom prst="rect">
            <a:avLst/>
          </a:prstGeom>
          <a:noFill/>
          <a:ln>
            <a:solidFill>
              <a:schemeClr val="bg1">
                <a:lumMod val="65000"/>
              </a:schemeClr>
            </a:solidFill>
          </a:ln>
        </p:spPr>
        <p:txBody>
          <a:bodyPr wrap="square" lIns="0" tIns="0" rIns="0" bIns="0" rtlCol="0" anchor="t" anchorCtr="0">
            <a:noAutofit/>
          </a:bodyPr>
          <a:lstStyle/>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本プロジェクトでは、</a:t>
            </a:r>
            <a:endParaRPr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kumimoji="1" lang="ja-JP" altLang="en-US" sz="1050" dirty="0">
                <a:latin typeface="BIZ UDPゴシック" panose="020B0400000000000000" pitchFamily="50" charset="-128"/>
                <a:ea typeface="BIZ UDPゴシック" panose="020B0400000000000000" pitchFamily="50" charset="-128"/>
              </a:rPr>
              <a:t>あ</a:t>
            </a:r>
            <a:endParaRPr kumimoji="1"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あ</a:t>
            </a:r>
            <a:endParaRPr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kumimoji="1" lang="ja-JP" altLang="en-US" sz="1050" dirty="0">
                <a:latin typeface="BIZ UDPゴシック" panose="020B0400000000000000" pitchFamily="50" charset="-128"/>
                <a:ea typeface="BIZ UDPゴシック" panose="020B0400000000000000" pitchFamily="50" charset="-128"/>
              </a:rPr>
              <a:t>あ</a:t>
            </a:r>
            <a:endParaRPr kumimoji="1" lang="en-US" altLang="ja-JP" sz="1050" dirty="0">
              <a:latin typeface="BIZ UDPゴシック" panose="020B0400000000000000" pitchFamily="50" charset="-128"/>
              <a:ea typeface="BIZ UDPゴシック" panose="020B0400000000000000" pitchFamily="50" charset="-128"/>
            </a:endParaRPr>
          </a:p>
          <a:p>
            <a:pPr indent="92075" algn="l">
              <a:lnSpc>
                <a:spcPct val="150000"/>
              </a:lnSpc>
            </a:pPr>
            <a:r>
              <a:rPr lang="ja-JP" altLang="en-US" sz="1050" dirty="0">
                <a:latin typeface="BIZ UDPゴシック" panose="020B0400000000000000" pitchFamily="50" charset="-128"/>
                <a:ea typeface="BIZ UDPゴシック" panose="020B0400000000000000" pitchFamily="50" charset="-128"/>
              </a:rPr>
              <a:t>あ</a:t>
            </a:r>
            <a:endParaRPr kumimoji="1" lang="ja-JP" altLang="en-US" sz="105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53622300-4DE0-36EE-AA67-BD2AB5E4375D}"/>
              </a:ext>
            </a:extLst>
          </p:cNvPr>
          <p:cNvSpPr txBox="1"/>
          <p:nvPr/>
        </p:nvSpPr>
        <p:spPr>
          <a:xfrm>
            <a:off x="6098774" y="156150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目標</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0AC305C3-DF6C-AF0C-1EF5-D1629E550D94}"/>
              </a:ext>
            </a:extLst>
          </p:cNvPr>
          <p:cNvSpPr txBox="1"/>
          <p:nvPr/>
        </p:nvSpPr>
        <p:spPr>
          <a:xfrm>
            <a:off x="6098774" y="1843733"/>
            <a:ext cx="5688010" cy="1205468"/>
          </a:xfrm>
          <a:prstGeom prst="rect">
            <a:avLst/>
          </a:prstGeom>
          <a:noFill/>
          <a:ln>
            <a:solidFill>
              <a:schemeClr val="bg1">
                <a:lumMod val="65000"/>
              </a:schemeClr>
            </a:solidFill>
          </a:ln>
        </p:spPr>
        <p:txBody>
          <a:bodyPr wrap="square" lIns="0" tIns="0" rIns="0" bIns="0" rtlCol="0" anchor="t" anchorCtr="0">
            <a:noAutofit/>
          </a:bodyPr>
          <a:lstStyle/>
          <a:p>
            <a:pPr marL="266700" indent="-174625" algn="l">
              <a:lnSpc>
                <a:spcPct val="150000"/>
              </a:lnSpc>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完了時期：</a:t>
            </a:r>
            <a:endParaRPr lang="en-US" altLang="ja-JP" sz="1050" dirty="0">
              <a:latin typeface="BIZ UDPゴシック" panose="020B0400000000000000" pitchFamily="50" charset="-128"/>
              <a:ea typeface="BIZ UDPゴシック" panose="020B0400000000000000" pitchFamily="50" charset="-128"/>
            </a:endParaRPr>
          </a:p>
          <a:p>
            <a:pPr marL="266700" indent="-174625" algn="l">
              <a:lnSpc>
                <a:spcPct val="150000"/>
              </a:lnSpc>
              <a:buFont typeface="Arial" panose="020B0604020202020204" pitchFamily="34" charset="0"/>
              <a:buChar char="•"/>
            </a:pPr>
            <a:r>
              <a:rPr kumimoji="1" lang="ja-JP" altLang="en-US" sz="1050" dirty="0">
                <a:latin typeface="BIZ UDPゴシック" panose="020B0400000000000000" pitchFamily="50" charset="-128"/>
                <a:ea typeface="BIZ UDPゴシック" panose="020B0400000000000000" pitchFamily="50" charset="-128"/>
              </a:rPr>
              <a:t>品質目標：</a:t>
            </a:r>
            <a:endParaRPr kumimoji="1" lang="en-US" altLang="ja-JP" sz="1050" dirty="0">
              <a:latin typeface="BIZ UDPゴシック" panose="020B0400000000000000" pitchFamily="50" charset="-128"/>
              <a:ea typeface="BIZ UDPゴシック" panose="020B0400000000000000" pitchFamily="50" charset="-128"/>
            </a:endParaRPr>
          </a:p>
          <a:p>
            <a:pPr marL="266700" indent="-174625" algn="l">
              <a:lnSpc>
                <a:spcPct val="150000"/>
              </a:lnSpc>
              <a:buFont typeface="Arial" panose="020B0604020202020204" pitchFamily="34" charset="0"/>
              <a:buChar char="•"/>
            </a:pPr>
            <a:r>
              <a:rPr lang="ja-JP" altLang="en-US" sz="1050" dirty="0">
                <a:latin typeface="BIZ UDPゴシック" panose="020B0400000000000000" pitchFamily="50" charset="-128"/>
                <a:ea typeface="BIZ UDPゴシック" panose="020B0400000000000000" pitchFamily="50" charset="-128"/>
              </a:rPr>
              <a:t>評価指標：</a:t>
            </a:r>
            <a:endParaRPr lang="en-US" altLang="ja-JP" sz="105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761419E3-A530-4E13-45FA-2BE8921208AF}"/>
              </a:ext>
            </a:extLst>
          </p:cNvPr>
          <p:cNvSpPr txBox="1"/>
          <p:nvPr/>
        </p:nvSpPr>
        <p:spPr>
          <a:xfrm>
            <a:off x="407990" y="3063212"/>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成果物</a:t>
            </a:r>
          </a:p>
        </p:txBody>
      </p:sp>
      <p:sp>
        <p:nvSpPr>
          <p:cNvPr id="17" name="テキスト ボックス 16">
            <a:extLst>
              <a:ext uri="{FF2B5EF4-FFF2-40B4-BE49-F238E27FC236}">
                <a16:creationId xmlns:a16="http://schemas.microsoft.com/office/drawing/2014/main" id="{0FE203B3-E1D2-AEB3-A227-62F81590725C}"/>
              </a:ext>
            </a:extLst>
          </p:cNvPr>
          <p:cNvSpPr txBox="1"/>
          <p:nvPr/>
        </p:nvSpPr>
        <p:spPr>
          <a:xfrm>
            <a:off x="407990" y="3345437"/>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lgn="l">
              <a:buFont typeface="+mj-lt"/>
              <a:buAutoNum type="arabicPeriod"/>
            </a:pPr>
            <a:r>
              <a:rPr kumimoji="1" lang="en-US" altLang="ja-JP" sz="1400" dirty="0">
                <a:latin typeface="BIZ UDPゴシック" panose="020B0400000000000000" pitchFamily="50" charset="-128"/>
                <a:ea typeface="BIZ UDPゴシック" panose="020B0400000000000000" pitchFamily="50" charset="-128"/>
              </a:rPr>
              <a:t>A</a:t>
            </a:r>
          </a:p>
          <a:p>
            <a:pPr marL="342900" indent="-250825" algn="l">
              <a:buFont typeface="+mj-lt"/>
              <a:buAutoNum type="arabicPeriod"/>
            </a:pPr>
            <a:r>
              <a:rPr kumimoji="1" lang="en-US" altLang="ja-JP" sz="1400" dirty="0">
                <a:latin typeface="BIZ UDPゴシック" panose="020B0400000000000000" pitchFamily="50" charset="-128"/>
                <a:ea typeface="BIZ UDPゴシック" panose="020B0400000000000000" pitchFamily="50" charset="-128"/>
              </a:rPr>
              <a:t>B</a:t>
            </a:r>
          </a:p>
          <a:p>
            <a:pPr marL="342900" indent="-250825" algn="l">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EFCDBDD5-C4ED-F4A2-A69E-0C6B2418F37D}"/>
              </a:ext>
            </a:extLst>
          </p:cNvPr>
          <p:cNvSpPr txBox="1"/>
          <p:nvPr/>
        </p:nvSpPr>
        <p:spPr>
          <a:xfrm>
            <a:off x="6096002" y="3063211"/>
            <a:ext cx="2835082"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en-US" altLang="ja-JP" sz="1400" b="1" dirty="0">
                <a:latin typeface="BIZ UDPゴシック" panose="020B0400000000000000" pitchFamily="50" charset="-128"/>
                <a:ea typeface="BIZ UDPゴシック" panose="020B0400000000000000" pitchFamily="50" charset="-128"/>
              </a:rPr>
              <a:t>Scope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F1ABC62-CD99-3F7A-E9E8-6ED9044B2833}"/>
              </a:ext>
            </a:extLst>
          </p:cNvPr>
          <p:cNvSpPr txBox="1"/>
          <p:nvPr/>
        </p:nvSpPr>
        <p:spPr>
          <a:xfrm>
            <a:off x="8931084" y="3063211"/>
            <a:ext cx="2852929"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en-US" altLang="ja-JP" sz="1400" b="1" dirty="0">
                <a:latin typeface="BIZ UDPゴシック" panose="020B0400000000000000" pitchFamily="50" charset="-128"/>
                <a:ea typeface="BIZ UDPゴシック" panose="020B0400000000000000" pitchFamily="50" charset="-128"/>
              </a:rPr>
              <a:t>Out of Scope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E6DD6886-235B-B818-62EB-A7E5A23B7FBA}"/>
              </a:ext>
            </a:extLst>
          </p:cNvPr>
          <p:cNvSpPr txBox="1"/>
          <p:nvPr/>
        </p:nvSpPr>
        <p:spPr>
          <a:xfrm>
            <a:off x="6095999" y="3345436"/>
            <a:ext cx="2835082"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21" name="テキスト ボックス 20">
            <a:extLst>
              <a:ext uri="{FF2B5EF4-FFF2-40B4-BE49-F238E27FC236}">
                <a16:creationId xmlns:a16="http://schemas.microsoft.com/office/drawing/2014/main" id="{8E36E0B5-49DF-8559-326E-F5BCFDAB71BB}"/>
              </a:ext>
            </a:extLst>
          </p:cNvPr>
          <p:cNvSpPr txBox="1"/>
          <p:nvPr/>
        </p:nvSpPr>
        <p:spPr>
          <a:xfrm>
            <a:off x="8931081" y="3345436"/>
            <a:ext cx="2852929"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22" name="テキスト ボックス 21">
            <a:extLst>
              <a:ext uri="{FF2B5EF4-FFF2-40B4-BE49-F238E27FC236}">
                <a16:creationId xmlns:a16="http://schemas.microsoft.com/office/drawing/2014/main" id="{B85D5AAC-DF61-3194-A2E2-D0DB9E4AD550}"/>
              </a:ext>
            </a:extLst>
          </p:cNvPr>
          <p:cNvSpPr txBox="1"/>
          <p:nvPr/>
        </p:nvSpPr>
        <p:spPr>
          <a:xfrm>
            <a:off x="407990" y="4149720"/>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マイルストーン</a:t>
            </a:r>
          </a:p>
        </p:txBody>
      </p:sp>
      <p:sp>
        <p:nvSpPr>
          <p:cNvPr id="24" name="テキスト ボックス 23">
            <a:extLst>
              <a:ext uri="{FF2B5EF4-FFF2-40B4-BE49-F238E27FC236}">
                <a16:creationId xmlns:a16="http://schemas.microsoft.com/office/drawing/2014/main" id="{831BBBA9-9EAD-65B3-34B9-9393FA971B0E}"/>
              </a:ext>
            </a:extLst>
          </p:cNvPr>
          <p:cNvSpPr txBox="1"/>
          <p:nvPr/>
        </p:nvSpPr>
        <p:spPr>
          <a:xfrm>
            <a:off x="6095999" y="4149720"/>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重点リスク</a:t>
            </a:r>
            <a:r>
              <a:rPr kumimoji="1" lang="en-US" altLang="ja-JP" sz="1400" b="1" dirty="0">
                <a:latin typeface="BIZ UDPゴシック" panose="020B0400000000000000" pitchFamily="50" charset="-128"/>
                <a:ea typeface="BIZ UDPゴシック" panose="020B0400000000000000" pitchFamily="50" charset="-128"/>
              </a:rPr>
              <a:t>/</a:t>
            </a:r>
            <a:r>
              <a:rPr kumimoji="1" lang="ja-JP" altLang="en-US" sz="1400" b="1" dirty="0">
                <a:latin typeface="BIZ UDPゴシック" panose="020B0400000000000000" pitchFamily="50" charset="-128"/>
                <a:ea typeface="BIZ UDPゴシック" panose="020B0400000000000000" pitchFamily="50" charset="-128"/>
              </a:rPr>
              <a:t>課題</a:t>
            </a:r>
          </a:p>
        </p:txBody>
      </p:sp>
      <p:sp>
        <p:nvSpPr>
          <p:cNvPr id="26" name="テキスト ボックス 25">
            <a:extLst>
              <a:ext uri="{FF2B5EF4-FFF2-40B4-BE49-F238E27FC236}">
                <a16:creationId xmlns:a16="http://schemas.microsoft.com/office/drawing/2014/main" id="{194DBAB8-A427-361C-D5E0-3FD78CF5F5AD}"/>
              </a:ext>
            </a:extLst>
          </p:cNvPr>
          <p:cNvSpPr txBox="1"/>
          <p:nvPr/>
        </p:nvSpPr>
        <p:spPr>
          <a:xfrm>
            <a:off x="407990" y="4431945"/>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 (</a:t>
            </a:r>
            <a:r>
              <a:rPr lang="ja-JP" altLang="en-US" sz="1400" dirty="0">
                <a:latin typeface="BIZ UDPゴシック" panose="020B0400000000000000" pitchFamily="50" charset="-128"/>
                <a:ea typeface="BIZ UDPゴシック" panose="020B0400000000000000" pitchFamily="50" charset="-128"/>
              </a:rPr>
              <a:t>完了時期</a:t>
            </a:r>
            <a:r>
              <a:rPr lang="en-US" altLang="ja-JP" sz="1400" dirty="0">
                <a:latin typeface="BIZ UDPゴシック" panose="020B0400000000000000" pitchFamily="50" charset="-128"/>
                <a:ea typeface="BIZ UDPゴシック" panose="020B0400000000000000" pitchFamily="50" charset="-128"/>
              </a:rPr>
              <a:t>: )</a:t>
            </a:r>
          </a:p>
        </p:txBody>
      </p:sp>
      <p:sp>
        <p:nvSpPr>
          <p:cNvPr id="27" name="テキスト ボックス 26">
            <a:extLst>
              <a:ext uri="{FF2B5EF4-FFF2-40B4-BE49-F238E27FC236}">
                <a16:creationId xmlns:a16="http://schemas.microsoft.com/office/drawing/2014/main" id="{6B672BDB-4B81-DF87-2CC9-A617C4C35F7A}"/>
              </a:ext>
            </a:extLst>
          </p:cNvPr>
          <p:cNvSpPr txBox="1"/>
          <p:nvPr/>
        </p:nvSpPr>
        <p:spPr>
          <a:xfrm>
            <a:off x="6095999" y="4431944"/>
            <a:ext cx="5688014"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	</a:t>
            </a:r>
            <a:r>
              <a:rPr lang="ja-JP" altLang="en-US" sz="1400" dirty="0">
                <a:latin typeface="BIZ UDPゴシック" panose="020B0400000000000000" pitchFamily="50" charset="-128"/>
                <a:ea typeface="BIZ UDPゴシック" panose="020B0400000000000000" pitchFamily="50" charset="-128"/>
              </a:rPr>
              <a:t>対策 </a:t>
            </a:r>
            <a:endParaRPr lang="en-US" altLang="ja-JP"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A573D27A-EF25-6BE5-353E-5404A0A888EB}"/>
              </a:ext>
            </a:extLst>
          </p:cNvPr>
          <p:cNvSpPr txBox="1"/>
          <p:nvPr/>
        </p:nvSpPr>
        <p:spPr>
          <a:xfrm>
            <a:off x="407990" y="523622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kumimoji="1" lang="ja-JP" altLang="en-US" sz="1400" b="1" dirty="0">
                <a:latin typeface="BIZ UDPゴシック" panose="020B0400000000000000" pitchFamily="50" charset="-128"/>
                <a:ea typeface="BIZ UDPゴシック" panose="020B0400000000000000" pitchFamily="50" charset="-128"/>
              </a:rPr>
              <a:t>前提</a:t>
            </a:r>
            <a:r>
              <a:rPr kumimoji="1" lang="en-US" altLang="ja-JP" sz="1400" b="1" dirty="0">
                <a:latin typeface="BIZ UDPゴシック" panose="020B0400000000000000" pitchFamily="50" charset="-128"/>
                <a:ea typeface="BIZ UDPゴシック" panose="020B0400000000000000" pitchFamily="50" charset="-128"/>
              </a:rPr>
              <a:t>/</a:t>
            </a:r>
            <a:r>
              <a:rPr kumimoji="1" lang="ja-JP" altLang="en-US" sz="1400" b="1" dirty="0">
                <a:latin typeface="BIZ UDPゴシック" panose="020B0400000000000000" pitchFamily="50" charset="-128"/>
                <a:ea typeface="BIZ UDPゴシック" panose="020B0400000000000000" pitchFamily="50" charset="-128"/>
              </a:rPr>
              <a:t>制約</a:t>
            </a:r>
          </a:p>
        </p:txBody>
      </p:sp>
      <p:sp>
        <p:nvSpPr>
          <p:cNvPr id="30" name="テキスト ボックス 29">
            <a:extLst>
              <a:ext uri="{FF2B5EF4-FFF2-40B4-BE49-F238E27FC236}">
                <a16:creationId xmlns:a16="http://schemas.microsoft.com/office/drawing/2014/main" id="{F973EB33-FFCD-7AEC-4E14-94A264977C1F}"/>
              </a:ext>
            </a:extLst>
          </p:cNvPr>
          <p:cNvSpPr txBox="1"/>
          <p:nvPr/>
        </p:nvSpPr>
        <p:spPr>
          <a:xfrm>
            <a:off x="6095999" y="5236227"/>
            <a:ext cx="5688010" cy="268215"/>
          </a:xfrm>
          <a:prstGeom prst="rect">
            <a:avLst/>
          </a:prstGeom>
          <a:noFill/>
          <a:ln>
            <a:solidFill>
              <a:schemeClr val="bg1">
                <a:lumMod val="65000"/>
              </a:schemeClr>
            </a:solidFill>
          </a:ln>
        </p:spPr>
        <p:txBody>
          <a:bodyPr wrap="square" lIns="0" tIns="0" rIns="0" bIns="0" rtlCol="0" anchor="ctr" anchorCtr="0">
            <a:spAutoFit/>
          </a:bodyPr>
          <a:lstStyle/>
          <a:p>
            <a:pPr indent="92075" algn="l">
              <a:lnSpc>
                <a:spcPct val="150000"/>
              </a:lnSpc>
            </a:pPr>
            <a:r>
              <a:rPr lang="ja-JP" altLang="en-US" sz="1400" b="1" dirty="0">
                <a:latin typeface="BIZ UDPゴシック" panose="020B0400000000000000" pitchFamily="50" charset="-128"/>
                <a:ea typeface="BIZ UDPゴシック" panose="020B0400000000000000" pitchFamily="50" charset="-128"/>
              </a:rPr>
              <a:t>役割</a:t>
            </a:r>
            <a:r>
              <a:rPr lang="en-US" altLang="ja-JP" sz="1400" b="1" dirty="0">
                <a:latin typeface="BIZ UDPゴシック" panose="020B0400000000000000" pitchFamily="50" charset="-128"/>
                <a:ea typeface="BIZ UDPゴシック" panose="020B0400000000000000" pitchFamily="50" charset="-128"/>
              </a:rPr>
              <a:t>/</a:t>
            </a:r>
            <a:r>
              <a:rPr lang="ja-JP" altLang="en-US" sz="1400" b="1" dirty="0">
                <a:latin typeface="BIZ UDPゴシック" panose="020B0400000000000000" pitchFamily="50" charset="-128"/>
                <a:ea typeface="BIZ UDPゴシック" panose="020B0400000000000000" pitchFamily="50" charset="-128"/>
              </a:rPr>
              <a:t>責務</a:t>
            </a:r>
            <a:endParaRPr kumimoji="1" lang="ja-JP" altLang="en-US" sz="1400" b="1"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B420D3F4-9651-1BB0-E942-E103587D5DB8}"/>
              </a:ext>
            </a:extLst>
          </p:cNvPr>
          <p:cNvSpPr txBox="1"/>
          <p:nvPr/>
        </p:nvSpPr>
        <p:spPr>
          <a:xfrm>
            <a:off x="407990" y="5518452"/>
            <a:ext cx="5688010" cy="790273"/>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32" name="テキスト ボックス 31">
            <a:extLst>
              <a:ext uri="{FF2B5EF4-FFF2-40B4-BE49-F238E27FC236}">
                <a16:creationId xmlns:a16="http://schemas.microsoft.com/office/drawing/2014/main" id="{EFE7BA49-BC3E-6F0F-C836-CBBA194E9FEE}"/>
              </a:ext>
            </a:extLst>
          </p:cNvPr>
          <p:cNvSpPr txBox="1"/>
          <p:nvPr/>
        </p:nvSpPr>
        <p:spPr>
          <a:xfrm>
            <a:off x="6095999" y="5518451"/>
            <a:ext cx="2835082"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
        <p:nvSpPr>
          <p:cNvPr id="33" name="テキスト ボックス 32">
            <a:extLst>
              <a:ext uri="{FF2B5EF4-FFF2-40B4-BE49-F238E27FC236}">
                <a16:creationId xmlns:a16="http://schemas.microsoft.com/office/drawing/2014/main" id="{25979DF0-2745-FD66-1209-37CE36508EA0}"/>
              </a:ext>
            </a:extLst>
          </p:cNvPr>
          <p:cNvSpPr txBox="1"/>
          <p:nvPr/>
        </p:nvSpPr>
        <p:spPr>
          <a:xfrm>
            <a:off x="8931081" y="5518451"/>
            <a:ext cx="2852929" cy="790274"/>
          </a:xfrm>
          <a:prstGeom prst="rect">
            <a:avLst/>
          </a:prstGeom>
          <a:noFill/>
          <a:ln>
            <a:solidFill>
              <a:schemeClr val="bg1">
                <a:lumMod val="65000"/>
              </a:schemeClr>
            </a:solidFill>
          </a:ln>
        </p:spPr>
        <p:txBody>
          <a:bodyPr wrap="square" lIns="0" tIns="0" rIns="0" bIns="0" rtlCol="0" anchor="ctr" anchorCtr="0">
            <a:noAutofit/>
          </a:bodyPr>
          <a:lstStyle/>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A</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B</a:t>
            </a:r>
          </a:p>
          <a:p>
            <a:pPr marL="342900" indent="-250825">
              <a:buFont typeface="+mj-lt"/>
              <a:buAutoNum type="arabicPeriod"/>
            </a:pPr>
            <a:r>
              <a:rPr lang="en-US" altLang="ja-JP" sz="1400" dirty="0">
                <a:latin typeface="BIZ UDPゴシック" panose="020B0400000000000000" pitchFamily="50" charset="-128"/>
                <a:ea typeface="BIZ UDPゴシック" panose="020B0400000000000000" pitchFamily="50" charset="-128"/>
              </a:rPr>
              <a:t>C</a:t>
            </a:r>
          </a:p>
        </p:txBody>
      </p:sp>
    </p:spTree>
    <p:extLst>
      <p:ext uri="{BB962C8B-B14F-4D97-AF65-F5344CB8AC3E}">
        <p14:creationId xmlns:p14="http://schemas.microsoft.com/office/powerpoint/2010/main" val="4023674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791B0-3C93-EFF7-5AA9-A5599D550F1F}"/>
            </a:ext>
          </a:extLst>
        </p:cNvPr>
        <p:cNvGrpSpPr/>
        <p:nvPr/>
      </p:nvGrpSpPr>
      <p:grpSpPr>
        <a:xfrm>
          <a:off x="0" y="0"/>
          <a:ext cx="0" cy="0"/>
          <a:chOff x="0" y="0"/>
          <a:chExt cx="0" cy="0"/>
        </a:xfrm>
      </p:grpSpPr>
      <p:sp>
        <p:nvSpPr>
          <p:cNvPr id="59" name="正方形/長方形 58">
            <a:extLst>
              <a:ext uri="{FF2B5EF4-FFF2-40B4-BE49-F238E27FC236}">
                <a16:creationId xmlns:a16="http://schemas.microsoft.com/office/drawing/2014/main" id="{C25E1D3C-477D-3FEA-1D37-1C0446ECE52D}"/>
              </a:ext>
            </a:extLst>
          </p:cNvPr>
          <p:cNvSpPr/>
          <p:nvPr/>
        </p:nvSpPr>
        <p:spPr>
          <a:xfrm>
            <a:off x="1613697" y="4816652"/>
            <a:ext cx="2758354" cy="1317447"/>
          </a:xfrm>
          <a:prstGeom prst="rect">
            <a:avLst/>
          </a:prstGeom>
          <a:solidFill>
            <a:schemeClr val="bg1">
              <a:lumMod val="7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8" name="正方形/長方形 57">
            <a:extLst>
              <a:ext uri="{FF2B5EF4-FFF2-40B4-BE49-F238E27FC236}">
                <a16:creationId xmlns:a16="http://schemas.microsoft.com/office/drawing/2014/main" id="{AE6DC817-128F-A205-FD7E-B1A93C780C55}"/>
              </a:ext>
            </a:extLst>
          </p:cNvPr>
          <p:cNvSpPr/>
          <p:nvPr/>
        </p:nvSpPr>
        <p:spPr>
          <a:xfrm>
            <a:off x="4372051" y="1308108"/>
            <a:ext cx="7277024" cy="4825992"/>
          </a:xfrm>
          <a:prstGeom prst="rect">
            <a:avLst/>
          </a:prstGeom>
          <a:solidFill>
            <a:schemeClr val="bg1">
              <a:lumMod val="7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4" name="正方形/長方形 53">
            <a:extLst>
              <a:ext uri="{FF2B5EF4-FFF2-40B4-BE49-F238E27FC236}">
                <a16:creationId xmlns:a16="http://schemas.microsoft.com/office/drawing/2014/main" id="{CA056240-A05A-289D-7D8A-23E5F715373D}"/>
              </a:ext>
            </a:extLst>
          </p:cNvPr>
          <p:cNvSpPr/>
          <p:nvPr/>
        </p:nvSpPr>
        <p:spPr>
          <a:xfrm>
            <a:off x="1613696" y="1308108"/>
            <a:ext cx="2148679" cy="2997190"/>
          </a:xfrm>
          <a:prstGeom prst="rect">
            <a:avLst/>
          </a:prstGeom>
          <a:solidFill>
            <a:schemeClr val="bg1">
              <a:lumMod val="85000"/>
              <a:alpha val="2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881D96E-7B18-489F-F99F-C68493F66FFF}"/>
              </a:ext>
            </a:extLst>
          </p:cNvPr>
          <p:cNvSpPr>
            <a:spLocks noGrp="1"/>
          </p:cNvSpPr>
          <p:nvPr>
            <p:ph type="title"/>
          </p:nvPr>
        </p:nvSpPr>
        <p:spPr/>
        <p:txBody>
          <a:bodyPr/>
          <a:lstStyle/>
          <a:p>
            <a:r>
              <a:rPr lang="ja-JP" altLang="en-US" dirty="0"/>
              <a:t>体制 </a:t>
            </a:r>
            <a:r>
              <a:rPr kumimoji="1" lang="en-US" altLang="ja-JP" dirty="0"/>
              <a:t>- WBS</a:t>
            </a:r>
            <a:endParaRPr kumimoji="1" lang="ja-JP" altLang="en-US" dirty="0"/>
          </a:p>
        </p:txBody>
      </p:sp>
      <p:sp>
        <p:nvSpPr>
          <p:cNvPr id="3" name="フッター プレースホルダー 2">
            <a:extLst>
              <a:ext uri="{FF2B5EF4-FFF2-40B4-BE49-F238E27FC236}">
                <a16:creationId xmlns:a16="http://schemas.microsoft.com/office/drawing/2014/main" id="{BE9E821F-35FC-FD5C-20F6-B5F08A291818}"/>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4832AD50-2E9E-4B22-3C38-B9C5FEC21013}"/>
              </a:ext>
            </a:extLst>
          </p:cNvPr>
          <p:cNvSpPr>
            <a:spLocks noGrp="1"/>
          </p:cNvSpPr>
          <p:nvPr>
            <p:ph type="sldNum" sz="quarter" idx="12"/>
          </p:nvPr>
        </p:nvSpPr>
        <p:spPr/>
        <p:txBody>
          <a:bodyPr/>
          <a:lstStyle/>
          <a:p>
            <a:fld id="{DCB5AA93-092B-49A1-87A7-3C88D5F38AD7}" type="slidenum">
              <a:rPr lang="ja-JP" altLang="en-US" smtClean="0"/>
              <a:pPr/>
              <a:t>6</a:t>
            </a:fld>
            <a:endParaRPr lang="ja-JP" altLang="en-US" dirty="0"/>
          </a:p>
        </p:txBody>
      </p:sp>
      <p:cxnSp>
        <p:nvCxnSpPr>
          <p:cNvPr id="43" name="直線コネクタ 42">
            <a:extLst>
              <a:ext uri="{FF2B5EF4-FFF2-40B4-BE49-F238E27FC236}">
                <a16:creationId xmlns:a16="http://schemas.microsoft.com/office/drawing/2014/main" id="{20FA3F51-543A-1961-6E50-4349B3BC0508}"/>
              </a:ext>
            </a:extLst>
          </p:cNvPr>
          <p:cNvCxnSpPr>
            <a:cxnSpLocks/>
          </p:cNvCxnSpPr>
          <p:nvPr/>
        </p:nvCxnSpPr>
        <p:spPr>
          <a:xfrm>
            <a:off x="202551" y="178988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3FF83F58-9EAC-BCFF-DEC0-9FA8C7E47301}"/>
              </a:ext>
            </a:extLst>
          </p:cNvPr>
          <p:cNvSpPr txBox="1"/>
          <p:nvPr/>
        </p:nvSpPr>
        <p:spPr>
          <a:xfrm>
            <a:off x="202551" y="1873875"/>
            <a:ext cx="825547"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マネジメント</a:t>
            </a:r>
          </a:p>
        </p:txBody>
      </p:sp>
      <p:cxnSp>
        <p:nvCxnSpPr>
          <p:cNvPr id="26" name="直線コネクタ 25">
            <a:extLst>
              <a:ext uri="{FF2B5EF4-FFF2-40B4-BE49-F238E27FC236}">
                <a16:creationId xmlns:a16="http://schemas.microsoft.com/office/drawing/2014/main" id="{751CC42B-6D8A-C73E-D957-0FEAB98BD6C8}"/>
              </a:ext>
            </a:extLst>
          </p:cNvPr>
          <p:cNvCxnSpPr>
            <a:cxnSpLocks/>
          </p:cNvCxnSpPr>
          <p:nvPr/>
        </p:nvCxnSpPr>
        <p:spPr>
          <a:xfrm>
            <a:off x="202551" y="3046513"/>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0AFF0789-3956-D111-2161-95D3783E8DA5}"/>
              </a:ext>
            </a:extLst>
          </p:cNvPr>
          <p:cNvSpPr txBox="1"/>
          <p:nvPr/>
        </p:nvSpPr>
        <p:spPr>
          <a:xfrm>
            <a:off x="202551" y="3130507"/>
            <a:ext cx="57387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リーダー</a:t>
            </a:r>
          </a:p>
        </p:txBody>
      </p:sp>
      <p:cxnSp>
        <p:nvCxnSpPr>
          <p:cNvPr id="28" name="直線コネクタ 27">
            <a:extLst>
              <a:ext uri="{FF2B5EF4-FFF2-40B4-BE49-F238E27FC236}">
                <a16:creationId xmlns:a16="http://schemas.microsoft.com/office/drawing/2014/main" id="{A557D537-3027-6390-65EB-09F1EB91D469}"/>
              </a:ext>
            </a:extLst>
          </p:cNvPr>
          <p:cNvCxnSpPr>
            <a:cxnSpLocks/>
          </p:cNvCxnSpPr>
          <p:nvPr/>
        </p:nvCxnSpPr>
        <p:spPr>
          <a:xfrm>
            <a:off x="202551" y="474343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BEBB4230-89BF-67F4-C919-34457B0D7F55}"/>
              </a:ext>
            </a:extLst>
          </p:cNvPr>
          <p:cNvSpPr txBox="1"/>
          <p:nvPr/>
        </p:nvSpPr>
        <p:spPr>
          <a:xfrm>
            <a:off x="202551" y="4827424"/>
            <a:ext cx="307777"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実行</a:t>
            </a:r>
          </a:p>
        </p:txBody>
      </p:sp>
      <p:cxnSp>
        <p:nvCxnSpPr>
          <p:cNvPr id="50" name="コネクタ: カギ線 49">
            <a:extLst>
              <a:ext uri="{FF2B5EF4-FFF2-40B4-BE49-F238E27FC236}">
                <a16:creationId xmlns:a16="http://schemas.microsoft.com/office/drawing/2014/main" id="{775E5CA8-E2A1-21E0-8163-D449EB2BB457}"/>
              </a:ext>
            </a:extLst>
          </p:cNvPr>
          <p:cNvCxnSpPr>
            <a:cxnSpLocks/>
            <a:stCxn id="20" idx="2"/>
            <a:endCxn id="52" idx="0"/>
          </p:cNvCxnSpPr>
          <p:nvPr/>
        </p:nvCxnSpPr>
        <p:spPr>
          <a:xfrm rot="16200000" flipH="1">
            <a:off x="6720700" y="3102239"/>
            <a:ext cx="930088" cy="2780280"/>
          </a:xfrm>
          <a:prstGeom prst="bentConnector3">
            <a:avLst>
              <a:gd name="adj1" fmla="val 50000"/>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grpSp>
        <p:nvGrpSpPr>
          <p:cNvPr id="7" name="グループ化 6">
            <a:extLst>
              <a:ext uri="{FF2B5EF4-FFF2-40B4-BE49-F238E27FC236}">
                <a16:creationId xmlns:a16="http://schemas.microsoft.com/office/drawing/2014/main" id="{D3A77812-4A82-DBAB-2D0C-C56DCBF025AF}"/>
              </a:ext>
            </a:extLst>
          </p:cNvPr>
          <p:cNvGrpSpPr/>
          <p:nvPr/>
        </p:nvGrpSpPr>
        <p:grpSpPr>
          <a:xfrm>
            <a:off x="1895003" y="1966208"/>
            <a:ext cx="1558947" cy="887615"/>
            <a:chOff x="5158183" y="134259"/>
            <a:chExt cx="1558947" cy="887615"/>
          </a:xfrm>
        </p:grpSpPr>
        <p:sp>
          <p:nvSpPr>
            <p:cNvPr id="5" name="テキスト ボックス 4">
              <a:extLst>
                <a:ext uri="{FF2B5EF4-FFF2-40B4-BE49-F238E27FC236}">
                  <a16:creationId xmlns:a16="http://schemas.microsoft.com/office/drawing/2014/main" id="{6D23BE34-AB81-B64A-9EE0-613B7C8A4347}"/>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ステコミ</a:t>
              </a:r>
            </a:p>
          </p:txBody>
        </p:sp>
        <p:sp>
          <p:nvSpPr>
            <p:cNvPr id="6" name="テキスト ボックス 5">
              <a:extLst>
                <a:ext uri="{FF2B5EF4-FFF2-40B4-BE49-F238E27FC236}">
                  <a16:creationId xmlns:a16="http://schemas.microsoft.com/office/drawing/2014/main" id="{977C2FAE-B6D5-8715-B3D6-F15996236523}"/>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A</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B</a:t>
              </a:r>
              <a:r>
                <a:rPr kumimoji="1" lang="ja-JP" altLang="en-US" sz="1400" dirty="0">
                  <a:latin typeface="BIZ UDPゴシック" panose="020B0400000000000000" pitchFamily="50" charset="-128"/>
                  <a:ea typeface="BIZ UDPゴシック" panose="020B0400000000000000" pitchFamily="50" charset="-128"/>
                </a:rPr>
                <a:t>係長</a:t>
              </a:r>
            </a:p>
          </p:txBody>
        </p:sp>
      </p:grpSp>
      <p:sp>
        <p:nvSpPr>
          <p:cNvPr id="8" name="テキスト ボックス 7">
            <a:extLst>
              <a:ext uri="{FF2B5EF4-FFF2-40B4-BE49-F238E27FC236}">
                <a16:creationId xmlns:a16="http://schemas.microsoft.com/office/drawing/2014/main" id="{D6E28198-D44D-6C71-DC29-CDA2BD8BE68D}"/>
              </a:ext>
            </a:extLst>
          </p:cNvPr>
          <p:cNvSpPr txBox="1"/>
          <p:nvPr/>
        </p:nvSpPr>
        <p:spPr>
          <a:xfrm>
            <a:off x="1717590" y="1411873"/>
            <a:ext cx="47448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顧客</a:t>
            </a:r>
            <a:r>
              <a:rPr lang="en-US" altLang="ja-JP" sz="1400" dirty="0">
                <a:latin typeface="BIZ UDPゴシック" panose="020B0400000000000000" pitchFamily="50" charset="-128"/>
                <a:ea typeface="BIZ UDPゴシック" panose="020B0400000000000000" pitchFamily="50" charset="-128"/>
              </a:rPr>
              <a:t>: </a:t>
            </a:r>
            <a:endParaRPr lang="ja-JP" altLang="en-US"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A40C617-A76A-61DB-8287-0077D02859AE}"/>
              </a:ext>
            </a:extLst>
          </p:cNvPr>
          <p:cNvSpPr txBox="1"/>
          <p:nvPr/>
        </p:nvSpPr>
        <p:spPr>
          <a:xfrm>
            <a:off x="4432010" y="1411873"/>
            <a:ext cx="3491340"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弊社</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委託業務の遂行責任 および 報告責務</a:t>
            </a:r>
          </a:p>
        </p:txBody>
      </p:sp>
      <p:grpSp>
        <p:nvGrpSpPr>
          <p:cNvPr id="12" name="グループ化 11">
            <a:extLst>
              <a:ext uri="{FF2B5EF4-FFF2-40B4-BE49-F238E27FC236}">
                <a16:creationId xmlns:a16="http://schemas.microsoft.com/office/drawing/2014/main" id="{86071ED2-319F-A815-C368-E6654FD53129}"/>
              </a:ext>
            </a:extLst>
          </p:cNvPr>
          <p:cNvGrpSpPr/>
          <p:nvPr/>
        </p:nvGrpSpPr>
        <p:grpSpPr>
          <a:xfrm>
            <a:off x="4680476" y="1966208"/>
            <a:ext cx="2219869" cy="564450"/>
            <a:chOff x="5158183" y="134259"/>
            <a:chExt cx="1558947" cy="564450"/>
          </a:xfrm>
        </p:grpSpPr>
        <p:sp>
          <p:nvSpPr>
            <p:cNvPr id="13" name="テキスト ボックス 12">
              <a:extLst>
                <a:ext uri="{FF2B5EF4-FFF2-40B4-BE49-F238E27FC236}">
                  <a16:creationId xmlns:a16="http://schemas.microsoft.com/office/drawing/2014/main" id="{76804F27-9772-764D-5D5B-8F89B5DF28A5}"/>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プロジェクトオーナー</a:t>
              </a:r>
            </a:p>
          </p:txBody>
        </p:sp>
        <p:sp>
          <p:nvSpPr>
            <p:cNvPr id="14" name="テキスト ボックス 13">
              <a:extLst>
                <a:ext uri="{FF2B5EF4-FFF2-40B4-BE49-F238E27FC236}">
                  <a16:creationId xmlns:a16="http://schemas.microsoft.com/office/drawing/2014/main" id="{4C947DAE-7B04-D249-F4E2-D66C70E3C591}"/>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C</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15" name="グループ化 14">
            <a:extLst>
              <a:ext uri="{FF2B5EF4-FFF2-40B4-BE49-F238E27FC236}">
                <a16:creationId xmlns:a16="http://schemas.microsoft.com/office/drawing/2014/main" id="{CECC06FE-F365-1AAE-0B8B-DE299B9870E5}"/>
              </a:ext>
            </a:extLst>
          </p:cNvPr>
          <p:cNvGrpSpPr/>
          <p:nvPr/>
        </p:nvGrpSpPr>
        <p:grpSpPr>
          <a:xfrm>
            <a:off x="9000584" y="1966208"/>
            <a:ext cx="2219869" cy="887615"/>
            <a:chOff x="5158183" y="134259"/>
            <a:chExt cx="1558947" cy="887615"/>
          </a:xfrm>
        </p:grpSpPr>
        <p:sp>
          <p:nvSpPr>
            <p:cNvPr id="16" name="テキスト ボックス 15">
              <a:extLst>
                <a:ext uri="{FF2B5EF4-FFF2-40B4-BE49-F238E27FC236}">
                  <a16:creationId xmlns:a16="http://schemas.microsoft.com/office/drawing/2014/main" id="{780D5047-778B-B6F8-CC76-75D89A11E862}"/>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社内サポート</a:t>
              </a:r>
            </a:p>
          </p:txBody>
        </p:sp>
        <p:sp>
          <p:nvSpPr>
            <p:cNvPr id="17" name="テキスト ボックス 16">
              <a:extLst>
                <a:ext uri="{FF2B5EF4-FFF2-40B4-BE49-F238E27FC236}">
                  <a16:creationId xmlns:a16="http://schemas.microsoft.com/office/drawing/2014/main" id="{E3520229-5CAE-29C6-1766-9B5A7FD0AB3F}"/>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D</a:t>
              </a:r>
              <a:r>
                <a:rPr lang="ja-JP" altLang="en-US" sz="1400" dirty="0">
                  <a:latin typeface="BIZ UDPゴシック" panose="020B0400000000000000" pitchFamily="50" charset="-128"/>
                  <a:ea typeface="BIZ UDPゴシック" panose="020B0400000000000000" pitchFamily="50" charset="-128"/>
                </a:rPr>
                <a:t>部長</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a:t>
              </a:r>
              <a:r>
                <a:rPr lang="ja-JP" altLang="en-US" sz="1400" dirty="0">
                  <a:latin typeface="BIZ UDPゴシック" panose="020B0400000000000000" pitchFamily="50" charset="-128"/>
                  <a:ea typeface="BIZ UDPゴシック" panose="020B0400000000000000" pitchFamily="50" charset="-128"/>
                </a:rPr>
                <a:t>課長</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18" name="グループ化 17">
            <a:extLst>
              <a:ext uri="{FF2B5EF4-FFF2-40B4-BE49-F238E27FC236}">
                <a16:creationId xmlns:a16="http://schemas.microsoft.com/office/drawing/2014/main" id="{8065ABC5-0FA4-8634-AAAF-B9513C816B43}"/>
              </a:ext>
            </a:extLst>
          </p:cNvPr>
          <p:cNvGrpSpPr/>
          <p:nvPr/>
        </p:nvGrpSpPr>
        <p:grpSpPr>
          <a:xfrm>
            <a:off x="4685669" y="3462885"/>
            <a:ext cx="2219869" cy="564450"/>
            <a:chOff x="5158183" y="134259"/>
            <a:chExt cx="1558947" cy="564450"/>
          </a:xfrm>
        </p:grpSpPr>
        <p:sp>
          <p:nvSpPr>
            <p:cNvPr id="19" name="テキスト ボックス 18">
              <a:extLst>
                <a:ext uri="{FF2B5EF4-FFF2-40B4-BE49-F238E27FC236}">
                  <a16:creationId xmlns:a16="http://schemas.microsoft.com/office/drawing/2014/main" id="{4180FA73-96F4-22B2-A913-907A2343DF8D}"/>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プロジェクトリーダー</a:t>
              </a:r>
            </a:p>
          </p:txBody>
        </p:sp>
        <p:sp>
          <p:nvSpPr>
            <p:cNvPr id="20" name="テキスト ボックス 19">
              <a:extLst>
                <a:ext uri="{FF2B5EF4-FFF2-40B4-BE49-F238E27FC236}">
                  <a16:creationId xmlns:a16="http://schemas.microsoft.com/office/drawing/2014/main" id="{27E70FC6-EC35-E084-65A1-3566E4D4DF9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25" name="グループ化 24">
            <a:extLst>
              <a:ext uri="{FF2B5EF4-FFF2-40B4-BE49-F238E27FC236}">
                <a16:creationId xmlns:a16="http://schemas.microsoft.com/office/drawing/2014/main" id="{03719D6B-94F8-E2E5-2CA6-F2CCD5819F50}"/>
              </a:ext>
            </a:extLst>
          </p:cNvPr>
          <p:cNvGrpSpPr/>
          <p:nvPr/>
        </p:nvGrpSpPr>
        <p:grpSpPr>
          <a:xfrm>
            <a:off x="9000583" y="3462885"/>
            <a:ext cx="2219869" cy="887615"/>
            <a:chOff x="5158183" y="134259"/>
            <a:chExt cx="1558947" cy="887615"/>
          </a:xfrm>
        </p:grpSpPr>
        <p:sp>
          <p:nvSpPr>
            <p:cNvPr id="30" name="テキスト ボックス 29">
              <a:extLst>
                <a:ext uri="{FF2B5EF4-FFF2-40B4-BE49-F238E27FC236}">
                  <a16:creationId xmlns:a16="http://schemas.microsoft.com/office/drawing/2014/main" id="{A17F4213-5DE8-60E8-3990-FE76037959DA}"/>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en-US" altLang="ja-JP" sz="1400" dirty="0">
                  <a:latin typeface="BIZ UDPゴシック" panose="020B0400000000000000" pitchFamily="50" charset="-128"/>
                  <a:ea typeface="BIZ UDPゴシック" panose="020B0400000000000000" pitchFamily="50" charset="-128"/>
                </a:rPr>
                <a:t>PMO (</a:t>
              </a:r>
              <a:r>
                <a:rPr kumimoji="1" lang="ja-JP" altLang="en-US" sz="1400" dirty="0">
                  <a:latin typeface="BIZ UDPゴシック" panose="020B0400000000000000" pitchFamily="50" charset="-128"/>
                  <a:ea typeface="BIZ UDPゴシック" panose="020B0400000000000000" pitchFamily="50" charset="-128"/>
                </a:rPr>
                <a:t>補佐</a:t>
              </a:r>
              <a:r>
                <a:rPr kumimoji="1" lang="en-US" altLang="ja-JP" sz="1400" dirty="0">
                  <a:latin typeface="BIZ UDPゴシック" panose="020B0400000000000000" pitchFamily="50" charset="-128"/>
                  <a:ea typeface="BIZ UDPゴシック" panose="020B0400000000000000" pitchFamily="50" charset="-128"/>
                </a:rPr>
                <a:t>)</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52EE08E0-B5EE-CFB1-6715-B6865CE6B556}"/>
                </a:ext>
              </a:extLst>
            </p:cNvPr>
            <p:cNvSpPr txBox="1"/>
            <p:nvPr/>
          </p:nvSpPr>
          <p:spPr>
            <a:xfrm>
              <a:off x="5158183" y="430494"/>
              <a:ext cx="1558947" cy="591380"/>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G</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H</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35" name="グループ化 34">
            <a:extLst>
              <a:ext uri="{FF2B5EF4-FFF2-40B4-BE49-F238E27FC236}">
                <a16:creationId xmlns:a16="http://schemas.microsoft.com/office/drawing/2014/main" id="{B98E7F9B-BA42-DC3B-E315-27251CB43160}"/>
              </a:ext>
            </a:extLst>
          </p:cNvPr>
          <p:cNvGrpSpPr/>
          <p:nvPr/>
        </p:nvGrpSpPr>
        <p:grpSpPr>
          <a:xfrm>
            <a:off x="1895003" y="4957423"/>
            <a:ext cx="5005342" cy="564450"/>
            <a:chOff x="5158183" y="134259"/>
            <a:chExt cx="3515101" cy="564450"/>
          </a:xfrm>
        </p:grpSpPr>
        <p:sp>
          <p:nvSpPr>
            <p:cNvPr id="36" name="テキスト ボックス 35">
              <a:extLst>
                <a:ext uri="{FF2B5EF4-FFF2-40B4-BE49-F238E27FC236}">
                  <a16:creationId xmlns:a16="http://schemas.microsoft.com/office/drawing/2014/main" id="{A4F3FC1F-D710-0A8E-2B64-833E4C195F08}"/>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開発チーム</a:t>
              </a:r>
            </a:p>
          </p:txBody>
        </p:sp>
        <p:sp>
          <p:nvSpPr>
            <p:cNvPr id="37" name="テキスト ボックス 36">
              <a:extLst>
                <a:ext uri="{FF2B5EF4-FFF2-40B4-BE49-F238E27FC236}">
                  <a16:creationId xmlns:a16="http://schemas.microsoft.com/office/drawing/2014/main" id="{3B0A52FC-AB85-8CB5-6F03-25B47BC87E8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7C5E726A-81E3-5B7C-4E0B-E8EC7BA32DE1}"/>
                </a:ext>
              </a:extLst>
            </p:cNvPr>
            <p:cNvSpPr txBox="1"/>
            <p:nvPr/>
          </p:nvSpPr>
          <p:spPr>
            <a:xfrm>
              <a:off x="7114337"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ja-JP" altLang="en-US" sz="1400" dirty="0">
                  <a:latin typeface="BIZ UDPゴシック" panose="020B0400000000000000" pitchFamily="50" charset="-128"/>
                  <a:ea typeface="BIZ UDPゴシック" panose="020B0400000000000000" pitchFamily="50" charset="-128"/>
                </a:rPr>
                <a:t>ツール</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テストチーム</a:t>
              </a:r>
            </a:p>
          </p:txBody>
        </p:sp>
        <p:sp>
          <p:nvSpPr>
            <p:cNvPr id="44" name="テキスト ボックス 43">
              <a:extLst>
                <a:ext uri="{FF2B5EF4-FFF2-40B4-BE49-F238E27FC236}">
                  <a16:creationId xmlns:a16="http://schemas.microsoft.com/office/drawing/2014/main" id="{FC6FDFA6-FC12-9FD0-8D38-B18C28AE4FB6}"/>
                </a:ext>
              </a:extLst>
            </p:cNvPr>
            <p:cNvSpPr txBox="1"/>
            <p:nvPr/>
          </p:nvSpPr>
          <p:spPr>
            <a:xfrm>
              <a:off x="7114337"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51" name="グループ化 50">
            <a:extLst>
              <a:ext uri="{FF2B5EF4-FFF2-40B4-BE49-F238E27FC236}">
                <a16:creationId xmlns:a16="http://schemas.microsoft.com/office/drawing/2014/main" id="{15FDBC69-06B7-F073-F9B2-3641F0EEBA01}"/>
              </a:ext>
            </a:extLst>
          </p:cNvPr>
          <p:cNvGrpSpPr/>
          <p:nvPr/>
        </p:nvGrpSpPr>
        <p:grpSpPr>
          <a:xfrm>
            <a:off x="7465949" y="4957423"/>
            <a:ext cx="2219869" cy="564450"/>
            <a:chOff x="5158183" y="134259"/>
            <a:chExt cx="1558947" cy="564450"/>
          </a:xfrm>
        </p:grpSpPr>
        <p:sp>
          <p:nvSpPr>
            <p:cNvPr id="52" name="テキスト ボックス 51">
              <a:extLst>
                <a:ext uri="{FF2B5EF4-FFF2-40B4-BE49-F238E27FC236}">
                  <a16:creationId xmlns:a16="http://schemas.microsoft.com/office/drawing/2014/main" id="{26DA4184-5AAF-9FF1-03BD-FA711802E078}"/>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lang="ja-JP" altLang="en-US" sz="1400" dirty="0">
                  <a:latin typeface="BIZ UDPゴシック" panose="020B0400000000000000" pitchFamily="50" charset="-128"/>
                  <a:ea typeface="BIZ UDPゴシック" panose="020B0400000000000000" pitchFamily="50" charset="-128"/>
                </a:rPr>
                <a:t>運用</a:t>
              </a:r>
              <a:r>
                <a:rPr kumimoji="1" lang="ja-JP" altLang="en-US" sz="1400" dirty="0">
                  <a:latin typeface="BIZ UDPゴシック" panose="020B0400000000000000" pitchFamily="50" charset="-128"/>
                  <a:ea typeface="BIZ UDPゴシック" panose="020B0400000000000000" pitchFamily="50" charset="-128"/>
                </a:rPr>
                <a:t>チーム</a:t>
              </a:r>
            </a:p>
          </p:txBody>
        </p:sp>
        <p:sp>
          <p:nvSpPr>
            <p:cNvPr id="53" name="テキスト ボックス 52">
              <a:extLst>
                <a:ext uri="{FF2B5EF4-FFF2-40B4-BE49-F238E27FC236}">
                  <a16:creationId xmlns:a16="http://schemas.microsoft.com/office/drawing/2014/main" id="{54B5FF82-F6F1-8BAC-6DAD-B74A1CC8B9B5}"/>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F</a:t>
              </a:r>
              <a:r>
                <a:rPr lang="ja-JP" altLang="en-US" sz="1400" dirty="0">
                  <a:latin typeface="BIZ UDPゴシック" panose="020B0400000000000000" pitchFamily="50" charset="-128"/>
                  <a:ea typeface="BIZ UDPゴシック" panose="020B0400000000000000" pitchFamily="50" charset="-128"/>
                </a:rPr>
                <a:t>さん</a:t>
              </a:r>
              <a:endParaRPr lang="en-US" altLang="ja-JP" sz="1400" dirty="0">
                <a:latin typeface="BIZ UDPゴシック" panose="020B0400000000000000" pitchFamily="50" charset="-128"/>
                <a:ea typeface="BIZ UDPゴシック" panose="020B0400000000000000" pitchFamily="50" charset="-128"/>
              </a:endParaRPr>
            </a:p>
          </p:txBody>
        </p:sp>
      </p:grpSp>
      <p:grpSp>
        <p:nvGrpSpPr>
          <p:cNvPr id="55" name="グループ化 54">
            <a:extLst>
              <a:ext uri="{FF2B5EF4-FFF2-40B4-BE49-F238E27FC236}">
                <a16:creationId xmlns:a16="http://schemas.microsoft.com/office/drawing/2014/main" id="{19E6308A-412A-9C1B-D7AE-37AFBDE51E54}"/>
              </a:ext>
            </a:extLst>
          </p:cNvPr>
          <p:cNvGrpSpPr/>
          <p:nvPr/>
        </p:nvGrpSpPr>
        <p:grpSpPr>
          <a:xfrm>
            <a:off x="1895003" y="3462885"/>
            <a:ext cx="1558947" cy="564450"/>
            <a:chOff x="5158183" y="134259"/>
            <a:chExt cx="1558947" cy="564450"/>
          </a:xfrm>
        </p:grpSpPr>
        <p:sp>
          <p:nvSpPr>
            <p:cNvPr id="56" name="テキスト ボックス 55">
              <a:extLst>
                <a:ext uri="{FF2B5EF4-FFF2-40B4-BE49-F238E27FC236}">
                  <a16:creationId xmlns:a16="http://schemas.microsoft.com/office/drawing/2014/main" id="{505C7ABB-52C1-0CCA-D1B8-30D4E7FE64FE}"/>
                </a:ext>
              </a:extLst>
            </p:cNvPr>
            <p:cNvSpPr txBox="1"/>
            <p:nvPr/>
          </p:nvSpPr>
          <p:spPr>
            <a:xfrm>
              <a:off x="5158183" y="134259"/>
              <a:ext cx="1558947" cy="268215"/>
            </a:xfrm>
            <a:prstGeom prst="rect">
              <a:avLst/>
            </a:prstGeom>
            <a:solidFill>
              <a:schemeClr val="bg1">
                <a:lumMod val="85000"/>
              </a:schemeClr>
            </a:solidFill>
            <a:ln w="28575">
              <a:solidFill>
                <a:schemeClr val="bg1">
                  <a:lumMod val="65000"/>
                </a:schemeClr>
              </a:solidFill>
            </a:ln>
          </p:spPr>
          <p:txBody>
            <a:bodyPr wrap="square" lIns="0" tIns="0" rIns="0" bIns="0" rtlCol="0">
              <a:spAutoFit/>
            </a:bodyPr>
            <a:lstStyle/>
            <a:p>
              <a:pPr algn="ctr">
                <a:lnSpc>
                  <a:spcPct val="150000"/>
                </a:lnSpc>
              </a:pPr>
              <a:r>
                <a:rPr kumimoji="1" lang="en-US" altLang="ja-JP" sz="1400" dirty="0" err="1">
                  <a:latin typeface="BIZ UDPゴシック" panose="020B0400000000000000" pitchFamily="50" charset="-128"/>
                  <a:ea typeface="BIZ UDPゴシック" panose="020B0400000000000000" pitchFamily="50" charset="-128"/>
                </a:rPr>
                <a:t>hoge</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0429F4BB-316D-CCF7-749D-1B18BD72D942}"/>
                </a:ext>
              </a:extLst>
            </p:cNvPr>
            <p:cNvSpPr txBox="1"/>
            <p:nvPr/>
          </p:nvSpPr>
          <p:spPr>
            <a:xfrm>
              <a:off x="5158183" y="430494"/>
              <a:ext cx="1558947" cy="268215"/>
            </a:xfrm>
            <a:prstGeom prst="rect">
              <a:avLst/>
            </a:prstGeom>
            <a:solidFill>
              <a:schemeClr val="bg1"/>
            </a:solidFill>
            <a:ln w="28575">
              <a:solidFill>
                <a:schemeClr val="bg1">
                  <a:lumMod val="65000"/>
                </a:schemeClr>
              </a:solidFill>
            </a:ln>
          </p:spPr>
          <p:txBody>
            <a:bodyPr wrap="square" lIns="0" tIns="0" rIns="0" bIns="0" rtlCol="0" anchor="t" anchorCtr="0">
              <a:spAutoFit/>
            </a:bodyPr>
            <a:lstStyle/>
            <a:p>
              <a:pPr marL="285750" indent="-285750" algn="ctr">
                <a:lnSpc>
                  <a:spcPct val="150000"/>
                </a:lnSpc>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B</a:t>
              </a:r>
              <a:r>
                <a:rPr kumimoji="1" lang="ja-JP" altLang="en-US" sz="1400" dirty="0">
                  <a:latin typeface="BIZ UDPゴシック" panose="020B0400000000000000" pitchFamily="50" charset="-128"/>
                  <a:ea typeface="BIZ UDPゴシック" panose="020B0400000000000000" pitchFamily="50" charset="-128"/>
                </a:rPr>
                <a:t>係長</a:t>
              </a:r>
            </a:p>
          </p:txBody>
        </p:sp>
      </p:grpSp>
      <p:sp>
        <p:nvSpPr>
          <p:cNvPr id="62" name="テキスト ボックス 61">
            <a:extLst>
              <a:ext uri="{FF2B5EF4-FFF2-40B4-BE49-F238E27FC236}">
                <a16:creationId xmlns:a16="http://schemas.microsoft.com/office/drawing/2014/main" id="{314A52D8-705C-F620-21CE-E6A432B76A55}"/>
              </a:ext>
            </a:extLst>
          </p:cNvPr>
          <p:cNvSpPr txBox="1"/>
          <p:nvPr/>
        </p:nvSpPr>
        <p:spPr>
          <a:xfrm>
            <a:off x="3471911" y="2463190"/>
            <a:ext cx="1107676"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進行に関わる</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意思決定</a:t>
            </a:r>
          </a:p>
        </p:txBody>
      </p:sp>
      <p:sp>
        <p:nvSpPr>
          <p:cNvPr id="63" name="テキスト ボックス 62">
            <a:extLst>
              <a:ext uri="{FF2B5EF4-FFF2-40B4-BE49-F238E27FC236}">
                <a16:creationId xmlns:a16="http://schemas.microsoft.com/office/drawing/2014/main" id="{76586CAA-93B2-918F-6603-B3BD7A1050B2}"/>
              </a:ext>
            </a:extLst>
          </p:cNvPr>
          <p:cNvSpPr txBox="1"/>
          <p:nvPr/>
        </p:nvSpPr>
        <p:spPr>
          <a:xfrm>
            <a:off x="6981291" y="3892634"/>
            <a:ext cx="1274388" cy="369332"/>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計画の進行管理</a:t>
            </a:r>
            <a:endParaRPr lang="en-US" altLang="ja-JP" sz="1200" dirty="0">
              <a:latin typeface="BIZ UDPゴシック" panose="020B0400000000000000" pitchFamily="50" charset="-128"/>
              <a:ea typeface="BIZ UDPゴシック" panose="020B0400000000000000" pitchFamily="50" charset="-128"/>
            </a:endParaRPr>
          </a:p>
          <a:p>
            <a:r>
              <a:rPr lang="en-US" altLang="ja-JP" sz="1200" dirty="0">
                <a:latin typeface="BIZ UDPゴシック" panose="020B0400000000000000" pitchFamily="50" charset="-128"/>
                <a:ea typeface="BIZ UDPゴシック" panose="020B0400000000000000" pitchFamily="50" charset="-128"/>
              </a:rPr>
              <a:t>PJ</a:t>
            </a:r>
            <a:r>
              <a:rPr lang="ja-JP" altLang="en-US" sz="1200" dirty="0">
                <a:latin typeface="BIZ UDPゴシック" panose="020B0400000000000000" pitchFamily="50" charset="-128"/>
                <a:ea typeface="BIZ UDPゴシック" panose="020B0400000000000000" pitchFamily="50" charset="-128"/>
              </a:rPr>
              <a:t>進捗報告の責任</a:t>
            </a:r>
          </a:p>
        </p:txBody>
      </p:sp>
      <p:sp>
        <p:nvSpPr>
          <p:cNvPr id="64" name="テキスト ボックス 63">
            <a:extLst>
              <a:ext uri="{FF2B5EF4-FFF2-40B4-BE49-F238E27FC236}">
                <a16:creationId xmlns:a16="http://schemas.microsoft.com/office/drawing/2014/main" id="{CECA3D35-EAD4-FD9B-013A-120FDF8C78AE}"/>
              </a:ext>
            </a:extLst>
          </p:cNvPr>
          <p:cNvSpPr txBox="1"/>
          <p:nvPr/>
        </p:nvSpPr>
        <p:spPr>
          <a:xfrm>
            <a:off x="6975225" y="2194049"/>
            <a:ext cx="1461939"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契約・予算の執行責任</a:t>
            </a:r>
            <a:endParaRPr lang="en-US" altLang="ja-JP" sz="1200" dirty="0">
              <a:latin typeface="BIZ UDPゴシック" panose="020B0400000000000000" pitchFamily="50" charset="-128"/>
              <a:ea typeface="BIZ UDPゴシック" panose="020B0400000000000000" pitchFamily="50" charset="-128"/>
            </a:endParaRPr>
          </a:p>
        </p:txBody>
      </p:sp>
      <p:sp>
        <p:nvSpPr>
          <p:cNvPr id="65" name="テキスト ボックス 64">
            <a:extLst>
              <a:ext uri="{FF2B5EF4-FFF2-40B4-BE49-F238E27FC236}">
                <a16:creationId xmlns:a16="http://schemas.microsoft.com/office/drawing/2014/main" id="{4526D7FD-B605-FB7A-C9C4-6DE4288231DB}"/>
              </a:ext>
            </a:extLst>
          </p:cNvPr>
          <p:cNvSpPr txBox="1"/>
          <p:nvPr/>
        </p:nvSpPr>
        <p:spPr>
          <a:xfrm>
            <a:off x="11324777" y="2499268"/>
            <a:ext cx="10772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人員確保の責任</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1D220C6A-35AF-E77C-803D-B429D9467B06}"/>
              </a:ext>
            </a:extLst>
          </p:cNvPr>
          <p:cNvSpPr txBox="1"/>
          <p:nvPr/>
        </p:nvSpPr>
        <p:spPr>
          <a:xfrm>
            <a:off x="11324777" y="4066610"/>
            <a:ext cx="1538883" cy="369332"/>
          </a:xfrm>
          <a:prstGeom prst="rect">
            <a:avLst/>
          </a:prstGeom>
          <a:noFill/>
        </p:spPr>
        <p:txBody>
          <a:bodyPr wrap="none" lIns="0" tIns="0" rIns="0" bIns="0" rtlCol="0">
            <a:spAutoFit/>
          </a:bodyPr>
          <a:lstStyle/>
          <a:p>
            <a:r>
              <a:rPr lang="ja-JP" altLang="en-US" sz="1200" dirty="0">
                <a:latin typeface="メイリオ" panose="020B0604030504040204" pitchFamily="50" charset="-128"/>
                <a:ea typeface="メイリオ" panose="020B0604030504040204" pitchFamily="50" charset="-128"/>
              </a:rPr>
              <a:t>リーダーと現場の整合</a:t>
            </a:r>
            <a:endParaRPr lang="en-US" altLang="ja-JP" sz="1200" dirty="0">
              <a:latin typeface="メイリオ" panose="020B0604030504040204" pitchFamily="50" charset="-128"/>
              <a:ea typeface="メイリオ" panose="020B0604030504040204" pitchFamily="50" charset="-128"/>
            </a:endParaRPr>
          </a:p>
          <a:p>
            <a:r>
              <a:rPr lang="ja-JP" altLang="en-US" sz="1200" dirty="0">
                <a:latin typeface="メイリオ" panose="020B0604030504040204" pitchFamily="50" charset="-128"/>
                <a:ea typeface="メイリオ" panose="020B0604030504040204" pitchFamily="50" charset="-128"/>
              </a:rPr>
              <a:t>ギャップ解消</a:t>
            </a:r>
            <a:endParaRPr lang="en-US" altLang="ja-JP" sz="1200" dirty="0">
              <a:latin typeface="メイリオ" panose="020B0604030504040204" pitchFamily="50" charset="-128"/>
              <a:ea typeface="メイリオ" panose="020B0604030504040204" pitchFamily="50" charset="-128"/>
            </a:endParaRPr>
          </a:p>
        </p:txBody>
      </p:sp>
      <p:sp>
        <p:nvSpPr>
          <p:cNvPr id="68" name="テキスト ボックス 67">
            <a:extLst>
              <a:ext uri="{FF2B5EF4-FFF2-40B4-BE49-F238E27FC236}">
                <a16:creationId xmlns:a16="http://schemas.microsoft.com/office/drawing/2014/main" id="{E2807904-658B-AC06-046B-BB095FA523BB}"/>
              </a:ext>
            </a:extLst>
          </p:cNvPr>
          <p:cNvSpPr txBox="1"/>
          <p:nvPr/>
        </p:nvSpPr>
        <p:spPr>
          <a:xfrm>
            <a:off x="2627635" y="5657330"/>
            <a:ext cx="769441"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設計判断</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実現可能性</a:t>
            </a:r>
            <a:endParaRPr lang="en-US" altLang="ja-JP" sz="120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CAF30F4B-24F1-9640-2054-958D85F33083}"/>
              </a:ext>
            </a:extLst>
          </p:cNvPr>
          <p:cNvSpPr txBox="1"/>
          <p:nvPr/>
        </p:nvSpPr>
        <p:spPr>
          <a:xfrm>
            <a:off x="5385989" y="5657330"/>
            <a:ext cx="615553"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効率改善</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品質担保</a:t>
            </a:r>
            <a:endParaRPr lang="en-US" altLang="ja-JP" sz="1200" dirty="0">
              <a:latin typeface="BIZ UDPゴシック" panose="020B0400000000000000" pitchFamily="50" charset="-128"/>
              <a:ea typeface="BIZ UDPゴシック" panose="020B0400000000000000" pitchFamily="50" charset="-128"/>
            </a:endParaRPr>
          </a:p>
        </p:txBody>
      </p:sp>
      <p:sp>
        <p:nvSpPr>
          <p:cNvPr id="74" name="テキスト ボックス 73">
            <a:extLst>
              <a:ext uri="{FF2B5EF4-FFF2-40B4-BE49-F238E27FC236}">
                <a16:creationId xmlns:a16="http://schemas.microsoft.com/office/drawing/2014/main" id="{84BCDAAE-5DDE-61A3-FFFC-8E617269E3B6}"/>
              </a:ext>
            </a:extLst>
          </p:cNvPr>
          <p:cNvSpPr txBox="1"/>
          <p:nvPr/>
        </p:nvSpPr>
        <p:spPr>
          <a:xfrm>
            <a:off x="7960330" y="5657330"/>
            <a:ext cx="1384995" cy="369332"/>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業務要件の意思決定</a:t>
            </a:r>
            <a:endParaRPr lang="en-US" altLang="ja-JP" sz="1200" dirty="0">
              <a:latin typeface="BIZ UDPゴシック" panose="020B0400000000000000" pitchFamily="50" charset="-128"/>
              <a:ea typeface="BIZ UDPゴシック" panose="020B0400000000000000" pitchFamily="50" charset="-128"/>
            </a:endParaRPr>
          </a:p>
          <a:p>
            <a:r>
              <a:rPr lang="ja-JP" altLang="en-US" sz="1200" dirty="0">
                <a:latin typeface="BIZ UDPゴシック" panose="020B0400000000000000" pitchFamily="50" charset="-128"/>
                <a:ea typeface="BIZ UDPゴシック" panose="020B0400000000000000" pitchFamily="50" charset="-128"/>
              </a:rPr>
              <a:t>要望窓口</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815405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4083A-1F0A-9A6C-F360-F33D704010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1D1260-7375-86A2-1051-BDCBEDDC4518}"/>
              </a:ext>
            </a:extLst>
          </p:cNvPr>
          <p:cNvSpPr>
            <a:spLocks noGrp="1"/>
          </p:cNvSpPr>
          <p:nvPr>
            <p:ph type="title"/>
          </p:nvPr>
        </p:nvSpPr>
        <p:spPr/>
        <p:txBody>
          <a:bodyPr/>
          <a:lstStyle/>
          <a:p>
            <a:r>
              <a:rPr lang="ja-JP" altLang="en-US" dirty="0"/>
              <a:t>コミュニケーションルール</a:t>
            </a:r>
            <a:endParaRPr kumimoji="1" lang="ja-JP" altLang="en-US" dirty="0"/>
          </a:p>
        </p:txBody>
      </p:sp>
      <p:sp>
        <p:nvSpPr>
          <p:cNvPr id="3" name="フッター プレースホルダー 2">
            <a:extLst>
              <a:ext uri="{FF2B5EF4-FFF2-40B4-BE49-F238E27FC236}">
                <a16:creationId xmlns:a16="http://schemas.microsoft.com/office/drawing/2014/main" id="{19F54152-A0CC-AFC6-F6D7-8A10848D683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3DD5A579-7492-7168-6DD2-52C2BCEA5602}"/>
              </a:ext>
            </a:extLst>
          </p:cNvPr>
          <p:cNvSpPr>
            <a:spLocks noGrp="1"/>
          </p:cNvSpPr>
          <p:nvPr>
            <p:ph type="sldNum" sz="quarter" idx="12"/>
          </p:nvPr>
        </p:nvSpPr>
        <p:spPr>
          <a:xfrm>
            <a:off x="8610601" y="6356355"/>
            <a:ext cx="3173412" cy="365125"/>
          </a:xfrm>
        </p:spPr>
        <p:txBody>
          <a:bodyPr/>
          <a:lstStyle/>
          <a:p>
            <a:fld id="{DCB5AA93-092B-49A1-87A7-3C88D5F38AD7}" type="slidenum">
              <a:rPr lang="ja-JP" altLang="en-US" smtClean="0"/>
              <a:pPr/>
              <a:t>7</a:t>
            </a:fld>
            <a:endParaRPr lang="ja-JP" altLang="en-US" dirty="0"/>
          </a:p>
        </p:txBody>
      </p:sp>
      <p:graphicFrame>
        <p:nvGraphicFramePr>
          <p:cNvPr id="9" name="表 8">
            <a:extLst>
              <a:ext uri="{FF2B5EF4-FFF2-40B4-BE49-F238E27FC236}">
                <a16:creationId xmlns:a16="http://schemas.microsoft.com/office/drawing/2014/main" id="{61323884-E9B1-3C5E-6A5B-20EDE3FE1567}"/>
              </a:ext>
            </a:extLst>
          </p:cNvPr>
          <p:cNvGraphicFramePr>
            <a:graphicFrameLocks noGrp="1"/>
          </p:cNvGraphicFramePr>
          <p:nvPr>
            <p:extLst>
              <p:ext uri="{D42A27DB-BD31-4B8C-83A1-F6EECF244321}">
                <p14:modId xmlns:p14="http://schemas.microsoft.com/office/powerpoint/2010/main" val="2990550245"/>
              </p:ext>
            </p:extLst>
          </p:nvPr>
        </p:nvGraphicFramePr>
        <p:xfrm>
          <a:off x="407989" y="1195406"/>
          <a:ext cx="11376024" cy="4033520"/>
        </p:xfrm>
        <a:graphic>
          <a:graphicData uri="http://schemas.openxmlformats.org/drawingml/2006/table">
            <a:tbl>
              <a:tblPr firstRow="1" bandRow="1">
                <a:tableStyleId>{5C22544A-7EE6-4342-B048-85BDC9FD1C3A}</a:tableStyleId>
              </a:tblPr>
              <a:tblGrid>
                <a:gridCol w="423284">
                  <a:extLst>
                    <a:ext uri="{9D8B030D-6E8A-4147-A177-3AD203B41FA5}">
                      <a16:colId xmlns:a16="http://schemas.microsoft.com/office/drawing/2014/main" val="279041293"/>
                    </a:ext>
                  </a:extLst>
                </a:gridCol>
                <a:gridCol w="1695796">
                  <a:extLst>
                    <a:ext uri="{9D8B030D-6E8A-4147-A177-3AD203B41FA5}">
                      <a16:colId xmlns:a16="http://schemas.microsoft.com/office/drawing/2014/main" val="1769139613"/>
                    </a:ext>
                  </a:extLst>
                </a:gridCol>
                <a:gridCol w="2078182">
                  <a:extLst>
                    <a:ext uri="{9D8B030D-6E8A-4147-A177-3AD203B41FA5}">
                      <a16:colId xmlns:a16="http://schemas.microsoft.com/office/drawing/2014/main" val="2390303899"/>
                    </a:ext>
                  </a:extLst>
                </a:gridCol>
                <a:gridCol w="1720734">
                  <a:extLst>
                    <a:ext uri="{9D8B030D-6E8A-4147-A177-3AD203B41FA5}">
                      <a16:colId xmlns:a16="http://schemas.microsoft.com/office/drawing/2014/main" val="4223384442"/>
                    </a:ext>
                  </a:extLst>
                </a:gridCol>
                <a:gridCol w="2173459">
                  <a:extLst>
                    <a:ext uri="{9D8B030D-6E8A-4147-A177-3AD203B41FA5}">
                      <a16:colId xmlns:a16="http://schemas.microsoft.com/office/drawing/2014/main" val="1379525383"/>
                    </a:ext>
                  </a:extLst>
                </a:gridCol>
                <a:gridCol w="1618291">
                  <a:extLst>
                    <a:ext uri="{9D8B030D-6E8A-4147-A177-3AD203B41FA5}">
                      <a16:colId xmlns:a16="http://schemas.microsoft.com/office/drawing/2014/main" val="411652451"/>
                    </a:ext>
                  </a:extLst>
                </a:gridCol>
                <a:gridCol w="1666278">
                  <a:extLst>
                    <a:ext uri="{9D8B030D-6E8A-4147-A177-3AD203B41FA5}">
                      <a16:colId xmlns:a16="http://schemas.microsoft.com/office/drawing/2014/main" val="3439538324"/>
                    </a:ext>
                  </a:extLst>
                </a:gridCol>
              </a:tblGrid>
              <a:tr h="370840">
                <a:tc>
                  <a:txBody>
                    <a:bodyPr/>
                    <a:lstStyle/>
                    <a:p>
                      <a:r>
                        <a:rPr kumimoji="1" lang="en-US" altLang="ja-JP" sz="1200" dirty="0">
                          <a:latin typeface="BIZ UDPゴシック" panose="020B0400000000000000" pitchFamily="50" charset="-128"/>
                          <a:ea typeface="BIZ UDPゴシック" panose="020B0400000000000000" pitchFamily="50" charset="-128"/>
                        </a:rPr>
                        <a:t>#</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会議体名</a:t>
                      </a: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主な議題</a:t>
                      </a: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日時</a:t>
                      </a: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参加者</a:t>
                      </a: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必要資料</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進行役</a:t>
                      </a:r>
                    </a:p>
                  </a:txBody>
                  <a:tcPr>
                    <a:solidFill>
                      <a:schemeClr val="bg2">
                        <a:lumMod val="50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成果物</a:t>
                      </a:r>
                    </a:p>
                  </a:txBody>
                  <a:tcPr>
                    <a:solidFill>
                      <a:schemeClr val="bg2">
                        <a:lumMod val="50000"/>
                      </a:schemeClr>
                    </a:solidFill>
                  </a:tcPr>
                </a:tc>
                <a:extLst>
                  <a:ext uri="{0D108BD9-81ED-4DB2-BD59-A6C34878D82A}">
                    <a16:rowId xmlns:a16="http://schemas.microsoft.com/office/drawing/2014/main" val="151539718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1</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プロジェクトキックオフ</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メンバーに対する計画の共有</a:t>
                      </a:r>
                    </a:p>
                  </a:txBody>
                  <a:tcPr>
                    <a:solidFill>
                      <a:schemeClr val="bg1">
                        <a:lumMod val="95000"/>
                      </a:schemeClr>
                    </a:solidFill>
                  </a:tcPr>
                </a:tc>
                <a:tc>
                  <a:txBody>
                    <a:bodyPr/>
                    <a:lstStyle/>
                    <a:p>
                      <a:r>
                        <a:rPr kumimoji="1" lang="en-US" altLang="ja-JP" sz="1200" dirty="0">
                          <a:latin typeface="BIZ UDPゴシック" panose="020B0400000000000000" pitchFamily="50" charset="-128"/>
                          <a:ea typeface="BIZ UDPゴシック" panose="020B0400000000000000" pitchFamily="50" charset="-128"/>
                        </a:rPr>
                        <a:t>2025/10/xx 1.0h</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Ｈｈ</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計画書</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2</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ステコミ</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進行状況の報告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月初 </a:t>
                      </a:r>
                      <a:r>
                        <a:rPr kumimoji="1" lang="en-US" altLang="ja-JP" sz="1200" dirty="0">
                          <a:latin typeface="BIZ UDPゴシック" panose="020B0400000000000000" pitchFamily="50" charset="-128"/>
                          <a:ea typeface="BIZ UDPゴシック" panose="020B0400000000000000" pitchFamily="50" charset="-128"/>
                        </a:rPr>
                        <a:t>1.0h</a:t>
                      </a:r>
                    </a:p>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A</a:t>
                      </a:r>
                      <a:r>
                        <a:rPr kumimoji="1" lang="ja-JP" altLang="en-US" sz="1200" dirty="0">
                          <a:latin typeface="BIZ UDPゴシック" panose="020B0400000000000000" pitchFamily="50" charset="-128"/>
                          <a:ea typeface="BIZ UDPゴシック" panose="020B0400000000000000" pitchFamily="50" charset="-128"/>
                        </a:rPr>
                        <a:t>部長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プロジェクトオーナー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スケジュール表</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議事録</a:t>
                      </a:r>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3</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顧客定例</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顧客 </a:t>
                      </a:r>
                      <a:r>
                        <a:rPr kumimoji="1" lang="en-US" altLang="ja-JP" sz="1200" dirty="0">
                          <a:latin typeface="BIZ UDPゴシック" panose="020B0400000000000000" pitchFamily="50" charset="-128"/>
                          <a:ea typeface="BIZ UDPゴシック" panose="020B0400000000000000" pitchFamily="50" charset="-128"/>
                        </a:rPr>
                        <a:t>B</a:t>
                      </a:r>
                      <a:r>
                        <a:rPr kumimoji="1" lang="ja-JP" altLang="en-US" sz="1200" dirty="0">
                          <a:latin typeface="BIZ UDPゴシック" panose="020B0400000000000000" pitchFamily="50" charset="-128"/>
                          <a:ea typeface="BIZ UDPゴシック" panose="020B0400000000000000" pitchFamily="50" charset="-128"/>
                        </a:rPr>
                        <a:t>課長</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4</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プロジェクト定例</a:t>
                      </a:r>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毎週 </a:t>
                      </a:r>
                      <a:r>
                        <a:rPr kumimoji="1" lang="en-US" altLang="ja-JP" sz="1200" dirty="0">
                          <a:latin typeface="BIZ UDPゴシック" panose="020B0400000000000000" pitchFamily="50" charset="-128"/>
                          <a:ea typeface="BIZ UDPゴシック" panose="020B0400000000000000" pitchFamily="50" charset="-128"/>
                        </a:rPr>
                        <a:t>x</a:t>
                      </a:r>
                      <a:r>
                        <a:rPr kumimoji="1" lang="ja-JP" altLang="en-US" sz="1200" dirty="0">
                          <a:latin typeface="BIZ UDPゴシック" panose="020B0400000000000000" pitchFamily="50" charset="-128"/>
                          <a:ea typeface="BIZ UDPゴシック" panose="020B0400000000000000" pitchFamily="50" charset="-128"/>
                        </a:rPr>
                        <a:t>曜日 </a:t>
                      </a:r>
                      <a:r>
                        <a:rPr kumimoji="1" lang="en-US" altLang="ja-JP" sz="1200" dirty="0">
                          <a:latin typeface="BIZ UDPゴシック" panose="020B0400000000000000" pitchFamily="50" charset="-128"/>
                          <a:ea typeface="BIZ UDPゴシック" panose="020B0400000000000000" pitchFamily="50" charset="-128"/>
                        </a:rPr>
                        <a:t>1.0h</a:t>
                      </a: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プロジェクトマネージャー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ガントチャート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5</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チーム定例</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昨日タスクの遅れ報告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当日タスクの内容報告</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翌日タスクの懸念報告</a:t>
                      </a: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毎日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p>
                      <a:r>
                        <a:rPr kumimoji="1" lang="en-US" altLang="ja-JP" sz="1200" dirty="0">
                          <a:latin typeface="BIZ UDPゴシック" panose="020B0400000000000000" pitchFamily="50" charset="-128"/>
                          <a:ea typeface="BIZ UDPゴシック" panose="020B0400000000000000" pitchFamily="50" charset="-128"/>
                        </a:rPr>
                        <a:t>xx:00</a:t>
                      </a:r>
                      <a:r>
                        <a:rPr kumimoji="1" lang="ja-JP" altLang="en-US" sz="1200" dirty="0">
                          <a:latin typeface="BIZ UDPゴシック" panose="020B0400000000000000" pitchFamily="50" charset="-128"/>
                          <a:ea typeface="BIZ UDPゴシック" panose="020B0400000000000000" pitchFamily="50" charset="-128"/>
                        </a:rPr>
                        <a:t>～</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プロジェクトリーダー</a:t>
                      </a: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endParaRPr kumimoji="1" lang="en-US" altLang="ja-JP" sz="1200" dirty="0">
                        <a:latin typeface="BIZ UDPゴシック" panose="020B0400000000000000" pitchFamily="50" charset="-128"/>
                        <a:ea typeface="BIZ UDPゴシック" panose="020B0400000000000000" pitchFamily="50" charset="-128"/>
                      </a:endParaRPr>
                    </a:p>
                    <a:p>
                      <a:pPr marL="0" marR="0" lvl="0" indent="0" algn="l" defTabSz="914373" rtl="0" eaLnBrk="1" fontAlgn="auto" latinLnBrk="0" hangingPunct="1">
                        <a:lnSpc>
                          <a:spcPct val="100000"/>
                        </a:lnSpc>
                        <a:spcBef>
                          <a:spcPts val="0"/>
                        </a:spcBef>
                        <a:spcAft>
                          <a:spcPts val="0"/>
                        </a:spcAft>
                        <a:buClrTx/>
                        <a:buSzTx/>
                        <a:buFontTx/>
                        <a:buNone/>
                        <a:tabLst/>
                        <a:defRPr/>
                      </a:pPr>
                      <a:r>
                        <a:rPr kumimoji="1" lang="ja-JP" altLang="en-US" sz="1200" dirty="0">
                          <a:latin typeface="BIZ UDPゴシック" panose="020B0400000000000000" pitchFamily="50" charset="-128"/>
                          <a:ea typeface="BIZ UDPゴシック" panose="020B0400000000000000" pitchFamily="50" charset="-128"/>
                        </a:rPr>
                        <a:t>課題ログ</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587732588"/>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6</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ハドルミーティング</a:t>
                      </a:r>
                    </a:p>
                  </a:txBody>
                  <a:tcPr>
                    <a:solidFill>
                      <a:schemeClr val="bg1">
                        <a:lumMod val="95000"/>
                      </a:schemeClr>
                    </a:solidFill>
                  </a:tcPr>
                </a:tc>
                <a:tc>
                  <a:txBody>
                    <a:bodyPr/>
                    <a:lstStyle/>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技術課題の議論</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r>
                        <a:rPr kumimoji="1" lang="ja-JP" altLang="en-US" sz="1200" dirty="0">
                          <a:latin typeface="BIZ UDPゴシック" panose="020B0400000000000000" pitchFamily="50" charset="-128"/>
                          <a:ea typeface="BIZ UDPゴシック" panose="020B0400000000000000" pitchFamily="50" charset="-128"/>
                        </a:rPr>
                        <a:t>不定期 </a:t>
                      </a:r>
                      <a:r>
                        <a:rPr kumimoji="1" lang="en-US" altLang="ja-JP" sz="1200" dirty="0">
                          <a:latin typeface="BIZ UDPゴシック" panose="020B0400000000000000" pitchFamily="50" charset="-128"/>
                          <a:ea typeface="BIZ UDPゴシック" panose="020B0400000000000000" pitchFamily="50" charset="-128"/>
                        </a:rPr>
                        <a:t>15</a:t>
                      </a:r>
                      <a:r>
                        <a:rPr kumimoji="1" lang="ja-JP" altLang="en-US" sz="1200" dirty="0">
                          <a:latin typeface="BIZ UDPゴシック" panose="020B0400000000000000" pitchFamily="50" charset="-128"/>
                          <a:ea typeface="BIZ UDPゴシック" panose="020B0400000000000000" pitchFamily="50" charset="-128"/>
                        </a:rPr>
                        <a:t>分</a:t>
                      </a:r>
                      <a:endParaRPr kumimoji="1" lang="en-US" altLang="ja-JP"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dirty="0">
                          <a:latin typeface="BIZ UDPゴシック" panose="020B0400000000000000" pitchFamily="50" charset="-128"/>
                          <a:ea typeface="BIZ UDPゴシック" panose="020B0400000000000000" pitchFamily="50" charset="-128"/>
                        </a:rPr>
                        <a:t>プロジェクトリーダー</a:t>
                      </a:r>
                      <a:endParaRPr kumimoji="1"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メンバー</a:t>
                      </a:r>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r>
                        <a:rPr kumimoji="1" lang="en-US" altLang="ja-JP" sz="1200" dirty="0">
                          <a:latin typeface="BIZ UDPゴシック" panose="020B0400000000000000" pitchFamily="50" charset="-128"/>
                          <a:ea typeface="BIZ UDPゴシック" panose="020B0400000000000000" pitchFamily="50" charset="-128"/>
                        </a:rPr>
                        <a:t>JIRA </a:t>
                      </a:r>
                      <a:r>
                        <a:rPr kumimoji="1" lang="ja-JP" altLang="en-US" sz="1200" dirty="0">
                          <a:latin typeface="BIZ UDPゴシック" panose="020B0400000000000000" pitchFamily="50" charset="-128"/>
                          <a:ea typeface="BIZ UDPゴシック" panose="020B0400000000000000" pitchFamily="50" charset="-128"/>
                        </a:rPr>
                        <a:t>チケット</a:t>
                      </a: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613087573"/>
                  </a:ext>
                </a:extLst>
              </a:tr>
              <a:tr h="370840">
                <a:tc>
                  <a:txBody>
                    <a:bodyPr/>
                    <a:lstStyle/>
                    <a:p>
                      <a:r>
                        <a:rPr kumimoji="1" lang="en-US" altLang="ja-JP" sz="1200" dirty="0">
                          <a:latin typeface="BIZ UDPゴシック" panose="020B0400000000000000" pitchFamily="50" charset="-128"/>
                          <a:ea typeface="BIZ UDPゴシック" panose="020B0400000000000000" pitchFamily="50" charset="-128"/>
                        </a:rPr>
                        <a:t>7</a:t>
                      </a:r>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tc>
                  <a:txBody>
                    <a:bodyPr/>
                    <a:lstStyle/>
                    <a:p>
                      <a:endParaRPr kumimoji="1" lang="ja-JP" altLang="en-US" sz="1200" dirty="0">
                        <a:latin typeface="BIZ UDPゴシック" panose="020B0400000000000000" pitchFamily="50" charset="-128"/>
                        <a:ea typeface="BIZ UDPゴシック" panose="020B0400000000000000" pitchFamily="50" charset="-128"/>
                      </a:endParaRPr>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
        <p:nvSpPr>
          <p:cNvPr id="11" name="テキスト ボックス 10">
            <a:extLst>
              <a:ext uri="{FF2B5EF4-FFF2-40B4-BE49-F238E27FC236}">
                <a16:creationId xmlns:a16="http://schemas.microsoft.com/office/drawing/2014/main" id="{07E635F9-BC5F-FA3A-05D6-D17A779C682D}"/>
              </a:ext>
            </a:extLst>
          </p:cNvPr>
          <p:cNvSpPr txBox="1"/>
          <p:nvPr/>
        </p:nvSpPr>
        <p:spPr>
          <a:xfrm>
            <a:off x="3961359" y="5662594"/>
            <a:ext cx="7822654" cy="646331"/>
          </a:xfrm>
          <a:prstGeom prst="rect">
            <a:avLst/>
          </a:prstGeom>
          <a:noFill/>
        </p:spPr>
        <p:txBody>
          <a:bodyPr wrap="square" lIns="0" tIns="0" rIns="0" bIns="0" rtlCol="0">
            <a:spAutoFit/>
          </a:bodyPr>
          <a:lstStyle/>
          <a:p>
            <a:pPr algn="l"/>
            <a:r>
              <a:rPr kumimoji="1" lang="ja-JP" altLang="en-US" sz="1400" dirty="0">
                <a:latin typeface="BIZ UDPゴシック" panose="020B0400000000000000" pitchFamily="50" charset="-128"/>
                <a:ea typeface="BIZ UDPゴシック" panose="020B0400000000000000" pitchFamily="50" charset="-128"/>
              </a:rPr>
              <a:t>打合せは全体工数の</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a:t>
            </a:r>
            <a:r>
              <a:rPr kumimoji="1" lang="en-US" altLang="ja-JP" sz="1400" dirty="0">
                <a:latin typeface="BIZ UDPゴシック" panose="020B0400000000000000" pitchFamily="50" charset="-128"/>
                <a:ea typeface="BIZ UDPゴシック" panose="020B0400000000000000" pitchFamily="50" charset="-128"/>
              </a:rPr>
              <a:t>25%</a:t>
            </a:r>
            <a:r>
              <a:rPr kumimoji="1" lang="ja-JP" altLang="en-US" sz="1400" dirty="0">
                <a:latin typeface="BIZ UDPゴシック" panose="020B0400000000000000" pitchFamily="50" charset="-128"/>
                <a:ea typeface="BIZ UDPゴシック" panose="020B0400000000000000" pitchFamily="50" charset="-128"/>
              </a:rPr>
              <a:t>を目指す</a:t>
            </a:r>
            <a:r>
              <a:rPr lang="ja-JP" altLang="en-US" sz="1400" dirty="0">
                <a:latin typeface="BIZ UDPゴシック" panose="020B0400000000000000" pitchFamily="50" charset="-128"/>
                <a:ea typeface="BIZ UDPゴシック" panose="020B0400000000000000" pitchFamily="50" charset="-128"/>
              </a:rPr>
              <a:t>。超える場合はマネジメントレベルで最適化を図る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リーダー層：</a:t>
            </a:r>
            <a:r>
              <a:rPr lang="en-US" altLang="ja-JP" sz="1400" dirty="0">
                <a:latin typeface="BIZ UDPゴシック" panose="020B0400000000000000" pitchFamily="50" charset="-128"/>
                <a:ea typeface="BIZ UDPゴシック" panose="020B0400000000000000" pitchFamily="50" charset="-128"/>
              </a:rPr>
              <a:t>25% (8h * 5days * 25% = 10h</a:t>
            </a: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メンバー層：</a:t>
            </a:r>
            <a:r>
              <a:rPr kumimoji="1" lang="en-US" altLang="ja-JP" sz="1400" dirty="0">
                <a:latin typeface="BIZ UDPゴシック" panose="020B0400000000000000" pitchFamily="50" charset="-128"/>
                <a:ea typeface="BIZ UDPゴシック" panose="020B0400000000000000" pitchFamily="50" charset="-128"/>
              </a:rPr>
              <a:t>10% (8h * 5days * 10% =   4h</a:t>
            </a: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213722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48792-1566-CE12-CE1A-6E4C02AA0D4C}"/>
            </a:ext>
          </a:extLst>
        </p:cNvPr>
        <p:cNvGrpSpPr/>
        <p:nvPr/>
      </p:nvGrpSpPr>
      <p:grpSpPr>
        <a:xfrm>
          <a:off x="0" y="0"/>
          <a:ext cx="0" cy="0"/>
          <a:chOff x="0" y="0"/>
          <a:chExt cx="0" cy="0"/>
        </a:xfrm>
      </p:grpSpPr>
      <p:sp>
        <p:nvSpPr>
          <p:cNvPr id="135" name="正方形/長方形 134">
            <a:extLst>
              <a:ext uri="{FF2B5EF4-FFF2-40B4-BE49-F238E27FC236}">
                <a16:creationId xmlns:a16="http://schemas.microsoft.com/office/drawing/2014/main" id="{0359CFD9-7530-5923-F454-8C66145C1D77}"/>
              </a:ext>
            </a:extLst>
          </p:cNvPr>
          <p:cNvSpPr/>
          <p:nvPr/>
        </p:nvSpPr>
        <p:spPr>
          <a:xfrm>
            <a:off x="9809136" y="2167106"/>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34" name="正方形/長方形 133">
            <a:extLst>
              <a:ext uri="{FF2B5EF4-FFF2-40B4-BE49-F238E27FC236}">
                <a16:creationId xmlns:a16="http://schemas.microsoft.com/office/drawing/2014/main" id="{922E16CC-DC06-D7E4-0D64-547B19DD1624}"/>
              </a:ext>
            </a:extLst>
          </p:cNvPr>
          <p:cNvSpPr/>
          <p:nvPr/>
        </p:nvSpPr>
        <p:spPr>
          <a:xfrm>
            <a:off x="5456922" y="2157123"/>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33" name="正方形/長方形 132">
            <a:extLst>
              <a:ext uri="{FF2B5EF4-FFF2-40B4-BE49-F238E27FC236}">
                <a16:creationId xmlns:a16="http://schemas.microsoft.com/office/drawing/2014/main" id="{1760E534-4FD9-F890-37C6-6E4332836A1A}"/>
              </a:ext>
            </a:extLst>
          </p:cNvPr>
          <p:cNvSpPr/>
          <p:nvPr/>
        </p:nvSpPr>
        <p:spPr>
          <a:xfrm>
            <a:off x="7633030" y="2167106"/>
            <a:ext cx="1260209" cy="35351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3DD74818-1A9E-2EB7-13D1-28A364B60410}"/>
              </a:ext>
            </a:extLst>
          </p:cNvPr>
          <p:cNvSpPr>
            <a:spLocks noGrp="1"/>
          </p:cNvSpPr>
          <p:nvPr>
            <p:ph type="title"/>
          </p:nvPr>
        </p:nvSpPr>
        <p:spPr/>
        <p:txBody>
          <a:bodyPr/>
          <a:lstStyle/>
          <a:p>
            <a:r>
              <a:rPr kumimoji="1" lang="ja-JP" altLang="en-US" dirty="0"/>
              <a:t>成果物構造 </a:t>
            </a:r>
            <a:r>
              <a:rPr kumimoji="1" lang="en-US" altLang="ja-JP" dirty="0"/>
              <a:t>- WBS</a:t>
            </a:r>
            <a:endParaRPr kumimoji="1" lang="ja-JP" altLang="en-US" dirty="0"/>
          </a:p>
        </p:txBody>
      </p:sp>
      <p:sp>
        <p:nvSpPr>
          <p:cNvPr id="3" name="フッター プレースホルダー 2">
            <a:extLst>
              <a:ext uri="{FF2B5EF4-FFF2-40B4-BE49-F238E27FC236}">
                <a16:creationId xmlns:a16="http://schemas.microsoft.com/office/drawing/2014/main" id="{6CE880EC-03A7-0513-ADF2-DEEE8E5352F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97F06C6-BCA0-6D81-DDA4-D225D6509700}"/>
              </a:ext>
            </a:extLst>
          </p:cNvPr>
          <p:cNvSpPr>
            <a:spLocks noGrp="1"/>
          </p:cNvSpPr>
          <p:nvPr>
            <p:ph type="sldNum" sz="quarter" idx="12"/>
          </p:nvPr>
        </p:nvSpPr>
        <p:spPr/>
        <p:txBody>
          <a:bodyPr/>
          <a:lstStyle/>
          <a:p>
            <a:fld id="{DCB5AA93-092B-49A1-87A7-3C88D5F38AD7}" type="slidenum">
              <a:rPr lang="ja-JP" altLang="en-US" smtClean="0"/>
              <a:pPr/>
              <a:t>8</a:t>
            </a:fld>
            <a:endParaRPr lang="ja-JP" altLang="en-US" dirty="0"/>
          </a:p>
        </p:txBody>
      </p:sp>
      <p:sp>
        <p:nvSpPr>
          <p:cNvPr id="33" name="テキスト ボックス 32">
            <a:extLst>
              <a:ext uri="{FF2B5EF4-FFF2-40B4-BE49-F238E27FC236}">
                <a16:creationId xmlns:a16="http://schemas.microsoft.com/office/drawing/2014/main" id="{D35424B0-9408-1291-5B4B-F6D9BFC6253B}"/>
              </a:ext>
            </a:extLst>
          </p:cNvPr>
          <p:cNvSpPr txBox="1"/>
          <p:nvPr/>
        </p:nvSpPr>
        <p:spPr>
          <a:xfrm>
            <a:off x="1015952"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5DFF0566-2A04-6299-D51A-4FC5184223F8}"/>
              </a:ext>
            </a:extLst>
          </p:cNvPr>
          <p:cNvSpPr/>
          <p:nvPr/>
        </p:nvSpPr>
        <p:spPr>
          <a:xfrm>
            <a:off x="1015951" y="126223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プロジェクト</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endPar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43" name="直線コネクタ 42">
            <a:extLst>
              <a:ext uri="{FF2B5EF4-FFF2-40B4-BE49-F238E27FC236}">
                <a16:creationId xmlns:a16="http://schemas.microsoft.com/office/drawing/2014/main" id="{071B6D32-2D26-5E4A-6D9B-47B4941EB865}"/>
              </a:ext>
            </a:extLst>
          </p:cNvPr>
          <p:cNvCxnSpPr>
            <a:cxnSpLocks/>
          </p:cNvCxnSpPr>
          <p:nvPr/>
        </p:nvCxnSpPr>
        <p:spPr>
          <a:xfrm>
            <a:off x="202551" y="1789881"/>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3" name="テキスト ボックス 72">
            <a:extLst>
              <a:ext uri="{FF2B5EF4-FFF2-40B4-BE49-F238E27FC236}">
                <a16:creationId xmlns:a16="http://schemas.microsoft.com/office/drawing/2014/main" id="{686B5A50-A909-F644-734A-C46A145BB35F}"/>
              </a:ext>
            </a:extLst>
          </p:cNvPr>
          <p:cNvSpPr txBox="1"/>
          <p:nvPr/>
        </p:nvSpPr>
        <p:spPr>
          <a:xfrm>
            <a:off x="202551" y="1558175"/>
            <a:ext cx="528991"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1</a:t>
            </a:r>
            <a:endParaRPr lang="ja-JP" altLang="en-US" sz="1200" dirty="0">
              <a:latin typeface="BIZ UDPゴシック" panose="020B0400000000000000" pitchFamily="50" charset="-128"/>
              <a:ea typeface="BIZ UDPゴシック" panose="020B0400000000000000" pitchFamily="50" charset="-128"/>
            </a:endParaRPr>
          </a:p>
        </p:txBody>
      </p:sp>
      <p:cxnSp>
        <p:nvCxnSpPr>
          <p:cNvPr id="26" name="直線コネクタ 25">
            <a:extLst>
              <a:ext uri="{FF2B5EF4-FFF2-40B4-BE49-F238E27FC236}">
                <a16:creationId xmlns:a16="http://schemas.microsoft.com/office/drawing/2014/main" id="{0E55A47D-C931-078A-9A0B-9B144425B483}"/>
              </a:ext>
            </a:extLst>
          </p:cNvPr>
          <p:cNvCxnSpPr>
            <a:cxnSpLocks/>
          </p:cNvCxnSpPr>
          <p:nvPr/>
        </p:nvCxnSpPr>
        <p:spPr>
          <a:xfrm>
            <a:off x="202551" y="2858339"/>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1847A584-6CE3-73DA-8270-2B802A275042}"/>
              </a:ext>
            </a:extLst>
          </p:cNvPr>
          <p:cNvSpPr txBox="1"/>
          <p:nvPr/>
        </p:nvSpPr>
        <p:spPr>
          <a:xfrm>
            <a:off x="202551" y="2626633"/>
            <a:ext cx="55784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2</a:t>
            </a:r>
            <a:endParaRPr lang="ja-JP" altLang="en-US" sz="1200" dirty="0">
              <a:latin typeface="BIZ UDPゴシック" panose="020B0400000000000000" pitchFamily="50" charset="-128"/>
              <a:ea typeface="BIZ UDPゴシック" panose="020B0400000000000000" pitchFamily="50" charset="-128"/>
            </a:endParaRPr>
          </a:p>
        </p:txBody>
      </p:sp>
      <p:cxnSp>
        <p:nvCxnSpPr>
          <p:cNvPr id="28" name="直線コネクタ 27">
            <a:extLst>
              <a:ext uri="{FF2B5EF4-FFF2-40B4-BE49-F238E27FC236}">
                <a16:creationId xmlns:a16="http://schemas.microsoft.com/office/drawing/2014/main" id="{26855044-2CD2-DA56-F760-8095BE7DD2E3}"/>
              </a:ext>
            </a:extLst>
          </p:cNvPr>
          <p:cNvCxnSpPr>
            <a:cxnSpLocks/>
          </p:cNvCxnSpPr>
          <p:nvPr/>
        </p:nvCxnSpPr>
        <p:spPr>
          <a:xfrm>
            <a:off x="202551" y="5603310"/>
            <a:ext cx="11663867"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C4C7DDDA-5937-DD3F-183C-4163949B77FA}"/>
              </a:ext>
            </a:extLst>
          </p:cNvPr>
          <p:cNvSpPr txBox="1"/>
          <p:nvPr/>
        </p:nvSpPr>
        <p:spPr>
          <a:xfrm>
            <a:off x="202551" y="5371604"/>
            <a:ext cx="14699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レベル</a:t>
            </a:r>
            <a:r>
              <a:rPr lang="en-US" altLang="ja-JP" sz="1200" dirty="0">
                <a:latin typeface="BIZ UDPゴシック" panose="020B0400000000000000" pitchFamily="50" charset="-128"/>
                <a:ea typeface="BIZ UDPゴシック" panose="020B0400000000000000" pitchFamily="50" charset="-128"/>
              </a:rPr>
              <a:t>3 -&gt; </a:t>
            </a:r>
            <a:r>
              <a:rPr lang="ja-JP" altLang="en-US" sz="1200" dirty="0">
                <a:latin typeface="BIZ UDPゴシック" panose="020B0400000000000000" pitchFamily="50" charset="-128"/>
                <a:ea typeface="BIZ UDPゴシック" panose="020B0400000000000000" pitchFamily="50" charset="-128"/>
              </a:rPr>
              <a:t>ガントへ</a:t>
            </a:r>
          </a:p>
        </p:txBody>
      </p:sp>
      <p:sp>
        <p:nvSpPr>
          <p:cNvPr id="31" name="正方形/長方形 30">
            <a:extLst>
              <a:ext uri="{FF2B5EF4-FFF2-40B4-BE49-F238E27FC236}">
                <a16:creationId xmlns:a16="http://schemas.microsoft.com/office/drawing/2014/main" id="{2A417C16-FF3F-C29C-92D7-2AD5EC84C8C1}"/>
              </a:ext>
            </a:extLst>
          </p:cNvPr>
          <p:cNvSpPr/>
          <p:nvPr/>
        </p:nvSpPr>
        <p:spPr>
          <a:xfrm>
            <a:off x="1015951" y="227754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プロジェクト</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マネジメント</a:t>
            </a:r>
          </a:p>
        </p:txBody>
      </p:sp>
      <p:sp>
        <p:nvSpPr>
          <p:cNvPr id="32" name="正方形/長方形 31">
            <a:extLst>
              <a:ext uri="{FF2B5EF4-FFF2-40B4-BE49-F238E27FC236}">
                <a16:creationId xmlns:a16="http://schemas.microsoft.com/office/drawing/2014/main" id="{6E33FB55-D6AD-4DA9-DBF1-8EBD35DFCEA2}"/>
              </a:ext>
            </a:extLst>
          </p:cNvPr>
          <p:cNvSpPr/>
          <p:nvPr/>
        </p:nvSpPr>
        <p:spPr>
          <a:xfrm>
            <a:off x="319205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要求仕様</a:t>
            </a:r>
          </a:p>
        </p:txBody>
      </p:sp>
      <p:sp>
        <p:nvSpPr>
          <p:cNvPr id="38" name="正方形/長方形 37">
            <a:extLst>
              <a:ext uri="{FF2B5EF4-FFF2-40B4-BE49-F238E27FC236}">
                <a16:creationId xmlns:a16="http://schemas.microsoft.com/office/drawing/2014/main" id="{F6CB9106-B645-887E-3C15-8B207A1825F5}"/>
              </a:ext>
            </a:extLst>
          </p:cNvPr>
          <p:cNvSpPr/>
          <p:nvPr/>
        </p:nvSpPr>
        <p:spPr>
          <a:xfrm>
            <a:off x="534241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設計仕様</a:t>
            </a:r>
          </a:p>
        </p:txBody>
      </p:sp>
      <p:sp>
        <p:nvSpPr>
          <p:cNvPr id="39" name="正方形/長方形 38">
            <a:extLst>
              <a:ext uri="{FF2B5EF4-FFF2-40B4-BE49-F238E27FC236}">
                <a16:creationId xmlns:a16="http://schemas.microsoft.com/office/drawing/2014/main" id="{C42F2CC5-4450-6419-E9AE-4C348C673698}"/>
              </a:ext>
            </a:extLst>
          </p:cNvPr>
          <p:cNvSpPr/>
          <p:nvPr/>
        </p:nvSpPr>
        <p:spPr>
          <a:xfrm>
            <a:off x="7492777" y="2298643"/>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p>
        </p:txBody>
      </p:sp>
      <p:sp>
        <p:nvSpPr>
          <p:cNvPr id="41" name="正方形/長方形 40">
            <a:extLst>
              <a:ext uri="{FF2B5EF4-FFF2-40B4-BE49-F238E27FC236}">
                <a16:creationId xmlns:a16="http://schemas.microsoft.com/office/drawing/2014/main" id="{5717DFF3-5C08-F7D1-382C-D2140D0D5320}"/>
              </a:ext>
            </a:extLst>
          </p:cNvPr>
          <p:cNvSpPr/>
          <p:nvPr/>
        </p:nvSpPr>
        <p:spPr>
          <a:xfrm>
            <a:off x="9668883" y="231941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テスト仕様</a:t>
            </a:r>
          </a:p>
        </p:txBody>
      </p:sp>
      <p:sp>
        <p:nvSpPr>
          <p:cNvPr id="42" name="正方形/長方形 41">
            <a:extLst>
              <a:ext uri="{FF2B5EF4-FFF2-40B4-BE49-F238E27FC236}">
                <a16:creationId xmlns:a16="http://schemas.microsoft.com/office/drawing/2014/main" id="{D2C436DB-4955-CD94-9829-29A71D2883AF}"/>
              </a:ext>
            </a:extLst>
          </p:cNvPr>
          <p:cNvSpPr/>
          <p:nvPr/>
        </p:nvSpPr>
        <p:spPr>
          <a:xfrm>
            <a:off x="1892566"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進捗報告</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サマリー</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50" name="コネクタ: カギ線 49">
            <a:extLst>
              <a:ext uri="{FF2B5EF4-FFF2-40B4-BE49-F238E27FC236}">
                <a16:creationId xmlns:a16="http://schemas.microsoft.com/office/drawing/2014/main" id="{DE7C55A3-08B9-5007-ACF7-6F85DDBF6D24}"/>
              </a:ext>
            </a:extLst>
          </p:cNvPr>
          <p:cNvCxnSpPr>
            <a:cxnSpLocks/>
            <a:stCxn id="21" idx="2"/>
            <a:endCxn id="32" idx="0"/>
          </p:cNvCxnSpPr>
          <p:nvPr/>
        </p:nvCxnSpPr>
        <p:spPr>
          <a:xfrm rot="16200000" flipH="1">
            <a:off x="2392662" y="869142"/>
            <a:ext cx="682895" cy="2176106"/>
          </a:xfrm>
          <a:prstGeom prst="bentConnector3">
            <a:avLst>
              <a:gd name="adj1" fmla="val 50000"/>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67" name="コネクタ: カギ線 66">
            <a:extLst>
              <a:ext uri="{FF2B5EF4-FFF2-40B4-BE49-F238E27FC236}">
                <a16:creationId xmlns:a16="http://schemas.microsoft.com/office/drawing/2014/main" id="{F6B68FF7-C599-A22E-84DB-910F0BF68602}"/>
              </a:ext>
            </a:extLst>
          </p:cNvPr>
          <p:cNvCxnSpPr>
            <a:cxnSpLocks/>
            <a:stCxn id="31" idx="2"/>
            <a:endCxn id="42" idx="1"/>
          </p:cNvCxnSpPr>
          <p:nvPr/>
        </p:nvCxnSpPr>
        <p:spPr>
          <a:xfrm rot="16200000" flipH="1">
            <a:off x="1425768" y="2851339"/>
            <a:ext cx="687086" cy="2465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70" name="正方形/長方形 69">
            <a:extLst>
              <a:ext uri="{FF2B5EF4-FFF2-40B4-BE49-F238E27FC236}">
                <a16:creationId xmlns:a16="http://schemas.microsoft.com/office/drawing/2014/main" id="{DF59F340-9C35-7F79-CCDE-67C93E0C70A4}"/>
              </a:ext>
            </a:extLst>
          </p:cNvPr>
          <p:cNvSpPr/>
          <p:nvPr/>
        </p:nvSpPr>
        <p:spPr>
          <a:xfrm>
            <a:off x="1892566"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計画書・証跡</a:t>
            </a:r>
          </a:p>
        </p:txBody>
      </p:sp>
      <p:sp>
        <p:nvSpPr>
          <p:cNvPr id="76" name="正方形/長方形 75">
            <a:extLst>
              <a:ext uri="{FF2B5EF4-FFF2-40B4-BE49-F238E27FC236}">
                <a16:creationId xmlns:a16="http://schemas.microsoft.com/office/drawing/2014/main" id="{E8AE16CA-B5E6-8EB3-B811-8C3E136F6CCC}"/>
              </a:ext>
            </a:extLst>
          </p:cNvPr>
          <p:cNvSpPr/>
          <p:nvPr/>
        </p:nvSpPr>
        <p:spPr>
          <a:xfrm>
            <a:off x="1892566"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シート</a:t>
            </a:r>
          </a:p>
        </p:txBody>
      </p:sp>
      <p:sp>
        <p:nvSpPr>
          <p:cNvPr id="83" name="正方形/長方形 82">
            <a:extLst>
              <a:ext uri="{FF2B5EF4-FFF2-40B4-BE49-F238E27FC236}">
                <a16:creationId xmlns:a16="http://schemas.microsoft.com/office/drawing/2014/main" id="{E38E23AB-AAC6-4530-22F5-47B6B8580131}"/>
              </a:ext>
            </a:extLst>
          </p:cNvPr>
          <p:cNvSpPr/>
          <p:nvPr/>
        </p:nvSpPr>
        <p:spPr>
          <a:xfrm>
            <a:off x="4126611" y="314138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システム要求</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710C820D-2E98-964E-22DC-A59E9CB0C7B7}"/>
              </a:ext>
            </a:extLst>
          </p:cNvPr>
          <p:cNvSpPr/>
          <p:nvPr/>
        </p:nvSpPr>
        <p:spPr>
          <a:xfrm>
            <a:off x="4126611" y="36329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a:t>
            </a:r>
          </a:p>
        </p:txBody>
      </p:sp>
      <p:sp>
        <p:nvSpPr>
          <p:cNvPr id="85" name="正方形/長方形 84">
            <a:extLst>
              <a:ext uri="{FF2B5EF4-FFF2-40B4-BE49-F238E27FC236}">
                <a16:creationId xmlns:a16="http://schemas.microsoft.com/office/drawing/2014/main" id="{03796D8A-1CB0-A9E7-A49F-C84A02182A48}"/>
              </a:ext>
            </a:extLst>
          </p:cNvPr>
          <p:cNvSpPr/>
          <p:nvPr/>
        </p:nvSpPr>
        <p:spPr>
          <a:xfrm>
            <a:off x="4126611" y="412185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機能要件</a:t>
            </a:r>
          </a:p>
        </p:txBody>
      </p:sp>
      <p:sp>
        <p:nvSpPr>
          <p:cNvPr id="86" name="正方形/長方形 85">
            <a:extLst>
              <a:ext uri="{FF2B5EF4-FFF2-40B4-BE49-F238E27FC236}">
                <a16:creationId xmlns:a16="http://schemas.microsoft.com/office/drawing/2014/main" id="{8FDB01BC-56AF-4059-F14A-7676EF9CE648}"/>
              </a:ext>
            </a:extLst>
          </p:cNvPr>
          <p:cNvSpPr/>
          <p:nvPr/>
        </p:nvSpPr>
        <p:spPr>
          <a:xfrm>
            <a:off x="6320232" y="314685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アーキテクチャ</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7" name="正方形/長方形 86">
            <a:extLst>
              <a:ext uri="{FF2B5EF4-FFF2-40B4-BE49-F238E27FC236}">
                <a16:creationId xmlns:a16="http://schemas.microsoft.com/office/drawing/2014/main" id="{E8EB0F88-9A38-56D1-ABC4-B4F779AB3B01}"/>
              </a:ext>
            </a:extLst>
          </p:cNvPr>
          <p:cNvSpPr/>
          <p:nvPr/>
        </p:nvSpPr>
        <p:spPr>
          <a:xfrm>
            <a:off x="6320232" y="363839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ソフトウェア</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要求</a:t>
            </a:r>
          </a:p>
        </p:txBody>
      </p:sp>
      <p:sp>
        <p:nvSpPr>
          <p:cNvPr id="88" name="正方形/長方形 87">
            <a:extLst>
              <a:ext uri="{FF2B5EF4-FFF2-40B4-BE49-F238E27FC236}">
                <a16:creationId xmlns:a16="http://schemas.microsoft.com/office/drawing/2014/main" id="{DE8AF928-5601-C012-B1B9-75282C5439EC}"/>
              </a:ext>
            </a:extLst>
          </p:cNvPr>
          <p:cNvSpPr/>
          <p:nvPr/>
        </p:nvSpPr>
        <p:spPr>
          <a:xfrm>
            <a:off x="6320232" y="412733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インタフェース</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仕様</a:t>
            </a:r>
          </a:p>
        </p:txBody>
      </p:sp>
      <p:sp>
        <p:nvSpPr>
          <p:cNvPr id="89" name="正方形/長方形 88">
            <a:extLst>
              <a:ext uri="{FF2B5EF4-FFF2-40B4-BE49-F238E27FC236}">
                <a16:creationId xmlns:a16="http://schemas.microsoft.com/office/drawing/2014/main" id="{D9747A1E-A31B-B0F7-A012-0FFA095C85F7}"/>
              </a:ext>
            </a:extLst>
          </p:cNvPr>
          <p:cNvSpPr/>
          <p:nvPr/>
        </p:nvSpPr>
        <p:spPr>
          <a:xfrm>
            <a:off x="8513853" y="3146675"/>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開発環境</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0" name="正方形/長方形 89">
            <a:extLst>
              <a:ext uri="{FF2B5EF4-FFF2-40B4-BE49-F238E27FC236}">
                <a16:creationId xmlns:a16="http://schemas.microsoft.com/office/drawing/2014/main" id="{10D07433-1F47-D67C-BC16-CD9E1F234909}"/>
              </a:ext>
            </a:extLst>
          </p:cNvPr>
          <p:cNvSpPr/>
          <p:nvPr/>
        </p:nvSpPr>
        <p:spPr>
          <a:xfrm>
            <a:off x="8513853" y="363821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ソースコード</a:t>
            </a:r>
          </a:p>
        </p:txBody>
      </p:sp>
      <p:sp>
        <p:nvSpPr>
          <p:cNvPr id="91" name="正方形/長方形 90">
            <a:extLst>
              <a:ext uri="{FF2B5EF4-FFF2-40B4-BE49-F238E27FC236}">
                <a16:creationId xmlns:a16="http://schemas.microsoft.com/office/drawing/2014/main" id="{C27CED6F-D8F5-8CBF-4D82-204E09C4857B}"/>
              </a:ext>
            </a:extLst>
          </p:cNvPr>
          <p:cNvSpPr/>
          <p:nvPr/>
        </p:nvSpPr>
        <p:spPr>
          <a:xfrm>
            <a:off x="8513853" y="4127149"/>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静的解析</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2" name="正方形/長方形 91">
            <a:extLst>
              <a:ext uri="{FF2B5EF4-FFF2-40B4-BE49-F238E27FC236}">
                <a16:creationId xmlns:a16="http://schemas.microsoft.com/office/drawing/2014/main" id="{65B9AABC-A4C8-BC31-5086-6EB4FD818D0A}"/>
              </a:ext>
            </a:extLst>
          </p:cNvPr>
          <p:cNvSpPr/>
          <p:nvPr/>
        </p:nvSpPr>
        <p:spPr>
          <a:xfrm>
            <a:off x="10689958" y="314593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テストケース</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93" name="正方形/長方形 92">
            <a:extLst>
              <a:ext uri="{FF2B5EF4-FFF2-40B4-BE49-F238E27FC236}">
                <a16:creationId xmlns:a16="http://schemas.microsoft.com/office/drawing/2014/main" id="{7E54C1A7-272D-F185-0882-0BF7F8C766E6}"/>
              </a:ext>
            </a:extLst>
          </p:cNvPr>
          <p:cNvSpPr/>
          <p:nvPr/>
        </p:nvSpPr>
        <p:spPr>
          <a:xfrm>
            <a:off x="10689958" y="3637470"/>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成績書</a:t>
            </a:r>
          </a:p>
        </p:txBody>
      </p:sp>
      <p:sp>
        <p:nvSpPr>
          <p:cNvPr id="94" name="正方形/長方形 93">
            <a:extLst>
              <a:ext uri="{FF2B5EF4-FFF2-40B4-BE49-F238E27FC236}">
                <a16:creationId xmlns:a16="http://schemas.microsoft.com/office/drawing/2014/main" id="{66E75D7E-FAA5-9C6A-6A4A-BE8B4E7A0440}"/>
              </a:ext>
            </a:extLst>
          </p:cNvPr>
          <p:cNvSpPr/>
          <p:nvPr/>
        </p:nvSpPr>
        <p:spPr>
          <a:xfrm>
            <a:off x="10689958" y="412640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手順書</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6" name="正方形/長方形 105">
            <a:extLst>
              <a:ext uri="{FF2B5EF4-FFF2-40B4-BE49-F238E27FC236}">
                <a16:creationId xmlns:a16="http://schemas.microsoft.com/office/drawing/2014/main" id="{20AF63F5-0CD7-AAB1-1545-09B6F6AEC8F9}"/>
              </a:ext>
            </a:extLst>
          </p:cNvPr>
          <p:cNvSpPr/>
          <p:nvPr/>
        </p:nvSpPr>
        <p:spPr>
          <a:xfrm>
            <a:off x="1892566" y="459952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構成管理</a:t>
            </a:r>
          </a:p>
        </p:txBody>
      </p:sp>
      <p:sp>
        <p:nvSpPr>
          <p:cNvPr id="107" name="正方形/長方形 106">
            <a:extLst>
              <a:ext uri="{FF2B5EF4-FFF2-40B4-BE49-F238E27FC236}">
                <a16:creationId xmlns:a16="http://schemas.microsoft.com/office/drawing/2014/main" id="{1580C4FA-7F04-3E17-554E-B31D0EC7EBE2}"/>
              </a:ext>
            </a:extLst>
          </p:cNvPr>
          <p:cNvSpPr/>
          <p:nvPr/>
        </p:nvSpPr>
        <p:spPr>
          <a:xfrm>
            <a:off x="1892566" y="508846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課題ログ</a:t>
            </a:r>
          </a:p>
        </p:txBody>
      </p:sp>
      <p:sp>
        <p:nvSpPr>
          <p:cNvPr id="108" name="正方形/長方形 107">
            <a:extLst>
              <a:ext uri="{FF2B5EF4-FFF2-40B4-BE49-F238E27FC236}">
                <a16:creationId xmlns:a16="http://schemas.microsoft.com/office/drawing/2014/main" id="{B57AD4C5-296F-80B0-40B2-C24343EDC368}"/>
              </a:ext>
            </a:extLst>
          </p:cNvPr>
          <p:cNvSpPr/>
          <p:nvPr/>
        </p:nvSpPr>
        <p:spPr>
          <a:xfrm>
            <a:off x="4126611" y="459952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性能要件</a:t>
            </a:r>
          </a:p>
        </p:txBody>
      </p:sp>
      <p:sp>
        <p:nvSpPr>
          <p:cNvPr id="109" name="正方形/長方形 108">
            <a:extLst>
              <a:ext uri="{FF2B5EF4-FFF2-40B4-BE49-F238E27FC236}">
                <a16:creationId xmlns:a16="http://schemas.microsoft.com/office/drawing/2014/main" id="{CEDE4B62-86C6-E192-D3C9-6BB600A1FC80}"/>
              </a:ext>
            </a:extLst>
          </p:cNvPr>
          <p:cNvSpPr/>
          <p:nvPr/>
        </p:nvSpPr>
        <p:spPr>
          <a:xfrm>
            <a:off x="4126611" y="5088466"/>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ヒアリング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シート</a:t>
            </a:r>
          </a:p>
        </p:txBody>
      </p:sp>
      <p:sp>
        <p:nvSpPr>
          <p:cNvPr id="110" name="正方形/長方形 109">
            <a:extLst>
              <a:ext uri="{FF2B5EF4-FFF2-40B4-BE49-F238E27FC236}">
                <a16:creationId xmlns:a16="http://schemas.microsoft.com/office/drawing/2014/main" id="{B565636B-BB03-97DE-6A54-36B40D33D195}"/>
              </a:ext>
            </a:extLst>
          </p:cNvPr>
          <p:cNvSpPr/>
          <p:nvPr/>
        </p:nvSpPr>
        <p:spPr>
          <a:xfrm>
            <a:off x="6320232" y="4605004"/>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状態遷移</a:t>
            </a:r>
          </a:p>
        </p:txBody>
      </p:sp>
      <p:sp>
        <p:nvSpPr>
          <p:cNvPr id="111" name="正方形/長方形 110">
            <a:extLst>
              <a:ext uri="{FF2B5EF4-FFF2-40B4-BE49-F238E27FC236}">
                <a16:creationId xmlns:a16="http://schemas.microsoft.com/office/drawing/2014/main" id="{F58196A6-65F2-D550-A1C0-E2E0D8ADDB7D}"/>
              </a:ext>
            </a:extLst>
          </p:cNvPr>
          <p:cNvSpPr/>
          <p:nvPr/>
        </p:nvSpPr>
        <p:spPr>
          <a:xfrm>
            <a:off x="6320232" y="5093942"/>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ロジック設計</a:t>
            </a:r>
          </a:p>
        </p:txBody>
      </p:sp>
      <p:sp>
        <p:nvSpPr>
          <p:cNvPr id="112" name="正方形/長方形 111">
            <a:extLst>
              <a:ext uri="{FF2B5EF4-FFF2-40B4-BE49-F238E27FC236}">
                <a16:creationId xmlns:a16="http://schemas.microsoft.com/office/drawing/2014/main" id="{E41FD8F6-6498-DAC5-F5D6-88478D14A0D7}"/>
              </a:ext>
            </a:extLst>
          </p:cNvPr>
          <p:cNvSpPr/>
          <p:nvPr/>
        </p:nvSpPr>
        <p:spPr>
          <a:xfrm>
            <a:off x="8513853" y="4604821"/>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コーディング</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ルール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3" name="正方形/長方形 112">
            <a:extLst>
              <a:ext uri="{FF2B5EF4-FFF2-40B4-BE49-F238E27FC236}">
                <a16:creationId xmlns:a16="http://schemas.microsoft.com/office/drawing/2014/main" id="{B68EA97C-A1C5-44EF-2D6D-DD25F9CCC4BE}"/>
              </a:ext>
            </a:extLst>
          </p:cNvPr>
          <p:cNvSpPr/>
          <p:nvPr/>
        </p:nvSpPr>
        <p:spPr>
          <a:xfrm>
            <a:off x="8513853" y="5093759"/>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14" name="正方形/長方形 113">
            <a:extLst>
              <a:ext uri="{FF2B5EF4-FFF2-40B4-BE49-F238E27FC236}">
                <a16:creationId xmlns:a16="http://schemas.microsoft.com/office/drawing/2014/main" id="{1E1071F4-AA54-B57D-562D-56D3EBBC63C6}"/>
              </a:ext>
            </a:extLst>
          </p:cNvPr>
          <p:cNvSpPr/>
          <p:nvPr/>
        </p:nvSpPr>
        <p:spPr>
          <a:xfrm>
            <a:off x="10689958" y="4604080"/>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品質判定</a:t>
            </a:r>
          </a:p>
        </p:txBody>
      </p:sp>
      <p:sp>
        <p:nvSpPr>
          <p:cNvPr id="115" name="正方形/長方形 114">
            <a:extLst>
              <a:ext uri="{FF2B5EF4-FFF2-40B4-BE49-F238E27FC236}">
                <a16:creationId xmlns:a16="http://schemas.microsoft.com/office/drawing/2014/main" id="{A60A4EBD-2FD3-5F82-5F55-95E24485865D}"/>
              </a:ext>
            </a:extLst>
          </p:cNvPr>
          <p:cNvSpPr/>
          <p:nvPr/>
        </p:nvSpPr>
        <p:spPr>
          <a:xfrm>
            <a:off x="10689958" y="5093018"/>
            <a:ext cx="1260209" cy="35351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マニュアル</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16" name="コネクタ: カギ線 115">
            <a:extLst>
              <a:ext uri="{FF2B5EF4-FFF2-40B4-BE49-F238E27FC236}">
                <a16:creationId xmlns:a16="http://schemas.microsoft.com/office/drawing/2014/main" id="{811F7370-092C-6296-24C7-F5A1235EC088}"/>
              </a:ext>
            </a:extLst>
          </p:cNvPr>
          <p:cNvCxnSpPr>
            <a:cxnSpLocks/>
            <a:stCxn id="32" idx="2"/>
            <a:endCxn id="83" idx="1"/>
          </p:cNvCxnSpPr>
          <p:nvPr/>
        </p:nvCxnSpPr>
        <p:spPr>
          <a:xfrm rot="16200000" flipH="1">
            <a:off x="3641394" y="2832920"/>
            <a:ext cx="665984" cy="304449"/>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19" name="コネクタ: カギ線 118">
            <a:extLst>
              <a:ext uri="{FF2B5EF4-FFF2-40B4-BE49-F238E27FC236}">
                <a16:creationId xmlns:a16="http://schemas.microsoft.com/office/drawing/2014/main" id="{53142276-5424-EE20-D4C3-D369D9EFFA73}"/>
              </a:ext>
            </a:extLst>
          </p:cNvPr>
          <p:cNvCxnSpPr>
            <a:cxnSpLocks/>
            <a:stCxn id="38" idx="2"/>
            <a:endCxn id="86" idx="1"/>
          </p:cNvCxnSpPr>
          <p:nvPr/>
        </p:nvCxnSpPr>
        <p:spPr>
          <a:xfrm rot="16200000" flipH="1">
            <a:off x="5810647" y="2814028"/>
            <a:ext cx="671460" cy="34771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2" name="コネクタ: カギ線 121">
            <a:extLst>
              <a:ext uri="{FF2B5EF4-FFF2-40B4-BE49-F238E27FC236}">
                <a16:creationId xmlns:a16="http://schemas.microsoft.com/office/drawing/2014/main" id="{2CFA2292-8948-98AE-F79D-7FCB6578A552}"/>
              </a:ext>
            </a:extLst>
          </p:cNvPr>
          <p:cNvCxnSpPr>
            <a:cxnSpLocks/>
            <a:stCxn id="39" idx="2"/>
            <a:endCxn id="89" idx="1"/>
          </p:cNvCxnSpPr>
          <p:nvPr/>
        </p:nvCxnSpPr>
        <p:spPr>
          <a:xfrm rot="16200000" flipH="1">
            <a:off x="7982729" y="2792305"/>
            <a:ext cx="671277" cy="390971"/>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25" name="コネクタ: カギ線 124">
            <a:extLst>
              <a:ext uri="{FF2B5EF4-FFF2-40B4-BE49-F238E27FC236}">
                <a16:creationId xmlns:a16="http://schemas.microsoft.com/office/drawing/2014/main" id="{2E367BC0-4B4F-63EE-76CD-4F915EEA4FF0}"/>
              </a:ext>
            </a:extLst>
          </p:cNvPr>
          <p:cNvCxnSpPr>
            <a:cxnSpLocks/>
            <a:stCxn id="41" idx="2"/>
            <a:endCxn id="92" idx="1"/>
          </p:cNvCxnSpPr>
          <p:nvPr/>
        </p:nvCxnSpPr>
        <p:spPr>
          <a:xfrm rot="16200000" flipH="1">
            <a:off x="10169591" y="2802322"/>
            <a:ext cx="649764" cy="390970"/>
          </a:xfrm>
          <a:prstGeom prst="bentConnector2">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28" name="テキスト ボックス 127">
            <a:extLst>
              <a:ext uri="{FF2B5EF4-FFF2-40B4-BE49-F238E27FC236}">
                <a16:creationId xmlns:a16="http://schemas.microsoft.com/office/drawing/2014/main" id="{37DA2FCB-8DCD-976C-D781-C4DD6F67B204}"/>
              </a:ext>
            </a:extLst>
          </p:cNvPr>
          <p:cNvSpPr txBox="1"/>
          <p:nvPr/>
        </p:nvSpPr>
        <p:spPr>
          <a:xfrm>
            <a:off x="3194494" y="5727473"/>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29" name="テキスト ボックス 128">
            <a:extLst>
              <a:ext uri="{FF2B5EF4-FFF2-40B4-BE49-F238E27FC236}">
                <a16:creationId xmlns:a16="http://schemas.microsoft.com/office/drawing/2014/main" id="{B0E3BDFA-6EEB-2A85-103F-728777C45E0D}"/>
              </a:ext>
            </a:extLst>
          </p:cNvPr>
          <p:cNvSpPr txBox="1"/>
          <p:nvPr/>
        </p:nvSpPr>
        <p:spPr>
          <a:xfrm>
            <a:off x="5467628"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30" name="テキスト ボックス 129">
            <a:extLst>
              <a:ext uri="{FF2B5EF4-FFF2-40B4-BE49-F238E27FC236}">
                <a16:creationId xmlns:a16="http://schemas.microsoft.com/office/drawing/2014/main" id="{3E5768A6-2129-2D5D-EDF2-5C7239B9C81A}"/>
              </a:ext>
            </a:extLst>
          </p:cNvPr>
          <p:cNvSpPr txBox="1"/>
          <p:nvPr/>
        </p:nvSpPr>
        <p:spPr>
          <a:xfrm>
            <a:off x="7684574"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
        <p:nvSpPr>
          <p:cNvPr id="131" name="テキスト ボックス 130">
            <a:extLst>
              <a:ext uri="{FF2B5EF4-FFF2-40B4-BE49-F238E27FC236}">
                <a16:creationId xmlns:a16="http://schemas.microsoft.com/office/drawing/2014/main" id="{5A769FDB-744B-8002-D6BD-1E076DAA15C9}"/>
              </a:ext>
            </a:extLst>
          </p:cNvPr>
          <p:cNvSpPr txBox="1"/>
          <p:nvPr/>
        </p:nvSpPr>
        <p:spPr>
          <a:xfrm>
            <a:off x="9942271" y="5718364"/>
            <a:ext cx="2136823" cy="369332"/>
          </a:xfrm>
          <a:prstGeom prst="rect">
            <a:avLst/>
          </a:prstGeom>
          <a:noFill/>
        </p:spPr>
        <p:txBody>
          <a:bodyPr wrap="squar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説明</a:t>
            </a:r>
            <a:r>
              <a:rPr lang="en-US" altLang="ja-JP" sz="1200" dirty="0">
                <a:latin typeface="BIZ UDPゴシック" panose="020B0400000000000000" pitchFamily="50" charset="-128"/>
                <a:ea typeface="BIZ UDPゴシック" panose="020B0400000000000000" pitchFamily="50" charset="-128"/>
              </a:rPr>
              <a:t>A</a:t>
            </a:r>
          </a:p>
          <a:p>
            <a:pPr marL="171450" indent="-171450">
              <a:buFont typeface="Arial" panose="020B0604020202020204" pitchFamily="34" charset="0"/>
              <a:buChar char="•"/>
            </a:pPr>
            <a:r>
              <a:rPr lang="en-US" altLang="ja-JP" sz="1200" dirty="0" err="1">
                <a:latin typeface="BIZ UDPゴシック" panose="020B0400000000000000" pitchFamily="50" charset="-128"/>
                <a:ea typeface="BIZ UDPゴシック" panose="020B0400000000000000" pitchFamily="50" charset="-128"/>
              </a:rPr>
              <a:t>hogefuga</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53488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B443-E38C-65EC-C4CF-D27AA1F2B7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3DF5DB6-6391-15F7-1648-053A6CE52A06}"/>
              </a:ext>
            </a:extLst>
          </p:cNvPr>
          <p:cNvSpPr>
            <a:spLocks noGrp="1"/>
          </p:cNvSpPr>
          <p:nvPr>
            <p:ph type="title"/>
          </p:nvPr>
        </p:nvSpPr>
        <p:spPr/>
        <p:txBody>
          <a:bodyPr/>
          <a:lstStyle/>
          <a:p>
            <a:r>
              <a:rPr lang="ja-JP" altLang="en-US" dirty="0"/>
              <a:t>課題ログ</a:t>
            </a:r>
            <a:endParaRPr kumimoji="1" lang="ja-JP" altLang="en-US" dirty="0"/>
          </a:p>
        </p:txBody>
      </p:sp>
      <p:sp>
        <p:nvSpPr>
          <p:cNvPr id="3" name="フッター プレースホルダー 2">
            <a:extLst>
              <a:ext uri="{FF2B5EF4-FFF2-40B4-BE49-F238E27FC236}">
                <a16:creationId xmlns:a16="http://schemas.microsoft.com/office/drawing/2014/main" id="{B3EF2DB8-AED1-3EE0-3A77-C391120C79A7}"/>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5976E5B9-13F3-9FEE-29A4-5D46A0001E71}"/>
              </a:ext>
            </a:extLst>
          </p:cNvPr>
          <p:cNvSpPr>
            <a:spLocks noGrp="1"/>
          </p:cNvSpPr>
          <p:nvPr>
            <p:ph type="sldNum" sz="quarter" idx="12"/>
          </p:nvPr>
        </p:nvSpPr>
        <p:spPr/>
        <p:txBody>
          <a:bodyPr/>
          <a:lstStyle/>
          <a:p>
            <a:fld id="{DCB5AA93-092B-49A1-87A7-3C88D5F38AD7}" type="slidenum">
              <a:rPr lang="ja-JP" altLang="en-US" smtClean="0"/>
              <a:pPr/>
              <a:t>9</a:t>
            </a:fld>
            <a:endParaRPr lang="ja-JP" altLang="en-US" dirty="0"/>
          </a:p>
        </p:txBody>
      </p:sp>
      <p:graphicFrame>
        <p:nvGraphicFramePr>
          <p:cNvPr id="9" name="表 8">
            <a:extLst>
              <a:ext uri="{FF2B5EF4-FFF2-40B4-BE49-F238E27FC236}">
                <a16:creationId xmlns:a16="http://schemas.microsoft.com/office/drawing/2014/main" id="{404C87FC-409D-4BEB-5624-D1F00F800328}"/>
              </a:ext>
            </a:extLst>
          </p:cNvPr>
          <p:cNvGraphicFramePr>
            <a:graphicFrameLocks noGrp="1"/>
          </p:cNvGraphicFramePr>
          <p:nvPr>
            <p:extLst>
              <p:ext uri="{D42A27DB-BD31-4B8C-83A1-F6EECF244321}">
                <p14:modId xmlns:p14="http://schemas.microsoft.com/office/powerpoint/2010/main" val="2794674450"/>
              </p:ext>
            </p:extLst>
          </p:nvPr>
        </p:nvGraphicFramePr>
        <p:xfrm>
          <a:off x="407989" y="1195406"/>
          <a:ext cx="11376025" cy="3139440"/>
        </p:xfrm>
        <a:graphic>
          <a:graphicData uri="http://schemas.openxmlformats.org/drawingml/2006/table">
            <a:tbl>
              <a:tblPr firstRow="1" bandRow="1">
                <a:tableStyleId>{5C22544A-7EE6-4342-B048-85BDC9FD1C3A}</a:tableStyleId>
              </a:tblPr>
              <a:tblGrid>
                <a:gridCol w="339213">
                  <a:extLst>
                    <a:ext uri="{9D8B030D-6E8A-4147-A177-3AD203B41FA5}">
                      <a16:colId xmlns:a16="http://schemas.microsoft.com/office/drawing/2014/main" val="279041293"/>
                    </a:ext>
                  </a:extLst>
                </a:gridCol>
                <a:gridCol w="2287457">
                  <a:extLst>
                    <a:ext uri="{9D8B030D-6E8A-4147-A177-3AD203B41FA5}">
                      <a16:colId xmlns:a16="http://schemas.microsoft.com/office/drawing/2014/main" val="1769139613"/>
                    </a:ext>
                  </a:extLst>
                </a:gridCol>
                <a:gridCol w="924131">
                  <a:extLst>
                    <a:ext uri="{9D8B030D-6E8A-4147-A177-3AD203B41FA5}">
                      <a16:colId xmlns:a16="http://schemas.microsoft.com/office/drawing/2014/main" val="2390303899"/>
                    </a:ext>
                  </a:extLst>
                </a:gridCol>
                <a:gridCol w="924131">
                  <a:extLst>
                    <a:ext uri="{9D8B030D-6E8A-4147-A177-3AD203B41FA5}">
                      <a16:colId xmlns:a16="http://schemas.microsoft.com/office/drawing/2014/main" val="3201373435"/>
                    </a:ext>
                  </a:extLst>
                </a:gridCol>
                <a:gridCol w="740832">
                  <a:extLst>
                    <a:ext uri="{9D8B030D-6E8A-4147-A177-3AD203B41FA5}">
                      <a16:colId xmlns:a16="http://schemas.microsoft.com/office/drawing/2014/main" val="4223384442"/>
                    </a:ext>
                  </a:extLst>
                </a:gridCol>
                <a:gridCol w="824844">
                  <a:extLst>
                    <a:ext uri="{9D8B030D-6E8A-4147-A177-3AD203B41FA5}">
                      <a16:colId xmlns:a16="http://schemas.microsoft.com/office/drawing/2014/main" val="1379525383"/>
                    </a:ext>
                  </a:extLst>
                </a:gridCol>
                <a:gridCol w="908855">
                  <a:extLst>
                    <a:ext uri="{9D8B030D-6E8A-4147-A177-3AD203B41FA5}">
                      <a16:colId xmlns:a16="http://schemas.microsoft.com/office/drawing/2014/main" val="411652451"/>
                    </a:ext>
                  </a:extLst>
                </a:gridCol>
                <a:gridCol w="595721">
                  <a:extLst>
                    <a:ext uri="{9D8B030D-6E8A-4147-A177-3AD203B41FA5}">
                      <a16:colId xmlns:a16="http://schemas.microsoft.com/office/drawing/2014/main" val="3439538324"/>
                    </a:ext>
                  </a:extLst>
                </a:gridCol>
                <a:gridCol w="3830841">
                  <a:extLst>
                    <a:ext uri="{9D8B030D-6E8A-4147-A177-3AD203B41FA5}">
                      <a16:colId xmlns:a16="http://schemas.microsoft.com/office/drawing/2014/main" val="3742537535"/>
                    </a:ext>
                  </a:extLst>
                </a:gridCol>
              </a:tblGrid>
              <a:tr h="370840">
                <a:tc>
                  <a:txBody>
                    <a:bodyPr/>
                    <a:lstStyle/>
                    <a:p>
                      <a:r>
                        <a:rPr kumimoji="1" lang="en-US" altLang="ja-JP" sz="1200" dirty="0"/>
                        <a:t>#</a:t>
                      </a:r>
                      <a:endParaRPr kumimoji="1" lang="ja-JP" altLang="en-US" sz="1200" dirty="0"/>
                    </a:p>
                  </a:txBody>
                  <a:tcPr>
                    <a:solidFill>
                      <a:schemeClr val="tx2">
                        <a:lumMod val="60000"/>
                        <a:lumOff val="40000"/>
                      </a:schemeClr>
                    </a:solidFill>
                  </a:tcPr>
                </a:tc>
                <a:tc>
                  <a:txBody>
                    <a:bodyPr/>
                    <a:lstStyle/>
                    <a:p>
                      <a:r>
                        <a:rPr kumimoji="1" lang="ja-JP" altLang="en-US" sz="1200" dirty="0"/>
                        <a:t>課題</a:t>
                      </a:r>
                    </a:p>
                  </a:txBody>
                  <a:tcPr>
                    <a:solidFill>
                      <a:schemeClr val="tx2">
                        <a:lumMod val="60000"/>
                        <a:lumOff val="40000"/>
                      </a:schemeClr>
                    </a:solidFill>
                  </a:tcPr>
                </a:tc>
                <a:tc>
                  <a:txBody>
                    <a:bodyPr/>
                    <a:lstStyle/>
                    <a:p>
                      <a:r>
                        <a:rPr kumimoji="1" lang="ja-JP" altLang="en-US" sz="1200" dirty="0"/>
                        <a:t>重要度</a:t>
                      </a:r>
                    </a:p>
                  </a:txBody>
                  <a:tcPr>
                    <a:solidFill>
                      <a:schemeClr val="tx2">
                        <a:lumMod val="60000"/>
                        <a:lumOff val="40000"/>
                      </a:schemeClr>
                    </a:solidFill>
                  </a:tcPr>
                </a:tc>
                <a:tc>
                  <a:txBody>
                    <a:bodyPr/>
                    <a:lstStyle/>
                    <a:p>
                      <a:r>
                        <a:rPr kumimoji="1" lang="ja-JP" altLang="en-US" sz="1200" dirty="0"/>
                        <a:t>緊急度</a:t>
                      </a:r>
                    </a:p>
                  </a:txBody>
                  <a:tcPr>
                    <a:solidFill>
                      <a:schemeClr val="tx2">
                        <a:lumMod val="60000"/>
                        <a:lumOff val="40000"/>
                      </a:schemeClr>
                    </a:solidFill>
                  </a:tcPr>
                </a:tc>
                <a:tc>
                  <a:txBody>
                    <a:bodyPr/>
                    <a:lstStyle/>
                    <a:p>
                      <a:r>
                        <a:rPr kumimoji="1" lang="ja-JP" altLang="en-US" sz="1200" dirty="0"/>
                        <a:t>報告者</a:t>
                      </a:r>
                    </a:p>
                  </a:txBody>
                  <a:tcPr>
                    <a:solidFill>
                      <a:schemeClr val="tx2">
                        <a:lumMod val="60000"/>
                        <a:lumOff val="40000"/>
                      </a:schemeClr>
                    </a:solidFill>
                  </a:tcPr>
                </a:tc>
                <a:tc>
                  <a:txBody>
                    <a:bodyPr/>
                    <a:lstStyle/>
                    <a:p>
                      <a:r>
                        <a:rPr kumimoji="1" lang="ja-JP" altLang="en-US" sz="1200" dirty="0"/>
                        <a:t>担当者</a:t>
                      </a:r>
                    </a:p>
                  </a:txBody>
                  <a:tcPr>
                    <a:solidFill>
                      <a:schemeClr val="tx2">
                        <a:lumMod val="60000"/>
                        <a:lumOff val="40000"/>
                      </a:schemeClr>
                    </a:solidFill>
                  </a:tcPr>
                </a:tc>
                <a:tc>
                  <a:txBody>
                    <a:bodyPr/>
                    <a:lstStyle/>
                    <a:p>
                      <a:r>
                        <a:rPr kumimoji="1" lang="ja-JP" altLang="en-US" sz="1200" dirty="0"/>
                        <a:t>最終更新日</a:t>
                      </a:r>
                    </a:p>
                  </a:txBody>
                  <a:tcPr>
                    <a:solidFill>
                      <a:schemeClr val="tx2">
                        <a:lumMod val="60000"/>
                        <a:lumOff val="40000"/>
                      </a:schemeClr>
                    </a:solidFill>
                  </a:tcPr>
                </a:tc>
                <a:tc>
                  <a:txBody>
                    <a:bodyPr/>
                    <a:lstStyle/>
                    <a:p>
                      <a:r>
                        <a:rPr kumimoji="1" lang="ja-JP" altLang="en-US" sz="1200" dirty="0"/>
                        <a:t>状態</a:t>
                      </a:r>
                    </a:p>
                  </a:txBody>
                  <a:tcPr>
                    <a:solidFill>
                      <a:schemeClr val="tx2">
                        <a:lumMod val="60000"/>
                        <a:lumOff val="40000"/>
                      </a:schemeClr>
                    </a:solidFill>
                  </a:tcPr>
                </a:tc>
                <a:tc>
                  <a:txBody>
                    <a:bodyPr/>
                    <a:lstStyle/>
                    <a:p>
                      <a:endParaRPr kumimoji="1" lang="ja-JP" altLang="en-US" sz="1200" dirty="0"/>
                    </a:p>
                  </a:txBody>
                  <a:tcPr>
                    <a:solidFill>
                      <a:schemeClr val="tx2">
                        <a:lumMod val="60000"/>
                        <a:lumOff val="40000"/>
                      </a:schemeClr>
                    </a:solidFill>
                  </a:tcPr>
                </a:tc>
                <a:extLst>
                  <a:ext uri="{0D108BD9-81ED-4DB2-BD59-A6C34878D82A}">
                    <a16:rowId xmlns:a16="http://schemas.microsoft.com/office/drawing/2014/main" val="1515397185"/>
                  </a:ext>
                </a:extLst>
              </a:tr>
              <a:tr h="370840">
                <a:tc>
                  <a:txBody>
                    <a:bodyPr/>
                    <a:lstStyle/>
                    <a:p>
                      <a:r>
                        <a:rPr kumimoji="1" lang="en-US" altLang="ja-JP" sz="1200" dirty="0"/>
                        <a:t>1</a:t>
                      </a:r>
                      <a:endParaRPr kumimoji="1" lang="ja-JP" altLang="en-US" sz="1200" dirty="0"/>
                    </a:p>
                  </a:txBody>
                  <a:tcPr>
                    <a:solidFill>
                      <a:schemeClr val="bg1">
                        <a:lumMod val="95000"/>
                      </a:schemeClr>
                    </a:solidFill>
                  </a:tcPr>
                </a:tc>
                <a:tc>
                  <a:txBody>
                    <a:bodyPr/>
                    <a:lstStyle/>
                    <a:p>
                      <a:r>
                        <a:rPr kumimoji="1" lang="ja-JP" altLang="en-US" sz="1200" dirty="0"/>
                        <a:t>プロジェクトリーダーの実務工数が捻出できない</a:t>
                      </a:r>
                    </a:p>
                  </a:txBody>
                  <a:tcPr>
                    <a:solidFill>
                      <a:schemeClr val="bg1">
                        <a:lumMod val="95000"/>
                      </a:schemeClr>
                    </a:solidFill>
                  </a:tcPr>
                </a:tc>
                <a:tc>
                  <a:txBody>
                    <a:bodyPr/>
                    <a:lstStyle/>
                    <a:p>
                      <a:r>
                        <a:rPr kumimoji="1" lang="ja-JP" altLang="en-US" sz="1200" dirty="0"/>
                        <a:t>高</a:t>
                      </a:r>
                    </a:p>
                  </a:txBody>
                  <a:tcPr>
                    <a:solidFill>
                      <a:schemeClr val="bg1">
                        <a:lumMod val="95000"/>
                      </a:schemeClr>
                    </a:solidFill>
                  </a:tcPr>
                </a:tc>
                <a:tc>
                  <a:txBody>
                    <a:bodyPr/>
                    <a:lstStyle/>
                    <a:p>
                      <a:r>
                        <a:rPr kumimoji="1" lang="ja-JP" altLang="en-US" sz="1200" dirty="0"/>
                        <a:t>低</a:t>
                      </a:r>
                    </a:p>
                  </a:txBody>
                  <a:tcPr>
                    <a:solidFill>
                      <a:schemeClr val="bg1">
                        <a:lumMod val="95000"/>
                      </a:schemeClr>
                    </a:solidFill>
                  </a:tcPr>
                </a:tc>
                <a:tc>
                  <a:txBody>
                    <a:bodyPr/>
                    <a:lstStyle/>
                    <a:p>
                      <a:r>
                        <a:rPr kumimoji="1" lang="ja-JP" altLang="en-US" sz="1200" dirty="0"/>
                        <a:t>あああ</a:t>
                      </a:r>
                    </a:p>
                  </a:txBody>
                  <a:tcPr>
                    <a:solidFill>
                      <a:schemeClr val="bg1">
                        <a:lumMod val="95000"/>
                      </a:schemeClr>
                    </a:solidFill>
                  </a:tcPr>
                </a:tc>
                <a:tc>
                  <a:txBody>
                    <a:bodyPr/>
                    <a:lstStyle/>
                    <a:p>
                      <a:pPr marL="0" indent="0">
                        <a:buFont typeface="Arial" panose="020B0604020202020204" pitchFamily="34" charset="0"/>
                        <a:buNone/>
                      </a:pPr>
                      <a:r>
                        <a:rPr kumimoji="1" lang="ja-JP" altLang="en-US" sz="1200" dirty="0"/>
                        <a:t>いいい</a:t>
                      </a:r>
                    </a:p>
                  </a:txBody>
                  <a:tcPr>
                    <a:solidFill>
                      <a:schemeClr val="bg1">
                        <a:lumMod val="95000"/>
                      </a:schemeClr>
                    </a:solidFill>
                  </a:tcPr>
                </a:tc>
                <a:tc>
                  <a:txBody>
                    <a:bodyPr/>
                    <a:lstStyle/>
                    <a:p>
                      <a:r>
                        <a:rPr kumimoji="1" lang="en-US" altLang="ja-JP" sz="1200" dirty="0"/>
                        <a:t>2025/10/xx</a:t>
                      </a:r>
                      <a:endParaRPr kumimoji="1" lang="ja-JP" altLang="en-US" sz="1200" dirty="0"/>
                    </a:p>
                  </a:txBody>
                  <a:tcPr>
                    <a:solidFill>
                      <a:schemeClr val="bg1">
                        <a:lumMod val="95000"/>
                      </a:schemeClr>
                    </a:solidFill>
                  </a:tcPr>
                </a:tc>
                <a:tc>
                  <a:txBody>
                    <a:bodyPr/>
                    <a:lstStyle/>
                    <a:p>
                      <a:r>
                        <a:rPr kumimoji="1" lang="ja-JP" altLang="en-US" sz="1200" dirty="0"/>
                        <a:t>対応中</a:t>
                      </a:r>
                    </a:p>
                  </a:txBody>
                  <a:tcPr>
                    <a:solidFill>
                      <a:schemeClr val="bg1">
                        <a:lumMod val="95000"/>
                      </a:schemeClr>
                    </a:solidFill>
                  </a:tcPr>
                </a:tc>
                <a:tc>
                  <a:txBody>
                    <a:bodyPr/>
                    <a:lstStyle/>
                    <a:p>
                      <a:r>
                        <a:rPr kumimoji="1" lang="ja-JP" altLang="en-US" sz="1200" dirty="0"/>
                        <a:t>実務工数のモニタリングを実施する。警告しきい値を超えた時点でプロジェクトオーナーに報告して対処案を決定する</a:t>
                      </a:r>
                    </a:p>
                  </a:txBody>
                  <a:tcPr>
                    <a:solidFill>
                      <a:schemeClr val="bg1">
                        <a:lumMod val="95000"/>
                      </a:schemeClr>
                    </a:solidFill>
                  </a:tcPr>
                </a:tc>
                <a:extLst>
                  <a:ext uri="{0D108BD9-81ED-4DB2-BD59-A6C34878D82A}">
                    <a16:rowId xmlns:a16="http://schemas.microsoft.com/office/drawing/2014/main" val="1031105590"/>
                  </a:ext>
                </a:extLst>
              </a:tr>
              <a:tr h="370840">
                <a:tc>
                  <a:txBody>
                    <a:bodyPr/>
                    <a:lstStyle/>
                    <a:p>
                      <a:r>
                        <a:rPr kumimoji="1" lang="en-US" altLang="ja-JP" sz="1200" dirty="0"/>
                        <a:t>2</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2247178784"/>
                  </a:ext>
                </a:extLst>
              </a:tr>
              <a:tr h="370840">
                <a:tc>
                  <a:txBody>
                    <a:bodyPr/>
                    <a:lstStyle/>
                    <a:p>
                      <a:r>
                        <a:rPr kumimoji="1" lang="en-US" altLang="ja-JP" sz="1200" dirty="0"/>
                        <a:t>3</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3489119852"/>
                  </a:ext>
                </a:extLst>
              </a:tr>
              <a:tr h="370840">
                <a:tc>
                  <a:txBody>
                    <a:bodyPr/>
                    <a:lstStyle/>
                    <a:p>
                      <a:r>
                        <a:rPr kumimoji="1" lang="en-US" altLang="ja-JP" sz="1200" dirty="0"/>
                        <a:t>4</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99895045"/>
                  </a:ext>
                </a:extLst>
              </a:tr>
              <a:tr h="370840">
                <a:tc>
                  <a:txBody>
                    <a:bodyPr/>
                    <a:lstStyle/>
                    <a:p>
                      <a:r>
                        <a:rPr kumimoji="1" lang="en-US" altLang="ja-JP" sz="1200" dirty="0"/>
                        <a:t>5</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pPr marL="182563" indent="-182563">
                        <a:buFont typeface="Arial" panose="020B0604020202020204" pitchFamily="34" charset="0"/>
                        <a:buChar char="•"/>
                      </a:pPr>
                      <a:endParaRPr kumimoji="1" lang="ja-JP" altLang="en-US" sz="1200" dirty="0"/>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587732588"/>
                  </a:ext>
                </a:extLst>
              </a:tr>
              <a:tr h="370840">
                <a:tc>
                  <a:txBody>
                    <a:bodyPr/>
                    <a:lstStyle/>
                    <a:p>
                      <a:r>
                        <a:rPr kumimoji="1" lang="en-US" altLang="ja-JP" sz="1200" dirty="0"/>
                        <a:t>6</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endParaRPr kumimoji="1" lang="en-US" altLang="ja-JP" sz="1200" dirty="0"/>
                    </a:p>
                  </a:txBody>
                  <a:tcPr>
                    <a:solidFill>
                      <a:schemeClr val="bg1">
                        <a:lumMod val="95000"/>
                      </a:schemeClr>
                    </a:solidFill>
                  </a:tcPr>
                </a:tc>
                <a:tc>
                  <a:txBody>
                    <a:bodyPr/>
                    <a:lstStyle/>
                    <a:p>
                      <a:pPr marL="182563" marR="0" lvl="0" indent="-182563" algn="l" defTabSz="914373"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dirty="0"/>
                    </a:p>
                  </a:txBody>
                  <a:tcPr>
                    <a:solidFill>
                      <a:schemeClr val="bg1">
                        <a:lumMod val="95000"/>
                      </a:schemeClr>
                    </a:solidFill>
                  </a:tcPr>
                </a:tc>
                <a:tc>
                  <a:txBody>
                    <a:bodyPr/>
                    <a:lstStyle/>
                    <a:p>
                      <a:pPr marL="0" marR="0" lvl="0" indent="0" algn="l" defTabSz="914373" rtl="0" eaLnBrk="1" fontAlgn="auto" latinLnBrk="0" hangingPunct="1">
                        <a:lnSpc>
                          <a:spcPct val="100000"/>
                        </a:lnSpc>
                        <a:spcBef>
                          <a:spcPts val="0"/>
                        </a:spcBef>
                        <a:spcAft>
                          <a:spcPts val="0"/>
                        </a:spcAft>
                        <a:buClrTx/>
                        <a:buSzTx/>
                        <a:buFontTx/>
                        <a:buNone/>
                        <a:tabLst/>
                        <a:defRPr/>
                      </a:pP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613087573"/>
                  </a:ext>
                </a:extLst>
              </a:tr>
              <a:tr h="370840">
                <a:tc>
                  <a:txBody>
                    <a:bodyPr/>
                    <a:lstStyle/>
                    <a:p>
                      <a:r>
                        <a:rPr kumimoji="1" lang="en-US" altLang="ja-JP" sz="1200" dirty="0"/>
                        <a:t>7</a:t>
                      </a:r>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tc>
                  <a:txBody>
                    <a:bodyPr/>
                    <a:lstStyle/>
                    <a:p>
                      <a:endParaRPr kumimoji="1" lang="ja-JP" altLang="en-US" sz="1200" dirty="0"/>
                    </a:p>
                  </a:txBody>
                  <a:tcPr>
                    <a:solidFill>
                      <a:schemeClr val="bg1">
                        <a:lumMod val="95000"/>
                      </a:schemeClr>
                    </a:solidFill>
                  </a:tcPr>
                </a:tc>
                <a:extLst>
                  <a:ext uri="{0D108BD9-81ED-4DB2-BD59-A6C34878D82A}">
                    <a16:rowId xmlns:a16="http://schemas.microsoft.com/office/drawing/2014/main" val="1349657474"/>
                  </a:ext>
                </a:extLst>
              </a:tr>
            </a:tbl>
          </a:graphicData>
        </a:graphic>
      </p:graphicFrame>
    </p:spTree>
    <p:extLst>
      <p:ext uri="{BB962C8B-B14F-4D97-AF65-F5344CB8AC3E}">
        <p14:creationId xmlns:p14="http://schemas.microsoft.com/office/powerpoint/2010/main" val="3276813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C3C22C-C173-EFAE-7DE9-F665615DE172}"/>
              </a:ext>
            </a:extLst>
          </p:cNvPr>
          <p:cNvSpPr>
            <a:spLocks noGrp="1"/>
          </p:cNvSpPr>
          <p:nvPr>
            <p:ph type="title"/>
          </p:nvPr>
        </p:nvSpPr>
        <p:spPr/>
        <p:txBody>
          <a:bodyPr/>
          <a:lstStyle/>
          <a:p>
            <a:r>
              <a:rPr kumimoji="1" lang="ja-JP" altLang="en-US" dirty="0"/>
              <a:t>カスタマージャーニーの作成方法</a:t>
            </a:r>
          </a:p>
        </p:txBody>
      </p:sp>
      <p:sp>
        <p:nvSpPr>
          <p:cNvPr id="3" name="フッター プレースホルダー 2">
            <a:extLst>
              <a:ext uri="{FF2B5EF4-FFF2-40B4-BE49-F238E27FC236}">
                <a16:creationId xmlns:a16="http://schemas.microsoft.com/office/drawing/2014/main" id="{DAB1F92F-0786-BB99-8260-4324FB09B49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C1CF552C-56EC-0117-D1C3-DFD4A5C0846F}"/>
              </a:ext>
            </a:extLst>
          </p:cNvPr>
          <p:cNvSpPr>
            <a:spLocks noGrp="1"/>
          </p:cNvSpPr>
          <p:nvPr>
            <p:ph type="sldNum" sz="quarter" idx="12"/>
          </p:nvPr>
        </p:nvSpPr>
        <p:spPr/>
        <p:txBody>
          <a:bodyPr/>
          <a:lstStyle/>
          <a:p>
            <a:fld id="{DCB5AA93-092B-49A1-87A7-3C88D5F38AD7}" type="slidenum">
              <a:rPr lang="ja-JP" altLang="en-US" smtClean="0"/>
              <a:pPr/>
              <a:t>10</a:t>
            </a:fld>
            <a:endParaRPr lang="ja-JP" altLang="en-US"/>
          </a:p>
        </p:txBody>
      </p:sp>
      <p:sp>
        <p:nvSpPr>
          <p:cNvPr id="5" name="テキスト プレースホルダー 4">
            <a:extLst>
              <a:ext uri="{FF2B5EF4-FFF2-40B4-BE49-F238E27FC236}">
                <a16:creationId xmlns:a16="http://schemas.microsoft.com/office/drawing/2014/main" id="{C789CDA8-6C6B-11C5-19AB-BCF9A2254EB9}"/>
              </a:ext>
            </a:extLst>
          </p:cNvPr>
          <p:cNvSpPr>
            <a:spLocks noGrp="1"/>
          </p:cNvSpPr>
          <p:nvPr>
            <p:ph type="body" sz="quarter" idx="13"/>
          </p:nvPr>
        </p:nvSpPr>
        <p:spPr/>
        <p:txBody>
          <a:bodyPr/>
          <a:lstStyle/>
          <a:p>
            <a:endParaRPr kumimoji="1" lang="ja-JP" altLang="en-US"/>
          </a:p>
        </p:txBody>
      </p:sp>
      <p:sp>
        <p:nvSpPr>
          <p:cNvPr id="14" name="フリーフォーム: 図形 13">
            <a:extLst>
              <a:ext uri="{FF2B5EF4-FFF2-40B4-BE49-F238E27FC236}">
                <a16:creationId xmlns:a16="http://schemas.microsoft.com/office/drawing/2014/main" id="{4E958EAB-AEB0-E040-9927-2F418905FF2B}"/>
              </a:ext>
            </a:extLst>
          </p:cNvPr>
          <p:cNvSpPr/>
          <p:nvPr/>
        </p:nvSpPr>
        <p:spPr>
          <a:xfrm>
            <a:off x="407992" y="1628775"/>
            <a:ext cx="751114" cy="939799"/>
          </a:xfrm>
          <a:custGeom>
            <a:avLst/>
            <a:gdLst>
              <a:gd name="connsiteX0" fmla="*/ 0 w 751114"/>
              <a:gd name="connsiteY0" fmla="*/ 0 h 939799"/>
              <a:gd name="connsiteX1" fmla="*/ 751114 w 751114"/>
              <a:gd name="connsiteY1" fmla="*/ 0 h 939799"/>
              <a:gd name="connsiteX2" fmla="*/ 751114 w 751114"/>
              <a:gd name="connsiteY2" fmla="*/ 711200 h 939799"/>
              <a:gd name="connsiteX3" fmla="*/ 375557 w 751114"/>
              <a:gd name="connsiteY3" fmla="*/ 939799 h 939799"/>
              <a:gd name="connsiteX4" fmla="*/ 0 w 751114"/>
              <a:gd name="connsiteY4" fmla="*/ 711200 h 9397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114" h="939799">
                <a:moveTo>
                  <a:pt x="0" y="0"/>
                </a:moveTo>
                <a:lnTo>
                  <a:pt x="751114" y="0"/>
                </a:lnTo>
                <a:lnTo>
                  <a:pt x="751114" y="711200"/>
                </a:lnTo>
                <a:lnTo>
                  <a:pt x="375557" y="939799"/>
                </a:lnTo>
                <a:lnTo>
                  <a:pt x="0" y="7112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chorCtr="0">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2" name="フリーフォーム: 図形 21">
            <a:extLst>
              <a:ext uri="{FF2B5EF4-FFF2-40B4-BE49-F238E27FC236}">
                <a16:creationId xmlns:a16="http://schemas.microsoft.com/office/drawing/2014/main" id="{E41D4F9C-A9F7-CEAA-A799-28CD5C0EF8C4}"/>
              </a:ext>
            </a:extLst>
          </p:cNvPr>
          <p:cNvSpPr/>
          <p:nvPr/>
        </p:nvSpPr>
        <p:spPr>
          <a:xfrm rot="10800000">
            <a:off x="407992" y="2495490"/>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7AE4D6FD-7BC2-F805-7A2D-15372235E7C3}"/>
              </a:ext>
            </a:extLst>
          </p:cNvPr>
          <p:cNvSpPr txBox="1"/>
          <p:nvPr/>
        </p:nvSpPr>
        <p:spPr>
          <a:xfrm>
            <a:off x="407992" y="1883230"/>
            <a:ext cx="751115"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1</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D207A4E1-9AC1-AF58-6C60-AEDD83F46828}"/>
              </a:ext>
            </a:extLst>
          </p:cNvPr>
          <p:cNvSpPr txBox="1"/>
          <p:nvPr/>
        </p:nvSpPr>
        <p:spPr>
          <a:xfrm>
            <a:off x="407992" y="2782308"/>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2</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1" name="フリーフォーム: 図形 50">
            <a:extLst>
              <a:ext uri="{FF2B5EF4-FFF2-40B4-BE49-F238E27FC236}">
                <a16:creationId xmlns:a16="http://schemas.microsoft.com/office/drawing/2014/main" id="{156AD9DE-53B4-4542-DDB5-B0616868E672}"/>
              </a:ext>
            </a:extLst>
          </p:cNvPr>
          <p:cNvSpPr/>
          <p:nvPr/>
        </p:nvSpPr>
        <p:spPr>
          <a:xfrm rot="10800000">
            <a:off x="407992" y="3353059"/>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4FA80552-D4A2-44F7-36A5-C4250463487B}"/>
              </a:ext>
            </a:extLst>
          </p:cNvPr>
          <p:cNvSpPr txBox="1"/>
          <p:nvPr/>
        </p:nvSpPr>
        <p:spPr>
          <a:xfrm>
            <a:off x="407992" y="3639877"/>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3</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3" name="フリーフォーム: 図形 52">
            <a:extLst>
              <a:ext uri="{FF2B5EF4-FFF2-40B4-BE49-F238E27FC236}">
                <a16:creationId xmlns:a16="http://schemas.microsoft.com/office/drawing/2014/main" id="{E53A928F-5557-B811-965E-AFB4EC4A21DC}"/>
              </a:ext>
            </a:extLst>
          </p:cNvPr>
          <p:cNvSpPr/>
          <p:nvPr/>
        </p:nvSpPr>
        <p:spPr>
          <a:xfrm rot="10800000">
            <a:off x="407990" y="4187412"/>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4" name="テキスト ボックス 53">
            <a:extLst>
              <a:ext uri="{FF2B5EF4-FFF2-40B4-BE49-F238E27FC236}">
                <a16:creationId xmlns:a16="http://schemas.microsoft.com/office/drawing/2014/main" id="{E4CE6101-6870-B547-59BE-7B846036CAF2}"/>
              </a:ext>
            </a:extLst>
          </p:cNvPr>
          <p:cNvSpPr txBox="1"/>
          <p:nvPr/>
        </p:nvSpPr>
        <p:spPr>
          <a:xfrm>
            <a:off x="407992" y="4474230"/>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 4</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55" name="正方形/長方形 54">
            <a:extLst>
              <a:ext uri="{FF2B5EF4-FFF2-40B4-BE49-F238E27FC236}">
                <a16:creationId xmlns:a16="http://schemas.microsoft.com/office/drawing/2014/main" id="{6E10B750-0AA8-1859-61FB-1A9D63CC4D46}"/>
              </a:ext>
            </a:extLst>
          </p:cNvPr>
          <p:cNvSpPr/>
          <p:nvPr/>
        </p:nvSpPr>
        <p:spPr>
          <a:xfrm>
            <a:off x="1399245" y="1628775"/>
            <a:ext cx="1164336" cy="7362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ペルソナを定義</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6" name="正方形/長方形 55">
            <a:extLst>
              <a:ext uri="{FF2B5EF4-FFF2-40B4-BE49-F238E27FC236}">
                <a16:creationId xmlns:a16="http://schemas.microsoft.com/office/drawing/2014/main" id="{F9EDEE48-A71F-ED0F-EF10-B98381114DD0}"/>
              </a:ext>
            </a:extLst>
          </p:cNvPr>
          <p:cNvSpPr/>
          <p:nvPr/>
        </p:nvSpPr>
        <p:spPr>
          <a:xfrm>
            <a:off x="1399245" y="2500487"/>
            <a:ext cx="1164336" cy="73620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顧客のタッチポイントを洗い出し</a:t>
            </a:r>
          </a:p>
        </p:txBody>
      </p:sp>
      <p:sp>
        <p:nvSpPr>
          <p:cNvPr id="57" name="正方形/長方形 56">
            <a:extLst>
              <a:ext uri="{FF2B5EF4-FFF2-40B4-BE49-F238E27FC236}">
                <a16:creationId xmlns:a16="http://schemas.microsoft.com/office/drawing/2014/main" id="{73D47E7A-4E32-4BA2-FE93-3AD5A30814F5}"/>
              </a:ext>
            </a:extLst>
          </p:cNvPr>
          <p:cNvSpPr/>
          <p:nvPr/>
        </p:nvSpPr>
        <p:spPr>
          <a:xfrm>
            <a:off x="1399245" y="3347464"/>
            <a:ext cx="1164336" cy="73620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各タッチポイントでの顧客体験を分析</a:t>
            </a:r>
          </a:p>
        </p:txBody>
      </p:sp>
      <p:sp>
        <p:nvSpPr>
          <p:cNvPr id="58" name="正方形/長方形 57">
            <a:extLst>
              <a:ext uri="{FF2B5EF4-FFF2-40B4-BE49-F238E27FC236}">
                <a16:creationId xmlns:a16="http://schemas.microsoft.com/office/drawing/2014/main" id="{D83E921A-1731-C3C1-8964-4FBF5F4B79F3}"/>
              </a:ext>
            </a:extLst>
          </p:cNvPr>
          <p:cNvSpPr/>
          <p:nvPr/>
        </p:nvSpPr>
        <p:spPr>
          <a:xfrm>
            <a:off x="1399245" y="4190918"/>
            <a:ext cx="1164336" cy="736204"/>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ジャーニーマップを作製</a:t>
            </a:r>
          </a:p>
        </p:txBody>
      </p:sp>
      <p:sp>
        <p:nvSpPr>
          <p:cNvPr id="59" name="フリーフォーム: 図形 58">
            <a:extLst>
              <a:ext uri="{FF2B5EF4-FFF2-40B4-BE49-F238E27FC236}">
                <a16:creationId xmlns:a16="http://schemas.microsoft.com/office/drawing/2014/main" id="{BC28D9E9-CFD3-CA09-C315-8A73BDF91E59}"/>
              </a:ext>
            </a:extLst>
          </p:cNvPr>
          <p:cNvSpPr/>
          <p:nvPr/>
        </p:nvSpPr>
        <p:spPr>
          <a:xfrm rot="10800000">
            <a:off x="407990" y="5044981"/>
            <a:ext cx="751114" cy="939799"/>
          </a:xfrm>
          <a:custGeom>
            <a:avLst/>
            <a:gdLst>
              <a:gd name="connsiteX0" fmla="*/ 375557 w 751114"/>
              <a:gd name="connsiteY0" fmla="*/ 0 h 939799"/>
              <a:gd name="connsiteX1" fmla="*/ 751114 w 751114"/>
              <a:gd name="connsiteY1" fmla="*/ 228599 h 939799"/>
              <a:gd name="connsiteX2" fmla="*/ 751114 w 751114"/>
              <a:gd name="connsiteY2" fmla="*/ 939799 h 939799"/>
              <a:gd name="connsiteX3" fmla="*/ 375557 w 751114"/>
              <a:gd name="connsiteY3" fmla="*/ 707037 h 939799"/>
              <a:gd name="connsiteX4" fmla="*/ 0 w 751114"/>
              <a:gd name="connsiteY4" fmla="*/ 939799 h 939799"/>
              <a:gd name="connsiteX5" fmla="*/ 0 w 751114"/>
              <a:gd name="connsiteY5" fmla="*/ 228599 h 939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1114" h="939799">
                <a:moveTo>
                  <a:pt x="375557" y="0"/>
                </a:moveTo>
                <a:lnTo>
                  <a:pt x="751114" y="228599"/>
                </a:lnTo>
                <a:lnTo>
                  <a:pt x="751114" y="939799"/>
                </a:lnTo>
                <a:lnTo>
                  <a:pt x="375557" y="707037"/>
                </a:lnTo>
                <a:lnTo>
                  <a:pt x="0" y="939799"/>
                </a:lnTo>
                <a:lnTo>
                  <a:pt x="0" y="228599"/>
                </a:lnTo>
                <a:close/>
              </a:path>
            </a:pathLst>
          </a:cu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0" name="テキスト ボックス 59">
            <a:extLst>
              <a:ext uri="{FF2B5EF4-FFF2-40B4-BE49-F238E27FC236}">
                <a16:creationId xmlns:a16="http://schemas.microsoft.com/office/drawing/2014/main" id="{986BF54B-C8EC-8173-9D26-3B6D0B1EA8BD}"/>
              </a:ext>
            </a:extLst>
          </p:cNvPr>
          <p:cNvSpPr txBox="1"/>
          <p:nvPr/>
        </p:nvSpPr>
        <p:spPr>
          <a:xfrm>
            <a:off x="407990" y="5331799"/>
            <a:ext cx="751114" cy="215444"/>
          </a:xfrm>
          <a:prstGeom prst="rect">
            <a:avLst/>
          </a:prstGeom>
          <a:noFill/>
        </p:spPr>
        <p:txBody>
          <a:bodyPr wrap="square" lIns="0" tIns="0" rIns="0" bIns="0" rtlCol="0">
            <a:spAutoFit/>
          </a:bodyPr>
          <a:lstStyle/>
          <a:p>
            <a:pPr algn="ctr"/>
            <a:r>
              <a:rPr kumimoji="1" lang="en-US" altLang="ja-JP" sz="1400" dirty="0">
                <a:latin typeface="BIZ UDPゴシック" panose="020B0400000000000000" pitchFamily="50" charset="-128"/>
                <a:ea typeface="BIZ UDPゴシック" panose="020B0400000000000000" pitchFamily="50" charset="-128"/>
              </a:rPr>
              <a:t>Step</a:t>
            </a:r>
            <a:r>
              <a:rPr kumimoji="1" lang="ja-JP" altLang="en-US" sz="1400" dirty="0">
                <a:latin typeface="BIZ UDPゴシック" panose="020B0400000000000000" pitchFamily="50" charset="-128"/>
                <a:ea typeface="BIZ UDPゴシック" panose="020B0400000000000000" pitchFamily="50" charset="-128"/>
              </a:rPr>
              <a:t> </a:t>
            </a:r>
            <a:r>
              <a:rPr kumimoji="1" lang="en-US" altLang="ja-JP" sz="1400" dirty="0">
                <a:latin typeface="BIZ UDPゴシック" panose="020B0400000000000000" pitchFamily="50" charset="-128"/>
                <a:ea typeface="BIZ UDPゴシック" panose="020B0400000000000000" pitchFamily="50" charset="-128"/>
              </a:rPr>
              <a:t>5</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61" name="正方形/長方形 60">
            <a:extLst>
              <a:ext uri="{FF2B5EF4-FFF2-40B4-BE49-F238E27FC236}">
                <a16:creationId xmlns:a16="http://schemas.microsoft.com/office/drawing/2014/main" id="{3DBA502C-B925-EF5A-2374-8B309E6E4E6F}"/>
              </a:ext>
            </a:extLst>
          </p:cNvPr>
          <p:cNvSpPr/>
          <p:nvPr/>
        </p:nvSpPr>
        <p:spPr>
          <a:xfrm>
            <a:off x="1399243" y="5048487"/>
            <a:ext cx="1164336" cy="73620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改善ポイントを特定</a:t>
            </a:r>
          </a:p>
        </p:txBody>
      </p:sp>
      <p:sp>
        <p:nvSpPr>
          <p:cNvPr id="62" name="正方形/長方形 61">
            <a:extLst>
              <a:ext uri="{FF2B5EF4-FFF2-40B4-BE49-F238E27FC236}">
                <a16:creationId xmlns:a16="http://schemas.microsoft.com/office/drawing/2014/main" id="{AE56185C-2F09-6D74-D5C3-D61128A5245C}"/>
              </a:ext>
            </a:extLst>
          </p:cNvPr>
          <p:cNvSpPr/>
          <p:nvPr/>
        </p:nvSpPr>
        <p:spPr>
          <a:xfrm>
            <a:off x="2803718" y="1628775"/>
            <a:ext cx="8980290" cy="7362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目的：顧客像を明確にして，行動やニーズに合ったジャーニーを設計</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方法：アンケート調査やデータ分析を通じて具体的な顧客像を作成</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3" name="正方形/長方形 62">
            <a:extLst>
              <a:ext uri="{FF2B5EF4-FFF2-40B4-BE49-F238E27FC236}">
                <a16:creationId xmlns:a16="http://schemas.microsoft.com/office/drawing/2014/main" id="{F702C960-84DB-D2A7-E045-38519571BB33}"/>
              </a:ext>
            </a:extLst>
          </p:cNvPr>
          <p:cNvSpPr/>
          <p:nvPr/>
        </p:nvSpPr>
        <p:spPr>
          <a:xfrm>
            <a:off x="2803718" y="2504600"/>
            <a:ext cx="8980290" cy="73620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DDC94A58-4A90-9DEF-9065-38276D288ED1}"/>
              </a:ext>
            </a:extLst>
          </p:cNvPr>
          <p:cNvSpPr/>
          <p:nvPr/>
        </p:nvSpPr>
        <p:spPr>
          <a:xfrm>
            <a:off x="2803718" y="3355160"/>
            <a:ext cx="8980290" cy="73620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顧客は何を考え，感じているか？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85750" indent="-285750">
              <a:buFont typeface="Arial" panose="020B0604020202020204" pitchFamily="34" charset="0"/>
              <a:buChar char="•"/>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どのタッチポイントで課題や不満が発生しているか？</a:t>
            </a: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5" name="正方形/長方形 64">
            <a:extLst>
              <a:ext uri="{FF2B5EF4-FFF2-40B4-BE49-F238E27FC236}">
                <a16:creationId xmlns:a16="http://schemas.microsoft.com/office/drawing/2014/main" id="{F4C68529-155B-9724-5B9A-638ED3452E4C}"/>
              </a:ext>
            </a:extLst>
          </p:cNvPr>
          <p:cNvSpPr/>
          <p:nvPr/>
        </p:nvSpPr>
        <p:spPr>
          <a:xfrm>
            <a:off x="2803717" y="4190918"/>
            <a:ext cx="8980290" cy="736204"/>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85750" indent="-285750">
              <a:buFont typeface="Arial" panose="020B0604020202020204" pitchFamily="34" charset="0"/>
              <a:buChar char="•"/>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ステップ：</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42900" indent="-342900">
              <a:buFont typeface="+mj-ea"/>
              <a:buAutoNum type="circleNumDbPlain"/>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認知 → 興味 → 検討 → 購入 → リピートの流れを図解化</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342900" indent="-342900">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各課題での顧客行動，感情，課題を記入</a:t>
            </a:r>
          </a:p>
        </p:txBody>
      </p:sp>
      <p:sp>
        <p:nvSpPr>
          <p:cNvPr id="66" name="正方形/長方形 65">
            <a:extLst>
              <a:ext uri="{FF2B5EF4-FFF2-40B4-BE49-F238E27FC236}">
                <a16:creationId xmlns:a16="http://schemas.microsoft.com/office/drawing/2014/main" id="{9E743D85-DFF3-3A3A-721B-F583F9F0AFD8}"/>
              </a:ext>
            </a:extLst>
          </p:cNvPr>
          <p:cNvSpPr/>
          <p:nvPr/>
        </p:nvSpPr>
        <p:spPr>
          <a:xfrm>
            <a:off x="2803717" y="5039160"/>
            <a:ext cx="8980290" cy="736204"/>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方法：</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各タッチポイントでの課題をもとに優先順位をつけた改善策を検討</a:t>
            </a:r>
          </a:p>
        </p:txBody>
      </p:sp>
    </p:spTree>
    <p:extLst>
      <p:ext uri="{BB962C8B-B14F-4D97-AF65-F5344CB8AC3E}">
        <p14:creationId xmlns:p14="http://schemas.microsoft.com/office/powerpoint/2010/main" val="2056003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9DDD-4602-D852-4D91-5516D51EAF0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F971BF-E4FF-6D10-1837-2EDF182C4DB5}"/>
              </a:ext>
            </a:extLst>
          </p:cNvPr>
          <p:cNvSpPr>
            <a:spLocks noGrp="1"/>
          </p:cNvSpPr>
          <p:nvPr>
            <p:ph type="title"/>
          </p:nvPr>
        </p:nvSpPr>
        <p:spPr/>
        <p:txBody>
          <a:bodyPr/>
          <a:lstStyle/>
          <a:p>
            <a:r>
              <a:rPr kumimoji="1" lang="ja-JP" altLang="en-US" dirty="0"/>
              <a:t>新たなライフスタイルを構築した社会イメージ実現に向けた検討ステップ</a:t>
            </a:r>
          </a:p>
        </p:txBody>
      </p:sp>
      <p:sp>
        <p:nvSpPr>
          <p:cNvPr id="3" name="フッター プレースホルダー 2">
            <a:extLst>
              <a:ext uri="{FF2B5EF4-FFF2-40B4-BE49-F238E27FC236}">
                <a16:creationId xmlns:a16="http://schemas.microsoft.com/office/drawing/2014/main" id="{6EC0B762-4056-9B33-61EA-54207B00131A}"/>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199808DA-3656-9EB1-A63D-45D78FF25FA0}"/>
              </a:ext>
            </a:extLst>
          </p:cNvPr>
          <p:cNvSpPr>
            <a:spLocks noGrp="1"/>
          </p:cNvSpPr>
          <p:nvPr>
            <p:ph type="sldNum" sz="quarter" idx="12"/>
          </p:nvPr>
        </p:nvSpPr>
        <p:spPr/>
        <p:txBody>
          <a:bodyPr/>
          <a:lstStyle/>
          <a:p>
            <a:fld id="{DCB5AA93-092B-49A1-87A7-3C88D5F38AD7}" type="slidenum">
              <a:rPr lang="ja-JP" altLang="en-US" smtClean="0"/>
              <a:pPr/>
              <a:t>11</a:t>
            </a:fld>
            <a:endParaRPr lang="ja-JP" altLang="en-US"/>
          </a:p>
        </p:txBody>
      </p:sp>
      <p:sp>
        <p:nvSpPr>
          <p:cNvPr id="5" name="テキスト プレースホルダー 4">
            <a:extLst>
              <a:ext uri="{FF2B5EF4-FFF2-40B4-BE49-F238E27FC236}">
                <a16:creationId xmlns:a16="http://schemas.microsoft.com/office/drawing/2014/main" id="{2E1A0D66-271C-C2F8-C8AC-C1E3A9916673}"/>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22" name="テキスト ボックス 21">
            <a:extLst>
              <a:ext uri="{FF2B5EF4-FFF2-40B4-BE49-F238E27FC236}">
                <a16:creationId xmlns:a16="http://schemas.microsoft.com/office/drawing/2014/main" id="{0568C2D3-21DC-129F-01FA-6C583D698A4D}"/>
              </a:ext>
            </a:extLst>
          </p:cNvPr>
          <p:cNvSpPr txBox="1"/>
          <p:nvPr/>
        </p:nvSpPr>
        <p:spPr>
          <a:xfrm>
            <a:off x="407988" y="1171575"/>
            <a:ext cx="1289002"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仮説出し</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6772656E-5213-13E7-706C-37B226E4F775}"/>
              </a:ext>
            </a:extLst>
          </p:cNvPr>
          <p:cNvSpPr txBox="1"/>
          <p:nvPr/>
        </p:nvSpPr>
        <p:spPr>
          <a:xfrm>
            <a:off x="600036" y="1644193"/>
            <a:ext cx="2355949" cy="1292662"/>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あるべき姿の仮説と論点設定</a:t>
            </a:r>
            <a:endParaRPr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PHR</a:t>
            </a:r>
            <a:r>
              <a:rPr kumimoji="1" lang="ja-JP" altLang="en-US" sz="1400" dirty="0">
                <a:latin typeface="BIZ UDPゴシック" panose="020B0400000000000000" pitchFamily="50" charset="-128"/>
                <a:ea typeface="BIZ UDPゴシック" panose="020B0400000000000000" pitchFamily="50" charset="-128"/>
              </a:rPr>
              <a:t>利活用によって実現される新たなライフスタイルの社会イメージ</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成立に必要な要件と説くべき論点</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47F22324-61A3-2952-9B4B-DFBEA7312416}"/>
              </a:ext>
            </a:extLst>
          </p:cNvPr>
          <p:cNvSpPr txBox="1"/>
          <p:nvPr/>
        </p:nvSpPr>
        <p:spPr>
          <a:xfrm>
            <a:off x="3324558" y="1171575"/>
            <a:ext cx="1289005"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調査</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D5D3A9C6-7510-BB9B-E291-594F40F9CA6B}"/>
              </a:ext>
            </a:extLst>
          </p:cNvPr>
          <p:cNvSpPr txBox="1"/>
          <p:nvPr/>
        </p:nvSpPr>
        <p:spPr>
          <a:xfrm>
            <a:off x="3516608" y="1644193"/>
            <a:ext cx="2361854" cy="1938992"/>
          </a:xfrm>
          <a:prstGeom prst="rect">
            <a:avLst/>
          </a:prstGeom>
          <a:noFill/>
          <a:ln w="19050">
            <a:noFill/>
          </a:ln>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机上調査</a:t>
            </a:r>
            <a:endParaRPr kumimoji="1"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国内外の</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ユースケース</a:t>
            </a:r>
            <a:endParaRPr lang="en-US" altLang="ja-JP" sz="1400"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アンケート・インタビュー</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国内</a:t>
            </a: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事業者ヒアリング</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医師アンケート</a:t>
            </a:r>
            <a:endParaRPr lang="en-US" altLang="ja-JP" sz="14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BCG</a:t>
            </a:r>
            <a:r>
              <a:rPr lang="ja-JP" altLang="en-US" sz="1400" dirty="0">
                <a:latin typeface="BIZ UDPゴシック" panose="020B0400000000000000" pitchFamily="50" charset="-128"/>
                <a:ea typeface="BIZ UDPゴシック" panose="020B0400000000000000" pitchFamily="50" charset="-128"/>
              </a:rPr>
              <a:t>エキスパートアンケート</a:t>
            </a:r>
          </a:p>
          <a:p>
            <a:pPr algn="l"/>
            <a:endParaRPr kumimoji="1" lang="ja-JP" altLang="en-US" sz="14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4475D015-95CA-44F2-DAF6-5AE3DB2BBFBD}"/>
              </a:ext>
            </a:extLst>
          </p:cNvPr>
          <p:cNvSpPr txBox="1"/>
          <p:nvPr/>
        </p:nvSpPr>
        <p:spPr>
          <a:xfrm>
            <a:off x="6313851" y="1171575"/>
            <a:ext cx="1292067"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検証・分析</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9BC80A37-9533-1D82-7D9E-0B51A5D77847}"/>
              </a:ext>
            </a:extLst>
          </p:cNvPr>
          <p:cNvSpPr txBox="1"/>
          <p:nvPr/>
        </p:nvSpPr>
        <p:spPr>
          <a:xfrm>
            <a:off x="6505899" y="1644193"/>
            <a:ext cx="2388026" cy="2585323"/>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目指すべき姿</a:t>
            </a:r>
            <a:endParaRPr lang="en-US" altLang="ja-JP" sz="1400" b="1"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利用者ニーズや課題を踏まえた</a:t>
            </a:r>
            <a:r>
              <a:rPr kumimoji="1" lang="en-US" altLang="ja-JP" sz="1400" dirty="0">
                <a:latin typeface="BIZ UDPゴシック" panose="020B0400000000000000" pitchFamily="50" charset="-128"/>
                <a:ea typeface="BIZ UDPゴシック" panose="020B0400000000000000" pitchFamily="50" charset="-128"/>
              </a:rPr>
              <a:t>PHR</a:t>
            </a:r>
            <a:r>
              <a:rPr kumimoji="1" lang="ja-JP" altLang="en-US" sz="1400" dirty="0">
                <a:latin typeface="BIZ UDPゴシック" panose="020B0400000000000000" pitchFamily="50" charset="-128"/>
                <a:ea typeface="BIZ UDPゴシック" panose="020B0400000000000000" pitchFamily="50" charset="-128"/>
              </a:rPr>
              <a:t>事業の将来像</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課題抽出</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社会イメージ実現のためのドライバーと課題・阻害要因</a:t>
            </a:r>
          </a:p>
          <a:p>
            <a:pPr algn="l"/>
            <a:endParaRPr kumimoji="1"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対応施策考案</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課題・阻害要因の解消に向けた施策オプション</a:t>
            </a:r>
          </a:p>
          <a:p>
            <a:pPr algn="l"/>
            <a:endParaRPr kumimoji="1" lang="ja-JP" altLang="en-US" sz="14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334B80BC-8715-519F-A64C-C0D894A6B29A}"/>
              </a:ext>
            </a:extLst>
          </p:cNvPr>
          <p:cNvSpPr txBox="1"/>
          <p:nvPr/>
        </p:nvSpPr>
        <p:spPr>
          <a:xfrm>
            <a:off x="9224354" y="1171575"/>
            <a:ext cx="1292067" cy="276999"/>
          </a:xfrm>
          <a:prstGeom prst="rect">
            <a:avLst/>
          </a:prstGeom>
          <a:noFill/>
        </p:spPr>
        <p:txBody>
          <a:bodyPr wrap="square" lIns="0" tIns="0" rIns="0" bIns="0" rtlCol="0" anchor="t" anchorCtr="0">
            <a:spAutoFit/>
          </a:bodyPr>
          <a:lstStyle/>
          <a:p>
            <a:pPr algn="l"/>
            <a:r>
              <a:rPr lang="ja-JP" altLang="en-US" u="sng" dirty="0">
                <a:latin typeface="BIZ UDPゴシック" panose="020B0400000000000000" pitchFamily="50" charset="-128"/>
                <a:ea typeface="BIZ UDPゴシック" panose="020B0400000000000000" pitchFamily="50" charset="-128"/>
              </a:rPr>
              <a:t>実現計画</a:t>
            </a:r>
            <a:endParaRPr kumimoji="1" lang="ja-JP" altLang="en-US" u="sng"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838B98E6-5101-FE50-580A-10244E6BC319}"/>
              </a:ext>
            </a:extLst>
          </p:cNvPr>
          <p:cNvSpPr txBox="1"/>
          <p:nvPr/>
        </p:nvSpPr>
        <p:spPr>
          <a:xfrm>
            <a:off x="9416402" y="1644193"/>
            <a:ext cx="2367614" cy="1938992"/>
          </a:xfrm>
          <a:prstGeom prst="rect">
            <a:avLst/>
          </a:prstGeom>
          <a:noFill/>
          <a:ln w="19050">
            <a:noFill/>
          </a:ln>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ロードマップ設計</a:t>
            </a:r>
            <a:endParaRPr lang="en-US" altLang="ja-JP" sz="1400" b="1" dirty="0">
              <a:latin typeface="BIZ UDPゴシック" panose="020B0400000000000000" pitchFamily="50" charset="-128"/>
              <a:ea typeface="BIZ UDPゴシック" panose="020B0400000000000000" pitchFamily="50" charset="-128"/>
            </a:endParaRPr>
          </a:p>
          <a:p>
            <a:pPr marL="285750" indent="-285750"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施策の優先順位と実行時期</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r>
              <a:rPr lang="ja-JP" altLang="en-US" sz="1400" b="1" dirty="0">
                <a:latin typeface="BIZ UDPゴシック" panose="020B0400000000000000" pitchFamily="50" charset="-128"/>
                <a:ea typeface="BIZ UDPゴシック" panose="020B0400000000000000" pitchFamily="50" charset="-128"/>
              </a:rPr>
              <a:t>社会イメージ設計</a:t>
            </a:r>
            <a:endParaRPr lang="en-US" altLang="ja-JP" sz="1400" b="1"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活用浸透によって実現される新たなライフスタイルのイメージ考案</a:t>
            </a:r>
          </a:p>
          <a:p>
            <a:pPr algn="l"/>
            <a:endParaRPr kumimoji="1" lang="ja-JP" altLang="en-US" sz="1400" dirty="0">
              <a:latin typeface="BIZ UDPゴシック" panose="020B0400000000000000" pitchFamily="50" charset="-128"/>
              <a:ea typeface="BIZ UDPゴシック" panose="020B0400000000000000" pitchFamily="50" charset="-128"/>
            </a:endParaRPr>
          </a:p>
        </p:txBody>
      </p:sp>
      <p:grpSp>
        <p:nvGrpSpPr>
          <p:cNvPr id="41" name="グループ化 40">
            <a:extLst>
              <a:ext uri="{FF2B5EF4-FFF2-40B4-BE49-F238E27FC236}">
                <a16:creationId xmlns:a16="http://schemas.microsoft.com/office/drawing/2014/main" id="{4BC28464-5559-160A-8F6A-30DB37D22055}"/>
              </a:ext>
            </a:extLst>
          </p:cNvPr>
          <p:cNvGrpSpPr/>
          <p:nvPr/>
        </p:nvGrpSpPr>
        <p:grpSpPr>
          <a:xfrm>
            <a:off x="3042989" y="1644193"/>
            <a:ext cx="278282" cy="281941"/>
            <a:chOff x="2973712" y="3789363"/>
            <a:chExt cx="350846" cy="360362"/>
          </a:xfrm>
          <a:solidFill>
            <a:schemeClr val="bg1">
              <a:lumMod val="75000"/>
            </a:schemeClr>
          </a:solidFill>
        </p:grpSpPr>
        <p:sp>
          <p:nvSpPr>
            <p:cNvPr id="39" name="楕円 38">
              <a:extLst>
                <a:ext uri="{FF2B5EF4-FFF2-40B4-BE49-F238E27FC236}">
                  <a16:creationId xmlns:a16="http://schemas.microsoft.com/office/drawing/2014/main" id="{DF28D38C-F831-ABDA-F824-061DD48B55BF}"/>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75BA4710-4122-F295-00E9-F31B5DE5B63B}"/>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grpSp>
        <p:nvGrpSpPr>
          <p:cNvPr id="48" name="グループ化 47">
            <a:extLst>
              <a:ext uri="{FF2B5EF4-FFF2-40B4-BE49-F238E27FC236}">
                <a16:creationId xmlns:a16="http://schemas.microsoft.com/office/drawing/2014/main" id="{18A89941-A515-6988-A30C-9A089B49F9B1}"/>
              </a:ext>
            </a:extLst>
          </p:cNvPr>
          <p:cNvGrpSpPr/>
          <p:nvPr/>
        </p:nvGrpSpPr>
        <p:grpSpPr>
          <a:xfrm>
            <a:off x="5950866" y="1644193"/>
            <a:ext cx="278282" cy="281941"/>
            <a:chOff x="2973712" y="3789363"/>
            <a:chExt cx="350846" cy="360362"/>
          </a:xfrm>
          <a:solidFill>
            <a:schemeClr val="bg1">
              <a:lumMod val="75000"/>
            </a:schemeClr>
          </a:solidFill>
        </p:grpSpPr>
        <p:sp>
          <p:nvSpPr>
            <p:cNvPr id="49" name="楕円 48">
              <a:extLst>
                <a:ext uri="{FF2B5EF4-FFF2-40B4-BE49-F238E27FC236}">
                  <a16:creationId xmlns:a16="http://schemas.microsoft.com/office/drawing/2014/main" id="{122BB70A-50C8-1B7E-8C78-69029E2DCAA0}"/>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516E0746-B20D-F723-C093-01773C51BA27}"/>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grpSp>
        <p:nvGrpSpPr>
          <p:cNvPr id="51" name="グループ化 50">
            <a:extLst>
              <a:ext uri="{FF2B5EF4-FFF2-40B4-BE49-F238E27FC236}">
                <a16:creationId xmlns:a16="http://schemas.microsoft.com/office/drawing/2014/main" id="{D3824FFE-E2BF-401C-7203-C24D6AA2AB4C}"/>
              </a:ext>
            </a:extLst>
          </p:cNvPr>
          <p:cNvGrpSpPr/>
          <p:nvPr/>
        </p:nvGrpSpPr>
        <p:grpSpPr>
          <a:xfrm>
            <a:off x="8946072" y="1644193"/>
            <a:ext cx="278282" cy="281941"/>
            <a:chOff x="2973712" y="3789363"/>
            <a:chExt cx="350846" cy="360362"/>
          </a:xfrm>
          <a:solidFill>
            <a:schemeClr val="bg1">
              <a:lumMod val="75000"/>
            </a:schemeClr>
          </a:solidFill>
        </p:grpSpPr>
        <p:sp>
          <p:nvSpPr>
            <p:cNvPr id="52" name="楕円 51">
              <a:extLst>
                <a:ext uri="{FF2B5EF4-FFF2-40B4-BE49-F238E27FC236}">
                  <a16:creationId xmlns:a16="http://schemas.microsoft.com/office/drawing/2014/main" id="{A0BD7980-428D-23D8-FC62-804B54ED4825}"/>
                </a:ext>
              </a:extLst>
            </p:cNvPr>
            <p:cNvSpPr/>
            <p:nvPr/>
          </p:nvSpPr>
          <p:spPr>
            <a:xfrm>
              <a:off x="2973712" y="3789363"/>
              <a:ext cx="350846" cy="36036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algn="l"/>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8AE3AEB2-5FE3-5ABC-BFFB-D2DFF227348B}"/>
                </a:ext>
              </a:extLst>
            </p:cNvPr>
            <p:cNvSpPr txBox="1"/>
            <p:nvPr/>
          </p:nvSpPr>
          <p:spPr>
            <a:xfrm>
              <a:off x="3074595" y="3861822"/>
              <a:ext cx="189973" cy="275369"/>
            </a:xfrm>
            <a:prstGeom prst="rect">
              <a:avLst/>
            </a:prstGeom>
            <a:grpFill/>
          </p:spPr>
          <p:txBody>
            <a:bodyPr wrap="none" lIns="0" tIns="0" rIns="0" bIns="0" rtlCol="0" anchor="t" anchorCtr="0">
              <a:spAutoFit/>
            </a:bodyPr>
            <a:lstStyle/>
            <a:p>
              <a:pPr algn="l"/>
              <a:r>
                <a:rPr kumimoji="1" lang="en-US" altLang="ja-JP" sz="1400" b="1" dirty="0">
                  <a:solidFill>
                    <a:schemeClr val="bg1"/>
                  </a:solidFill>
                  <a:latin typeface="BIZ UDPゴシック" panose="020B0400000000000000" pitchFamily="50" charset="-128"/>
                  <a:ea typeface="BIZ UDPゴシック" panose="020B0400000000000000" pitchFamily="50" charset="-128"/>
                </a:rPr>
                <a:t>&gt;</a:t>
              </a:r>
              <a:endParaRPr kumimoji="1" lang="ja-JP" altLang="en-US" sz="1400" b="1" dirty="0">
                <a:solidFill>
                  <a:schemeClr val="bg1"/>
                </a:solidFill>
                <a:latin typeface="BIZ UDPゴシック" panose="020B0400000000000000" pitchFamily="50" charset="-128"/>
                <a:ea typeface="BIZ UDPゴシック" panose="020B0400000000000000" pitchFamily="50" charset="-128"/>
              </a:endParaRPr>
            </a:p>
          </p:txBody>
        </p:sp>
      </p:grpSp>
    </p:spTree>
    <p:extLst>
      <p:ext uri="{BB962C8B-B14F-4D97-AF65-F5344CB8AC3E}">
        <p14:creationId xmlns:p14="http://schemas.microsoft.com/office/powerpoint/2010/main" val="1118342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3D7E-0FE4-68A1-3363-152AAC0290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1DDFBF-69C0-7BF3-E88D-A70F5C3A8835}"/>
              </a:ext>
            </a:extLst>
          </p:cNvPr>
          <p:cNvSpPr>
            <a:spLocks noGrp="1"/>
          </p:cNvSpPr>
          <p:nvPr>
            <p:ph type="title"/>
          </p:nvPr>
        </p:nvSpPr>
        <p:spPr/>
        <p:txBody>
          <a:bodyPr/>
          <a:lstStyle/>
          <a:p>
            <a:r>
              <a:rPr kumimoji="1" lang="en-US" altLang="ja-JP" dirty="0"/>
              <a:t>M&amp;A</a:t>
            </a:r>
            <a:r>
              <a:rPr kumimoji="1" lang="ja-JP" altLang="en-US"/>
              <a:t>アドバイザリーの主な業務</a:t>
            </a:r>
            <a:endParaRPr kumimoji="1" lang="ja-JP" altLang="en-US" dirty="0"/>
          </a:p>
        </p:txBody>
      </p:sp>
      <p:sp>
        <p:nvSpPr>
          <p:cNvPr id="3" name="フッター プレースホルダー 2">
            <a:extLst>
              <a:ext uri="{FF2B5EF4-FFF2-40B4-BE49-F238E27FC236}">
                <a16:creationId xmlns:a16="http://schemas.microsoft.com/office/drawing/2014/main" id="{08DF962F-6280-1C5E-844C-CA37B4189494}"/>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7E7E279-4640-BAEA-EA45-1C85BC9D9917}"/>
              </a:ext>
            </a:extLst>
          </p:cNvPr>
          <p:cNvSpPr>
            <a:spLocks noGrp="1"/>
          </p:cNvSpPr>
          <p:nvPr>
            <p:ph type="sldNum" sz="quarter" idx="12"/>
          </p:nvPr>
        </p:nvSpPr>
        <p:spPr/>
        <p:txBody>
          <a:bodyPr/>
          <a:lstStyle/>
          <a:p>
            <a:fld id="{DCB5AA93-092B-49A1-87A7-3C88D5F38AD7}" type="slidenum">
              <a:rPr lang="ja-JP" altLang="en-US" smtClean="0"/>
              <a:pPr/>
              <a:t>12</a:t>
            </a:fld>
            <a:endParaRPr lang="ja-JP" altLang="en-US"/>
          </a:p>
        </p:txBody>
      </p:sp>
      <p:sp>
        <p:nvSpPr>
          <p:cNvPr id="5" name="テキスト プレースホルダー 4">
            <a:extLst>
              <a:ext uri="{FF2B5EF4-FFF2-40B4-BE49-F238E27FC236}">
                <a16:creationId xmlns:a16="http://schemas.microsoft.com/office/drawing/2014/main" id="{8EE9C64C-D4A9-6F01-3274-405AA560656D}"/>
              </a:ext>
            </a:extLst>
          </p:cNvPr>
          <p:cNvSpPr>
            <a:spLocks noGrp="1"/>
          </p:cNvSpPr>
          <p:nvPr>
            <p:ph type="body" sz="quarter" idx="13"/>
          </p:nvPr>
        </p:nvSpPr>
        <p:spPr/>
        <p:txBody>
          <a:bodyPr/>
          <a:lstStyle/>
          <a:p>
            <a:endParaRPr kumimoji="1" lang="ja-JP" altLang="en-US"/>
          </a:p>
        </p:txBody>
      </p:sp>
      <p:sp>
        <p:nvSpPr>
          <p:cNvPr id="56" name="正方形/長方形 55">
            <a:extLst>
              <a:ext uri="{FF2B5EF4-FFF2-40B4-BE49-F238E27FC236}">
                <a16:creationId xmlns:a16="http://schemas.microsoft.com/office/drawing/2014/main" id="{C68B72D4-359A-FF44-FE44-D4080699D629}"/>
              </a:ext>
            </a:extLst>
          </p:cNvPr>
          <p:cNvSpPr/>
          <p:nvPr/>
        </p:nvSpPr>
        <p:spPr>
          <a:xfrm>
            <a:off x="407990" y="2245197"/>
            <a:ext cx="1055717"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プロセス毎の必要なタスク</a:t>
            </a:r>
          </a:p>
        </p:txBody>
      </p:sp>
      <p:sp>
        <p:nvSpPr>
          <p:cNvPr id="63" name="正方形/長方形 62">
            <a:extLst>
              <a:ext uri="{FF2B5EF4-FFF2-40B4-BE49-F238E27FC236}">
                <a16:creationId xmlns:a16="http://schemas.microsoft.com/office/drawing/2014/main" id="{18DCC170-CD9D-9FEB-5467-9839150D869E}"/>
              </a:ext>
            </a:extLst>
          </p:cNvPr>
          <p:cNvSpPr/>
          <p:nvPr/>
        </p:nvSpPr>
        <p:spPr>
          <a:xfrm>
            <a:off x="1722443" y="2251507"/>
            <a:ext cx="1556422"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A1FD0FA6-ABA3-A88E-DC2E-CB1D04EF451C}"/>
              </a:ext>
            </a:extLst>
          </p:cNvPr>
          <p:cNvSpPr/>
          <p:nvPr/>
        </p:nvSpPr>
        <p:spPr>
          <a:xfrm>
            <a:off x="1722443" y="4227744"/>
            <a:ext cx="1556422" cy="184985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フリーフォーム: 図形 22">
            <a:extLst>
              <a:ext uri="{FF2B5EF4-FFF2-40B4-BE49-F238E27FC236}">
                <a16:creationId xmlns:a16="http://schemas.microsoft.com/office/drawing/2014/main" id="{1FA80378-00AB-C798-6AC4-2301F7A1B0BF}"/>
              </a:ext>
            </a:extLst>
          </p:cNvPr>
          <p:cNvSpPr/>
          <p:nvPr/>
        </p:nvSpPr>
        <p:spPr>
          <a:xfrm>
            <a:off x="1722443" y="1800315"/>
            <a:ext cx="1766863" cy="313817"/>
          </a:xfrm>
          <a:custGeom>
            <a:avLst/>
            <a:gdLst>
              <a:gd name="connsiteX0" fmla="*/ 0 w 1766863"/>
              <a:gd name="connsiteY0" fmla="*/ 0 h 313817"/>
              <a:gd name="connsiteX1" fmla="*/ 1556422 w 1766863"/>
              <a:gd name="connsiteY1" fmla="*/ 0 h 313817"/>
              <a:gd name="connsiteX2" fmla="*/ 1766863 w 1766863"/>
              <a:gd name="connsiteY2" fmla="*/ 156909 h 313817"/>
              <a:gd name="connsiteX3" fmla="*/ 1556422 w 1766863"/>
              <a:gd name="connsiteY3" fmla="*/ 313817 h 313817"/>
              <a:gd name="connsiteX4" fmla="*/ 0 w 1766863"/>
              <a:gd name="connsiteY4" fmla="*/ 313817 h 3138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6863" h="313817">
                <a:moveTo>
                  <a:pt x="0" y="0"/>
                </a:moveTo>
                <a:lnTo>
                  <a:pt x="1556422" y="0"/>
                </a:lnTo>
                <a:lnTo>
                  <a:pt x="1766863" y="156909"/>
                </a:lnTo>
                <a:lnTo>
                  <a:pt x="1556422" y="313817"/>
                </a:lnTo>
                <a:lnTo>
                  <a:pt x="0" y="313817"/>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4975AE2B-F49D-D3BA-0E59-12DF2018562A}"/>
              </a:ext>
            </a:extLst>
          </p:cNvPr>
          <p:cNvSpPr txBox="1"/>
          <p:nvPr/>
        </p:nvSpPr>
        <p:spPr>
          <a:xfrm>
            <a:off x="1722443" y="1891570"/>
            <a:ext cx="1495622" cy="184666"/>
          </a:xfrm>
          <a:prstGeom prst="rect">
            <a:avLst/>
          </a:prstGeom>
          <a:noFill/>
        </p:spPr>
        <p:txBody>
          <a:bodyPr wrap="square" lIns="0" tIns="0" rIns="0" bIns="0" rtlCol="0">
            <a:spAutoFit/>
          </a:bodyPr>
          <a:lstStyle/>
          <a:p>
            <a:pPr algn="ctr"/>
            <a:r>
              <a:rPr lang="en-US" altLang="ja-JP" sz="1200" dirty="0">
                <a:latin typeface="BIZ UDPゴシック" panose="020B0400000000000000" pitchFamily="50" charset="-128"/>
                <a:ea typeface="BIZ UDPゴシック" panose="020B0400000000000000" pitchFamily="50" charset="-128"/>
              </a:rPr>
              <a:t>M&amp;A</a:t>
            </a:r>
            <a:r>
              <a:rPr lang="ja-JP" altLang="en-US" sz="1200" dirty="0">
                <a:latin typeface="BIZ UDPゴシック" panose="020B0400000000000000" pitchFamily="50" charset="-128"/>
                <a:ea typeface="BIZ UDPゴシック" panose="020B0400000000000000" pitchFamily="50" charset="-128"/>
              </a:rPr>
              <a:t>戦略</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2C9228E5-3F7A-1268-F3EF-20B5D99A545E}"/>
              </a:ext>
            </a:extLst>
          </p:cNvPr>
          <p:cNvSpPr/>
          <p:nvPr/>
        </p:nvSpPr>
        <p:spPr>
          <a:xfrm>
            <a:off x="407990" y="4220998"/>
            <a:ext cx="654000"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サービス</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F373F602-EE4C-A240-E97B-CEBF8C818EE2}"/>
              </a:ext>
            </a:extLst>
          </p:cNvPr>
          <p:cNvSpPr/>
          <p:nvPr/>
        </p:nvSpPr>
        <p:spPr>
          <a:xfrm>
            <a:off x="1136707" y="4220998"/>
            <a:ext cx="327000" cy="18498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プロセス</a:t>
            </a:r>
          </a:p>
        </p:txBody>
      </p:sp>
      <p:sp>
        <p:nvSpPr>
          <p:cNvPr id="37" name="フリーフォーム: 図形 36">
            <a:extLst>
              <a:ext uri="{FF2B5EF4-FFF2-40B4-BE49-F238E27FC236}">
                <a16:creationId xmlns:a16="http://schemas.microsoft.com/office/drawing/2014/main" id="{A1794A72-2680-6229-0CEC-42BCEB60534B}"/>
              </a:ext>
            </a:extLst>
          </p:cNvPr>
          <p:cNvSpPr/>
          <p:nvPr/>
        </p:nvSpPr>
        <p:spPr>
          <a:xfrm rot="5400000">
            <a:off x="7232152" y="453705"/>
            <a:ext cx="313818" cy="3007033"/>
          </a:xfrm>
          <a:custGeom>
            <a:avLst/>
            <a:gdLst>
              <a:gd name="connsiteX0" fmla="*/ 0 w 313818"/>
              <a:gd name="connsiteY0" fmla="*/ 210441 h 2839885"/>
              <a:gd name="connsiteX1" fmla="*/ 156909 w 313818"/>
              <a:gd name="connsiteY1" fmla="*/ 0 h 2839885"/>
              <a:gd name="connsiteX2" fmla="*/ 313816 w 313818"/>
              <a:gd name="connsiteY2" fmla="*/ 210440 h 2839885"/>
              <a:gd name="connsiteX3" fmla="*/ 313818 w 313818"/>
              <a:gd name="connsiteY3" fmla="*/ 210440 h 2839885"/>
              <a:gd name="connsiteX4" fmla="*/ 313818 w 313818"/>
              <a:gd name="connsiteY4" fmla="*/ 2839885 h 2839885"/>
              <a:gd name="connsiteX5" fmla="*/ 156910 w 313818"/>
              <a:gd name="connsiteY5" fmla="*/ 2629444 h 2839885"/>
              <a:gd name="connsiteX6" fmla="*/ 1 w 313818"/>
              <a:gd name="connsiteY6" fmla="*/ 2839885 h 2839885"/>
              <a:gd name="connsiteX7" fmla="*/ 1 w 313818"/>
              <a:gd name="connsiteY7" fmla="*/ 210441 h 2839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818" h="2839885">
                <a:moveTo>
                  <a:pt x="0" y="210441"/>
                </a:moveTo>
                <a:lnTo>
                  <a:pt x="156909" y="0"/>
                </a:lnTo>
                <a:lnTo>
                  <a:pt x="313816" y="210440"/>
                </a:lnTo>
                <a:lnTo>
                  <a:pt x="313818" y="210440"/>
                </a:lnTo>
                <a:lnTo>
                  <a:pt x="313818" y="2839885"/>
                </a:lnTo>
                <a:lnTo>
                  <a:pt x="156910" y="2629444"/>
                </a:lnTo>
                <a:lnTo>
                  <a:pt x="1" y="2839885"/>
                </a:lnTo>
                <a:lnTo>
                  <a:pt x="1"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FE01B1AF-38CD-C2C1-351D-7D9DA273EBA9}"/>
              </a:ext>
            </a:extLst>
          </p:cNvPr>
          <p:cNvSpPr/>
          <p:nvPr/>
        </p:nvSpPr>
        <p:spPr>
          <a:xfrm>
            <a:off x="3381236" y="2251507"/>
            <a:ext cx="2419004"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1F7B1B10-FFF1-EB09-1D51-79EA0A22F748}"/>
              </a:ext>
            </a:extLst>
          </p:cNvPr>
          <p:cNvSpPr/>
          <p:nvPr/>
        </p:nvSpPr>
        <p:spPr>
          <a:xfrm>
            <a:off x="3381236" y="4875136"/>
            <a:ext cx="2419004"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フリーフォーム: 図形 28">
            <a:extLst>
              <a:ext uri="{FF2B5EF4-FFF2-40B4-BE49-F238E27FC236}">
                <a16:creationId xmlns:a16="http://schemas.microsoft.com/office/drawing/2014/main" id="{018C3C22-078D-90E8-2507-FDDCE0520CC7}"/>
              </a:ext>
            </a:extLst>
          </p:cNvPr>
          <p:cNvSpPr/>
          <p:nvPr/>
        </p:nvSpPr>
        <p:spPr>
          <a:xfrm rot="5400000">
            <a:off x="4539049" y="642501"/>
            <a:ext cx="313819" cy="2629445"/>
          </a:xfrm>
          <a:custGeom>
            <a:avLst/>
            <a:gdLst>
              <a:gd name="connsiteX0" fmla="*/ 1 w 313819"/>
              <a:gd name="connsiteY0" fmla="*/ 2629444 h 2629445"/>
              <a:gd name="connsiteX1" fmla="*/ 2 w 313819"/>
              <a:gd name="connsiteY1" fmla="*/ 210442 h 2629445"/>
              <a:gd name="connsiteX2" fmla="*/ 313819 w 313819"/>
              <a:gd name="connsiteY2" fmla="*/ 210442 h 2629445"/>
              <a:gd name="connsiteX3" fmla="*/ 313818 w 313819"/>
              <a:gd name="connsiteY3" fmla="*/ 2629445 h 2629445"/>
              <a:gd name="connsiteX4" fmla="*/ 313817 w 313819"/>
              <a:gd name="connsiteY4" fmla="*/ 2629445 h 2629445"/>
              <a:gd name="connsiteX5" fmla="*/ 156909 w 313819"/>
              <a:gd name="connsiteY5" fmla="*/ 2451719 h 2629445"/>
              <a:gd name="connsiteX6" fmla="*/ 0 w 313819"/>
              <a:gd name="connsiteY6" fmla="*/ 2629445 h 2629445"/>
              <a:gd name="connsiteX7" fmla="*/ 1 w 313819"/>
              <a:gd name="connsiteY7" fmla="*/ 2629444 h 2629445"/>
              <a:gd name="connsiteX8" fmla="*/ 1 w 313819"/>
              <a:gd name="connsiteY8" fmla="*/ 2629445 h 2629445"/>
              <a:gd name="connsiteX9" fmla="*/ 0 w 313819"/>
              <a:gd name="connsiteY9" fmla="*/ 210441 h 2629445"/>
              <a:gd name="connsiteX10" fmla="*/ 156909 w 313819"/>
              <a:gd name="connsiteY10" fmla="*/ 0 h 2629445"/>
              <a:gd name="connsiteX11" fmla="*/ 313817 w 313819"/>
              <a:gd name="connsiteY11" fmla="*/ 210441 h 2629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819" h="2629445">
                <a:moveTo>
                  <a:pt x="1" y="2629444"/>
                </a:moveTo>
                <a:lnTo>
                  <a:pt x="2" y="210442"/>
                </a:lnTo>
                <a:lnTo>
                  <a:pt x="313819" y="210442"/>
                </a:lnTo>
                <a:lnTo>
                  <a:pt x="313818" y="2629445"/>
                </a:lnTo>
                <a:lnTo>
                  <a:pt x="313817" y="2629445"/>
                </a:lnTo>
                <a:lnTo>
                  <a:pt x="156909" y="2451719"/>
                </a:lnTo>
                <a:close/>
                <a:moveTo>
                  <a:pt x="0" y="2629445"/>
                </a:moveTo>
                <a:lnTo>
                  <a:pt x="1" y="2629444"/>
                </a:lnTo>
                <a:lnTo>
                  <a:pt x="1" y="2629445"/>
                </a:lnTo>
                <a:close/>
                <a:moveTo>
                  <a:pt x="0" y="210441"/>
                </a:moveTo>
                <a:lnTo>
                  <a:pt x="156909" y="0"/>
                </a:lnTo>
                <a:lnTo>
                  <a:pt x="313817"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1" name="フリーフォーム: 図形 40">
            <a:extLst>
              <a:ext uri="{FF2B5EF4-FFF2-40B4-BE49-F238E27FC236}">
                <a16:creationId xmlns:a16="http://schemas.microsoft.com/office/drawing/2014/main" id="{CEDC5839-7685-B418-5CE4-D47A685ACE85}"/>
              </a:ext>
            </a:extLst>
          </p:cNvPr>
          <p:cNvSpPr/>
          <p:nvPr/>
        </p:nvSpPr>
        <p:spPr>
          <a:xfrm rot="5400000">
            <a:off x="10058000" y="573930"/>
            <a:ext cx="313818" cy="2766578"/>
          </a:xfrm>
          <a:custGeom>
            <a:avLst/>
            <a:gdLst>
              <a:gd name="connsiteX0" fmla="*/ 0 w 313818"/>
              <a:gd name="connsiteY0" fmla="*/ 210441 h 2766578"/>
              <a:gd name="connsiteX1" fmla="*/ 1 w 313818"/>
              <a:gd name="connsiteY1" fmla="*/ 210440 h 2766578"/>
              <a:gd name="connsiteX2" fmla="*/ 1 w 313818"/>
              <a:gd name="connsiteY2" fmla="*/ 205237 h 2766578"/>
              <a:gd name="connsiteX3" fmla="*/ 3880 w 313818"/>
              <a:gd name="connsiteY3" fmla="*/ 205237 h 2766578"/>
              <a:gd name="connsiteX4" fmla="*/ 156909 w 313818"/>
              <a:gd name="connsiteY4" fmla="*/ 0 h 2766578"/>
              <a:gd name="connsiteX5" fmla="*/ 309937 w 313818"/>
              <a:gd name="connsiteY5" fmla="*/ 205237 h 2766578"/>
              <a:gd name="connsiteX6" fmla="*/ 313818 w 313818"/>
              <a:gd name="connsiteY6" fmla="*/ 205237 h 2766578"/>
              <a:gd name="connsiteX7" fmla="*/ 313818 w 313818"/>
              <a:gd name="connsiteY7" fmla="*/ 2766578 h 2766578"/>
              <a:gd name="connsiteX8" fmla="*/ 156910 w 313818"/>
              <a:gd name="connsiteY8" fmla="*/ 2578395 h 2766578"/>
              <a:gd name="connsiteX9" fmla="*/ 1 w 313818"/>
              <a:gd name="connsiteY9" fmla="*/ 2766578 h 2766578"/>
              <a:gd name="connsiteX10" fmla="*/ 1 w 313818"/>
              <a:gd name="connsiteY10" fmla="*/ 210441 h 2766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13818" h="2766578">
                <a:moveTo>
                  <a:pt x="0" y="210441"/>
                </a:moveTo>
                <a:lnTo>
                  <a:pt x="1" y="210440"/>
                </a:lnTo>
                <a:lnTo>
                  <a:pt x="1" y="205237"/>
                </a:lnTo>
                <a:lnTo>
                  <a:pt x="3880" y="205237"/>
                </a:lnTo>
                <a:lnTo>
                  <a:pt x="156909" y="0"/>
                </a:lnTo>
                <a:lnTo>
                  <a:pt x="309937" y="205237"/>
                </a:lnTo>
                <a:lnTo>
                  <a:pt x="313818" y="205237"/>
                </a:lnTo>
                <a:lnTo>
                  <a:pt x="313818" y="2766578"/>
                </a:lnTo>
                <a:lnTo>
                  <a:pt x="156910" y="2578395"/>
                </a:lnTo>
                <a:lnTo>
                  <a:pt x="1" y="2766578"/>
                </a:lnTo>
                <a:lnTo>
                  <a:pt x="1" y="210441"/>
                </a:ln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2" name="正方形/長方形 41">
            <a:extLst>
              <a:ext uri="{FF2B5EF4-FFF2-40B4-BE49-F238E27FC236}">
                <a16:creationId xmlns:a16="http://schemas.microsoft.com/office/drawing/2014/main" id="{18E1E13C-C44C-A847-901E-2381D39FB087}"/>
              </a:ext>
            </a:extLst>
          </p:cNvPr>
          <p:cNvSpPr/>
          <p:nvPr/>
        </p:nvSpPr>
        <p:spPr>
          <a:xfrm>
            <a:off x="5885543" y="2251507"/>
            <a:ext cx="2839885"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3" name="正方形/長方形 42">
            <a:extLst>
              <a:ext uri="{FF2B5EF4-FFF2-40B4-BE49-F238E27FC236}">
                <a16:creationId xmlns:a16="http://schemas.microsoft.com/office/drawing/2014/main" id="{BA545105-388E-B19D-6C32-6611506AABDB}"/>
              </a:ext>
            </a:extLst>
          </p:cNvPr>
          <p:cNvSpPr/>
          <p:nvPr/>
        </p:nvSpPr>
        <p:spPr>
          <a:xfrm>
            <a:off x="5885543" y="4875136"/>
            <a:ext cx="2839885"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4" name="正方形/長方形 43">
            <a:extLst>
              <a:ext uri="{FF2B5EF4-FFF2-40B4-BE49-F238E27FC236}">
                <a16:creationId xmlns:a16="http://schemas.microsoft.com/office/drawing/2014/main" id="{4BDA9D72-11AB-E321-F174-DF591150F3D7}"/>
              </a:ext>
            </a:extLst>
          </p:cNvPr>
          <p:cNvSpPr/>
          <p:nvPr/>
        </p:nvSpPr>
        <p:spPr>
          <a:xfrm>
            <a:off x="8831621" y="2254334"/>
            <a:ext cx="2766578" cy="18435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目的：顧客がブランドや製品とどのように接触しているかを把握</a:t>
            </a:r>
            <a:endParaRPr kumimoji="1"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r>
              <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rPr>
              <a:t>SNS</a:t>
            </a: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広告 → 商品ページ → カスタマーサポート → 購入</a:t>
            </a:r>
            <a:endParaRPr kumimoji="1"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5" name="正方形/長方形 44">
            <a:extLst>
              <a:ext uri="{FF2B5EF4-FFF2-40B4-BE49-F238E27FC236}">
                <a16:creationId xmlns:a16="http://schemas.microsoft.com/office/drawing/2014/main" id="{FB0A5E06-1355-F5DD-C213-74CC4DA25885}"/>
              </a:ext>
            </a:extLst>
          </p:cNvPr>
          <p:cNvSpPr/>
          <p:nvPr/>
        </p:nvSpPr>
        <p:spPr>
          <a:xfrm>
            <a:off x="8831621" y="4877963"/>
            <a:ext cx="2766578" cy="120246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3204F203-5471-5D55-0A93-A7CEB3215513}"/>
              </a:ext>
            </a:extLst>
          </p:cNvPr>
          <p:cNvSpPr txBox="1"/>
          <p:nvPr/>
        </p:nvSpPr>
        <p:spPr>
          <a:xfrm>
            <a:off x="3842927" y="1874098"/>
            <a:ext cx="1495622" cy="184666"/>
          </a:xfrm>
          <a:prstGeom prst="rect">
            <a:avLst/>
          </a:prstGeom>
          <a:noFill/>
        </p:spPr>
        <p:txBody>
          <a:bodyPr wrap="square" lIns="0" tIns="0" rIns="0" bIns="0" rtlCol="0">
            <a:spAutoFit/>
          </a:bodyPr>
          <a:lstStyle/>
          <a:p>
            <a:pPr algn="ctr"/>
            <a:r>
              <a:rPr kumimoji="1" lang="en-US" altLang="ja-JP" sz="1200" dirty="0">
                <a:latin typeface="BIZ UDPゴシック" panose="020B0400000000000000" pitchFamily="50" charset="-128"/>
                <a:ea typeface="BIZ UDPゴシック" panose="020B0400000000000000" pitchFamily="50" charset="-128"/>
              </a:rPr>
              <a:t>M&amp;A</a:t>
            </a:r>
            <a:r>
              <a:rPr kumimoji="1" lang="ja-JP" altLang="en-US" sz="1200" dirty="0">
                <a:latin typeface="BIZ UDPゴシック" panose="020B0400000000000000" pitchFamily="50" charset="-128"/>
                <a:ea typeface="BIZ UDPゴシック" panose="020B0400000000000000" pitchFamily="50" charset="-128"/>
              </a:rPr>
              <a:t>取引準備</a:t>
            </a:r>
          </a:p>
        </p:txBody>
      </p:sp>
      <p:sp>
        <p:nvSpPr>
          <p:cNvPr id="9" name="テキスト ボックス 8">
            <a:extLst>
              <a:ext uri="{FF2B5EF4-FFF2-40B4-BE49-F238E27FC236}">
                <a16:creationId xmlns:a16="http://schemas.microsoft.com/office/drawing/2014/main" id="{A0AD52C4-16A1-CFE8-212E-E5E99B56A4D1}"/>
              </a:ext>
            </a:extLst>
          </p:cNvPr>
          <p:cNvSpPr txBox="1"/>
          <p:nvPr/>
        </p:nvSpPr>
        <p:spPr>
          <a:xfrm>
            <a:off x="6021581" y="1879872"/>
            <a:ext cx="2629445" cy="184666"/>
          </a:xfrm>
          <a:prstGeom prst="rect">
            <a:avLst/>
          </a:prstGeom>
          <a:noFill/>
        </p:spPr>
        <p:txBody>
          <a:bodyPr wrap="square" lIns="0" tIns="0" rIns="0" bIns="0" rtlCol="0">
            <a:spAutoFit/>
          </a:bodyPr>
          <a:lstStyle/>
          <a:p>
            <a:pPr algn="ctr"/>
            <a:r>
              <a:rPr kumimoji="1" lang="ja-JP" altLang="en-US" sz="1200" dirty="0">
                <a:latin typeface="BIZ UDPゴシック" panose="020B0400000000000000" pitchFamily="50" charset="-128"/>
                <a:ea typeface="BIZ UDPゴシック" panose="020B0400000000000000" pitchFamily="50" charset="-128"/>
              </a:rPr>
              <a:t>デューデリジェンス</a:t>
            </a:r>
            <a:r>
              <a:rPr kumimoji="1" lang="en-US" altLang="ja-JP" sz="1200" dirty="0">
                <a:latin typeface="BIZ UDPゴシック" panose="020B0400000000000000" pitchFamily="50" charset="-128"/>
                <a:ea typeface="BIZ UDPゴシック" panose="020B0400000000000000" pitchFamily="50" charset="-128"/>
              </a:rPr>
              <a:t>+M&amp;A</a:t>
            </a:r>
            <a:r>
              <a:rPr kumimoji="1" lang="ja-JP" altLang="en-US" sz="1200" dirty="0">
                <a:latin typeface="BIZ UDPゴシック" panose="020B0400000000000000" pitchFamily="50" charset="-128"/>
                <a:ea typeface="BIZ UDPゴシック" panose="020B0400000000000000" pitchFamily="50" charset="-128"/>
              </a:rPr>
              <a:t>取引実行</a:t>
            </a:r>
          </a:p>
        </p:txBody>
      </p:sp>
      <p:sp>
        <p:nvSpPr>
          <p:cNvPr id="11" name="テキスト ボックス 10">
            <a:extLst>
              <a:ext uri="{FF2B5EF4-FFF2-40B4-BE49-F238E27FC236}">
                <a16:creationId xmlns:a16="http://schemas.microsoft.com/office/drawing/2014/main" id="{71E553CD-F59F-47C3-17DE-3BACB7E966A3}"/>
              </a:ext>
            </a:extLst>
          </p:cNvPr>
          <p:cNvSpPr txBox="1"/>
          <p:nvPr/>
        </p:nvSpPr>
        <p:spPr>
          <a:xfrm>
            <a:off x="9210677" y="1864886"/>
            <a:ext cx="1679461" cy="184666"/>
          </a:xfrm>
          <a:prstGeom prst="rect">
            <a:avLst/>
          </a:prstGeom>
          <a:noFill/>
        </p:spPr>
        <p:txBody>
          <a:bodyPr wrap="square" lIns="0" tIns="0" rIns="0" bIns="0" rtlCol="0">
            <a:spAutoFit/>
          </a:bodyPr>
          <a:lstStyle/>
          <a:p>
            <a:pPr algn="ctr"/>
            <a:r>
              <a:rPr kumimoji="1" lang="ja-JP" altLang="en-US" sz="1200" dirty="0">
                <a:latin typeface="BIZ UDPゴシック" panose="020B0400000000000000" pitchFamily="50" charset="-128"/>
                <a:ea typeface="BIZ UDPゴシック" panose="020B0400000000000000" pitchFamily="50" charset="-128"/>
              </a:rPr>
              <a:t>クロージング</a:t>
            </a:r>
          </a:p>
        </p:txBody>
      </p:sp>
      <p:sp>
        <p:nvSpPr>
          <p:cNvPr id="46" name="正方形/長方形 45">
            <a:extLst>
              <a:ext uri="{FF2B5EF4-FFF2-40B4-BE49-F238E27FC236}">
                <a16:creationId xmlns:a16="http://schemas.microsoft.com/office/drawing/2014/main" id="{D242256E-AB78-25A1-D9D6-DA2043BE04CB}"/>
              </a:ext>
            </a:extLst>
          </p:cNvPr>
          <p:cNvSpPr/>
          <p:nvPr/>
        </p:nvSpPr>
        <p:spPr>
          <a:xfrm>
            <a:off x="3381236" y="4220998"/>
            <a:ext cx="8216962" cy="573837"/>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chorCtr="0"/>
          <a:lstStyle/>
          <a:p>
            <a:pPr marL="182563" indent="-182563">
              <a:buFont typeface="Arial" panose="020B0604020202020204" pitchFamily="34" charset="0"/>
              <a:buChar char="•"/>
            </a:pPr>
            <a:r>
              <a:rPr lang="ja-JP" altLang="en-US" sz="1200" dirty="0">
                <a:solidFill>
                  <a:schemeClr val="tx1">
                    <a:lumMod val="75000"/>
                    <a:lumOff val="25000"/>
                  </a:schemeClr>
                </a:solidFill>
                <a:latin typeface="BIZ UDPゴシック" panose="020B0400000000000000" pitchFamily="50" charset="-128"/>
                <a:ea typeface="BIZ UDPゴシック" panose="020B0400000000000000" pitchFamily="50" charset="-128"/>
              </a:rPr>
              <a:t>質問例：</a:t>
            </a:r>
            <a:endParaRPr lang="en-US" altLang="ja-JP" sz="12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93915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5A20DE-EEF1-CAA5-90EE-DA41BB53AEBD}"/>
              </a:ext>
            </a:extLst>
          </p:cNvPr>
          <p:cNvSpPr>
            <a:spLocks noGrp="1"/>
          </p:cNvSpPr>
          <p:nvPr>
            <p:ph type="title"/>
          </p:nvPr>
        </p:nvSpPr>
        <p:spPr/>
        <p:txBody>
          <a:bodyPr/>
          <a:lstStyle/>
          <a:p>
            <a:r>
              <a:rPr kumimoji="1" lang="ja-JP" altLang="en-US" dirty="0"/>
              <a:t>昨年度までの課題と対応検討</a:t>
            </a:r>
          </a:p>
        </p:txBody>
      </p:sp>
      <p:sp>
        <p:nvSpPr>
          <p:cNvPr id="3" name="フッター プレースホルダー 2">
            <a:extLst>
              <a:ext uri="{FF2B5EF4-FFF2-40B4-BE49-F238E27FC236}">
                <a16:creationId xmlns:a16="http://schemas.microsoft.com/office/drawing/2014/main" id="{16F47334-6E6B-B305-A77A-DC69FBE50492}"/>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C42372F6-7852-201F-6F8D-2F1C8FFD5B8A}"/>
              </a:ext>
            </a:extLst>
          </p:cNvPr>
          <p:cNvSpPr>
            <a:spLocks noGrp="1"/>
          </p:cNvSpPr>
          <p:nvPr>
            <p:ph type="sldNum" sz="quarter" idx="12"/>
          </p:nvPr>
        </p:nvSpPr>
        <p:spPr/>
        <p:txBody>
          <a:bodyPr/>
          <a:lstStyle/>
          <a:p>
            <a:fld id="{DCB5AA93-092B-49A1-87A7-3C88D5F38AD7}" type="slidenum">
              <a:rPr lang="ja-JP" altLang="en-US" smtClean="0"/>
              <a:pPr/>
              <a:t>13</a:t>
            </a:fld>
            <a:endParaRPr lang="ja-JP" altLang="en-US"/>
          </a:p>
        </p:txBody>
      </p:sp>
      <p:sp>
        <p:nvSpPr>
          <p:cNvPr id="5" name="テキスト プレースホルダー 4">
            <a:extLst>
              <a:ext uri="{FF2B5EF4-FFF2-40B4-BE49-F238E27FC236}">
                <a16:creationId xmlns:a16="http://schemas.microsoft.com/office/drawing/2014/main" id="{C0F2F3BD-8848-6E85-D7AA-F6DA93D6F84E}"/>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B2E7B45C-A328-76DC-DE13-A6F4488ADE5D}"/>
              </a:ext>
            </a:extLst>
          </p:cNvPr>
          <p:cNvSpPr/>
          <p:nvPr/>
        </p:nvSpPr>
        <p:spPr>
          <a:xfrm>
            <a:off x="407990" y="1886989"/>
            <a:ext cx="556286" cy="270378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データ収集</a:t>
            </a:r>
          </a:p>
        </p:txBody>
      </p:sp>
      <p:sp>
        <p:nvSpPr>
          <p:cNvPr id="7" name="正方形/長方形 6">
            <a:extLst>
              <a:ext uri="{FF2B5EF4-FFF2-40B4-BE49-F238E27FC236}">
                <a16:creationId xmlns:a16="http://schemas.microsoft.com/office/drawing/2014/main" id="{579965B3-CD23-D6D9-E825-09AB871182BD}"/>
              </a:ext>
            </a:extLst>
          </p:cNvPr>
          <p:cNvSpPr/>
          <p:nvPr/>
        </p:nvSpPr>
        <p:spPr>
          <a:xfrm>
            <a:off x="407990" y="4723770"/>
            <a:ext cx="556286" cy="176593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nchorCtr="0"/>
          <a:lstStyle/>
          <a:p>
            <a:pPr algn="ctr"/>
            <a:r>
              <a:rPr kumimoji="1" lang="ja-JP" altLang="en-US" sz="1400" dirty="0">
                <a:solidFill>
                  <a:schemeClr val="tx1"/>
                </a:solidFill>
                <a:latin typeface="BIZ UDPゴシック" panose="020B0400000000000000" pitchFamily="50" charset="-128"/>
                <a:ea typeface="BIZ UDPゴシック" panose="020B0400000000000000" pitchFamily="50" charset="-128"/>
              </a:rPr>
              <a:t>データ利活用</a:t>
            </a:r>
          </a:p>
        </p:txBody>
      </p:sp>
      <p:cxnSp>
        <p:nvCxnSpPr>
          <p:cNvPr id="8" name="直線コネクタ 7">
            <a:extLst>
              <a:ext uri="{FF2B5EF4-FFF2-40B4-BE49-F238E27FC236}">
                <a16:creationId xmlns:a16="http://schemas.microsoft.com/office/drawing/2014/main" id="{39059514-416F-EE11-9951-F0F7E62D617E}"/>
              </a:ext>
            </a:extLst>
          </p:cNvPr>
          <p:cNvCxnSpPr>
            <a:cxnSpLocks/>
          </p:cNvCxnSpPr>
          <p:nvPr/>
        </p:nvCxnSpPr>
        <p:spPr>
          <a:xfrm>
            <a:off x="964276" y="1617789"/>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E78BA5A-CDFF-6C9B-A889-889E8C008190}"/>
              </a:ext>
            </a:extLst>
          </p:cNvPr>
          <p:cNvSpPr txBox="1"/>
          <p:nvPr/>
        </p:nvSpPr>
        <p:spPr>
          <a:xfrm>
            <a:off x="2383817" y="1510067"/>
            <a:ext cx="596317"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課題  </a:t>
            </a:r>
          </a:p>
        </p:txBody>
      </p:sp>
      <p:sp>
        <p:nvSpPr>
          <p:cNvPr id="12" name="テキスト ボックス 11">
            <a:extLst>
              <a:ext uri="{FF2B5EF4-FFF2-40B4-BE49-F238E27FC236}">
                <a16:creationId xmlns:a16="http://schemas.microsoft.com/office/drawing/2014/main" id="{BEBB1EFF-9175-2021-B943-1152E894C842}"/>
              </a:ext>
            </a:extLst>
          </p:cNvPr>
          <p:cNvSpPr txBox="1"/>
          <p:nvPr/>
        </p:nvSpPr>
        <p:spPr>
          <a:xfrm>
            <a:off x="1072342" y="1886988"/>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cxnSp>
        <p:nvCxnSpPr>
          <p:cNvPr id="14" name="直線コネクタ 13">
            <a:extLst>
              <a:ext uri="{FF2B5EF4-FFF2-40B4-BE49-F238E27FC236}">
                <a16:creationId xmlns:a16="http://schemas.microsoft.com/office/drawing/2014/main" id="{06B3C254-06A8-6513-12D4-9B77009E4122}"/>
              </a:ext>
            </a:extLst>
          </p:cNvPr>
          <p:cNvCxnSpPr>
            <a:cxnSpLocks/>
          </p:cNvCxnSpPr>
          <p:nvPr/>
        </p:nvCxnSpPr>
        <p:spPr>
          <a:xfrm>
            <a:off x="4437610" y="1617269"/>
            <a:ext cx="3816928"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テキスト ボックス 14">
            <a:extLst>
              <a:ext uri="{FF2B5EF4-FFF2-40B4-BE49-F238E27FC236}">
                <a16:creationId xmlns:a16="http://schemas.microsoft.com/office/drawing/2014/main" id="{7BCEAB00-C7FB-4D2A-564C-E32396658F19}"/>
              </a:ext>
            </a:extLst>
          </p:cNvPr>
          <p:cNvSpPr txBox="1"/>
          <p:nvPr/>
        </p:nvSpPr>
        <p:spPr>
          <a:xfrm>
            <a:off x="5584800" y="1509547"/>
            <a:ext cx="1481175"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想定される要因  </a:t>
            </a:r>
          </a:p>
        </p:txBody>
      </p:sp>
      <p:sp>
        <p:nvSpPr>
          <p:cNvPr id="16" name="テキスト ボックス 15">
            <a:extLst>
              <a:ext uri="{FF2B5EF4-FFF2-40B4-BE49-F238E27FC236}">
                <a16:creationId xmlns:a16="http://schemas.microsoft.com/office/drawing/2014/main" id="{FF1C55CF-D9CB-4611-0AD8-CE2A41AA7985}"/>
              </a:ext>
            </a:extLst>
          </p:cNvPr>
          <p:cNvSpPr txBox="1"/>
          <p:nvPr/>
        </p:nvSpPr>
        <p:spPr>
          <a:xfrm>
            <a:off x="4545676" y="1886468"/>
            <a:ext cx="3708862" cy="1508105"/>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ユーザ本人の同意・許諾をもとに個人情報を含むデータを収集し、</a:t>
            </a:r>
            <a:r>
              <a:rPr kumimoji="1" lang="en-US" altLang="ja-JP" sz="1400" dirty="0">
                <a:latin typeface="BIZ UDPゴシック" panose="020B0400000000000000" pitchFamily="50" charset="-128"/>
                <a:ea typeface="BIZ UDPゴシック" panose="020B0400000000000000" pitchFamily="50" charset="-128"/>
              </a:rPr>
              <a:t>PF</a:t>
            </a:r>
            <a:r>
              <a:rPr lang="ja-JP" altLang="en-US" sz="1400" dirty="0">
                <a:latin typeface="BIZ UDPゴシック" panose="020B0400000000000000" pitchFamily="50" charset="-128"/>
                <a:ea typeface="BIZ UDPゴシック" panose="020B0400000000000000" pitchFamily="50" charset="-128"/>
              </a:rPr>
              <a:t>感で共有・利活用する仕組み</a:t>
            </a:r>
            <a:endParaRPr lang="en-US" altLang="ja-JP" sz="1400" dirty="0">
              <a:latin typeface="BIZ UDPゴシック" panose="020B0400000000000000" pitchFamily="50" charset="-128"/>
              <a:ea typeface="BIZ UDPゴシック" panose="020B0400000000000000" pitchFamily="50" charset="-128"/>
            </a:endParaRPr>
          </a:p>
          <a:p>
            <a:pPr marL="539750" lvl="1" indent="-182563">
              <a:buFont typeface="BIZ UDPゴシック" panose="020B0400000000000000" pitchFamily="50" charset="-128"/>
              <a:buChar char="-"/>
            </a:pPr>
            <a:r>
              <a:rPr kumimoji="1" lang="ja-JP" altLang="en-US" sz="1400" dirty="0">
                <a:latin typeface="BIZ UDPゴシック" panose="020B0400000000000000" pitchFamily="50" charset="-128"/>
                <a:ea typeface="BIZ UDPゴシック" panose="020B0400000000000000" pitchFamily="50" charset="-128"/>
              </a:rPr>
              <a:t>ユーザの同意・許諾の取得が難しく、登録途中で離脱し、データ収集に至らないケースが多い</a:t>
            </a:r>
          </a:p>
        </p:txBody>
      </p:sp>
      <p:cxnSp>
        <p:nvCxnSpPr>
          <p:cNvPr id="17" name="直線コネクタ 16">
            <a:extLst>
              <a:ext uri="{FF2B5EF4-FFF2-40B4-BE49-F238E27FC236}">
                <a16:creationId xmlns:a16="http://schemas.microsoft.com/office/drawing/2014/main" id="{7E1A5BD5-2DF5-4E84-8CCE-D80BB65DD77C}"/>
              </a:ext>
            </a:extLst>
          </p:cNvPr>
          <p:cNvCxnSpPr>
            <a:cxnSpLocks/>
          </p:cNvCxnSpPr>
          <p:nvPr/>
        </p:nvCxnSpPr>
        <p:spPr>
          <a:xfrm>
            <a:off x="8467231" y="1617269"/>
            <a:ext cx="331677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EF6AC7BB-E62D-B4B7-8BB1-CE2E688F934A}"/>
              </a:ext>
            </a:extLst>
          </p:cNvPr>
          <p:cNvSpPr txBox="1"/>
          <p:nvPr/>
        </p:nvSpPr>
        <p:spPr>
          <a:xfrm>
            <a:off x="9670641" y="1509547"/>
            <a:ext cx="955390" cy="215444"/>
          </a:xfrm>
          <a:prstGeom prst="rect">
            <a:avLst/>
          </a:prstGeom>
          <a:solidFill>
            <a:schemeClr val="bg1"/>
          </a:solidFill>
        </p:spPr>
        <p:txBody>
          <a:bodyPr wrap="non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  対応方針  </a:t>
            </a:r>
          </a:p>
        </p:txBody>
      </p:sp>
      <p:sp>
        <p:nvSpPr>
          <p:cNvPr id="19" name="テキスト ボックス 18">
            <a:extLst>
              <a:ext uri="{FF2B5EF4-FFF2-40B4-BE49-F238E27FC236}">
                <a16:creationId xmlns:a16="http://schemas.microsoft.com/office/drawing/2014/main" id="{331E1A11-ED88-1268-6D9F-3BAF4BE32389}"/>
              </a:ext>
            </a:extLst>
          </p:cNvPr>
          <p:cNvSpPr txBox="1"/>
          <p:nvPr/>
        </p:nvSpPr>
        <p:spPr>
          <a:xfrm>
            <a:off x="8575297" y="1886468"/>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87331D00-2DA9-0F54-9779-DF3887A65B0C}"/>
              </a:ext>
            </a:extLst>
          </p:cNvPr>
          <p:cNvSpPr txBox="1"/>
          <p:nvPr/>
        </p:nvSpPr>
        <p:spPr>
          <a:xfrm>
            <a:off x="1072342" y="3514077"/>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21" name="テキスト ボックス 20">
            <a:extLst>
              <a:ext uri="{FF2B5EF4-FFF2-40B4-BE49-F238E27FC236}">
                <a16:creationId xmlns:a16="http://schemas.microsoft.com/office/drawing/2014/main" id="{E919AC7F-EF5A-5CFD-BF53-77B67B4F48F8}"/>
              </a:ext>
            </a:extLst>
          </p:cNvPr>
          <p:cNvSpPr txBox="1"/>
          <p:nvPr/>
        </p:nvSpPr>
        <p:spPr>
          <a:xfrm>
            <a:off x="4545676" y="3513557"/>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22" name="テキスト ボックス 21">
            <a:extLst>
              <a:ext uri="{FF2B5EF4-FFF2-40B4-BE49-F238E27FC236}">
                <a16:creationId xmlns:a16="http://schemas.microsoft.com/office/drawing/2014/main" id="{E03928C9-112A-01B6-AD01-B76C7B7169C9}"/>
              </a:ext>
            </a:extLst>
          </p:cNvPr>
          <p:cNvSpPr txBox="1"/>
          <p:nvPr/>
        </p:nvSpPr>
        <p:spPr>
          <a:xfrm>
            <a:off x="8575297" y="3513557"/>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4063F9E2-0D24-4AD9-895B-8742626AE377}"/>
              </a:ext>
            </a:extLst>
          </p:cNvPr>
          <p:cNvSpPr txBox="1"/>
          <p:nvPr/>
        </p:nvSpPr>
        <p:spPr>
          <a:xfrm>
            <a:off x="1072342" y="4721717"/>
            <a:ext cx="3208713"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収集データの量が不足</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ユーザ登録・利用数が少なく、分析等データ利活用に必要なデータ量が収集できていない</a:t>
            </a:r>
          </a:p>
        </p:txBody>
      </p:sp>
      <p:sp>
        <p:nvSpPr>
          <p:cNvPr id="24" name="テキスト ボックス 23">
            <a:extLst>
              <a:ext uri="{FF2B5EF4-FFF2-40B4-BE49-F238E27FC236}">
                <a16:creationId xmlns:a16="http://schemas.microsoft.com/office/drawing/2014/main" id="{22859597-AF10-B0EA-6686-3537B501818A}"/>
              </a:ext>
            </a:extLst>
          </p:cNvPr>
          <p:cNvSpPr txBox="1"/>
          <p:nvPr/>
        </p:nvSpPr>
        <p:spPr>
          <a:xfrm>
            <a:off x="4545676" y="4721197"/>
            <a:ext cx="3708862" cy="861774"/>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許諾・同意を前提としたデータ収集</a:t>
            </a:r>
            <a:endParaRPr kumimoji="1" lang="en-US" altLang="ja-JP" sz="1400" dirty="0">
              <a:latin typeface="BIZ UDPゴシック" panose="020B0400000000000000" pitchFamily="50" charset="-128"/>
              <a:ea typeface="BIZ UDPゴシック" panose="020B0400000000000000" pitchFamily="50" charset="-128"/>
            </a:endParaRPr>
          </a:p>
          <a:p>
            <a:pPr marL="357188" indent="-174625"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ユーザ本人の同意・許諾をもとに個人情報を含むデータを収集ユーザの同意・許諾の取得が難しく、登録途中で離脱</a:t>
            </a:r>
          </a:p>
        </p:txBody>
      </p:sp>
      <p:sp>
        <p:nvSpPr>
          <p:cNvPr id="25" name="テキスト ボックス 24">
            <a:extLst>
              <a:ext uri="{FF2B5EF4-FFF2-40B4-BE49-F238E27FC236}">
                <a16:creationId xmlns:a16="http://schemas.microsoft.com/office/drawing/2014/main" id="{B507873F-C1FA-5912-E2AA-8B132FC9DAB3}"/>
              </a:ext>
            </a:extLst>
          </p:cNvPr>
          <p:cNvSpPr txBox="1"/>
          <p:nvPr/>
        </p:nvSpPr>
        <p:spPr>
          <a:xfrm>
            <a:off x="8575297" y="4721197"/>
            <a:ext cx="3208713" cy="1077218"/>
          </a:xfrm>
          <a:prstGeom prst="rect">
            <a:avLst/>
          </a:prstGeom>
          <a:noFill/>
        </p:spPr>
        <p:txBody>
          <a:bodyPr wrap="square" lIns="0" tIns="0" rIns="0" bIns="0" rtlCol="0" anchor="t" anchorCtr="0">
            <a:spAutoFit/>
          </a:bodyPr>
          <a:lstStyle/>
          <a:p>
            <a:pPr marL="182563" indent="-182563" algn="l">
              <a:buFont typeface="Wingdings" panose="05000000000000000000" pitchFamily="2" charset="2"/>
              <a:buChar char="n"/>
            </a:pPr>
            <a:r>
              <a:rPr kumimoji="1" lang="ja-JP" altLang="en-US" sz="1400" dirty="0">
                <a:latin typeface="BIZ UDPゴシック" panose="020B0400000000000000" pitchFamily="50" charset="-128"/>
                <a:ea typeface="BIZ UDPゴシック" panose="020B0400000000000000" pitchFamily="50" charset="-128"/>
              </a:rPr>
              <a:t>ユーザ本人の同意・許諾を必要としない匿名加工情報の収集を追加し、収集データ量を確保する </a:t>
            </a:r>
            <a:r>
              <a:rPr kumimoji="1" lang="en-US" altLang="ja-JP" sz="1400" dirty="0">
                <a:latin typeface="BIZ UDPゴシック" panose="020B0400000000000000" pitchFamily="50" charset="-128"/>
                <a:ea typeface="BIZ UDPゴシック" panose="020B0400000000000000" pitchFamily="50" charset="-128"/>
              </a:rPr>
              <a:t>-&gt; p18</a:t>
            </a:r>
            <a:r>
              <a:rPr kumimoji="1" lang="ja-JP" altLang="en-US" sz="1400" dirty="0">
                <a:latin typeface="BIZ UDPゴシック" panose="020B0400000000000000" pitchFamily="50" charset="-128"/>
                <a:ea typeface="BIZ UDPゴシック" panose="020B0400000000000000" pitchFamily="50" charset="-128"/>
              </a:rPr>
              <a:t>参照</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BIZ UDPゴシック" panose="020B0400000000000000" pitchFamily="50" charset="-128"/>
              <a:buChar char="-"/>
            </a:pPr>
            <a:r>
              <a:rPr lang="ja-JP" altLang="en-US" sz="1400" dirty="0">
                <a:latin typeface="BIZ UDPゴシック" panose="020B0400000000000000" pitchFamily="50" charset="-128"/>
                <a:ea typeface="BIZ UDPゴシック" panose="020B0400000000000000" pitchFamily="50" charset="-128"/>
              </a:rPr>
              <a:t>データ量を確保し、利活用を推進する</a:t>
            </a:r>
            <a:endParaRPr kumimoji="1"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26042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3070E-F9C1-5FAC-8A3D-4C44113A78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A4A83A7-EA2A-78C3-38D9-F5A01090F821}"/>
              </a:ext>
            </a:extLst>
          </p:cNvPr>
          <p:cNvSpPr>
            <a:spLocks noGrp="1"/>
          </p:cNvSpPr>
          <p:nvPr>
            <p:ph type="title"/>
          </p:nvPr>
        </p:nvSpPr>
        <p:spPr/>
        <p:txBody>
          <a:bodyPr/>
          <a:lstStyle/>
          <a:p>
            <a:r>
              <a:rPr kumimoji="1" lang="ja-JP" altLang="en-US" dirty="0"/>
              <a:t>示唆</a:t>
            </a:r>
          </a:p>
        </p:txBody>
      </p:sp>
      <p:sp>
        <p:nvSpPr>
          <p:cNvPr id="3" name="フッター プレースホルダー 2">
            <a:extLst>
              <a:ext uri="{FF2B5EF4-FFF2-40B4-BE49-F238E27FC236}">
                <a16:creationId xmlns:a16="http://schemas.microsoft.com/office/drawing/2014/main" id="{A5C65D74-3A69-5E2D-7D2A-4EE5C7853C91}"/>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4781FFB5-7366-343E-F5F3-EDD0A8F0DE33}"/>
              </a:ext>
            </a:extLst>
          </p:cNvPr>
          <p:cNvSpPr>
            <a:spLocks noGrp="1"/>
          </p:cNvSpPr>
          <p:nvPr>
            <p:ph type="sldNum" sz="quarter" idx="12"/>
          </p:nvPr>
        </p:nvSpPr>
        <p:spPr/>
        <p:txBody>
          <a:bodyPr/>
          <a:lstStyle/>
          <a:p>
            <a:fld id="{DCB5AA93-092B-49A1-87A7-3C88D5F38AD7}" type="slidenum">
              <a:rPr lang="ja-JP" altLang="en-US" smtClean="0"/>
              <a:pPr/>
              <a:t>14</a:t>
            </a:fld>
            <a:endParaRPr lang="ja-JP" altLang="en-US"/>
          </a:p>
        </p:txBody>
      </p:sp>
      <p:sp>
        <p:nvSpPr>
          <p:cNvPr id="5" name="テキスト プレースホルダー 4">
            <a:extLst>
              <a:ext uri="{FF2B5EF4-FFF2-40B4-BE49-F238E27FC236}">
                <a16:creationId xmlns:a16="http://schemas.microsoft.com/office/drawing/2014/main" id="{ED825628-FA48-8597-6866-CF9494E877E7}"/>
              </a:ext>
            </a:extLst>
          </p:cNvPr>
          <p:cNvSpPr>
            <a:spLocks noGrp="1"/>
          </p:cNvSpPr>
          <p:nvPr>
            <p:ph type="body" sz="quarter" idx="13"/>
          </p:nvPr>
        </p:nvSpPr>
        <p:spPr>
          <a:xfrm>
            <a:off x="0" y="914401"/>
            <a:ext cx="12192000" cy="507074"/>
          </a:xfrm>
        </p:spPr>
        <p:txBody>
          <a:bodyPr/>
          <a:lstStyle/>
          <a:p>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D6816A6C-022C-0C5E-3235-7680109B272D}"/>
              </a:ext>
            </a:extLst>
          </p:cNvPr>
          <p:cNvSpPr txBox="1"/>
          <p:nvPr/>
        </p:nvSpPr>
        <p:spPr>
          <a:xfrm>
            <a:off x="433123" y="1733852"/>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en-US" altLang="ja-JP" sz="1400" dirty="0">
                <a:latin typeface="BIZ UDPゴシック" panose="020B0400000000000000" pitchFamily="50" charset="-128"/>
                <a:ea typeface="BIZ UDPゴシック" panose="020B0400000000000000" pitchFamily="50" charset="-128"/>
              </a:rPr>
              <a:t>PHR</a:t>
            </a:r>
            <a:r>
              <a:rPr lang="ja-JP" altLang="en-US" sz="1400" dirty="0">
                <a:latin typeface="BIZ UDPゴシック" panose="020B0400000000000000" pitchFamily="50" charset="-128"/>
                <a:ea typeface="BIZ UDPゴシック" panose="020B0400000000000000" pitchFamily="50" charset="-128"/>
              </a:rPr>
              <a:t>はどの産業まで活用の幅が広がっているのか？</a:t>
            </a:r>
            <a:endParaRPr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F9ADCECA-4A19-CED8-8D05-487854462D38}"/>
              </a:ext>
            </a:extLst>
          </p:cNvPr>
          <p:cNvCxnSpPr>
            <a:cxnSpLocks/>
          </p:cNvCxnSpPr>
          <p:nvPr/>
        </p:nvCxnSpPr>
        <p:spPr>
          <a:xfrm>
            <a:off x="407987" y="1617789"/>
            <a:ext cx="11376026" cy="1098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E2627E6C-C3A5-6E58-0B30-A99FEBE7FD2D}"/>
              </a:ext>
            </a:extLst>
          </p:cNvPr>
          <p:cNvSpPr txBox="1"/>
          <p:nvPr/>
        </p:nvSpPr>
        <p:spPr>
          <a:xfrm>
            <a:off x="433123" y="1362040"/>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論点</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2E54A016-0765-FB83-091A-729F93ED3514}"/>
              </a:ext>
            </a:extLst>
          </p:cNvPr>
          <p:cNvSpPr txBox="1"/>
          <p:nvPr/>
        </p:nvSpPr>
        <p:spPr>
          <a:xfrm>
            <a:off x="2990954" y="1362040"/>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示唆</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B7736BF7-0ABF-5BCA-2343-BBF2A6FCF30B}"/>
              </a:ext>
            </a:extLst>
          </p:cNvPr>
          <p:cNvSpPr txBox="1"/>
          <p:nvPr/>
        </p:nvSpPr>
        <p:spPr>
          <a:xfrm>
            <a:off x="2990955" y="1733852"/>
            <a:ext cx="8767922" cy="1508105"/>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フィットネスや食事・食事管理に加え、周辺産業では自動車、小売り、アパレル、住宅、睡眠、美容、家電への広がりがみられる</a:t>
            </a:r>
            <a:endParaRPr kumimoji="1" lang="en-US" altLang="ja-JP" sz="1400" dirty="0">
              <a:latin typeface="BIZ UDPゴシック" panose="020B0400000000000000" pitchFamily="50" charset="-128"/>
              <a:ea typeface="BIZ UDPゴシック" panose="020B0400000000000000" pitchFamily="50" charset="-128"/>
            </a:endParaRPr>
          </a:p>
          <a:p>
            <a:pPr marL="0" lvl="1"/>
            <a:endParaRPr lang="en-US" altLang="ja-JP" sz="1400" dirty="0">
              <a:latin typeface="BIZ UDPゴシック" panose="020B0400000000000000" pitchFamily="50" charset="-128"/>
              <a:ea typeface="BIZ UDPゴシック" panose="020B0400000000000000" pitchFamily="50" charset="-128"/>
            </a:endParaRPr>
          </a:p>
          <a:p>
            <a:pPr marL="0" lvl="1"/>
            <a:r>
              <a:rPr kumimoji="1" lang="ja-JP" altLang="en-US" sz="1400" dirty="0">
                <a:latin typeface="BIZ UDPゴシック" panose="020B0400000000000000" pitchFamily="50" charset="-128"/>
                <a:ea typeface="BIZ UDPゴシック" panose="020B0400000000000000" pitchFamily="50" charset="-128"/>
              </a:rPr>
              <a:t>特にアパレル産業においては、正確な生体データ、行動データ取得をコア技術として、他産業に対するサービスを展開</a:t>
            </a:r>
            <a:endParaRPr kumimoji="1" lang="en-US" altLang="ja-JP" sz="1400" dirty="0">
              <a:latin typeface="BIZ UDPゴシック" panose="020B0400000000000000" pitchFamily="50" charset="-128"/>
              <a:ea typeface="BIZ UDPゴシック" panose="020B0400000000000000" pitchFamily="50" charset="-128"/>
            </a:endParaRPr>
          </a:p>
          <a:p>
            <a:pPr marL="285750" lvl="1" indent="-285750">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保育園等での幼児の体調管理</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発熱やうつぶせ寝の検知</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、工場現場・工場における作業員の体調管理、リハビリ施設というでの歩行支援など</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6045BA72-FA39-D9E6-72E7-425E32BACFD5}"/>
              </a:ext>
            </a:extLst>
          </p:cNvPr>
          <p:cNvSpPr txBox="1"/>
          <p:nvPr/>
        </p:nvSpPr>
        <p:spPr>
          <a:xfrm>
            <a:off x="433123" y="3466197"/>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各産業毎にどのようなものがサービス化されているのか？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2C8224CA-D3B3-41F6-787A-159D495BB39F}"/>
              </a:ext>
            </a:extLst>
          </p:cNvPr>
          <p:cNvSpPr txBox="1"/>
          <p:nvPr/>
        </p:nvSpPr>
        <p:spPr>
          <a:xfrm>
            <a:off x="2990955" y="3466197"/>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産業を俯瞰してみるとおおよそ</a:t>
            </a:r>
            <a:r>
              <a:rPr kumimoji="1" lang="en-US" altLang="ja-JP" sz="1400" dirty="0">
                <a:latin typeface="BIZ UDPゴシック" panose="020B0400000000000000" pitchFamily="50" charset="-128"/>
                <a:ea typeface="BIZ UDPゴシック" panose="020B0400000000000000" pitchFamily="50" charset="-128"/>
              </a:rPr>
              <a:t>PHT</a:t>
            </a:r>
            <a:r>
              <a:rPr kumimoji="1" lang="ja-JP" altLang="en-US" sz="1400" dirty="0">
                <a:latin typeface="BIZ UDPゴシック" panose="020B0400000000000000" pitchFamily="50" charset="-128"/>
                <a:ea typeface="BIZ UDPゴシック" panose="020B0400000000000000" pitchFamily="50" charset="-128"/>
              </a:rPr>
              <a:t>データの活用パターンは以下の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つに大別</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体調・行動の精緻な可視化</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：アパレル、食品・サプリ、食事管理、睡眠、美容等</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①に基づくパーソナライズされた提案</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：食品・サプリ・小売り</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積極的な介入による行動変容</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：フィットネス、食事管理</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体調異常時の早期検出</a:t>
            </a:r>
            <a:r>
              <a:rPr kumimoji="1" lang="en-US" altLang="ja-JP" sz="1400" dirty="0">
                <a:latin typeface="BIZ UDPゴシック" panose="020B0400000000000000" pitchFamily="50" charset="-128"/>
                <a:ea typeface="BIZ UDPゴシック" panose="020B0400000000000000" pitchFamily="50" charset="-128"/>
              </a:rPr>
              <a:t>		</a:t>
            </a:r>
            <a:r>
              <a:rPr kumimoji="1" lang="ja-JP" altLang="en-US" sz="1400" dirty="0">
                <a:latin typeface="BIZ UDPゴシック" panose="020B0400000000000000" pitchFamily="50" charset="-128"/>
                <a:ea typeface="BIZ UDPゴシック" panose="020B0400000000000000" pitchFamily="50" charset="-128"/>
              </a:rPr>
              <a:t>：住宅、自動車、アパレル</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快適な空間づくり</a:t>
            </a:r>
            <a:r>
              <a:rPr lang="en-US" altLang="ja-JP" sz="1400" dirty="0">
                <a:latin typeface="BIZ UDPゴシック" panose="020B0400000000000000" pitchFamily="50" charset="-128"/>
                <a:ea typeface="BIZ UDPゴシック" panose="020B0400000000000000" pitchFamily="50" charset="-128"/>
              </a:rPr>
              <a:t>			</a:t>
            </a:r>
            <a:r>
              <a:rPr lang="ja-JP" altLang="en-US" sz="1400" dirty="0">
                <a:latin typeface="BIZ UDPゴシック" panose="020B0400000000000000" pitchFamily="50" charset="-128"/>
                <a:ea typeface="BIZ UDPゴシック" panose="020B0400000000000000" pitchFamily="50" charset="-128"/>
              </a:rPr>
              <a:t>：住宅、自動車</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D1F516C7-D304-B819-485C-B579B504CAF3}"/>
              </a:ext>
            </a:extLst>
          </p:cNvPr>
          <p:cNvSpPr txBox="1"/>
          <p:nvPr/>
        </p:nvSpPr>
        <p:spPr>
          <a:xfrm>
            <a:off x="433123" y="4861019"/>
            <a:ext cx="2052579" cy="646331"/>
          </a:xfrm>
          <a:prstGeom prst="rect">
            <a:avLst/>
          </a:prstGeom>
          <a:noFill/>
        </p:spPr>
        <p:txBody>
          <a:bodyPr wrap="square" lIns="0" tIns="0" rIns="0" bIns="0" rtlCol="0" anchor="t" anchorCtr="0">
            <a:spAutoFit/>
          </a:bodyPr>
          <a:lstStyle/>
          <a:p>
            <a:pPr marL="285750" indent="-285750" algn="l">
              <a:buFont typeface="Wingdings" panose="05000000000000000000" pitchFamily="2" charset="2"/>
              <a:buChar char="n"/>
            </a:pPr>
            <a:r>
              <a:rPr lang="ja-JP" altLang="en-US" sz="1400" dirty="0">
                <a:latin typeface="BIZ UDPゴシック" panose="020B0400000000000000" pitchFamily="50" charset="-128"/>
                <a:ea typeface="BIZ UDPゴシック" panose="020B0400000000000000" pitchFamily="50" charset="-128"/>
              </a:rPr>
              <a:t>今後どのように発展していく可能性が想定されているのか？</a:t>
            </a:r>
            <a:endParaRPr lang="en-US" altLang="ja-JP"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B45A133-39BB-9FC0-DE28-4B7F09A5A338}"/>
              </a:ext>
            </a:extLst>
          </p:cNvPr>
          <p:cNvSpPr txBox="1"/>
          <p:nvPr/>
        </p:nvSpPr>
        <p:spPr>
          <a:xfrm>
            <a:off x="2990955" y="4861019"/>
            <a:ext cx="8767922" cy="1292662"/>
          </a:xfrm>
          <a:prstGeom prst="rect">
            <a:avLst/>
          </a:prstGeom>
          <a:noFill/>
        </p:spPr>
        <p:txBody>
          <a:bodyPr wrap="square" lIns="0" tIns="0" rIns="0" bIns="0" rtlCol="0" anchor="t" anchorCtr="0">
            <a:spAutoFit/>
          </a:bodyPr>
          <a:lstStyle/>
          <a:p>
            <a:pPr marL="0" lvl="1"/>
            <a:r>
              <a:rPr kumimoji="1" lang="ja-JP" altLang="en-US" sz="1400" dirty="0">
                <a:latin typeface="BIZ UDPゴシック" panose="020B0400000000000000" pitchFamily="50" charset="-128"/>
                <a:ea typeface="BIZ UDPゴシック" panose="020B0400000000000000" pitchFamily="50" charset="-128"/>
              </a:rPr>
              <a:t>実証実験段階にあるサービスや先進事例を踏まえると、以下の</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つの方向性が考えられる</a:t>
            </a:r>
            <a:endParaRPr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取得・活用可能な生体データの拡張 </a:t>
            </a:r>
            <a:r>
              <a:rPr kumimoji="1" lang="en-US" altLang="ja-JP" sz="1400" dirty="0">
                <a:latin typeface="BIZ UDPゴシック" panose="020B0400000000000000" pitchFamily="50" charset="-128"/>
                <a:ea typeface="BIZ UDPゴシック" panose="020B0400000000000000" pitchFamily="50" charset="-128"/>
              </a:rPr>
              <a:t>(DNA</a:t>
            </a:r>
            <a:r>
              <a:rPr kumimoji="1" lang="ja-JP" altLang="en-US" sz="1400" dirty="0">
                <a:latin typeface="BIZ UDPゴシック" panose="020B0400000000000000" pitchFamily="50" charset="-128"/>
                <a:ea typeface="BIZ UDPゴシック" panose="020B0400000000000000" pitchFamily="50" charset="-128"/>
              </a:rPr>
              <a:t>、マイクロバイオーム</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複数データを掛け合わせたデータの付加価値の向上 </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医療機関データ</a:t>
            </a:r>
            <a:r>
              <a:rPr kumimoji="1"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より日常に密着したデータ取得チャネルの充実化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非接触センサー、</a:t>
            </a:r>
            <a:r>
              <a:rPr lang="en-US" altLang="ja-JP" sz="1400" dirty="0">
                <a:latin typeface="BIZ UDPゴシック" panose="020B0400000000000000" pitchFamily="50" charset="-128"/>
                <a:ea typeface="BIZ UDPゴシック" panose="020B0400000000000000" pitchFamily="50" charset="-128"/>
              </a:rPr>
              <a:t>IoT</a:t>
            </a:r>
            <a:r>
              <a:rPr lang="ja-JP" altLang="en-US" sz="1400" dirty="0">
                <a:latin typeface="BIZ UDPゴシック" panose="020B0400000000000000" pitchFamily="50" charset="-128"/>
                <a:ea typeface="BIZ UDPゴシック" panose="020B0400000000000000" pitchFamily="50" charset="-128"/>
              </a:rPr>
              <a:t>デバイス</a:t>
            </a:r>
            <a:r>
              <a:rPr lang="en-US" altLang="ja-JP" sz="1400" dirty="0">
                <a:latin typeface="BIZ UDPゴシック" panose="020B0400000000000000" pitchFamily="50" charset="-128"/>
                <a:ea typeface="BIZ UDPゴシック" panose="020B0400000000000000" pitchFamily="50" charset="-128"/>
              </a:rPr>
              <a:t>)</a:t>
            </a:r>
          </a:p>
          <a:p>
            <a:pPr marL="357188" lvl="1" indent="-357188">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日常に溶け込むシームレスな購買機械の提供</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モノに留まらない個人最適な体験の提供</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710265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CAF931-8EAB-2EB9-956A-CC4A76052569}"/>
              </a:ext>
            </a:extLst>
          </p:cNvPr>
          <p:cNvSpPr>
            <a:spLocks noGrp="1"/>
          </p:cNvSpPr>
          <p:nvPr>
            <p:ph type="title"/>
          </p:nvPr>
        </p:nvSpPr>
        <p:spPr/>
        <p:txBody>
          <a:bodyPr/>
          <a:lstStyle/>
          <a:p>
            <a:r>
              <a:rPr kumimoji="1" lang="ja-JP" altLang="en-US" dirty="0"/>
              <a:t>洋上風力産業の集積事例：需要の予見性、サプライチェーン国内化の推進、</a:t>
            </a:r>
            <a:br>
              <a:rPr lang="en-US" altLang="ja-JP" dirty="0"/>
            </a:br>
            <a:r>
              <a:rPr lang="ja-JP" altLang="en-US" dirty="0"/>
              <a:t>政府による資金支援が集積成功に寄与</a:t>
            </a:r>
            <a:endParaRPr kumimoji="1" lang="ja-JP" altLang="en-US" dirty="0"/>
          </a:p>
        </p:txBody>
      </p:sp>
      <p:sp>
        <p:nvSpPr>
          <p:cNvPr id="3" name="フッター プレースホルダー 2">
            <a:extLst>
              <a:ext uri="{FF2B5EF4-FFF2-40B4-BE49-F238E27FC236}">
                <a16:creationId xmlns:a16="http://schemas.microsoft.com/office/drawing/2014/main" id="{9A3A467F-1931-18D8-5871-E2F3A1F5870C}"/>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3D8DB98B-37EE-6A32-B07E-103483C9A321}"/>
              </a:ext>
            </a:extLst>
          </p:cNvPr>
          <p:cNvSpPr>
            <a:spLocks noGrp="1"/>
          </p:cNvSpPr>
          <p:nvPr>
            <p:ph type="sldNum" sz="quarter" idx="12"/>
          </p:nvPr>
        </p:nvSpPr>
        <p:spPr/>
        <p:txBody>
          <a:bodyPr/>
          <a:lstStyle/>
          <a:p>
            <a:fld id="{DCB5AA93-092B-49A1-87A7-3C88D5F38AD7}" type="slidenum">
              <a:rPr lang="ja-JP" altLang="en-US" smtClean="0"/>
              <a:pPr/>
              <a:t>15</a:t>
            </a:fld>
            <a:endParaRPr lang="ja-JP" altLang="en-US"/>
          </a:p>
        </p:txBody>
      </p:sp>
      <p:sp>
        <p:nvSpPr>
          <p:cNvPr id="5" name="テキスト プレースホルダー 4">
            <a:extLst>
              <a:ext uri="{FF2B5EF4-FFF2-40B4-BE49-F238E27FC236}">
                <a16:creationId xmlns:a16="http://schemas.microsoft.com/office/drawing/2014/main" id="{77F8365A-0FC9-8B3D-D183-93AAB1B8604E}"/>
              </a:ext>
            </a:extLst>
          </p:cNvPr>
          <p:cNvSpPr>
            <a:spLocks noGrp="1"/>
          </p:cNvSpPr>
          <p:nvPr>
            <p:ph type="body" sz="quarter" idx="13"/>
          </p:nvPr>
        </p:nvSpPr>
        <p:spPr>
          <a:xfrm>
            <a:off x="0" y="914401"/>
            <a:ext cx="12192000" cy="507074"/>
          </a:xfrm>
        </p:spPr>
        <p:txBody>
          <a:bodyPr/>
          <a:lstStyle/>
          <a:p>
            <a:r>
              <a:rPr kumimoji="1" lang="ja-JP" altLang="en-US" dirty="0"/>
              <a:t>イギリス ハルにおける洋上風力産業集積</a:t>
            </a:r>
            <a:endParaRPr kumimoji="1" lang="en-US" altLang="ja-JP" dirty="0"/>
          </a:p>
          <a:p>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6DBBFB00-9AA4-F0E3-8EBB-DED49151F13F}"/>
              </a:ext>
            </a:extLst>
          </p:cNvPr>
          <p:cNvSpPr txBox="1"/>
          <p:nvPr/>
        </p:nvSpPr>
        <p:spPr>
          <a:xfrm>
            <a:off x="133667" y="1822376"/>
            <a:ext cx="2784763" cy="2585323"/>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洋上風力に特化した産業振興地域に指定し、部品製造から発電所までサプライチェーンを構築</a:t>
            </a:r>
            <a:endParaRPr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2015</a:t>
            </a:r>
            <a:r>
              <a:rPr kumimoji="1" lang="ja-JP" altLang="en-US" sz="1400" dirty="0">
                <a:latin typeface="BIZ UDPゴシック" panose="020B0400000000000000" pitchFamily="50" charset="-128"/>
                <a:ea typeface="BIZ UDPゴシック" panose="020B0400000000000000" pitchFamily="50" charset="-128"/>
              </a:rPr>
              <a:t>年から洋上風力発電所が稼働開始</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関連産業の企業が相次いで立地</a:t>
            </a:r>
            <a:endParaRPr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kumimoji="1" lang="en-US" altLang="ja-JP" sz="1400" dirty="0">
                <a:latin typeface="BIZ UDPゴシック" panose="020B0400000000000000" pitchFamily="50" charset="-128"/>
                <a:ea typeface="BIZ UDPゴシック" panose="020B0400000000000000" pitchFamily="50" charset="-128"/>
              </a:rPr>
              <a:t>2016</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a:latin typeface="BIZ UDPゴシック" panose="020B0400000000000000" pitchFamily="50" charset="-128"/>
                <a:ea typeface="BIZ UDPゴシック" panose="020B0400000000000000" pitchFamily="50" charset="-128"/>
              </a:rPr>
              <a:t>Siemens </a:t>
            </a:r>
            <a:r>
              <a:rPr kumimoji="1" lang="en-US" altLang="ja-JP" sz="1400" dirty="0" err="1">
                <a:latin typeface="BIZ UDPゴシック" panose="020B0400000000000000" pitchFamily="50" charset="-128"/>
                <a:ea typeface="BIZ UDPゴシック" panose="020B0400000000000000" pitchFamily="50" charset="-128"/>
              </a:rPr>
              <a:t>Gamessa</a:t>
            </a:r>
            <a:r>
              <a:rPr kumimoji="1" lang="ja-JP" altLang="en-US" sz="1400" dirty="0">
                <a:latin typeface="BIZ UDPゴシック" panose="020B0400000000000000" pitchFamily="50" charset="-128"/>
                <a:ea typeface="BIZ UDPゴシック" panose="020B0400000000000000" pitchFamily="50" charset="-128"/>
              </a:rPr>
              <a:t>タービン工場</a:t>
            </a:r>
            <a:endParaRPr kumimoji="1"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lang="en-US" altLang="ja-JP" sz="1400" dirty="0">
                <a:latin typeface="BIZ UDPゴシック" panose="020B0400000000000000" pitchFamily="50" charset="-128"/>
                <a:ea typeface="BIZ UDPゴシック" panose="020B0400000000000000" pitchFamily="50" charset="-128"/>
              </a:rPr>
              <a:t>2021</a:t>
            </a:r>
            <a:r>
              <a:rPr lang="ja-JP" altLang="en-US" sz="1400" dirty="0">
                <a:latin typeface="BIZ UDPゴシック" panose="020B0400000000000000" pitchFamily="50" charset="-128"/>
                <a:ea typeface="BIZ UDPゴシック" panose="020B0400000000000000" pitchFamily="50" charset="-128"/>
              </a:rPr>
              <a:t>年：</a:t>
            </a:r>
            <a:r>
              <a:rPr lang="en-US" altLang="ja-JP" sz="1400" dirty="0">
                <a:latin typeface="BIZ UDPゴシック" panose="020B0400000000000000" pitchFamily="50" charset="-128"/>
                <a:ea typeface="BIZ UDPゴシック" panose="020B0400000000000000" pitchFamily="50" charset="-128"/>
              </a:rPr>
              <a:t>GRI Renewable Industries</a:t>
            </a:r>
            <a:r>
              <a:rPr lang="ja-JP" altLang="en-US" sz="1400" dirty="0">
                <a:latin typeface="BIZ UDPゴシック" panose="020B0400000000000000" pitchFamily="50" charset="-128"/>
                <a:ea typeface="BIZ UDPゴシック" panose="020B0400000000000000" pitchFamily="50" charset="-128"/>
              </a:rPr>
              <a:t>がタワー製造</a:t>
            </a:r>
            <a:endParaRPr lang="en-US" altLang="ja-JP" sz="1400" dirty="0">
              <a:latin typeface="BIZ UDPゴシック" panose="020B0400000000000000" pitchFamily="50" charset="-128"/>
              <a:ea typeface="BIZ UDPゴシック" panose="020B0400000000000000" pitchFamily="50" charset="-128"/>
            </a:endParaRPr>
          </a:p>
          <a:p>
            <a:pPr marL="468313" lvl="1" indent="-285750">
              <a:buFont typeface="メイリオ" panose="020B0604030504040204" pitchFamily="50" charset="-128"/>
              <a:buChar char="⁃"/>
            </a:pPr>
            <a:r>
              <a:rPr kumimoji="1" lang="en-US" altLang="ja-JP" sz="1400" dirty="0">
                <a:latin typeface="BIZ UDPゴシック" panose="020B0400000000000000" pitchFamily="50" charset="-128"/>
                <a:ea typeface="BIZ UDPゴシック" panose="020B0400000000000000" pitchFamily="50" charset="-128"/>
              </a:rPr>
              <a:t>2021</a:t>
            </a:r>
            <a:r>
              <a:rPr kumimoji="1" lang="ja-JP" altLang="en-US" sz="1400" dirty="0">
                <a:latin typeface="BIZ UDPゴシック" panose="020B0400000000000000" pitchFamily="50" charset="-128"/>
                <a:ea typeface="BIZ UDPゴシック" panose="020B0400000000000000" pitchFamily="50" charset="-128"/>
              </a:rPr>
              <a:t>年：</a:t>
            </a:r>
            <a:r>
              <a:rPr kumimoji="1" lang="en-US" altLang="ja-JP" sz="1400" dirty="0" err="1">
                <a:latin typeface="BIZ UDPゴシック" panose="020B0400000000000000" pitchFamily="50" charset="-128"/>
                <a:ea typeface="BIZ UDPゴシック" panose="020B0400000000000000" pitchFamily="50" charset="-128"/>
              </a:rPr>
              <a:t>SeAH</a:t>
            </a:r>
            <a:r>
              <a:rPr kumimoji="1" lang="en-US" altLang="ja-JP" sz="1400" dirty="0">
                <a:latin typeface="BIZ UDPゴシック" panose="020B0400000000000000" pitchFamily="50" charset="-128"/>
                <a:ea typeface="BIZ UDPゴシック" panose="020B0400000000000000" pitchFamily="50" charset="-128"/>
              </a:rPr>
              <a:t> Wind</a:t>
            </a:r>
            <a:r>
              <a:rPr kumimoji="1" lang="ja-JP" altLang="en-US" sz="1400" dirty="0">
                <a:latin typeface="BIZ UDPゴシック" panose="020B0400000000000000" pitchFamily="50" charset="-128"/>
                <a:ea typeface="BIZ UDPゴシック" panose="020B0400000000000000" pitchFamily="50" charset="-128"/>
              </a:rPr>
              <a:t>がモノパイル製造</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7461DA57-0DDD-E731-BEE4-5F28F33AA2E3}"/>
              </a:ext>
            </a:extLst>
          </p:cNvPr>
          <p:cNvCxnSpPr>
            <a:cxnSpLocks/>
            <a:endCxn id="28" idx="2"/>
          </p:cNvCxnSpPr>
          <p:nvPr/>
        </p:nvCxnSpPr>
        <p:spPr>
          <a:xfrm>
            <a:off x="133667" y="1732085"/>
            <a:ext cx="9185046"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0BCBF904-7783-B51C-F265-3D6423B2C359}"/>
              </a:ext>
            </a:extLst>
          </p:cNvPr>
          <p:cNvSpPr txBox="1"/>
          <p:nvPr/>
        </p:nvSpPr>
        <p:spPr>
          <a:xfrm>
            <a:off x="133668" y="1516641"/>
            <a:ext cx="897110"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事例概要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C3FE1E9A-B6FB-C3B6-CF40-98194FCD42F3}"/>
              </a:ext>
            </a:extLst>
          </p:cNvPr>
          <p:cNvSpPr txBox="1"/>
          <p:nvPr/>
        </p:nvSpPr>
        <p:spPr>
          <a:xfrm>
            <a:off x="2990954" y="1516641"/>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洋上風力産業集積のアプローチ</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A098CA6D-6623-7C9F-4714-FB95FD7467B5}"/>
              </a:ext>
            </a:extLst>
          </p:cNvPr>
          <p:cNvSpPr txBox="1"/>
          <p:nvPr/>
        </p:nvSpPr>
        <p:spPr>
          <a:xfrm>
            <a:off x="9743390" y="1493456"/>
            <a:ext cx="1406838"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成功要因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9C14BBE6-F8A5-28E4-1C0B-7426A0BA52DA}"/>
              </a:ext>
            </a:extLst>
          </p:cNvPr>
          <p:cNvSpPr txBox="1"/>
          <p:nvPr/>
        </p:nvSpPr>
        <p:spPr>
          <a:xfrm>
            <a:off x="3837830" y="1822376"/>
            <a:ext cx="5480883" cy="1723549"/>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ハル周辺</a:t>
            </a:r>
            <a:r>
              <a:rPr lang="en-US" altLang="ja-JP" sz="1400" dirty="0">
                <a:latin typeface="BIZ UDPゴシック" panose="020B0400000000000000" pitchFamily="50" charset="-128"/>
                <a:ea typeface="BIZ UDPゴシック" panose="020B0400000000000000" pitchFamily="50" charset="-128"/>
              </a:rPr>
              <a:t>375ha</a:t>
            </a:r>
            <a:r>
              <a:rPr lang="ja-JP" altLang="en-US" sz="1400" dirty="0">
                <a:latin typeface="BIZ UDPゴシック" panose="020B0400000000000000" pitchFamily="50" charset="-128"/>
                <a:ea typeface="BIZ UDPゴシック" panose="020B0400000000000000" pitchFamily="50" charset="-128"/>
              </a:rPr>
              <a:t>の地域を産業振興地域に指定。洋上風力関連の製造企業の拠点立地に向けたインセンティブを拡充</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北海からハンバー川を通じて</a:t>
            </a:r>
            <a:r>
              <a:rPr lang="en-US" altLang="ja-JP" sz="1400" dirty="0">
                <a:latin typeface="BIZ UDPゴシック" panose="020B0400000000000000" pitchFamily="50" charset="-128"/>
                <a:ea typeface="BIZ UDPゴシック" panose="020B0400000000000000" pitchFamily="50" charset="-128"/>
              </a:rPr>
              <a:t>40Km</a:t>
            </a:r>
            <a:r>
              <a:rPr lang="ja-JP" altLang="en-US" sz="1400" dirty="0">
                <a:latin typeface="BIZ UDPゴシック" panose="020B0400000000000000" pitchFamily="50" charset="-128"/>
                <a:ea typeface="BIZ UDPゴシック" panose="020B0400000000000000" pitchFamily="50" charset="-128"/>
              </a:rPr>
              <a:t>、深い推進や大規模な部品輸送・製造が可能な港湾が既存していたなど洋上風力の適地</a:t>
            </a:r>
            <a:endParaRPr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産業振興地域内に転移する企業に対し、固定資産税</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ビジネスレート</a:t>
            </a:r>
            <a:r>
              <a:rPr kumimoji="1" lang="en-US" altLang="ja-JP" sz="1400" dirty="0">
                <a:latin typeface="BIZ UDPゴシック" panose="020B0400000000000000" pitchFamily="50" charset="-128"/>
                <a:ea typeface="BIZ UDPゴシック" panose="020B0400000000000000" pitchFamily="50" charset="-128"/>
              </a:rPr>
              <a:t>)</a:t>
            </a:r>
            <a:r>
              <a:rPr kumimoji="1" lang="ja-JP" altLang="en-US" sz="1400" dirty="0">
                <a:latin typeface="BIZ UDPゴシック" panose="020B0400000000000000" pitchFamily="50" charset="-128"/>
                <a:ea typeface="BIZ UDPゴシック" panose="020B0400000000000000" pitchFamily="50" charset="-128"/>
              </a:rPr>
              <a:t>を</a:t>
            </a:r>
            <a:r>
              <a:rPr kumimoji="1" lang="en-US" altLang="ja-JP" sz="1400" dirty="0">
                <a:latin typeface="BIZ UDPゴシック" panose="020B0400000000000000" pitchFamily="50" charset="-128"/>
                <a:ea typeface="BIZ UDPゴシック" panose="020B0400000000000000" pitchFamily="50" charset="-128"/>
              </a:rPr>
              <a:t>5</a:t>
            </a:r>
            <a:r>
              <a:rPr kumimoji="1" lang="ja-JP" altLang="en-US" sz="1400" dirty="0">
                <a:latin typeface="BIZ UDPゴシック" panose="020B0400000000000000" pitchFamily="50" charset="-128"/>
                <a:ea typeface="BIZ UDPゴシック" panose="020B0400000000000000" pitchFamily="50" charset="-128"/>
              </a:rPr>
              <a:t>年間免税</a:t>
            </a:r>
            <a:endParaRPr kumimoji="1" lang="en-US" altLang="ja-JP" sz="1400" dirty="0">
              <a:latin typeface="BIZ UDPゴシック" panose="020B0400000000000000" pitchFamily="50" charset="-128"/>
              <a:ea typeface="BIZ UDPゴシック" panose="020B0400000000000000" pitchFamily="50" charset="-128"/>
            </a:endParaRPr>
          </a:p>
          <a:p>
            <a:pPr marL="357188" lvl="1" indent="-174625">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移転後の初年度は工場設備や機械への投資費用を課税対象額から</a:t>
            </a:r>
            <a:r>
              <a:rPr lang="en-US" altLang="ja-JP" sz="1400" dirty="0">
                <a:latin typeface="BIZ UDPゴシック" panose="020B0400000000000000" pitchFamily="50" charset="-128"/>
                <a:ea typeface="BIZ UDPゴシック" panose="020B0400000000000000" pitchFamily="50" charset="-128"/>
              </a:rPr>
              <a:t>100%</a:t>
            </a:r>
            <a:r>
              <a:rPr lang="ja-JP" altLang="en-US" sz="1400" dirty="0">
                <a:latin typeface="BIZ UDPゴシック" panose="020B0400000000000000" pitchFamily="50" charset="-128"/>
                <a:ea typeface="BIZ UDPゴシック" panose="020B0400000000000000" pitchFamily="50" charset="-128"/>
              </a:rPr>
              <a:t>控除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ADDE64F3-4E14-E411-70A0-B19045FE9EBB}"/>
              </a:ext>
            </a:extLst>
          </p:cNvPr>
          <p:cNvSpPr txBox="1"/>
          <p:nvPr/>
        </p:nvSpPr>
        <p:spPr>
          <a:xfrm>
            <a:off x="2990955" y="1822377"/>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2011</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8C92FD27-B1C6-A74E-536F-D624AAFA706E}"/>
              </a:ext>
            </a:extLst>
          </p:cNvPr>
          <p:cNvSpPr txBox="1"/>
          <p:nvPr/>
        </p:nvSpPr>
        <p:spPr>
          <a:xfrm>
            <a:off x="3837830" y="3752275"/>
            <a:ext cx="5480883" cy="646331"/>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en-US" altLang="ja-JP" sz="1400" dirty="0">
                <a:latin typeface="BIZ UDPゴシック" panose="020B0400000000000000" pitchFamily="50" charset="-128"/>
                <a:ea typeface="BIZ UDPゴシック" panose="020B0400000000000000" pitchFamily="50" charset="-128"/>
              </a:rPr>
              <a:t>300MW</a:t>
            </a:r>
            <a:r>
              <a:rPr kumimoji="1" lang="ja-JP" altLang="en-US" sz="1400" dirty="0">
                <a:latin typeface="BIZ UDPゴシック" panose="020B0400000000000000" pitchFamily="50" charset="-128"/>
                <a:ea typeface="BIZ UDPゴシック" panose="020B0400000000000000" pitchFamily="50" charset="-128"/>
              </a:rPr>
              <a:t>を超える洋上風力プロジェクトの開発に対し、サプライチェーン詳細の提出を義務化しその評価をもとに落札。</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年までに国内化</a:t>
            </a:r>
            <a:r>
              <a:rPr kumimoji="1" lang="en-US" altLang="ja-JP" sz="1400" dirty="0">
                <a:latin typeface="BIZ UDPゴシック" panose="020B0400000000000000" pitchFamily="50" charset="-128"/>
                <a:ea typeface="BIZ UDPゴシック" panose="020B0400000000000000" pitchFamily="50" charset="-128"/>
              </a:rPr>
              <a:t>60%</a:t>
            </a:r>
            <a:r>
              <a:rPr kumimoji="1" lang="ja-JP" altLang="en-US" sz="1400" dirty="0">
                <a:latin typeface="BIZ UDPゴシック" panose="020B0400000000000000" pitchFamily="50" charset="-128"/>
                <a:ea typeface="BIZ UDPゴシック" panose="020B0400000000000000" pitchFamily="50" charset="-128"/>
              </a:rPr>
              <a:t>を目指す</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D41F7C8-4116-AB96-4B36-B46324D6FA4F}"/>
              </a:ext>
            </a:extLst>
          </p:cNvPr>
          <p:cNvSpPr txBox="1"/>
          <p:nvPr/>
        </p:nvSpPr>
        <p:spPr>
          <a:xfrm>
            <a:off x="2990955" y="3752275"/>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2013</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BC453EA0-97F8-5713-E5B9-20253812538A}"/>
              </a:ext>
            </a:extLst>
          </p:cNvPr>
          <p:cNvSpPr txBox="1"/>
          <p:nvPr/>
        </p:nvSpPr>
        <p:spPr>
          <a:xfrm>
            <a:off x="3837830" y="4612938"/>
            <a:ext cx="5480883" cy="430887"/>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エネルギー法にて低炭素発電事業者向けに差額決済契約制度を導入。</a:t>
            </a:r>
            <a:r>
              <a:rPr lang="ja-JP" altLang="en-US" sz="1400" dirty="0">
                <a:latin typeface="BIZ UDPゴシック" panose="020B0400000000000000" pitchFamily="50" charset="-128"/>
                <a:ea typeface="BIZ UDPゴシック" panose="020B0400000000000000" pitchFamily="50" charset="-128"/>
              </a:rPr>
              <a:t>洋上風力発電事業者に長期的な収益の安定性を保証</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7CECE4D0-1D74-52C6-E914-B68594B70FF0}"/>
              </a:ext>
            </a:extLst>
          </p:cNvPr>
          <p:cNvSpPr txBox="1"/>
          <p:nvPr/>
        </p:nvSpPr>
        <p:spPr>
          <a:xfrm>
            <a:off x="2990955" y="4612938"/>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2014</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663FA940-29C0-FEF5-28C0-CEC0C1816798}"/>
              </a:ext>
            </a:extLst>
          </p:cNvPr>
          <p:cNvSpPr txBox="1"/>
          <p:nvPr/>
        </p:nvSpPr>
        <p:spPr>
          <a:xfrm>
            <a:off x="3837830" y="5274262"/>
            <a:ext cx="5480883" cy="1077218"/>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国のグリーン産業改革に向けた戦略</a:t>
            </a:r>
            <a:r>
              <a:rPr kumimoji="1" lang="en-US" altLang="ja-JP" sz="1400" dirty="0">
                <a:latin typeface="BIZ UDPゴシック" panose="020B0400000000000000" pitchFamily="50" charset="-128"/>
                <a:ea typeface="BIZ UDPゴシック" panose="020B0400000000000000" pitchFamily="50" charset="-128"/>
              </a:rPr>
              <a:t>10</a:t>
            </a:r>
            <a:r>
              <a:rPr kumimoji="1" lang="ja-JP" altLang="en-US" sz="1400" dirty="0">
                <a:latin typeface="BIZ UDPゴシック" panose="020B0400000000000000" pitchFamily="50" charset="-128"/>
                <a:ea typeface="BIZ UDPゴシック" panose="020B0400000000000000" pitchFamily="50" charset="-128"/>
              </a:rPr>
              <a:t>項目計画に洋上風力を組み込み、洋上風力の国内サプライチェーン構築に向けた支援を強化</a:t>
            </a:r>
            <a:endParaRPr kumimoji="1" lang="en-US" altLang="ja-JP" sz="1400" dirty="0">
              <a:latin typeface="BIZ UDPゴシック" panose="020B0400000000000000" pitchFamily="50" charset="-128"/>
              <a:ea typeface="BIZ UDPゴシック" panose="020B0400000000000000" pitchFamily="50" charset="-128"/>
            </a:endParaRPr>
          </a:p>
          <a:p>
            <a:pPr marL="358775" lvl="1" indent="-179388">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ハルを含む経済的に貧困な地域をターゲット</a:t>
            </a:r>
            <a:endParaRPr lang="en-US" altLang="ja-JP" sz="1400" dirty="0">
              <a:latin typeface="BIZ UDPゴシック" panose="020B0400000000000000" pitchFamily="50" charset="-128"/>
              <a:ea typeface="BIZ UDPゴシック" panose="020B0400000000000000" pitchFamily="50" charset="-128"/>
            </a:endParaRPr>
          </a:p>
          <a:p>
            <a:pPr marL="358775" lvl="1" indent="-179388">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国内の洋上風力産業を成長させ、</a:t>
            </a:r>
            <a:r>
              <a:rPr kumimoji="1" lang="en-US" altLang="ja-JP" sz="1400" dirty="0">
                <a:latin typeface="BIZ UDPゴシック" panose="020B0400000000000000" pitchFamily="50" charset="-128"/>
                <a:ea typeface="BIZ UDPゴシック" panose="020B0400000000000000" pitchFamily="50" charset="-128"/>
              </a:rPr>
              <a:t>2030</a:t>
            </a:r>
            <a:r>
              <a:rPr kumimoji="1" lang="ja-JP" altLang="en-US" sz="1400" dirty="0">
                <a:latin typeface="BIZ UDPゴシック" panose="020B0400000000000000" pitchFamily="50" charset="-128"/>
                <a:ea typeface="BIZ UDPゴシック" panose="020B0400000000000000" pitchFamily="50" charset="-128"/>
              </a:rPr>
              <a:t>年までに洋上風力で</a:t>
            </a:r>
            <a:r>
              <a:rPr kumimoji="1" lang="en-US" altLang="ja-JP" sz="1400" dirty="0">
                <a:latin typeface="BIZ UDPゴシック" panose="020B0400000000000000" pitchFamily="50" charset="-128"/>
                <a:ea typeface="BIZ UDPゴシック" panose="020B0400000000000000" pitchFamily="50" charset="-128"/>
              </a:rPr>
              <a:t>40GW</a:t>
            </a:r>
            <a:r>
              <a:rPr kumimoji="1" lang="ja-JP" altLang="en-US" sz="1400" dirty="0">
                <a:latin typeface="BIZ UDPゴシック" panose="020B0400000000000000" pitchFamily="50" charset="-128"/>
                <a:ea typeface="BIZ UDPゴシック" panose="020B0400000000000000" pitchFamily="50" charset="-128"/>
              </a:rPr>
              <a:t>を発電する狙い</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E8D266D4-96FD-266C-6305-19EEAE2D383C}"/>
              </a:ext>
            </a:extLst>
          </p:cNvPr>
          <p:cNvSpPr txBox="1"/>
          <p:nvPr/>
        </p:nvSpPr>
        <p:spPr>
          <a:xfrm>
            <a:off x="2990955" y="5274262"/>
            <a:ext cx="747480" cy="215444"/>
          </a:xfrm>
          <a:prstGeom prst="rect">
            <a:avLst/>
          </a:prstGeom>
          <a:noFill/>
        </p:spPr>
        <p:txBody>
          <a:bodyPr wrap="square" lIns="0" tIns="0" rIns="0" bIns="0" rtlCol="0" anchor="t" anchorCtr="0">
            <a:spAutoFit/>
          </a:bodyPr>
          <a:lstStyle/>
          <a:p>
            <a:pPr algn="l"/>
            <a:r>
              <a:rPr kumimoji="1" lang="en-US" altLang="ja-JP" sz="1400" dirty="0">
                <a:latin typeface="BIZ UDPゴシック" panose="020B0400000000000000" pitchFamily="50" charset="-128"/>
                <a:ea typeface="BIZ UDPゴシック" panose="020B0400000000000000" pitchFamily="50" charset="-128"/>
              </a:rPr>
              <a:t>2017</a:t>
            </a:r>
            <a:r>
              <a:rPr kumimoji="1" lang="ja-JP" altLang="en-US" sz="1400" dirty="0">
                <a:latin typeface="BIZ UDPゴシック" panose="020B0400000000000000" pitchFamily="50" charset="-128"/>
                <a:ea typeface="BIZ UDPゴシック" panose="020B0400000000000000" pitchFamily="50" charset="-128"/>
              </a:rPr>
              <a:t>年</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31" name="グループ化 30">
            <a:extLst>
              <a:ext uri="{FF2B5EF4-FFF2-40B4-BE49-F238E27FC236}">
                <a16:creationId xmlns:a16="http://schemas.microsoft.com/office/drawing/2014/main" id="{732EABEC-08E4-EFD8-93DB-D0410ECE4996}"/>
              </a:ext>
            </a:extLst>
          </p:cNvPr>
          <p:cNvGrpSpPr/>
          <p:nvPr/>
        </p:nvGrpSpPr>
        <p:grpSpPr>
          <a:xfrm>
            <a:off x="9318713" y="1577029"/>
            <a:ext cx="325282" cy="310112"/>
            <a:chOff x="9855582" y="1257300"/>
            <a:chExt cx="325282" cy="310112"/>
          </a:xfrm>
        </p:grpSpPr>
        <p:sp>
          <p:nvSpPr>
            <p:cNvPr id="28" name="楕円 27">
              <a:extLst>
                <a:ext uri="{FF2B5EF4-FFF2-40B4-BE49-F238E27FC236}">
                  <a16:creationId xmlns:a16="http://schemas.microsoft.com/office/drawing/2014/main" id="{EFB85594-C3DC-743F-5DB4-A901AA3C5DE0}"/>
                </a:ext>
              </a:extLst>
            </p:cNvPr>
            <p:cNvSpPr/>
            <p:nvPr/>
          </p:nvSpPr>
          <p:spPr>
            <a:xfrm>
              <a:off x="9855582" y="125730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6D9EC9A-A103-7B51-C264-665A32846A86}"/>
                </a:ext>
              </a:extLst>
            </p:cNvPr>
            <p:cNvSpPr txBox="1"/>
            <p:nvPr/>
          </p:nvSpPr>
          <p:spPr>
            <a:xfrm>
              <a:off x="9946088" y="1322065"/>
              <a:ext cx="150682" cy="215444"/>
            </a:xfrm>
            <a:prstGeom prst="rect">
              <a:avLst/>
            </a:prstGeom>
            <a:noFill/>
          </p:spPr>
          <p:txBody>
            <a:bodyPr wrap="none" lIns="0" tIns="0" rIns="0" bIns="0" rtlCol="0" anchor="t" anchorCtr="0">
              <a:spAutoFit/>
            </a:bodyPr>
            <a:lstStyle/>
            <a:p>
              <a:pPr algn="l"/>
              <a:r>
                <a:rPr kumimoji="1" lang="en-US" altLang="ja-JP" sz="1400">
                  <a:solidFill>
                    <a:schemeClr val="bg1">
                      <a:lumMod val="50000"/>
                    </a:schemeClr>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endParaRPr>
            </a:p>
          </p:txBody>
        </p:sp>
      </p:grpSp>
      <p:cxnSp>
        <p:nvCxnSpPr>
          <p:cNvPr id="38" name="直線コネクタ 37">
            <a:extLst>
              <a:ext uri="{FF2B5EF4-FFF2-40B4-BE49-F238E27FC236}">
                <a16:creationId xmlns:a16="http://schemas.microsoft.com/office/drawing/2014/main" id="{0C41D08D-2E5A-093A-12C0-34DEA2C25A6C}"/>
              </a:ext>
            </a:extLst>
          </p:cNvPr>
          <p:cNvCxnSpPr>
            <a:cxnSpLocks/>
            <a:stCxn id="28" idx="6"/>
          </p:cNvCxnSpPr>
          <p:nvPr/>
        </p:nvCxnSpPr>
        <p:spPr>
          <a:xfrm flipV="1">
            <a:off x="9643995" y="1708900"/>
            <a:ext cx="2140021" cy="23185"/>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1" name="直線コネクタ 40">
            <a:extLst>
              <a:ext uri="{FF2B5EF4-FFF2-40B4-BE49-F238E27FC236}">
                <a16:creationId xmlns:a16="http://schemas.microsoft.com/office/drawing/2014/main" id="{8948BE0A-C956-EEE6-1807-8CBE0AC667FB}"/>
              </a:ext>
            </a:extLst>
          </p:cNvPr>
          <p:cNvCxnSpPr>
            <a:cxnSpLocks/>
            <a:endCxn id="29" idx="2"/>
          </p:cNvCxnSpPr>
          <p:nvPr/>
        </p:nvCxnSpPr>
        <p:spPr>
          <a:xfrm flipV="1">
            <a:off x="9481354" y="1857238"/>
            <a:ext cx="3206" cy="427216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7" name="テキスト ボックス 46">
            <a:extLst>
              <a:ext uri="{FF2B5EF4-FFF2-40B4-BE49-F238E27FC236}">
                <a16:creationId xmlns:a16="http://schemas.microsoft.com/office/drawing/2014/main" id="{B9093A9E-6D21-065C-CDA2-7793BD4B6E8E}"/>
              </a:ext>
            </a:extLst>
          </p:cNvPr>
          <p:cNvSpPr txBox="1"/>
          <p:nvPr/>
        </p:nvSpPr>
        <p:spPr>
          <a:xfrm>
            <a:off x="9743390" y="1822376"/>
            <a:ext cx="2282980" cy="1292662"/>
          </a:xfrm>
          <a:prstGeom prst="rect">
            <a:avLst/>
          </a:prstGeom>
          <a:noFill/>
        </p:spPr>
        <p:txBody>
          <a:bodyPr wrap="square" lIns="0" tIns="0" rIns="0" bIns="0" rtlCol="0" anchor="t" anchorCtr="0">
            <a:spAutoFit/>
          </a:bodyPr>
          <a:lstStyle/>
          <a:p>
            <a:pPr marL="182563" indent="-182563" algn="l">
              <a:buFont typeface="Arial" panose="020B0604020202020204" pitchFamily="34" charset="0"/>
              <a:buChar char="•"/>
            </a:pPr>
            <a:r>
              <a:rPr kumimoji="1" lang="ja-JP" altLang="en-US" sz="1400" dirty="0">
                <a:latin typeface="BIZ UDPゴシック" panose="020B0400000000000000" pitchFamily="50" charset="-128"/>
                <a:ea typeface="BIZ UDPゴシック" panose="020B0400000000000000" pitchFamily="50" charset="-128"/>
              </a:rPr>
              <a:t>当時新規産業であった洋上風力産業からの需要の予見性を高めた</a:t>
            </a:r>
            <a:endParaRPr kumimoji="1" lang="en-US" altLang="ja-JP" sz="1400" dirty="0">
              <a:latin typeface="BIZ UDPゴシック" panose="020B0400000000000000" pitchFamily="50" charset="-128"/>
              <a:ea typeface="BIZ UDPゴシック" panose="020B0400000000000000" pitchFamily="50" charset="-128"/>
            </a:endParaRPr>
          </a:p>
          <a:p>
            <a:pPr marL="182563" indent="-182563" algn="l">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戦略的な産業振興地域の指定による洋上風力ハブとしての優勢性の確立</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98504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8B053-D439-EAFA-1BD6-5E3BFAEE2C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ACF9EB6-A547-0A01-34BB-087544F5108A}"/>
              </a:ext>
            </a:extLst>
          </p:cNvPr>
          <p:cNvSpPr>
            <a:spLocks noGrp="1"/>
          </p:cNvSpPr>
          <p:nvPr>
            <p:ph type="title"/>
          </p:nvPr>
        </p:nvSpPr>
        <p:spPr/>
        <p:txBody>
          <a:bodyPr/>
          <a:lstStyle/>
          <a:p>
            <a:r>
              <a:rPr lang="ja-JP" altLang="en-US" dirty="0"/>
              <a:t>民間企業の産業集積・立地に関して、各産業別に異なる投資阻害要因が存在</a:t>
            </a:r>
            <a:br>
              <a:rPr lang="en-US" altLang="ja-JP" dirty="0"/>
            </a:br>
            <a:r>
              <a:rPr lang="ja-JP" altLang="en-US" dirty="0"/>
              <a:t>これらの解消に寄与しうる政府支援策を検討する必要がある</a:t>
            </a:r>
            <a:endParaRPr kumimoji="1" lang="ja-JP" altLang="en-US" dirty="0"/>
          </a:p>
        </p:txBody>
      </p:sp>
      <p:sp>
        <p:nvSpPr>
          <p:cNvPr id="3" name="フッター プレースホルダー 2">
            <a:extLst>
              <a:ext uri="{FF2B5EF4-FFF2-40B4-BE49-F238E27FC236}">
                <a16:creationId xmlns:a16="http://schemas.microsoft.com/office/drawing/2014/main" id="{86007E9D-7A98-C33F-5959-DEBCEA6EFEEE}"/>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F8340E42-BBFF-A404-F00B-85FA010DA1AF}"/>
              </a:ext>
            </a:extLst>
          </p:cNvPr>
          <p:cNvSpPr>
            <a:spLocks noGrp="1"/>
          </p:cNvSpPr>
          <p:nvPr>
            <p:ph type="sldNum" sz="quarter" idx="12"/>
          </p:nvPr>
        </p:nvSpPr>
        <p:spPr/>
        <p:txBody>
          <a:bodyPr/>
          <a:lstStyle/>
          <a:p>
            <a:fld id="{DCB5AA93-092B-49A1-87A7-3C88D5F38AD7}" type="slidenum">
              <a:rPr lang="ja-JP" altLang="en-US" smtClean="0"/>
              <a:pPr/>
              <a:t>16</a:t>
            </a:fld>
            <a:endParaRPr lang="ja-JP" altLang="en-US"/>
          </a:p>
        </p:txBody>
      </p:sp>
      <p:sp>
        <p:nvSpPr>
          <p:cNvPr id="5" name="テキスト プレースホルダー 4">
            <a:extLst>
              <a:ext uri="{FF2B5EF4-FFF2-40B4-BE49-F238E27FC236}">
                <a16:creationId xmlns:a16="http://schemas.microsoft.com/office/drawing/2014/main" id="{63103F70-A940-1B95-22E7-644D8530ACCE}"/>
              </a:ext>
            </a:extLst>
          </p:cNvPr>
          <p:cNvSpPr>
            <a:spLocks noGrp="1"/>
          </p:cNvSpPr>
          <p:nvPr>
            <p:ph type="body" sz="quarter" idx="13"/>
          </p:nvPr>
        </p:nvSpPr>
        <p:spPr>
          <a:xfrm>
            <a:off x="0" y="914401"/>
            <a:ext cx="12192000" cy="507074"/>
          </a:xfrm>
        </p:spPr>
        <p:txBody>
          <a:bodyPr/>
          <a:lstStyle/>
          <a:p>
            <a:r>
              <a:rPr kumimoji="1" lang="ja-JP" altLang="en-US" dirty="0"/>
              <a:t>産業集積・立地の投資判断に関わる投資阻害要因</a:t>
            </a:r>
            <a:endParaRPr lang="en-US" altLang="ja-JP" dirty="0"/>
          </a:p>
          <a:p>
            <a:endParaRPr kumimoji="1" lang="en-US" altLang="ja-JP" dirty="0"/>
          </a:p>
        </p:txBody>
      </p:sp>
      <p:sp>
        <p:nvSpPr>
          <p:cNvPr id="6" name="テキスト ボックス 5">
            <a:extLst>
              <a:ext uri="{FF2B5EF4-FFF2-40B4-BE49-F238E27FC236}">
                <a16:creationId xmlns:a16="http://schemas.microsoft.com/office/drawing/2014/main" id="{596952B2-3DB5-3389-960A-33E73BBF4757}"/>
              </a:ext>
            </a:extLst>
          </p:cNvPr>
          <p:cNvSpPr txBox="1"/>
          <p:nvPr/>
        </p:nvSpPr>
        <p:spPr>
          <a:xfrm>
            <a:off x="433123" y="1733852"/>
            <a:ext cx="2052579" cy="430887"/>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需要規模および予見性の低さ</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FFD99357-3331-5054-2C56-8EED863DD3C7}"/>
              </a:ext>
            </a:extLst>
          </p:cNvPr>
          <p:cNvCxnSpPr>
            <a:cxnSpLocks/>
          </p:cNvCxnSpPr>
          <p:nvPr/>
        </p:nvCxnSpPr>
        <p:spPr>
          <a:xfrm>
            <a:off x="407987" y="1617789"/>
            <a:ext cx="11376026" cy="10986"/>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B083580F-1D83-1B15-45A5-C5CC9AA3B7F7}"/>
              </a:ext>
            </a:extLst>
          </p:cNvPr>
          <p:cNvSpPr txBox="1"/>
          <p:nvPr/>
        </p:nvSpPr>
        <p:spPr>
          <a:xfrm>
            <a:off x="433123" y="1361426"/>
            <a:ext cx="1345997"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投資阻害要因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E7EBE687-55DB-C636-8CEB-30DB25EC4EAF}"/>
              </a:ext>
            </a:extLst>
          </p:cNvPr>
          <p:cNvSpPr txBox="1"/>
          <p:nvPr/>
        </p:nvSpPr>
        <p:spPr>
          <a:xfrm>
            <a:off x="2990954" y="1361426"/>
            <a:ext cx="287554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詳細・エキスパートコメント</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28BBE400-0C96-53FD-5FC4-E8189E8691A0}"/>
              </a:ext>
            </a:extLst>
          </p:cNvPr>
          <p:cNvSpPr txBox="1"/>
          <p:nvPr/>
        </p:nvSpPr>
        <p:spPr>
          <a:xfrm>
            <a:off x="8833905" y="913809"/>
            <a:ext cx="1406838"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該当する産業</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64112AC9-B66D-9D34-2773-12E6F49C6D12}"/>
              </a:ext>
            </a:extLst>
          </p:cNvPr>
          <p:cNvSpPr txBox="1"/>
          <p:nvPr/>
        </p:nvSpPr>
        <p:spPr>
          <a:xfrm>
            <a:off x="2990955" y="1733852"/>
            <a:ext cx="5404900" cy="1077218"/>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kumimoji="1" lang="ja-JP" altLang="en-US" sz="1400" dirty="0">
                <a:latin typeface="BIZ UDPゴシック" panose="020B0400000000000000" pitchFamily="50" charset="-128"/>
                <a:ea typeface="BIZ UDPゴシック" panose="020B0400000000000000" pitchFamily="50" charset="-128"/>
              </a:rPr>
              <a:t>立地先に十分な需要が存在するか不透明</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投資判断において需要の予見性が非常に重要。日本で今後成長がよそくされる浮体式についての明確目標コメントがない</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洋上風力エキスパート</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38" name="直線コネクタ 37">
            <a:extLst>
              <a:ext uri="{FF2B5EF4-FFF2-40B4-BE49-F238E27FC236}">
                <a16:creationId xmlns:a16="http://schemas.microsoft.com/office/drawing/2014/main" id="{D47FC075-1B05-D504-047C-D422626D7015}"/>
              </a:ext>
            </a:extLst>
          </p:cNvPr>
          <p:cNvCxnSpPr>
            <a:cxnSpLocks/>
          </p:cNvCxnSpPr>
          <p:nvPr/>
        </p:nvCxnSpPr>
        <p:spPr>
          <a:xfrm flipV="1">
            <a:off x="8703425" y="1179659"/>
            <a:ext cx="3080588" cy="11502"/>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nvGrpSpPr>
          <p:cNvPr id="9" name="グループ化 8">
            <a:extLst>
              <a:ext uri="{FF2B5EF4-FFF2-40B4-BE49-F238E27FC236}">
                <a16:creationId xmlns:a16="http://schemas.microsoft.com/office/drawing/2014/main" id="{AD789CEA-1ADF-D460-DE4B-995120FB9F6F}"/>
              </a:ext>
            </a:extLst>
          </p:cNvPr>
          <p:cNvGrpSpPr/>
          <p:nvPr/>
        </p:nvGrpSpPr>
        <p:grpSpPr>
          <a:xfrm>
            <a:off x="8977794" y="1772739"/>
            <a:ext cx="325282" cy="310112"/>
            <a:chOff x="9318713" y="1577029"/>
            <a:chExt cx="325282" cy="310112"/>
          </a:xfrm>
        </p:grpSpPr>
        <p:sp>
          <p:nvSpPr>
            <p:cNvPr id="10" name="楕円 9">
              <a:extLst>
                <a:ext uri="{FF2B5EF4-FFF2-40B4-BE49-F238E27FC236}">
                  <a16:creationId xmlns:a16="http://schemas.microsoft.com/office/drawing/2014/main" id="{DFCE6A9F-E839-E976-54F8-E144FCAEAD22}"/>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930D6112-695F-E008-82E1-1B861EBC0B48}"/>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17" name="テキスト ボックス 16">
            <a:extLst>
              <a:ext uri="{FF2B5EF4-FFF2-40B4-BE49-F238E27FC236}">
                <a16:creationId xmlns:a16="http://schemas.microsoft.com/office/drawing/2014/main" id="{DBF6E212-3C7F-795F-701B-B94BCD6A4697}"/>
              </a:ext>
            </a:extLst>
          </p:cNvPr>
          <p:cNvSpPr txBox="1"/>
          <p:nvPr/>
        </p:nvSpPr>
        <p:spPr>
          <a:xfrm>
            <a:off x="8833905"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洋上風力</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8C1E13FF-6F1B-1C55-A262-8AFA51E5BB97}"/>
              </a:ext>
            </a:extLst>
          </p:cNvPr>
          <p:cNvSpPr txBox="1"/>
          <p:nvPr/>
        </p:nvSpPr>
        <p:spPr>
          <a:xfrm>
            <a:off x="9648857"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半導体</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FCFA71BB-DBA0-CFBF-FDA5-06A2ECE22D8D}"/>
              </a:ext>
            </a:extLst>
          </p:cNvPr>
          <p:cNvSpPr txBox="1"/>
          <p:nvPr/>
        </p:nvSpPr>
        <p:spPr>
          <a:xfrm>
            <a:off x="10308959" y="1363785"/>
            <a:ext cx="814952"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蓄電池</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5188E6FC-3C4E-01C7-A3AF-CE46A0C943C7}"/>
              </a:ext>
            </a:extLst>
          </p:cNvPr>
          <p:cNvSpPr txBox="1"/>
          <p:nvPr/>
        </p:nvSpPr>
        <p:spPr>
          <a:xfrm>
            <a:off x="10969061" y="1191175"/>
            <a:ext cx="814952" cy="430887"/>
          </a:xfrm>
          <a:prstGeom prst="rect">
            <a:avLst/>
          </a:prstGeom>
          <a:noFill/>
        </p:spPr>
        <p:txBody>
          <a:bodyPr wrap="square" lIns="0" tIns="0" rIns="0" bIns="0" rtlCol="0" anchor="t" anchorCtr="0">
            <a:spAutoFit/>
          </a:bodyPr>
          <a:lstStyle/>
          <a:p>
            <a:pPr algn="l"/>
            <a:r>
              <a:rPr kumimoji="1" lang="ja-JP" altLang="en-US" sz="1400" b="1" dirty="0">
                <a:latin typeface="メイリオ" panose="020B0604030504040204" pitchFamily="50" charset="-128"/>
                <a:ea typeface="メイリオ" panose="020B0604030504040204" pitchFamily="50" charset="-128"/>
              </a:rPr>
              <a:t>ペロブ</a:t>
            </a:r>
            <a:endParaRPr kumimoji="1" lang="en-US" altLang="ja-JP" sz="1400" b="1" dirty="0">
              <a:latin typeface="メイリオ" panose="020B0604030504040204" pitchFamily="50" charset="-128"/>
              <a:ea typeface="メイリオ" panose="020B0604030504040204" pitchFamily="50" charset="-128"/>
            </a:endParaRPr>
          </a:p>
          <a:p>
            <a:pPr algn="l"/>
            <a:r>
              <a:rPr kumimoji="1" lang="ja-JP" altLang="en-US" sz="1400" b="1" dirty="0">
                <a:latin typeface="メイリオ" panose="020B0604030504040204" pitchFamily="50" charset="-128"/>
                <a:ea typeface="メイリオ" panose="020B0604030504040204" pitchFamily="50" charset="-128"/>
              </a:rPr>
              <a:t>スカイト</a:t>
            </a:r>
            <a:endParaRPr kumimoji="1" lang="en-US" altLang="ja-JP" sz="1400" b="1" dirty="0">
              <a:latin typeface="メイリオ" panose="020B0604030504040204" pitchFamily="50" charset="-128"/>
              <a:ea typeface="メイリオ" panose="020B0604030504040204" pitchFamily="50" charset="-128"/>
            </a:endParaRPr>
          </a:p>
        </p:txBody>
      </p:sp>
      <p:grpSp>
        <p:nvGrpSpPr>
          <p:cNvPr id="32" name="グループ化 31">
            <a:extLst>
              <a:ext uri="{FF2B5EF4-FFF2-40B4-BE49-F238E27FC236}">
                <a16:creationId xmlns:a16="http://schemas.microsoft.com/office/drawing/2014/main" id="{8A2F4943-8F01-0834-6208-8BBB8338124C}"/>
              </a:ext>
            </a:extLst>
          </p:cNvPr>
          <p:cNvGrpSpPr/>
          <p:nvPr/>
        </p:nvGrpSpPr>
        <p:grpSpPr>
          <a:xfrm>
            <a:off x="10391153" y="1772739"/>
            <a:ext cx="325282" cy="310112"/>
            <a:chOff x="9318713" y="1577029"/>
            <a:chExt cx="325282" cy="310112"/>
          </a:xfrm>
        </p:grpSpPr>
        <p:sp>
          <p:nvSpPr>
            <p:cNvPr id="33" name="楕円 32">
              <a:extLst>
                <a:ext uri="{FF2B5EF4-FFF2-40B4-BE49-F238E27FC236}">
                  <a16:creationId xmlns:a16="http://schemas.microsoft.com/office/drawing/2014/main" id="{49C0B0BB-9245-F65F-E4B9-C6F48EF78AC7}"/>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75AD189E-F71D-06AB-3CA3-924758A32489}"/>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35" name="グループ化 34">
            <a:extLst>
              <a:ext uri="{FF2B5EF4-FFF2-40B4-BE49-F238E27FC236}">
                <a16:creationId xmlns:a16="http://schemas.microsoft.com/office/drawing/2014/main" id="{ED22D3BA-9915-98FD-0A76-263A7BE009FE}"/>
              </a:ext>
            </a:extLst>
          </p:cNvPr>
          <p:cNvGrpSpPr/>
          <p:nvPr/>
        </p:nvGrpSpPr>
        <p:grpSpPr>
          <a:xfrm>
            <a:off x="11123911" y="2500958"/>
            <a:ext cx="325282" cy="310112"/>
            <a:chOff x="9318713" y="1577029"/>
            <a:chExt cx="325282" cy="310112"/>
          </a:xfrm>
        </p:grpSpPr>
        <p:sp>
          <p:nvSpPr>
            <p:cNvPr id="36" name="楕円 35">
              <a:extLst>
                <a:ext uri="{FF2B5EF4-FFF2-40B4-BE49-F238E27FC236}">
                  <a16:creationId xmlns:a16="http://schemas.microsoft.com/office/drawing/2014/main" id="{E0F171AC-03A5-6A5C-6090-577D6427AF53}"/>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AB3664F7-EA0F-FD52-8138-D9060886B26B}"/>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39" name="テキスト ボックス 38">
            <a:extLst>
              <a:ext uri="{FF2B5EF4-FFF2-40B4-BE49-F238E27FC236}">
                <a16:creationId xmlns:a16="http://schemas.microsoft.com/office/drawing/2014/main" id="{2FC0DA63-037A-5116-A104-69EFEA3D3C07}"/>
              </a:ext>
            </a:extLst>
          </p:cNvPr>
          <p:cNvSpPr txBox="1"/>
          <p:nvPr/>
        </p:nvSpPr>
        <p:spPr>
          <a:xfrm>
            <a:off x="433122" y="3090660"/>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産業エコシステムの欠如</a:t>
            </a:r>
            <a:endParaRPr lang="en-US" altLang="ja-JP" sz="1400" dirty="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23D9190B-C205-1D01-88D2-E1213983FA00}"/>
              </a:ext>
            </a:extLst>
          </p:cNvPr>
          <p:cNvSpPr txBox="1"/>
          <p:nvPr/>
        </p:nvSpPr>
        <p:spPr>
          <a:xfrm>
            <a:off x="2990954" y="3090660"/>
            <a:ext cx="5404900" cy="1292662"/>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下流顧客の生産拠点近傍へ立地させる必要性</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リチウムイオンバッテリーは輸送中に物理的損傷が発生すると発火リスクがあるため、生産拠点を自動車</a:t>
            </a:r>
            <a:r>
              <a:rPr lang="en-US" altLang="ja-JP" sz="1400" dirty="0">
                <a:latin typeface="BIZ UDPゴシック" panose="020B0400000000000000" pitchFamily="50" charset="-128"/>
                <a:ea typeface="BIZ UDPゴシック" panose="020B0400000000000000" pitchFamily="50" charset="-128"/>
              </a:rPr>
              <a:t>OEM</a:t>
            </a:r>
            <a:r>
              <a:rPr lang="ja-JP" altLang="en-US" sz="1400" dirty="0">
                <a:latin typeface="BIZ UDPゴシック" panose="020B0400000000000000" pitchFamily="50" charset="-128"/>
                <a:ea typeface="BIZ UDPゴシック" panose="020B0400000000000000" pitchFamily="50" charset="-128"/>
              </a:rPr>
              <a:t>近傍に設置することが求められる</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kumimoji="1" lang="ja-JP" altLang="en-US" sz="1400" dirty="0">
                <a:latin typeface="BIZ UDPゴシック" panose="020B0400000000000000" pitchFamily="50" charset="-128"/>
                <a:ea typeface="BIZ UDPゴシック" panose="020B0400000000000000" pitchFamily="50" charset="-128"/>
              </a:rPr>
              <a:t>大手バッテリーメーカー社員</a:t>
            </a:r>
            <a:endParaRPr kumimoji="1" lang="en-US" altLang="ja-JP" sz="1400" dirty="0">
              <a:latin typeface="BIZ UDPゴシック" panose="020B0400000000000000" pitchFamily="50" charset="-128"/>
              <a:ea typeface="BIZ UDPゴシック" panose="020B0400000000000000" pitchFamily="50" charset="-128"/>
            </a:endParaRPr>
          </a:p>
          <a:p>
            <a:pPr marL="357188" lvl="1" indent="-357188">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市場黎明期のため、新規需要が見込めない可能性</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42" name="グループ化 41">
            <a:extLst>
              <a:ext uri="{FF2B5EF4-FFF2-40B4-BE49-F238E27FC236}">
                <a16:creationId xmlns:a16="http://schemas.microsoft.com/office/drawing/2014/main" id="{19E81478-34E4-7CC9-3652-CE3F133B0804}"/>
              </a:ext>
            </a:extLst>
          </p:cNvPr>
          <p:cNvGrpSpPr/>
          <p:nvPr/>
        </p:nvGrpSpPr>
        <p:grpSpPr>
          <a:xfrm>
            <a:off x="8977793" y="3129547"/>
            <a:ext cx="325282" cy="310112"/>
            <a:chOff x="9318713" y="1577029"/>
            <a:chExt cx="325282" cy="310112"/>
          </a:xfrm>
        </p:grpSpPr>
        <p:sp>
          <p:nvSpPr>
            <p:cNvPr id="43" name="楕円 42">
              <a:extLst>
                <a:ext uri="{FF2B5EF4-FFF2-40B4-BE49-F238E27FC236}">
                  <a16:creationId xmlns:a16="http://schemas.microsoft.com/office/drawing/2014/main" id="{D4476E77-94D3-1A20-D7EE-11F9B87F30CE}"/>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4" name="テキスト ボックス 43">
              <a:extLst>
                <a:ext uri="{FF2B5EF4-FFF2-40B4-BE49-F238E27FC236}">
                  <a16:creationId xmlns:a16="http://schemas.microsoft.com/office/drawing/2014/main" id="{C05EADDF-261E-8611-3AF5-45035819DC4D}"/>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45" name="グループ化 44">
            <a:extLst>
              <a:ext uri="{FF2B5EF4-FFF2-40B4-BE49-F238E27FC236}">
                <a16:creationId xmlns:a16="http://schemas.microsoft.com/office/drawing/2014/main" id="{B6EE1734-F40E-ABB1-DE80-3F2E62292ED1}"/>
              </a:ext>
            </a:extLst>
          </p:cNvPr>
          <p:cNvGrpSpPr/>
          <p:nvPr/>
        </p:nvGrpSpPr>
        <p:grpSpPr>
          <a:xfrm>
            <a:off x="10391152" y="3129547"/>
            <a:ext cx="325282" cy="310112"/>
            <a:chOff x="9318713" y="1577029"/>
            <a:chExt cx="325282" cy="310112"/>
          </a:xfrm>
        </p:grpSpPr>
        <p:sp>
          <p:nvSpPr>
            <p:cNvPr id="46" name="楕円 45">
              <a:extLst>
                <a:ext uri="{FF2B5EF4-FFF2-40B4-BE49-F238E27FC236}">
                  <a16:creationId xmlns:a16="http://schemas.microsoft.com/office/drawing/2014/main" id="{9F85DAAC-C03B-127A-DF40-C88BC6A9C260}"/>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F7406B3E-BA6E-7E79-57C5-1DEE7D76B7FA}"/>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grpSp>
        <p:nvGrpSpPr>
          <p:cNvPr id="49" name="グループ化 48">
            <a:extLst>
              <a:ext uri="{FF2B5EF4-FFF2-40B4-BE49-F238E27FC236}">
                <a16:creationId xmlns:a16="http://schemas.microsoft.com/office/drawing/2014/main" id="{EE79D0A5-44DA-1CA8-50E2-2042ED2F314E}"/>
              </a:ext>
            </a:extLst>
          </p:cNvPr>
          <p:cNvGrpSpPr/>
          <p:nvPr/>
        </p:nvGrpSpPr>
        <p:grpSpPr>
          <a:xfrm>
            <a:off x="11123910" y="3968750"/>
            <a:ext cx="325282" cy="310112"/>
            <a:chOff x="9318713" y="1577029"/>
            <a:chExt cx="325282" cy="310112"/>
          </a:xfrm>
        </p:grpSpPr>
        <p:sp>
          <p:nvSpPr>
            <p:cNvPr id="50" name="楕円 49">
              <a:extLst>
                <a:ext uri="{FF2B5EF4-FFF2-40B4-BE49-F238E27FC236}">
                  <a16:creationId xmlns:a16="http://schemas.microsoft.com/office/drawing/2014/main" id="{BEA67E02-57A8-E85A-DE32-215CAE864BC3}"/>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07046B07-82AE-5B07-D0B2-84A4457BF7FB}"/>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55" name="テキスト ボックス 54">
            <a:extLst>
              <a:ext uri="{FF2B5EF4-FFF2-40B4-BE49-F238E27FC236}">
                <a16:creationId xmlns:a16="http://schemas.microsoft.com/office/drawing/2014/main" id="{0F5F7153-8437-664F-20A5-88486A8DF976}"/>
              </a:ext>
            </a:extLst>
          </p:cNvPr>
          <p:cNvSpPr txBox="1"/>
          <p:nvPr/>
        </p:nvSpPr>
        <p:spPr>
          <a:xfrm>
            <a:off x="433122" y="4502288"/>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設備投資費用の高さ</a:t>
            </a:r>
            <a:endParaRPr lang="en-US" altLang="ja-JP" sz="1400" dirty="0">
              <a:latin typeface="BIZ UDPゴシック" panose="020B0400000000000000" pitchFamily="50" charset="-128"/>
              <a:ea typeface="BIZ UDPゴシック" panose="020B0400000000000000" pitchFamily="50" charset="-128"/>
            </a:endParaRPr>
          </a:p>
        </p:txBody>
      </p:sp>
      <p:sp>
        <p:nvSpPr>
          <p:cNvPr id="56" name="テキスト ボックス 55">
            <a:extLst>
              <a:ext uri="{FF2B5EF4-FFF2-40B4-BE49-F238E27FC236}">
                <a16:creationId xmlns:a16="http://schemas.microsoft.com/office/drawing/2014/main" id="{0E309618-D337-72A8-A925-F1C940D1A63E}"/>
              </a:ext>
            </a:extLst>
          </p:cNvPr>
          <p:cNvSpPr txBox="1"/>
          <p:nvPr/>
        </p:nvSpPr>
        <p:spPr>
          <a:xfrm>
            <a:off x="2990954" y="4502288"/>
            <a:ext cx="5404900" cy="1077218"/>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産業の性質上、大規模な設備投資が必要</a:t>
            </a:r>
            <a:endParaRPr lang="en-US" altLang="ja-JP" sz="1400" dirty="0">
              <a:latin typeface="BIZ UDPゴシック" panose="020B0400000000000000" pitchFamily="50" charset="-128"/>
              <a:ea typeface="BIZ UDPゴシック" panose="020B0400000000000000" pitchFamily="50" charset="-128"/>
            </a:endParaRPr>
          </a:p>
          <a:p>
            <a:pPr marL="357188" indent="-357188" algn="l">
              <a:buFont typeface="Wingdings" panose="05000000000000000000" pitchFamily="2" charset="2"/>
              <a:buChar char="p"/>
            </a:pPr>
            <a:r>
              <a:rPr lang="ja-JP" altLang="en-US" sz="1400" dirty="0">
                <a:latin typeface="BIZ UDPゴシック" panose="020B0400000000000000" pitchFamily="50" charset="-128"/>
                <a:ea typeface="BIZ UDPゴシック" panose="020B0400000000000000" pitchFamily="50" charset="-128"/>
              </a:rPr>
              <a:t>新規事業への転換に伴い、生産拠点の新設が必要</a:t>
            </a:r>
            <a:endParaRPr lang="en-US" altLang="ja-JP" sz="1400" dirty="0">
              <a:latin typeface="BIZ UDPゴシック" panose="020B0400000000000000" pitchFamily="50" charset="-128"/>
              <a:ea typeface="BIZ UDPゴシック" panose="020B0400000000000000" pitchFamily="50" charset="-128"/>
            </a:endParaRPr>
          </a:p>
          <a:p>
            <a:pPr marL="539750" lvl="1"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既存の軸受事業から電気ブレーキやバイオ分野は新たな設備に投資しなければならないため、</a:t>
            </a:r>
            <a:r>
              <a:rPr lang="en-US" altLang="ja-JP" sz="1400" dirty="0">
                <a:latin typeface="BIZ UDPゴシック" panose="020B0400000000000000" pitchFamily="50" charset="-128"/>
                <a:ea typeface="BIZ UDPゴシック" panose="020B0400000000000000" pitchFamily="50" charset="-128"/>
              </a:rPr>
              <a:t>CAPEX</a:t>
            </a:r>
            <a:r>
              <a:rPr lang="ja-JP" altLang="en-US" sz="1400" dirty="0">
                <a:latin typeface="BIZ UDPゴシック" panose="020B0400000000000000" pitchFamily="50" charset="-128"/>
                <a:ea typeface="BIZ UDPゴシック" panose="020B0400000000000000" pitchFamily="50" charset="-128"/>
              </a:rPr>
              <a:t>が増加する</a:t>
            </a:r>
            <a:endParaRPr lang="en-US" altLang="ja-JP" sz="1400" dirty="0">
              <a:latin typeface="BIZ UDPゴシック" panose="020B0400000000000000" pitchFamily="50" charset="-128"/>
              <a:ea typeface="BIZ UDPゴシック" panose="020B0400000000000000" pitchFamily="50" charset="-128"/>
            </a:endParaRPr>
          </a:p>
          <a:p>
            <a:pPr marL="714375" lvl="2" indent="-174625">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元自動車部品メーカー先進技術担当マネージャー</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57" name="グループ化 56">
            <a:extLst>
              <a:ext uri="{FF2B5EF4-FFF2-40B4-BE49-F238E27FC236}">
                <a16:creationId xmlns:a16="http://schemas.microsoft.com/office/drawing/2014/main" id="{5AFB5849-D801-7ACC-3960-87E4AA3D9CA5}"/>
              </a:ext>
            </a:extLst>
          </p:cNvPr>
          <p:cNvGrpSpPr/>
          <p:nvPr/>
        </p:nvGrpSpPr>
        <p:grpSpPr>
          <a:xfrm>
            <a:off x="9731051" y="4502288"/>
            <a:ext cx="325282" cy="310112"/>
            <a:chOff x="9318713" y="1577029"/>
            <a:chExt cx="325282" cy="310112"/>
          </a:xfrm>
        </p:grpSpPr>
        <p:sp>
          <p:nvSpPr>
            <p:cNvPr id="58" name="楕円 57">
              <a:extLst>
                <a:ext uri="{FF2B5EF4-FFF2-40B4-BE49-F238E27FC236}">
                  <a16:creationId xmlns:a16="http://schemas.microsoft.com/office/drawing/2014/main" id="{2D9F6FA5-E1E4-2DE6-1552-76A44EF04D1F}"/>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9" name="テキスト ボックス 58">
              <a:extLst>
                <a:ext uri="{FF2B5EF4-FFF2-40B4-BE49-F238E27FC236}">
                  <a16:creationId xmlns:a16="http://schemas.microsoft.com/office/drawing/2014/main" id="{A2A7C492-8440-37EA-D5DE-E061FF6CF374}"/>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
        <p:nvSpPr>
          <p:cNvPr id="66" name="テキスト ボックス 65">
            <a:extLst>
              <a:ext uri="{FF2B5EF4-FFF2-40B4-BE49-F238E27FC236}">
                <a16:creationId xmlns:a16="http://schemas.microsoft.com/office/drawing/2014/main" id="{A991C071-AA4E-C079-F3AE-28408FC8FC76}"/>
              </a:ext>
            </a:extLst>
          </p:cNvPr>
          <p:cNvSpPr txBox="1"/>
          <p:nvPr/>
        </p:nvSpPr>
        <p:spPr>
          <a:xfrm>
            <a:off x="433122" y="5667438"/>
            <a:ext cx="2052579"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優秀な人材の不足</a:t>
            </a:r>
            <a:endParaRPr lang="en-US" altLang="ja-JP" sz="1400" dirty="0">
              <a:latin typeface="BIZ UDPゴシック" panose="020B0400000000000000" pitchFamily="50" charset="-128"/>
              <a:ea typeface="BIZ UDPゴシック" panose="020B0400000000000000" pitchFamily="50" charset="-128"/>
            </a:endParaRPr>
          </a:p>
        </p:txBody>
      </p:sp>
      <p:sp>
        <p:nvSpPr>
          <p:cNvPr id="67" name="テキスト ボックス 66">
            <a:extLst>
              <a:ext uri="{FF2B5EF4-FFF2-40B4-BE49-F238E27FC236}">
                <a16:creationId xmlns:a16="http://schemas.microsoft.com/office/drawing/2014/main" id="{6AD50B97-9E5E-BE8F-D98D-75156450316F}"/>
              </a:ext>
            </a:extLst>
          </p:cNvPr>
          <p:cNvSpPr txBox="1"/>
          <p:nvPr/>
        </p:nvSpPr>
        <p:spPr>
          <a:xfrm>
            <a:off x="2990954" y="5667438"/>
            <a:ext cx="5404900" cy="646331"/>
          </a:xfrm>
          <a:prstGeom prst="rect">
            <a:avLst/>
          </a:prstGeom>
          <a:noFill/>
        </p:spPr>
        <p:txBody>
          <a:bodyPr wrap="square" lIns="0" tIns="0" rIns="0" bIns="0" rtlCol="0" anchor="t" anchorCtr="0">
            <a:spAutoFit/>
          </a:bodyPr>
          <a:lstStyle/>
          <a:p>
            <a:pPr marL="357188" indent="-357188" algn="l">
              <a:buFont typeface="Wingdings" panose="05000000000000000000" pitchFamily="2" charset="2"/>
              <a:buChar char="p"/>
            </a:pPr>
            <a:r>
              <a:rPr kumimoji="1" lang="ja-JP" altLang="en-US" sz="1400" dirty="0">
                <a:latin typeface="BIZ UDPゴシック" panose="020B0400000000000000" pitchFamily="50" charset="-128"/>
                <a:ea typeface="BIZ UDPゴシック" panose="020B0400000000000000" pitchFamily="50" charset="-128"/>
              </a:rPr>
              <a:t>新規立地先に製品製造を行える人材プールが必要</a:t>
            </a:r>
            <a:endParaRPr kumimoji="1" lang="en-US" altLang="ja-JP" sz="1400" dirty="0">
              <a:latin typeface="BIZ UDPゴシック" panose="020B0400000000000000" pitchFamily="50" charset="-128"/>
              <a:ea typeface="BIZ UDPゴシック" panose="020B0400000000000000" pitchFamily="50" charset="-128"/>
            </a:endParaRPr>
          </a:p>
          <a:p>
            <a:pPr marL="539750" lvl="1" indent="-182563">
              <a:buFont typeface="メイリオ" panose="020B0604030504040204" pitchFamily="50" charset="-128"/>
              <a:buChar char="⁃"/>
            </a:pPr>
            <a:r>
              <a:rPr lang="ja-JP" altLang="en-US" sz="1400" dirty="0">
                <a:latin typeface="BIZ UDPゴシック" panose="020B0400000000000000" pitchFamily="50" charset="-128"/>
                <a:ea typeface="BIZ UDPゴシック" panose="020B0400000000000000" pitchFamily="50" charset="-128"/>
              </a:rPr>
              <a:t>日本には洋上風力発電慮の設備建設・維持のできる人材が少ない。人材育成制度も途上の印象</a:t>
            </a:r>
            <a:endParaRPr kumimoji="1" lang="en-US" altLang="ja-JP" sz="1400" dirty="0">
              <a:latin typeface="BIZ UDPゴシック" panose="020B0400000000000000" pitchFamily="50" charset="-128"/>
              <a:ea typeface="BIZ UDPゴシック" panose="020B0400000000000000" pitchFamily="50" charset="-128"/>
            </a:endParaRPr>
          </a:p>
        </p:txBody>
      </p:sp>
      <p:grpSp>
        <p:nvGrpSpPr>
          <p:cNvPr id="68" name="グループ化 67">
            <a:extLst>
              <a:ext uri="{FF2B5EF4-FFF2-40B4-BE49-F238E27FC236}">
                <a16:creationId xmlns:a16="http://schemas.microsoft.com/office/drawing/2014/main" id="{A8EDFA80-BB80-FB4F-7C01-D96C278AE8E6}"/>
              </a:ext>
            </a:extLst>
          </p:cNvPr>
          <p:cNvGrpSpPr/>
          <p:nvPr/>
        </p:nvGrpSpPr>
        <p:grpSpPr>
          <a:xfrm>
            <a:off x="8973311" y="5787755"/>
            <a:ext cx="325282" cy="310112"/>
            <a:chOff x="9318713" y="1577029"/>
            <a:chExt cx="325282" cy="310112"/>
          </a:xfrm>
        </p:grpSpPr>
        <p:sp>
          <p:nvSpPr>
            <p:cNvPr id="69" name="楕円 68">
              <a:extLst>
                <a:ext uri="{FF2B5EF4-FFF2-40B4-BE49-F238E27FC236}">
                  <a16:creationId xmlns:a16="http://schemas.microsoft.com/office/drawing/2014/main" id="{24B1FEEF-E331-78D7-1858-C960D95BF347}"/>
                </a:ext>
              </a:extLst>
            </p:cNvPr>
            <p:cNvSpPr/>
            <p:nvPr/>
          </p:nvSpPr>
          <p:spPr>
            <a:xfrm>
              <a:off x="9318713" y="1577029"/>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0" name="テキスト ボックス 69">
              <a:extLst>
                <a:ext uri="{FF2B5EF4-FFF2-40B4-BE49-F238E27FC236}">
                  <a16:creationId xmlns:a16="http://schemas.microsoft.com/office/drawing/2014/main" id="{EB59B6D4-B532-138C-482D-6F3072C9E49D}"/>
                </a:ext>
              </a:extLst>
            </p:cNvPr>
            <p:cNvSpPr txBox="1"/>
            <p:nvPr/>
          </p:nvSpPr>
          <p:spPr>
            <a:xfrm>
              <a:off x="9409219" y="1641794"/>
              <a:ext cx="179536" cy="215444"/>
            </a:xfrm>
            <a:prstGeom prst="rect">
              <a:avLst/>
            </a:prstGeom>
            <a:noFill/>
          </p:spPr>
          <p:txBody>
            <a:bodyPr wrap="none" lIns="0" tIns="0" rIns="0" bIns="0" rtlCol="0" anchor="t" anchorCtr="0">
              <a:spAutoFit/>
            </a:bodyPr>
            <a:lstStyle/>
            <a:p>
              <a:pPr algn="l"/>
              <a:r>
                <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rPr>
                <a:t>✓</a:t>
              </a:r>
            </a:p>
          </p:txBody>
        </p:sp>
      </p:grpSp>
    </p:spTree>
    <p:extLst>
      <p:ext uri="{BB962C8B-B14F-4D97-AF65-F5344CB8AC3E}">
        <p14:creationId xmlns:p14="http://schemas.microsoft.com/office/powerpoint/2010/main" val="15156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547DC-0E9C-AC7E-F0CF-69DB716988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BAE9471-9B52-BB49-FA68-FEA99D2E17B0}"/>
              </a:ext>
            </a:extLst>
          </p:cNvPr>
          <p:cNvSpPr>
            <a:spLocks noGrp="1"/>
          </p:cNvSpPr>
          <p:nvPr>
            <p:ph type="title"/>
          </p:nvPr>
        </p:nvSpPr>
        <p:spPr/>
        <p:txBody>
          <a:bodyPr/>
          <a:lstStyle/>
          <a:p>
            <a:r>
              <a:rPr kumimoji="1" lang="ja-JP" altLang="en-US" dirty="0"/>
              <a:t>サプライチェーン構造</a:t>
            </a:r>
          </a:p>
        </p:txBody>
      </p:sp>
      <p:sp>
        <p:nvSpPr>
          <p:cNvPr id="3" name="フッター プレースホルダー 2">
            <a:extLst>
              <a:ext uri="{FF2B5EF4-FFF2-40B4-BE49-F238E27FC236}">
                <a16:creationId xmlns:a16="http://schemas.microsoft.com/office/drawing/2014/main" id="{8590E889-AC7E-D82F-2EC3-19DFF70E25E9}"/>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233E7A39-6C64-3EE8-867D-89659698E08B}"/>
              </a:ext>
            </a:extLst>
          </p:cNvPr>
          <p:cNvSpPr>
            <a:spLocks noGrp="1"/>
          </p:cNvSpPr>
          <p:nvPr>
            <p:ph type="sldNum" sz="quarter" idx="12"/>
          </p:nvPr>
        </p:nvSpPr>
        <p:spPr/>
        <p:txBody>
          <a:bodyPr/>
          <a:lstStyle/>
          <a:p>
            <a:fld id="{DCB5AA93-092B-49A1-87A7-3C88D5F38AD7}" type="slidenum">
              <a:rPr lang="ja-JP" altLang="en-US" smtClean="0"/>
              <a:pPr/>
              <a:t>17</a:t>
            </a:fld>
            <a:endParaRPr lang="ja-JP" altLang="en-US"/>
          </a:p>
        </p:txBody>
      </p:sp>
      <p:sp>
        <p:nvSpPr>
          <p:cNvPr id="5" name="テキスト プレースホルダー 4">
            <a:extLst>
              <a:ext uri="{FF2B5EF4-FFF2-40B4-BE49-F238E27FC236}">
                <a16:creationId xmlns:a16="http://schemas.microsoft.com/office/drawing/2014/main" id="{DFC88B65-F49B-4987-170C-FAABD0FA4FAE}"/>
              </a:ext>
            </a:extLst>
          </p:cNvPr>
          <p:cNvSpPr>
            <a:spLocks noGrp="1"/>
          </p:cNvSpPr>
          <p:nvPr>
            <p:ph type="body" sz="quarter" idx="13"/>
          </p:nvPr>
        </p:nvSpPr>
        <p:spPr/>
        <p:txBody>
          <a:bodyPr/>
          <a:lstStyle/>
          <a:p>
            <a:r>
              <a:rPr kumimoji="1" lang="ja-JP" altLang="en-US" dirty="0"/>
              <a:t>コンポーネントによって異なるケースもある</a:t>
            </a:r>
          </a:p>
        </p:txBody>
      </p:sp>
      <p:sp>
        <p:nvSpPr>
          <p:cNvPr id="7" name="テキスト ボックス 6">
            <a:extLst>
              <a:ext uri="{FF2B5EF4-FFF2-40B4-BE49-F238E27FC236}">
                <a16:creationId xmlns:a16="http://schemas.microsoft.com/office/drawing/2014/main" id="{4EEDD2A4-D8AF-6E3B-8D02-719BBB15596D}"/>
              </a:ext>
            </a:extLst>
          </p:cNvPr>
          <p:cNvSpPr txBox="1"/>
          <p:nvPr/>
        </p:nvSpPr>
        <p:spPr>
          <a:xfrm>
            <a:off x="568855" y="1721167"/>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最終消費地</a:t>
            </a:r>
          </a:p>
        </p:txBody>
      </p:sp>
      <p:sp>
        <p:nvSpPr>
          <p:cNvPr id="9" name="テキスト ボックス 8">
            <a:extLst>
              <a:ext uri="{FF2B5EF4-FFF2-40B4-BE49-F238E27FC236}">
                <a16:creationId xmlns:a16="http://schemas.microsoft.com/office/drawing/2014/main" id="{64E6F490-5212-E281-9295-6184F0521543}"/>
              </a:ext>
            </a:extLst>
          </p:cNvPr>
          <p:cNvSpPr txBox="1"/>
          <p:nvPr/>
        </p:nvSpPr>
        <p:spPr>
          <a:xfrm>
            <a:off x="5748929" y="1728937"/>
            <a:ext cx="1574806" cy="215444"/>
          </a:xfrm>
          <a:prstGeom prst="rect">
            <a:avLst/>
          </a:prstGeom>
          <a:noFill/>
        </p:spPr>
        <p:txBody>
          <a:bodyPr wrap="squar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モデル区分</a:t>
            </a:r>
          </a:p>
        </p:txBody>
      </p:sp>
      <p:sp>
        <p:nvSpPr>
          <p:cNvPr id="10" name="正方形/長方形 9">
            <a:extLst>
              <a:ext uri="{FF2B5EF4-FFF2-40B4-BE49-F238E27FC236}">
                <a16:creationId xmlns:a16="http://schemas.microsoft.com/office/drawing/2014/main" id="{585545C7-33F2-E49E-7945-1A1A0C85E49A}"/>
              </a:ext>
            </a:extLst>
          </p:cNvPr>
          <p:cNvSpPr/>
          <p:nvPr/>
        </p:nvSpPr>
        <p:spPr>
          <a:xfrm>
            <a:off x="470043" y="2194188"/>
            <a:ext cx="1299491" cy="4100670"/>
          </a:xfrm>
          <a:prstGeom prst="rect">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bg1"/>
                </a:solidFill>
                <a:latin typeface="BIZ UDPゴシック" panose="020B0400000000000000" pitchFamily="50" charset="-128"/>
                <a:ea typeface="BIZ UDPゴシック" panose="020B0400000000000000" pitchFamily="50" charset="-128"/>
              </a:rPr>
              <a:t>A</a:t>
            </a:r>
            <a:r>
              <a:rPr lang="ja-JP" altLang="en-US" sz="1400" dirty="0">
                <a:solidFill>
                  <a:schemeClr val="bg1"/>
                </a:solidFill>
                <a:latin typeface="BIZ UDPゴシック" panose="020B0400000000000000" pitchFamily="50" charset="-128"/>
                <a:ea typeface="BIZ UDPゴシック" panose="020B0400000000000000" pitchFamily="50" charset="-128"/>
              </a:rPr>
              <a:t>国</a:t>
            </a:r>
          </a:p>
        </p:txBody>
      </p:sp>
      <p:sp>
        <p:nvSpPr>
          <p:cNvPr id="13" name="テキスト ボックス 12">
            <a:extLst>
              <a:ext uri="{FF2B5EF4-FFF2-40B4-BE49-F238E27FC236}">
                <a16:creationId xmlns:a16="http://schemas.microsoft.com/office/drawing/2014/main" id="{F326A63F-0C4C-895B-9820-CC7929C5A019}"/>
              </a:ext>
            </a:extLst>
          </p:cNvPr>
          <p:cNvSpPr txBox="1"/>
          <p:nvPr/>
        </p:nvSpPr>
        <p:spPr>
          <a:xfrm>
            <a:off x="5748929" y="2194523"/>
            <a:ext cx="5381813" cy="430887"/>
          </a:xfrm>
          <a:prstGeom prst="rect">
            <a:avLst/>
          </a:prstGeom>
          <a:noFill/>
        </p:spPr>
        <p:txBody>
          <a:bodyPr wrap="square" lIns="0" tIns="0" rIns="0" bIns="0" rtlCol="0">
            <a:spAutoFit/>
          </a:bodyPr>
          <a:lstStyle/>
          <a:p>
            <a:pPr marL="342900" indent="-342900">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地産地消モデル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調達・生産・消費が、域内で完結するモデル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自動車車両など</a:t>
            </a:r>
            <a:r>
              <a:rPr lang="en-US" altLang="ja-JP" sz="1400" dirty="0">
                <a:latin typeface="BIZ UDPゴシック" panose="020B0400000000000000" pitchFamily="50" charset="-128"/>
                <a:ea typeface="BIZ UDPゴシック" panose="020B0400000000000000" pitchFamily="50" charset="-128"/>
              </a:rPr>
              <a:t>)</a:t>
            </a:r>
          </a:p>
        </p:txBody>
      </p:sp>
      <p:cxnSp>
        <p:nvCxnSpPr>
          <p:cNvPr id="15" name="直線コネクタ 14">
            <a:extLst>
              <a:ext uri="{FF2B5EF4-FFF2-40B4-BE49-F238E27FC236}">
                <a16:creationId xmlns:a16="http://schemas.microsoft.com/office/drawing/2014/main" id="{FF9108E5-C8B4-8E55-7D6A-C595DDD32AA6}"/>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E3B92303-5F66-4EB0-B973-46586757E13B}"/>
              </a:ext>
              <a:ext uri="{C183D7F6-B498-43B3-948B-1728B52AA6E4}">
                <adec:decorative xmlns:adec="http://schemas.microsoft.com/office/drawing/2017/decorative" val="1"/>
              </a:ext>
            </a:extLst>
          </p:cNvPr>
          <p:cNvCxnSpPr>
            <a:cxnSpLocks/>
          </p:cNvCxnSpPr>
          <p:nvPr/>
        </p:nvCxnSpPr>
        <p:spPr>
          <a:xfrm>
            <a:off x="5748929" y="1998107"/>
            <a:ext cx="538181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4" name="テキスト ボックス 23">
            <a:extLst>
              <a:ext uri="{FF2B5EF4-FFF2-40B4-BE49-F238E27FC236}">
                <a16:creationId xmlns:a16="http://schemas.microsoft.com/office/drawing/2014/main" id="{8E332222-E3DE-D544-695D-4C5AFC4EF025}"/>
              </a:ext>
            </a:extLst>
          </p:cNvPr>
          <p:cNvSpPr txBox="1"/>
          <p:nvPr/>
        </p:nvSpPr>
        <p:spPr>
          <a:xfrm>
            <a:off x="5748929" y="3279184"/>
            <a:ext cx="5381813" cy="430887"/>
          </a:xfrm>
          <a:prstGeom prst="rect">
            <a:avLst/>
          </a:prstGeom>
          <a:noFill/>
        </p:spPr>
        <p:txBody>
          <a:bodyPr wrap="square" lIns="0" tIns="0" rIns="0" bIns="0" rtlCol="0">
            <a:spAutoFit/>
          </a:bodyPr>
          <a:lstStyle/>
          <a:p>
            <a:pPr marL="342900" indent="-342900">
              <a:buFont typeface="+mj-ea"/>
              <a:buAutoNum type="circleNumDbPlain" startAt="2"/>
            </a:pPr>
            <a:r>
              <a:rPr lang="ja-JP" altLang="en-US" sz="1400" dirty="0">
                <a:latin typeface="BIZ UDPゴシック" panose="020B0400000000000000" pitchFamily="50" charset="-128"/>
                <a:ea typeface="BIZ UDPゴシック" panose="020B0400000000000000" pitchFamily="50" charset="-128"/>
              </a:rPr>
              <a:t>消費地生産モデル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生産をエンドマーケットに寄せているモデル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建設機械など</a:t>
            </a:r>
            <a:r>
              <a:rPr lang="en-US" altLang="ja-JP" sz="1400" dirty="0">
                <a:latin typeface="BIZ UDPゴシック" panose="020B0400000000000000" pitchFamily="50" charset="-128"/>
                <a:ea typeface="BIZ UDPゴシック" panose="020B0400000000000000" pitchFamily="50" charset="-128"/>
              </a:rPr>
              <a:t>)</a:t>
            </a:r>
          </a:p>
        </p:txBody>
      </p:sp>
      <p:sp>
        <p:nvSpPr>
          <p:cNvPr id="30" name="テキスト ボックス 29">
            <a:extLst>
              <a:ext uri="{FF2B5EF4-FFF2-40B4-BE49-F238E27FC236}">
                <a16:creationId xmlns:a16="http://schemas.microsoft.com/office/drawing/2014/main" id="{DFD4B803-A293-2F56-389A-1AD951B367D4}"/>
              </a:ext>
            </a:extLst>
          </p:cNvPr>
          <p:cNvSpPr txBox="1"/>
          <p:nvPr/>
        </p:nvSpPr>
        <p:spPr>
          <a:xfrm>
            <a:off x="5748929" y="4636362"/>
            <a:ext cx="5381813" cy="430887"/>
          </a:xfrm>
          <a:prstGeom prst="rect">
            <a:avLst/>
          </a:prstGeom>
          <a:noFill/>
        </p:spPr>
        <p:txBody>
          <a:bodyPr wrap="square" lIns="0" tIns="0" rIns="0" bIns="0" rtlCol="0">
            <a:spAutoFit/>
          </a:bodyPr>
          <a:lstStyle/>
          <a:p>
            <a:pPr marL="342900" indent="-342900">
              <a:buFont typeface="+mj-ea"/>
              <a:buAutoNum type="circleNumDbPlain" startAt="3"/>
            </a:pPr>
            <a:r>
              <a:rPr lang="ja-JP" altLang="en-US" sz="1400" dirty="0">
                <a:latin typeface="BIZ UDPゴシック" panose="020B0400000000000000" pitchFamily="50" charset="-128"/>
                <a:ea typeface="BIZ UDPゴシック" panose="020B0400000000000000" pitchFamily="50" charset="-128"/>
              </a:rPr>
              <a:t>調達・生産集約モデル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調達と生産が同地域に集約化されたモデル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半導体など</a:t>
            </a:r>
            <a:r>
              <a:rPr lang="en-US" altLang="ja-JP" sz="1400" dirty="0">
                <a:latin typeface="BIZ UDPゴシック" panose="020B0400000000000000" pitchFamily="50" charset="-128"/>
                <a:ea typeface="BIZ UDPゴシック" panose="020B0400000000000000" pitchFamily="50" charset="-128"/>
              </a:rPr>
              <a:t>)</a:t>
            </a:r>
          </a:p>
        </p:txBody>
      </p:sp>
      <p:sp>
        <p:nvSpPr>
          <p:cNvPr id="33" name="テキスト ボックス 32">
            <a:extLst>
              <a:ext uri="{FF2B5EF4-FFF2-40B4-BE49-F238E27FC236}">
                <a16:creationId xmlns:a16="http://schemas.microsoft.com/office/drawing/2014/main" id="{0986DC8A-31CB-F100-8E42-B581BF9DE279}"/>
              </a:ext>
            </a:extLst>
          </p:cNvPr>
          <p:cNvSpPr txBox="1"/>
          <p:nvPr/>
        </p:nvSpPr>
        <p:spPr>
          <a:xfrm>
            <a:off x="5748929" y="5892943"/>
            <a:ext cx="5381813" cy="430887"/>
          </a:xfrm>
          <a:prstGeom prst="rect">
            <a:avLst/>
          </a:prstGeom>
          <a:noFill/>
        </p:spPr>
        <p:txBody>
          <a:bodyPr wrap="square" lIns="0" tIns="0" rIns="0" bIns="0" rtlCol="0">
            <a:spAutoFit/>
          </a:bodyPr>
          <a:lstStyle/>
          <a:p>
            <a:pPr marL="342900" indent="-342900">
              <a:buFont typeface="+mj-ea"/>
              <a:buAutoNum type="circleNumDbPlain" startAt="4"/>
            </a:pPr>
            <a:r>
              <a:rPr lang="ja-JP" altLang="en-US" sz="1400" dirty="0">
                <a:latin typeface="BIZ UDPゴシック" panose="020B0400000000000000" pitchFamily="50" charset="-128"/>
                <a:ea typeface="BIZ UDPゴシック" panose="020B0400000000000000" pitchFamily="50" charset="-128"/>
              </a:rPr>
              <a:t>グローバル分散モデル</a:t>
            </a:r>
            <a:endParaRPr lang="en-US" altLang="ja-JP" sz="1400" dirty="0">
              <a:latin typeface="BIZ UDPゴシック" panose="020B0400000000000000" pitchFamily="50" charset="-128"/>
              <a:ea typeface="BIZ UDPゴシック" panose="020B0400000000000000" pitchFamily="50" charset="-128"/>
            </a:endParaRPr>
          </a:p>
          <a:p>
            <a:pPr marL="539750" indent="-182563">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機能別にグローバルで分業化されたモデル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鉱山機械など </a:t>
            </a:r>
            <a:r>
              <a:rPr lang="en-US" altLang="ja-JP" sz="1400" dirty="0">
                <a:latin typeface="BIZ UDPゴシック" panose="020B0400000000000000" pitchFamily="50" charset="-128"/>
                <a:ea typeface="BIZ UDPゴシック" panose="020B0400000000000000" pitchFamily="50" charset="-128"/>
              </a:rPr>
              <a:t>)</a:t>
            </a:r>
          </a:p>
        </p:txBody>
      </p:sp>
      <p:sp>
        <p:nvSpPr>
          <p:cNvPr id="11" name="テキスト ボックス 10">
            <a:extLst>
              <a:ext uri="{FF2B5EF4-FFF2-40B4-BE49-F238E27FC236}">
                <a16:creationId xmlns:a16="http://schemas.microsoft.com/office/drawing/2014/main" id="{FA26AC6F-D434-3D20-0147-E67FCD0B3F28}"/>
              </a:ext>
            </a:extLst>
          </p:cNvPr>
          <p:cNvSpPr txBox="1"/>
          <p:nvPr/>
        </p:nvSpPr>
        <p:spPr>
          <a:xfrm>
            <a:off x="2403854" y="1721167"/>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生産地</a:t>
            </a:r>
          </a:p>
        </p:txBody>
      </p:sp>
      <p:sp>
        <p:nvSpPr>
          <p:cNvPr id="14" name="正方形/長方形 13">
            <a:extLst>
              <a:ext uri="{FF2B5EF4-FFF2-40B4-BE49-F238E27FC236}">
                <a16:creationId xmlns:a16="http://schemas.microsoft.com/office/drawing/2014/main" id="{6608D82F-7169-8619-E468-D1A9737CD923}"/>
              </a:ext>
            </a:extLst>
          </p:cNvPr>
          <p:cNvSpPr/>
          <p:nvPr/>
        </p:nvSpPr>
        <p:spPr>
          <a:xfrm>
            <a:off x="2305042" y="2194188"/>
            <a:ext cx="1299491" cy="2169992"/>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16" name="直線コネクタ 15">
            <a:extLst>
              <a:ext uri="{FF2B5EF4-FFF2-40B4-BE49-F238E27FC236}">
                <a16:creationId xmlns:a16="http://schemas.microsoft.com/office/drawing/2014/main" id="{94CC783A-25C2-7F69-E091-560A89046BAE}"/>
              </a:ext>
              <a:ext uri="{C183D7F6-B498-43B3-948B-1728B52AA6E4}">
                <adec:decorative xmlns:adec="http://schemas.microsoft.com/office/drawing/2017/decorative" val="1"/>
              </a:ext>
            </a:extLst>
          </p:cNvPr>
          <p:cNvCxnSpPr>
            <a:cxnSpLocks/>
          </p:cNvCxnSpPr>
          <p:nvPr/>
        </p:nvCxnSpPr>
        <p:spPr>
          <a:xfrm>
            <a:off x="2305042"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457833EF-23FD-4C0F-3000-0AE2B1B9DF43}"/>
              </a:ext>
            </a:extLst>
          </p:cNvPr>
          <p:cNvSpPr/>
          <p:nvPr/>
        </p:nvSpPr>
        <p:spPr>
          <a:xfrm>
            <a:off x="2305042" y="4636362"/>
            <a:ext cx="1299491" cy="165849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域外で生産</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FB4390A9-4A2D-9792-2C75-9869E536FE7C}"/>
              </a:ext>
            </a:extLst>
          </p:cNvPr>
          <p:cNvSpPr txBox="1"/>
          <p:nvPr/>
        </p:nvSpPr>
        <p:spPr>
          <a:xfrm>
            <a:off x="4202070" y="1721167"/>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調達地</a:t>
            </a:r>
          </a:p>
        </p:txBody>
      </p:sp>
      <p:sp>
        <p:nvSpPr>
          <p:cNvPr id="21" name="正方形/長方形 20">
            <a:extLst>
              <a:ext uri="{FF2B5EF4-FFF2-40B4-BE49-F238E27FC236}">
                <a16:creationId xmlns:a16="http://schemas.microsoft.com/office/drawing/2014/main" id="{16A1D1C8-6E75-25CF-315E-D55125A14819}"/>
              </a:ext>
            </a:extLst>
          </p:cNvPr>
          <p:cNvSpPr/>
          <p:nvPr/>
        </p:nvSpPr>
        <p:spPr>
          <a:xfrm>
            <a:off x="4103258" y="2194188"/>
            <a:ext cx="1299491" cy="82286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34" name="直線コネクタ 33">
            <a:extLst>
              <a:ext uri="{FF2B5EF4-FFF2-40B4-BE49-F238E27FC236}">
                <a16:creationId xmlns:a16="http://schemas.microsoft.com/office/drawing/2014/main" id="{B1E476D6-41CC-2490-DE16-89487DE02DE2}"/>
              </a:ext>
              <a:ext uri="{C183D7F6-B498-43B3-948B-1728B52AA6E4}">
                <adec:decorative xmlns:adec="http://schemas.microsoft.com/office/drawing/2017/decorative" val="1"/>
              </a:ext>
            </a:extLst>
          </p:cNvPr>
          <p:cNvCxnSpPr>
            <a:cxnSpLocks/>
          </p:cNvCxnSpPr>
          <p:nvPr/>
        </p:nvCxnSpPr>
        <p:spPr>
          <a:xfrm>
            <a:off x="4103258"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35" name="正方形/長方形 34">
            <a:extLst>
              <a:ext uri="{FF2B5EF4-FFF2-40B4-BE49-F238E27FC236}">
                <a16:creationId xmlns:a16="http://schemas.microsoft.com/office/drawing/2014/main" id="{5C34064D-459E-A48B-FEBC-92932279A5D9}"/>
              </a:ext>
            </a:extLst>
          </p:cNvPr>
          <p:cNvSpPr/>
          <p:nvPr/>
        </p:nvSpPr>
        <p:spPr>
          <a:xfrm>
            <a:off x="4103258" y="4636362"/>
            <a:ext cx="1299491" cy="98439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域内で調達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6" name="正方形/長方形 35">
            <a:extLst>
              <a:ext uri="{FF2B5EF4-FFF2-40B4-BE49-F238E27FC236}">
                <a16:creationId xmlns:a16="http://schemas.microsoft.com/office/drawing/2014/main" id="{4011F6F0-5172-579E-5EB6-39A450AACD13}"/>
              </a:ext>
            </a:extLst>
          </p:cNvPr>
          <p:cNvSpPr/>
          <p:nvPr/>
        </p:nvSpPr>
        <p:spPr>
          <a:xfrm>
            <a:off x="4103258" y="3283527"/>
            <a:ext cx="1299491" cy="1080653"/>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7" name="正方形/長方形 36">
            <a:extLst>
              <a:ext uri="{FF2B5EF4-FFF2-40B4-BE49-F238E27FC236}">
                <a16:creationId xmlns:a16="http://schemas.microsoft.com/office/drawing/2014/main" id="{35B21BB9-6ABD-8761-BF6B-F8611AAA2B4D}"/>
              </a:ext>
            </a:extLst>
          </p:cNvPr>
          <p:cNvSpPr/>
          <p:nvPr/>
        </p:nvSpPr>
        <p:spPr>
          <a:xfrm>
            <a:off x="4103258" y="5892943"/>
            <a:ext cx="1299491" cy="401914"/>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域外で調達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国</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40" name="直線コネクタ 39">
            <a:extLst>
              <a:ext uri="{FF2B5EF4-FFF2-40B4-BE49-F238E27FC236}">
                <a16:creationId xmlns:a16="http://schemas.microsoft.com/office/drawing/2014/main" id="{35E863B1-6FA5-4A31-8C3D-4DEA0114F88F}"/>
              </a:ext>
            </a:extLst>
          </p:cNvPr>
          <p:cNvCxnSpPr>
            <a:cxnSpLocks/>
          </p:cNvCxnSpPr>
          <p:nvPr/>
        </p:nvCxnSpPr>
        <p:spPr>
          <a:xfrm>
            <a:off x="1769534" y="4490472"/>
            <a:ext cx="9023241" cy="213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4E295FC7-2760-0105-BB62-66F7B50A7148}"/>
              </a:ext>
            </a:extLst>
          </p:cNvPr>
          <p:cNvCxnSpPr>
            <a:cxnSpLocks/>
          </p:cNvCxnSpPr>
          <p:nvPr/>
        </p:nvCxnSpPr>
        <p:spPr>
          <a:xfrm>
            <a:off x="3604533" y="3164537"/>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直線コネクタ 44">
            <a:extLst>
              <a:ext uri="{FF2B5EF4-FFF2-40B4-BE49-F238E27FC236}">
                <a16:creationId xmlns:a16="http://schemas.microsoft.com/office/drawing/2014/main" id="{62A48A6A-0C07-EEDB-FA5C-45BB6FC290AE}"/>
              </a:ext>
            </a:extLst>
          </p:cNvPr>
          <p:cNvCxnSpPr>
            <a:cxnSpLocks/>
          </p:cNvCxnSpPr>
          <p:nvPr/>
        </p:nvCxnSpPr>
        <p:spPr>
          <a:xfrm>
            <a:off x="3604533" y="5741483"/>
            <a:ext cx="7369871" cy="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直線矢印コネクタ 46">
            <a:extLst>
              <a:ext uri="{FF2B5EF4-FFF2-40B4-BE49-F238E27FC236}">
                <a16:creationId xmlns:a16="http://schemas.microsoft.com/office/drawing/2014/main" id="{37762CCD-35A7-12D4-EB4E-BFFBCFA8AF8C}"/>
              </a:ext>
            </a:extLst>
          </p:cNvPr>
          <p:cNvCxnSpPr>
            <a:cxnSpLocks/>
            <a:endCxn id="14" idx="1"/>
          </p:cNvCxnSpPr>
          <p:nvPr/>
        </p:nvCxnSpPr>
        <p:spPr>
          <a:xfrm>
            <a:off x="1769534" y="3279184"/>
            <a:ext cx="535508"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矢印コネクタ 50">
            <a:extLst>
              <a:ext uri="{FF2B5EF4-FFF2-40B4-BE49-F238E27FC236}">
                <a16:creationId xmlns:a16="http://schemas.microsoft.com/office/drawing/2014/main" id="{8CB158E5-5555-B4D0-3BEC-113CC13F9279}"/>
              </a:ext>
            </a:extLst>
          </p:cNvPr>
          <p:cNvCxnSpPr>
            <a:cxnSpLocks/>
            <a:endCxn id="17" idx="1"/>
          </p:cNvCxnSpPr>
          <p:nvPr/>
        </p:nvCxnSpPr>
        <p:spPr>
          <a:xfrm>
            <a:off x="1769534" y="5465609"/>
            <a:ext cx="535508" cy="1"/>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4" name="直線矢印コネクタ 53">
            <a:extLst>
              <a:ext uri="{FF2B5EF4-FFF2-40B4-BE49-F238E27FC236}">
                <a16:creationId xmlns:a16="http://schemas.microsoft.com/office/drawing/2014/main" id="{9C421CCE-8376-24EB-21F8-D5AB532894BB}"/>
              </a:ext>
            </a:extLst>
          </p:cNvPr>
          <p:cNvCxnSpPr>
            <a:cxnSpLocks/>
            <a:endCxn id="21" idx="1"/>
          </p:cNvCxnSpPr>
          <p:nvPr/>
        </p:nvCxnSpPr>
        <p:spPr>
          <a:xfrm>
            <a:off x="3604533" y="2605622"/>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7" name="直線矢印コネクタ 56">
            <a:extLst>
              <a:ext uri="{FF2B5EF4-FFF2-40B4-BE49-F238E27FC236}">
                <a16:creationId xmlns:a16="http://schemas.microsoft.com/office/drawing/2014/main" id="{B00E1E98-D0BF-C2C8-EB6F-50A99894A425}"/>
              </a:ext>
            </a:extLst>
          </p:cNvPr>
          <p:cNvCxnSpPr>
            <a:cxnSpLocks/>
            <a:endCxn id="36" idx="1"/>
          </p:cNvCxnSpPr>
          <p:nvPr/>
        </p:nvCxnSpPr>
        <p:spPr>
          <a:xfrm>
            <a:off x="3604533" y="3823854"/>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0" name="直線矢印コネクタ 59">
            <a:extLst>
              <a:ext uri="{FF2B5EF4-FFF2-40B4-BE49-F238E27FC236}">
                <a16:creationId xmlns:a16="http://schemas.microsoft.com/office/drawing/2014/main" id="{1A45009A-CDD9-DE57-37FF-1BE4A5919CDF}"/>
              </a:ext>
            </a:extLst>
          </p:cNvPr>
          <p:cNvCxnSpPr>
            <a:cxnSpLocks/>
            <a:endCxn id="35" idx="1"/>
          </p:cNvCxnSpPr>
          <p:nvPr/>
        </p:nvCxnSpPr>
        <p:spPr>
          <a:xfrm>
            <a:off x="3604533" y="5128562"/>
            <a:ext cx="498725"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4" name="直線矢印コネクタ 63">
            <a:extLst>
              <a:ext uri="{FF2B5EF4-FFF2-40B4-BE49-F238E27FC236}">
                <a16:creationId xmlns:a16="http://schemas.microsoft.com/office/drawing/2014/main" id="{12D3C711-34B4-9389-ADE2-AE0628461073}"/>
              </a:ext>
            </a:extLst>
          </p:cNvPr>
          <p:cNvCxnSpPr>
            <a:cxnSpLocks/>
            <a:endCxn id="37" idx="1"/>
          </p:cNvCxnSpPr>
          <p:nvPr/>
        </p:nvCxnSpPr>
        <p:spPr>
          <a:xfrm>
            <a:off x="3612406" y="6093900"/>
            <a:ext cx="490852" cy="0"/>
          </a:xfrm>
          <a:prstGeom prst="straightConnector1">
            <a:avLst/>
          </a:prstGeom>
          <a:ln w="38100">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1" name="直角三角形 70">
            <a:extLst>
              <a:ext uri="{FF2B5EF4-FFF2-40B4-BE49-F238E27FC236}">
                <a16:creationId xmlns:a16="http://schemas.microsoft.com/office/drawing/2014/main" id="{D1C2BFD5-23A9-5363-13E5-ECB24730109D}"/>
              </a:ext>
            </a:extLst>
          </p:cNvPr>
          <p:cNvSpPr/>
          <p:nvPr/>
        </p:nvSpPr>
        <p:spPr>
          <a:xfrm rot="10800000">
            <a:off x="11363498" y="1998107"/>
            <a:ext cx="420518" cy="4325722"/>
          </a:xfrm>
          <a:prstGeom prst="r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2" name="テキスト ボックス 71">
            <a:extLst>
              <a:ext uri="{FF2B5EF4-FFF2-40B4-BE49-F238E27FC236}">
                <a16:creationId xmlns:a16="http://schemas.microsoft.com/office/drawing/2014/main" id="{4F8C62F5-A022-C688-E55D-1E3708441CCB}"/>
              </a:ext>
            </a:extLst>
          </p:cNvPr>
          <p:cNvSpPr txBox="1"/>
          <p:nvPr/>
        </p:nvSpPr>
        <p:spPr>
          <a:xfrm>
            <a:off x="11336822" y="1754308"/>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依存</a:t>
            </a:r>
          </a:p>
        </p:txBody>
      </p:sp>
      <p:sp>
        <p:nvSpPr>
          <p:cNvPr id="73" name="テキスト ボックス 72">
            <a:extLst>
              <a:ext uri="{FF2B5EF4-FFF2-40B4-BE49-F238E27FC236}">
                <a16:creationId xmlns:a16="http://schemas.microsoft.com/office/drawing/2014/main" id="{0217542E-0CF8-CCA1-350E-02F1CBDF6001}"/>
              </a:ext>
            </a:extLst>
          </p:cNvPr>
          <p:cNvSpPr txBox="1"/>
          <p:nvPr/>
        </p:nvSpPr>
        <p:spPr>
          <a:xfrm>
            <a:off x="11336821" y="218112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分散</a:t>
            </a:r>
          </a:p>
        </p:txBody>
      </p:sp>
      <p:sp>
        <p:nvSpPr>
          <p:cNvPr id="74" name="テキスト ボックス 73">
            <a:extLst>
              <a:ext uri="{FF2B5EF4-FFF2-40B4-BE49-F238E27FC236}">
                <a16:creationId xmlns:a16="http://schemas.microsoft.com/office/drawing/2014/main" id="{96AA8732-99A4-5D63-3BA3-87BFD297EDEF}"/>
              </a:ext>
            </a:extLst>
          </p:cNvPr>
          <p:cNvSpPr txBox="1"/>
          <p:nvPr/>
        </p:nvSpPr>
        <p:spPr>
          <a:xfrm>
            <a:off x="11336820" y="6000664"/>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集約</a:t>
            </a:r>
          </a:p>
        </p:txBody>
      </p:sp>
    </p:spTree>
    <p:extLst>
      <p:ext uri="{BB962C8B-B14F-4D97-AF65-F5344CB8AC3E}">
        <p14:creationId xmlns:p14="http://schemas.microsoft.com/office/powerpoint/2010/main" val="566276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579AA65-F1BB-3FD4-9E23-7501D504CC7B}"/>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6C3657DF-4F4B-AE5A-3AA0-73FA52A56664}"/>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DA9A5BE5-10BE-2B01-F1DC-24EBA6834FB7}"/>
              </a:ext>
            </a:extLst>
          </p:cNvPr>
          <p:cNvSpPr>
            <a:spLocks noGrp="1"/>
          </p:cNvSpPr>
          <p:nvPr>
            <p:ph type="sldNum" sz="quarter" idx="12"/>
          </p:nvPr>
        </p:nvSpPr>
        <p:spPr/>
        <p:txBody>
          <a:bodyPr/>
          <a:lstStyle/>
          <a:p>
            <a:fld id="{DCB5AA93-092B-49A1-87A7-3C88D5F38AD7}" type="slidenum">
              <a:rPr lang="ja-JP" altLang="en-US" smtClean="0"/>
              <a:pPr/>
              <a:t>18</a:t>
            </a:fld>
            <a:endParaRPr lang="ja-JP" altLang="en-US"/>
          </a:p>
        </p:txBody>
      </p:sp>
      <p:sp>
        <p:nvSpPr>
          <p:cNvPr id="5" name="テキスト プレースホルダー 4">
            <a:extLst>
              <a:ext uri="{FF2B5EF4-FFF2-40B4-BE49-F238E27FC236}">
                <a16:creationId xmlns:a16="http://schemas.microsoft.com/office/drawing/2014/main" id="{4F38FDD9-60FD-3F08-0491-8ED9B5A4C00F}"/>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7" name="テキスト ボックス 6">
            <a:extLst>
              <a:ext uri="{FF2B5EF4-FFF2-40B4-BE49-F238E27FC236}">
                <a16:creationId xmlns:a16="http://schemas.microsoft.com/office/drawing/2014/main" id="{D5EA51AD-0F62-B39D-BE44-8D3A382720C9}"/>
              </a:ext>
            </a:extLst>
          </p:cNvPr>
          <p:cNvSpPr txBox="1"/>
          <p:nvPr/>
        </p:nvSpPr>
        <p:spPr>
          <a:xfrm>
            <a:off x="568855" y="1721167"/>
            <a:ext cx="1149354"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フレームワーク</a:t>
            </a:r>
          </a:p>
        </p:txBody>
      </p:sp>
      <p:sp>
        <p:nvSpPr>
          <p:cNvPr id="8" name="テキスト ボックス 7">
            <a:extLst>
              <a:ext uri="{FF2B5EF4-FFF2-40B4-BE49-F238E27FC236}">
                <a16:creationId xmlns:a16="http://schemas.microsoft.com/office/drawing/2014/main" id="{B781187A-3044-CC92-12B4-2F486429B9E0}"/>
              </a:ext>
            </a:extLst>
          </p:cNvPr>
          <p:cNvSpPr txBox="1"/>
          <p:nvPr/>
        </p:nvSpPr>
        <p:spPr>
          <a:xfrm>
            <a:off x="4277261" y="172116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9" name="テキスト ボックス 8">
            <a:extLst>
              <a:ext uri="{FF2B5EF4-FFF2-40B4-BE49-F238E27FC236}">
                <a16:creationId xmlns:a16="http://schemas.microsoft.com/office/drawing/2014/main" id="{C2843CB7-E8FC-4705-48B6-B05EED30CCA7}"/>
              </a:ext>
            </a:extLst>
          </p:cNvPr>
          <p:cNvSpPr txBox="1"/>
          <p:nvPr/>
        </p:nvSpPr>
        <p:spPr>
          <a:xfrm>
            <a:off x="9162526" y="1712674"/>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注意点</a:t>
            </a:r>
          </a:p>
        </p:txBody>
      </p:sp>
      <p:sp>
        <p:nvSpPr>
          <p:cNvPr id="10" name="正方形/長方形 9">
            <a:extLst>
              <a:ext uri="{FF2B5EF4-FFF2-40B4-BE49-F238E27FC236}">
                <a16:creationId xmlns:a16="http://schemas.microsoft.com/office/drawing/2014/main" id="{CBA4599F-764A-189D-4871-82FFB18DD5B1}"/>
              </a:ext>
            </a:extLst>
          </p:cNvPr>
          <p:cNvSpPr/>
          <p:nvPr/>
        </p:nvSpPr>
        <p:spPr>
          <a:xfrm>
            <a:off x="470043" y="219418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57E1A3E8-C648-5503-A637-780CCDB119EE}"/>
              </a:ext>
            </a:extLst>
          </p:cNvPr>
          <p:cNvSpPr txBox="1"/>
          <p:nvPr/>
        </p:nvSpPr>
        <p:spPr>
          <a:xfrm>
            <a:off x="1952732" y="2194183"/>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p>
        </p:txBody>
      </p:sp>
      <p:sp>
        <p:nvSpPr>
          <p:cNvPr id="13" name="テキスト ボックス 12">
            <a:extLst>
              <a:ext uri="{FF2B5EF4-FFF2-40B4-BE49-F238E27FC236}">
                <a16:creationId xmlns:a16="http://schemas.microsoft.com/office/drawing/2014/main" id="{5756AAFD-0A68-F340-B19D-DA33782BF76C}"/>
              </a:ext>
            </a:extLst>
          </p:cNvPr>
          <p:cNvSpPr txBox="1"/>
          <p:nvPr/>
        </p:nvSpPr>
        <p:spPr>
          <a:xfrm>
            <a:off x="7118425" y="2194183"/>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p:txBody>
      </p:sp>
      <p:cxnSp>
        <p:nvCxnSpPr>
          <p:cNvPr id="15" name="直線コネクタ 14">
            <a:extLst>
              <a:ext uri="{FF2B5EF4-FFF2-40B4-BE49-F238E27FC236}">
                <a16:creationId xmlns:a16="http://schemas.microsoft.com/office/drawing/2014/main" id="{EAB506A6-2FE6-7B78-0E77-ECBACE0C18EC}"/>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1781C7BE-FEEB-DE33-3B02-100FA63292F6}"/>
              </a:ext>
              <a:ext uri="{C183D7F6-B498-43B3-948B-1728B52AA6E4}">
                <adec:decorative xmlns:adec="http://schemas.microsoft.com/office/drawing/2017/decorative" val="1"/>
              </a:ext>
            </a:extLst>
          </p:cNvPr>
          <p:cNvCxnSpPr>
            <a:cxnSpLocks/>
          </p:cNvCxnSpPr>
          <p:nvPr/>
        </p:nvCxnSpPr>
        <p:spPr>
          <a:xfrm>
            <a:off x="1951710" y="1998107"/>
            <a:ext cx="498249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118C5010-0ACB-F9A8-3154-367395B8A7DB}"/>
              </a:ext>
              <a:ext uri="{C183D7F6-B498-43B3-948B-1728B52AA6E4}">
                <adec:decorative xmlns:adec="http://schemas.microsoft.com/office/drawing/2017/decorative" val="1"/>
              </a:ext>
            </a:extLst>
          </p:cNvPr>
          <p:cNvCxnSpPr>
            <a:cxnSpLocks/>
          </p:cNvCxnSpPr>
          <p:nvPr/>
        </p:nvCxnSpPr>
        <p:spPr>
          <a:xfrm>
            <a:off x="7118425" y="1998107"/>
            <a:ext cx="4665591"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22BB7241-6A4E-DF9D-5C86-F8D187034111}"/>
              </a:ext>
            </a:extLst>
          </p:cNvPr>
          <p:cNvSpPr/>
          <p:nvPr/>
        </p:nvSpPr>
        <p:spPr>
          <a:xfrm>
            <a:off x="470043" y="301705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ロジック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ツリー</a:t>
            </a:r>
          </a:p>
        </p:txBody>
      </p:sp>
      <p:sp>
        <p:nvSpPr>
          <p:cNvPr id="23" name="テキスト ボックス 22">
            <a:extLst>
              <a:ext uri="{FF2B5EF4-FFF2-40B4-BE49-F238E27FC236}">
                <a16:creationId xmlns:a16="http://schemas.microsoft.com/office/drawing/2014/main" id="{8F474FEB-C7F1-E617-0C8B-62321F6F770C}"/>
              </a:ext>
            </a:extLst>
          </p:cNvPr>
          <p:cNvSpPr txBox="1"/>
          <p:nvPr/>
        </p:nvSpPr>
        <p:spPr>
          <a:xfrm>
            <a:off x="1951710" y="3017056"/>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sp>
        <p:nvSpPr>
          <p:cNvPr id="24" name="テキスト ボックス 23">
            <a:extLst>
              <a:ext uri="{FF2B5EF4-FFF2-40B4-BE49-F238E27FC236}">
                <a16:creationId xmlns:a16="http://schemas.microsoft.com/office/drawing/2014/main" id="{CEE2F8F8-14DD-095A-934F-26F41E95CE99}"/>
              </a:ext>
            </a:extLst>
          </p:cNvPr>
          <p:cNvSpPr txBox="1"/>
          <p:nvPr/>
        </p:nvSpPr>
        <p:spPr>
          <a:xfrm>
            <a:off x="7118425" y="3017056"/>
            <a:ext cx="4665591"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p:txBody>
      </p:sp>
      <p:sp>
        <p:nvSpPr>
          <p:cNvPr id="25" name="正方形/長方形 24">
            <a:extLst>
              <a:ext uri="{FF2B5EF4-FFF2-40B4-BE49-F238E27FC236}">
                <a16:creationId xmlns:a16="http://schemas.microsoft.com/office/drawing/2014/main" id="{C720ACBA-92C1-C91A-96F1-219B75ECE36E}"/>
              </a:ext>
            </a:extLst>
          </p:cNvPr>
          <p:cNvSpPr/>
          <p:nvPr/>
        </p:nvSpPr>
        <p:spPr>
          <a:xfrm>
            <a:off x="470045" y="3816269"/>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KPI</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9A4627AA-66A8-6B77-6C66-CBF11914498C}"/>
              </a:ext>
            </a:extLst>
          </p:cNvPr>
          <p:cNvSpPr txBox="1"/>
          <p:nvPr/>
        </p:nvSpPr>
        <p:spPr>
          <a:xfrm>
            <a:off x="1951711" y="3816268"/>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p>
        </p:txBody>
      </p:sp>
      <p:sp>
        <p:nvSpPr>
          <p:cNvPr id="27" name="テキスト ボックス 26">
            <a:extLst>
              <a:ext uri="{FF2B5EF4-FFF2-40B4-BE49-F238E27FC236}">
                <a16:creationId xmlns:a16="http://schemas.microsoft.com/office/drawing/2014/main" id="{A9531372-DB01-7B64-2E4D-857FFE579A66}"/>
              </a:ext>
            </a:extLst>
          </p:cNvPr>
          <p:cNvSpPr txBox="1"/>
          <p:nvPr/>
        </p:nvSpPr>
        <p:spPr>
          <a:xfrm>
            <a:off x="7118425" y="3816264"/>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p>
        </p:txBody>
      </p:sp>
      <p:sp>
        <p:nvSpPr>
          <p:cNvPr id="28" name="正方形/長方形 27">
            <a:extLst>
              <a:ext uri="{FF2B5EF4-FFF2-40B4-BE49-F238E27FC236}">
                <a16:creationId xmlns:a16="http://schemas.microsoft.com/office/drawing/2014/main" id="{B8701491-F578-EFEB-2B31-8A41E2D69BE7}"/>
              </a:ext>
            </a:extLst>
          </p:cNvPr>
          <p:cNvSpPr/>
          <p:nvPr/>
        </p:nvSpPr>
        <p:spPr>
          <a:xfrm>
            <a:off x="470045" y="4636366"/>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PDCA</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E9C21715-78D9-EA3F-097F-A4B4AE414EB2}"/>
              </a:ext>
            </a:extLst>
          </p:cNvPr>
          <p:cNvSpPr txBox="1"/>
          <p:nvPr/>
        </p:nvSpPr>
        <p:spPr>
          <a:xfrm>
            <a:off x="1951711" y="4636365"/>
            <a:ext cx="4982492"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p>
        </p:txBody>
      </p:sp>
      <p:sp>
        <p:nvSpPr>
          <p:cNvPr id="30" name="テキスト ボックス 29">
            <a:extLst>
              <a:ext uri="{FF2B5EF4-FFF2-40B4-BE49-F238E27FC236}">
                <a16:creationId xmlns:a16="http://schemas.microsoft.com/office/drawing/2014/main" id="{71AEB7CC-38BF-F3A8-44CF-0EDD6B09D66F}"/>
              </a:ext>
            </a:extLst>
          </p:cNvPr>
          <p:cNvSpPr txBox="1"/>
          <p:nvPr/>
        </p:nvSpPr>
        <p:spPr>
          <a:xfrm>
            <a:off x="7118425" y="4636363"/>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p:txBody>
      </p:sp>
      <p:sp>
        <p:nvSpPr>
          <p:cNvPr id="31" name="正方形/長方形 30">
            <a:extLst>
              <a:ext uri="{FF2B5EF4-FFF2-40B4-BE49-F238E27FC236}">
                <a16:creationId xmlns:a16="http://schemas.microsoft.com/office/drawing/2014/main" id="{D1BF2968-19BE-A472-2A44-AF0F116C3BC4}"/>
              </a:ext>
            </a:extLst>
          </p:cNvPr>
          <p:cNvSpPr/>
          <p:nvPr/>
        </p:nvSpPr>
        <p:spPr>
          <a:xfrm>
            <a:off x="470045" y="5405320"/>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Top Down/</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Bottom up</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0FF13581-7727-028C-7F5E-14178FCBD04B}"/>
              </a:ext>
            </a:extLst>
          </p:cNvPr>
          <p:cNvSpPr txBox="1"/>
          <p:nvPr/>
        </p:nvSpPr>
        <p:spPr>
          <a:xfrm>
            <a:off x="1951711" y="5405317"/>
            <a:ext cx="4982492"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p:txBody>
      </p:sp>
      <p:sp>
        <p:nvSpPr>
          <p:cNvPr id="33" name="テキスト ボックス 32">
            <a:extLst>
              <a:ext uri="{FF2B5EF4-FFF2-40B4-BE49-F238E27FC236}">
                <a16:creationId xmlns:a16="http://schemas.microsoft.com/office/drawing/2014/main" id="{41AD3689-CBD9-2139-01C6-C83DF4ADB306}"/>
              </a:ext>
            </a:extLst>
          </p:cNvPr>
          <p:cNvSpPr txBox="1"/>
          <p:nvPr/>
        </p:nvSpPr>
        <p:spPr>
          <a:xfrm>
            <a:off x="7118425" y="5405317"/>
            <a:ext cx="4665591"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p:txBody>
      </p:sp>
    </p:spTree>
    <p:extLst>
      <p:ext uri="{BB962C8B-B14F-4D97-AF65-F5344CB8AC3E}">
        <p14:creationId xmlns:p14="http://schemas.microsoft.com/office/powerpoint/2010/main" val="4154801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8C314-8C17-55E9-7414-DBC784A6B86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D6E197-5111-E436-324A-1742CD652F09}"/>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08F07CCA-E12A-3572-A9BD-083614A79D9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6B8C5AF4-8C3A-CF13-7B4F-80F1367B0EAF}"/>
              </a:ext>
            </a:extLst>
          </p:cNvPr>
          <p:cNvSpPr>
            <a:spLocks noGrp="1"/>
          </p:cNvSpPr>
          <p:nvPr>
            <p:ph type="sldNum" sz="quarter" idx="12"/>
          </p:nvPr>
        </p:nvSpPr>
        <p:spPr/>
        <p:txBody>
          <a:bodyPr/>
          <a:lstStyle/>
          <a:p>
            <a:fld id="{DCB5AA93-092B-49A1-87A7-3C88D5F38AD7}" type="slidenum">
              <a:rPr lang="ja-JP" altLang="en-US" smtClean="0"/>
              <a:pPr/>
              <a:t>19</a:t>
            </a:fld>
            <a:endParaRPr lang="ja-JP" altLang="en-US"/>
          </a:p>
        </p:txBody>
      </p:sp>
      <p:sp>
        <p:nvSpPr>
          <p:cNvPr id="5" name="テキスト プレースホルダー 4">
            <a:extLst>
              <a:ext uri="{FF2B5EF4-FFF2-40B4-BE49-F238E27FC236}">
                <a16:creationId xmlns:a16="http://schemas.microsoft.com/office/drawing/2014/main" id="{4852CEC5-9BBA-F1C0-3E13-F58CFB544BA4}"/>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8" name="テキスト ボックス 7">
            <a:extLst>
              <a:ext uri="{FF2B5EF4-FFF2-40B4-BE49-F238E27FC236}">
                <a16:creationId xmlns:a16="http://schemas.microsoft.com/office/drawing/2014/main" id="{09FED4B1-606C-2918-0520-0893F0499E78}"/>
              </a:ext>
            </a:extLst>
          </p:cNvPr>
          <p:cNvSpPr txBox="1"/>
          <p:nvPr/>
        </p:nvSpPr>
        <p:spPr>
          <a:xfrm>
            <a:off x="4840241" y="1507755"/>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10" name="正方形/長方形 9">
            <a:extLst>
              <a:ext uri="{FF2B5EF4-FFF2-40B4-BE49-F238E27FC236}">
                <a16:creationId xmlns:a16="http://schemas.microsoft.com/office/drawing/2014/main" id="{89E5F961-87C8-60CC-CEE7-32ED363A8FD9}"/>
              </a:ext>
            </a:extLst>
          </p:cNvPr>
          <p:cNvSpPr/>
          <p:nvPr/>
        </p:nvSpPr>
        <p:spPr>
          <a:xfrm>
            <a:off x="351802" y="1828889"/>
            <a:ext cx="2194329" cy="214822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7BB7E9B6-633A-07F2-A23C-420303CE6A98}"/>
              </a:ext>
            </a:extLst>
          </p:cNvPr>
          <p:cNvSpPr txBox="1"/>
          <p:nvPr/>
        </p:nvSpPr>
        <p:spPr>
          <a:xfrm>
            <a:off x="3224048" y="1828890"/>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MECE</a:t>
            </a:r>
            <a:r>
              <a:rPr lang="ja-JP" altLang="en-US" sz="1400" dirty="0">
                <a:latin typeface="BIZ UDPゴシック" panose="020B0400000000000000" pitchFamily="50" charset="-128"/>
                <a:ea typeface="BIZ UDPゴシック" panose="020B0400000000000000" pitchFamily="50" charset="-128"/>
              </a:rPr>
              <a:t>とはダブりがなく，モレがない状態を指す言葉</a:t>
            </a:r>
            <a:endParaRPr lang="en-US" altLang="ja-JP" sz="1400" dirty="0">
              <a:latin typeface="BIZ UDPゴシック" panose="020B0400000000000000" pitchFamily="50" charset="-128"/>
              <a:ea typeface="BIZ UDPゴシック" panose="020B0400000000000000" pitchFamily="50" charset="-128"/>
            </a:endParaRPr>
          </a:p>
          <a:p>
            <a:pPr marL="449263" lvl="1" indent="-268288">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樹形図の形で物事を整理していく手法．イシューツリーとも呼ばれる．</a:t>
            </a:r>
          </a:p>
        </p:txBody>
      </p:sp>
      <p:cxnSp>
        <p:nvCxnSpPr>
          <p:cNvPr id="18" name="直線コネクタ 17">
            <a:extLst>
              <a:ext uri="{FF2B5EF4-FFF2-40B4-BE49-F238E27FC236}">
                <a16:creationId xmlns:a16="http://schemas.microsoft.com/office/drawing/2014/main" id="{9C3E747F-BC9E-A568-C850-A88B7D684B7C}"/>
              </a:ext>
              <a:ext uri="{C183D7F6-B498-43B3-948B-1728B52AA6E4}">
                <adec:decorative xmlns:adec="http://schemas.microsoft.com/office/drawing/2017/decorative" val="1"/>
              </a:ext>
            </a:extLst>
          </p:cNvPr>
          <p:cNvCxnSpPr>
            <a:cxnSpLocks/>
          </p:cNvCxnSpPr>
          <p:nvPr/>
        </p:nvCxnSpPr>
        <p:spPr>
          <a:xfrm>
            <a:off x="3224047" y="1734296"/>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624FE59D-B25C-9332-B9EF-02F3783A363B}"/>
              </a:ext>
            </a:extLst>
          </p:cNvPr>
          <p:cNvSpPr/>
          <p:nvPr/>
        </p:nvSpPr>
        <p:spPr>
          <a:xfrm>
            <a:off x="351802" y="4146330"/>
            <a:ext cx="2194329" cy="214822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MECE</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652C42D8-AFDF-64F3-F00E-4BB4737C63D9}"/>
              </a:ext>
            </a:extLst>
          </p:cNvPr>
          <p:cNvSpPr txBox="1"/>
          <p:nvPr/>
        </p:nvSpPr>
        <p:spPr>
          <a:xfrm>
            <a:off x="7559566" y="1828890"/>
            <a:ext cx="3591462" cy="1292662"/>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必ず図に書き出してモレとダブりがあるか確認すること</a:t>
            </a:r>
          </a:p>
          <a:p>
            <a:pPr marL="449263" lvl="1" indent="-268288">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あああ</a:t>
            </a:r>
            <a:endParaRPr lang="en-US" altLang="ja-JP" sz="1400" dirty="0">
              <a:latin typeface="BIZ UDPゴシック" panose="020B0400000000000000" pitchFamily="50" charset="-128"/>
              <a:ea typeface="BIZ UDPゴシック" panose="020B0400000000000000" pitchFamily="50" charset="-128"/>
            </a:endParaRPr>
          </a:p>
          <a:p>
            <a:pPr indent="-276181">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説明する相手が期待する結論に応じ，ブレイクダウンの方向性を調整する</a:t>
            </a:r>
          </a:p>
          <a:p>
            <a:pPr indent="-276181">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EB72DFDF-77B8-6EE2-34B1-55A0F9AC728A}"/>
              </a:ext>
              <a:ext uri="{C183D7F6-B498-43B3-948B-1728B52AA6E4}">
                <adec:decorative xmlns:adec="http://schemas.microsoft.com/office/drawing/2017/decorative" val="1"/>
              </a:ext>
            </a:extLst>
          </p:cNvPr>
          <p:cNvCxnSpPr>
            <a:cxnSpLocks/>
          </p:cNvCxnSpPr>
          <p:nvPr/>
        </p:nvCxnSpPr>
        <p:spPr>
          <a:xfrm>
            <a:off x="7543800" y="1734296"/>
            <a:ext cx="3591462" cy="0"/>
          </a:xfrm>
          <a:prstGeom prst="line">
            <a:avLst/>
          </a:prstGeom>
          <a:ln w="28575">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EFD8DDA9-0C10-4B6A-8037-A6E7C46CEA35}"/>
              </a:ext>
            </a:extLst>
          </p:cNvPr>
          <p:cNvSpPr txBox="1"/>
          <p:nvPr/>
        </p:nvSpPr>
        <p:spPr>
          <a:xfrm>
            <a:off x="9159994" y="1507755"/>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意味</a:t>
            </a:r>
          </a:p>
        </p:txBody>
      </p:sp>
      <p:sp>
        <p:nvSpPr>
          <p:cNvPr id="21" name="テキスト ボックス 20">
            <a:extLst>
              <a:ext uri="{FF2B5EF4-FFF2-40B4-BE49-F238E27FC236}">
                <a16:creationId xmlns:a16="http://schemas.microsoft.com/office/drawing/2014/main" id="{2D114B0E-14D9-0D55-AE52-ABF270B739C2}"/>
              </a:ext>
            </a:extLst>
          </p:cNvPr>
          <p:cNvSpPr txBox="1"/>
          <p:nvPr/>
        </p:nvSpPr>
        <p:spPr>
          <a:xfrm>
            <a:off x="3208282" y="4146330"/>
            <a:ext cx="3591462" cy="1723549"/>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業務の達成度などを数値で測定するための指標である．重要業績指標と訳されることもある．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Plan-Do-Check-Action</a:t>
            </a:r>
            <a:r>
              <a:rPr lang="ja-JP" altLang="en-US" sz="1400" dirty="0">
                <a:latin typeface="BIZ UDPゴシック" panose="020B0400000000000000" pitchFamily="50" charset="-128"/>
                <a:ea typeface="BIZ UDPゴシック" panose="020B0400000000000000" pitchFamily="50" charset="-128"/>
              </a:rPr>
              <a:t>をスパイラルに進めることによって継続的な改善を推進する．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上位下達，下意上達の流れを表す</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664794A3-5446-4C34-2B57-59DF88214BAA}"/>
              </a:ext>
            </a:extLst>
          </p:cNvPr>
          <p:cNvSpPr txBox="1"/>
          <p:nvPr/>
        </p:nvSpPr>
        <p:spPr>
          <a:xfrm>
            <a:off x="7543800" y="4146330"/>
            <a:ext cx="3591462" cy="1077218"/>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有用性が認められる単位でなければ意味ない．</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必ず定期的な計画の立て直しを行う．</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どちらか片方だけではうまく働かない．</a:t>
            </a:r>
          </a:p>
          <a:p>
            <a:pPr marL="180975" indent="-180975">
              <a:buFont typeface="Arial" panose="020B0604020202020204" pitchFamily="34" charset="0"/>
              <a:buChar char="•"/>
            </a:pPr>
            <a:endParaRPr lang="ja-JP" altLang="en-US"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40578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01EDD-2064-B758-9723-6CBCB09867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5DBA4B-9818-7BCD-CF5F-94896D02F050}"/>
              </a:ext>
            </a:extLst>
          </p:cNvPr>
          <p:cNvSpPr>
            <a:spLocks noGrp="1"/>
          </p:cNvSpPr>
          <p:nvPr>
            <p:ph type="title"/>
          </p:nvPr>
        </p:nvSpPr>
        <p:spPr/>
        <p:txBody>
          <a:bodyPr/>
          <a:lstStyle/>
          <a:p>
            <a:r>
              <a:rPr kumimoji="1" lang="ja-JP" altLang="en-US" dirty="0"/>
              <a:t>各国企業における事業機会と連携の課題</a:t>
            </a:r>
          </a:p>
        </p:txBody>
      </p:sp>
      <p:sp>
        <p:nvSpPr>
          <p:cNvPr id="3" name="フッター プレースホルダー 2">
            <a:extLst>
              <a:ext uri="{FF2B5EF4-FFF2-40B4-BE49-F238E27FC236}">
                <a16:creationId xmlns:a16="http://schemas.microsoft.com/office/drawing/2014/main" id="{882882ED-042D-1A69-EEDD-39F7EE67FC12}"/>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E3B09A5-50A0-F40B-7A2F-2C219384A819}"/>
              </a:ext>
            </a:extLst>
          </p:cNvPr>
          <p:cNvSpPr>
            <a:spLocks noGrp="1"/>
          </p:cNvSpPr>
          <p:nvPr>
            <p:ph type="sldNum" sz="quarter" idx="12"/>
          </p:nvPr>
        </p:nvSpPr>
        <p:spPr/>
        <p:txBody>
          <a:bodyPr/>
          <a:lstStyle/>
          <a:p>
            <a:fld id="{DCB5AA93-092B-49A1-87A7-3C88D5F38AD7}" type="slidenum">
              <a:rPr lang="ja-JP" altLang="en-US" smtClean="0"/>
              <a:pPr/>
              <a:t>20</a:t>
            </a:fld>
            <a:endParaRPr lang="ja-JP" altLang="en-US"/>
          </a:p>
        </p:txBody>
      </p:sp>
      <p:sp>
        <p:nvSpPr>
          <p:cNvPr id="11" name="テキスト ボックス 10">
            <a:extLst>
              <a:ext uri="{FF2B5EF4-FFF2-40B4-BE49-F238E27FC236}">
                <a16:creationId xmlns:a16="http://schemas.microsoft.com/office/drawing/2014/main" id="{310F8D1F-52C9-70C7-25C2-E3D6449280D3}"/>
              </a:ext>
            </a:extLst>
          </p:cNvPr>
          <p:cNvSpPr txBox="1"/>
          <p:nvPr/>
        </p:nvSpPr>
        <p:spPr>
          <a:xfrm>
            <a:off x="1387218" y="1188900"/>
            <a:ext cx="2014975"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デジタルケイパビリティの強化</a:t>
            </a:r>
            <a:endParaRPr lang="en-US" altLang="ja-JP" sz="1200" dirty="0">
              <a:latin typeface="BIZ UDPゴシック" panose="020B0400000000000000" pitchFamily="50" charset="-128"/>
              <a:ea typeface="BIZ UDPゴシック" panose="020B0400000000000000" pitchFamily="50" charset="-128"/>
            </a:endParaRPr>
          </a:p>
        </p:txBody>
      </p:sp>
      <p:cxnSp>
        <p:nvCxnSpPr>
          <p:cNvPr id="16" name="直線コネクタ 15">
            <a:extLst>
              <a:ext uri="{FF2B5EF4-FFF2-40B4-BE49-F238E27FC236}">
                <a16:creationId xmlns:a16="http://schemas.microsoft.com/office/drawing/2014/main" id="{A9999E49-D555-98E7-A1EE-BF191E2DFB89}"/>
              </a:ext>
              <a:ext uri="{C183D7F6-B498-43B3-948B-1728B52AA6E4}">
                <adec:decorative xmlns:adec="http://schemas.microsoft.com/office/drawing/2017/decorative" val="1"/>
              </a:ext>
            </a:extLst>
          </p:cNvPr>
          <p:cNvCxnSpPr>
            <a:cxnSpLocks/>
          </p:cNvCxnSpPr>
          <p:nvPr/>
        </p:nvCxnSpPr>
        <p:spPr>
          <a:xfrm flipV="1">
            <a:off x="1344481" y="1367551"/>
            <a:ext cx="10439535"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CFFC2224-7846-63D9-51B3-08D0D0BBC3ED}"/>
              </a:ext>
            </a:extLst>
          </p:cNvPr>
          <p:cNvSpPr txBox="1"/>
          <p:nvPr/>
        </p:nvSpPr>
        <p:spPr>
          <a:xfrm>
            <a:off x="282470" y="2193409"/>
            <a:ext cx="1073089"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各国企業の</a:t>
            </a:r>
            <a:endParaRPr lang="en-US" altLang="ja-JP" sz="1200" dirty="0">
              <a:latin typeface="BIZ UDPゴシック" panose="020B0400000000000000" pitchFamily="50" charset="-128"/>
              <a:ea typeface="BIZ UDPゴシック" panose="020B0400000000000000" pitchFamily="50" charset="-128"/>
            </a:endParaRPr>
          </a:p>
          <a:p>
            <a:pPr algn="l"/>
            <a:r>
              <a:rPr lang="ja-JP" altLang="en-US" sz="1200" dirty="0">
                <a:latin typeface="BIZ UDPゴシック" panose="020B0400000000000000" pitchFamily="50" charset="-128"/>
                <a:ea typeface="BIZ UDPゴシック" panose="020B0400000000000000" pitchFamily="50" charset="-128"/>
              </a:rPr>
              <a:t>戦略方向性</a:t>
            </a:r>
            <a:endParaRPr kumimoji="1" lang="ja-JP" altLang="en-US" sz="1200" dirty="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7C054BE1-33E0-7FA8-9E62-8E641BC20F0C}"/>
              </a:ext>
            </a:extLst>
          </p:cNvPr>
          <p:cNvSpPr txBox="1"/>
          <p:nvPr/>
        </p:nvSpPr>
        <p:spPr>
          <a:xfrm>
            <a:off x="282470" y="3660434"/>
            <a:ext cx="1073088" cy="369332"/>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見た事業機会</a:t>
            </a:r>
          </a:p>
        </p:txBody>
      </p:sp>
      <p:sp>
        <p:nvSpPr>
          <p:cNvPr id="22" name="テキスト ボックス 21">
            <a:extLst>
              <a:ext uri="{FF2B5EF4-FFF2-40B4-BE49-F238E27FC236}">
                <a16:creationId xmlns:a16="http://schemas.microsoft.com/office/drawing/2014/main" id="{A5563B06-318E-1B38-C24E-F6D8CB7F8D91}"/>
              </a:ext>
            </a:extLst>
          </p:cNvPr>
          <p:cNvSpPr txBox="1"/>
          <p:nvPr/>
        </p:nvSpPr>
        <p:spPr>
          <a:xfrm>
            <a:off x="282470" y="5127459"/>
            <a:ext cx="1073088" cy="553998"/>
          </a:xfrm>
          <a:prstGeom prst="rect">
            <a:avLst/>
          </a:prstGeom>
          <a:noFill/>
        </p:spPr>
        <p:txBody>
          <a:bodyPr wrap="square" lIns="0" tIns="0" rIns="0" bIns="0" rtlCol="0">
            <a:spAutoFit/>
          </a:bodyPr>
          <a:lstStyle/>
          <a:p>
            <a:pPr algn="l"/>
            <a:r>
              <a:rPr lang="ja-JP" altLang="en-US" sz="1200" dirty="0">
                <a:latin typeface="BIZ UDPゴシック" panose="020B0400000000000000" pitchFamily="50" charset="-128"/>
                <a:ea typeface="BIZ UDPゴシック" panose="020B0400000000000000" pitchFamily="50" charset="-128"/>
              </a:rPr>
              <a:t>各国企業から</a:t>
            </a:r>
            <a:endParaRPr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見た連携の</a:t>
            </a:r>
            <a:endParaRPr kumimoji="1" lang="en-US" altLang="ja-JP" sz="1200" dirty="0">
              <a:latin typeface="BIZ UDPゴシック" panose="020B0400000000000000" pitchFamily="50" charset="-128"/>
              <a:ea typeface="BIZ UDPゴシック" panose="020B0400000000000000" pitchFamily="50" charset="-128"/>
            </a:endParaRPr>
          </a:p>
          <a:p>
            <a:pPr algn="l"/>
            <a:r>
              <a:rPr kumimoji="1" lang="ja-JP" altLang="en-US" sz="1200" dirty="0">
                <a:latin typeface="BIZ UDPゴシック" panose="020B0400000000000000" pitchFamily="50" charset="-128"/>
                <a:ea typeface="BIZ UDPゴシック" panose="020B0400000000000000" pitchFamily="50" charset="-128"/>
              </a:rPr>
              <a:t>課題</a:t>
            </a:r>
          </a:p>
        </p:txBody>
      </p:sp>
      <p:sp>
        <p:nvSpPr>
          <p:cNvPr id="23" name="テキスト ボックス 22">
            <a:extLst>
              <a:ext uri="{FF2B5EF4-FFF2-40B4-BE49-F238E27FC236}">
                <a16:creationId xmlns:a16="http://schemas.microsoft.com/office/drawing/2014/main" id="{F3D6B38F-6D60-01E4-2BAE-841CB41407CD}"/>
              </a:ext>
            </a:extLst>
          </p:cNvPr>
          <p:cNvSpPr txBox="1"/>
          <p:nvPr/>
        </p:nvSpPr>
        <p:spPr>
          <a:xfrm>
            <a:off x="4075593" y="1182885"/>
            <a:ext cx="204863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サプライチェーン分散化の支援</a:t>
            </a:r>
            <a:endParaRPr lang="en-US" altLang="ja-JP" sz="1200" dirty="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D6F39B35-4BC4-F32E-0485-0D23686579DA}"/>
              </a:ext>
            </a:extLst>
          </p:cNvPr>
          <p:cNvSpPr txBox="1"/>
          <p:nvPr/>
        </p:nvSpPr>
        <p:spPr>
          <a:xfrm>
            <a:off x="1387218" y="1446703"/>
            <a:ext cx="1149354"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サービス</a:t>
            </a:r>
            <a:endParaRPr lang="en-US" altLang="ja-JP" sz="1200"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CA13AA76-CDF0-766A-6907-4C9A9CA57EC3}"/>
              </a:ext>
            </a:extLst>
          </p:cNvPr>
          <p:cNvSpPr txBox="1"/>
          <p:nvPr/>
        </p:nvSpPr>
        <p:spPr>
          <a:xfrm>
            <a:off x="1387218" y="215237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高付加価値化</a:t>
            </a:r>
            <a:r>
              <a:rPr lang="en-US" altLang="ja-JP" sz="1200" dirty="0">
                <a:solidFill>
                  <a:schemeClr val="accent1"/>
                </a:solidFill>
                <a:latin typeface="BIZ UDPゴシック" panose="020B0400000000000000" pitchFamily="50" charset="-128"/>
                <a:ea typeface="BIZ UDPゴシック" panose="020B0400000000000000" pitchFamily="50" charset="-128"/>
              </a:rPr>
              <a:t> / </a:t>
            </a:r>
            <a:r>
              <a:rPr lang="ja-JP" altLang="en-US" sz="1200" dirty="0">
                <a:solidFill>
                  <a:schemeClr val="accent1"/>
                </a:solidFill>
                <a:latin typeface="BIZ UDPゴシック" panose="020B0400000000000000" pitchFamily="50" charset="-128"/>
                <a:ea typeface="BIZ UDPゴシック" panose="020B0400000000000000" pitchFamily="50" charset="-128"/>
              </a:rPr>
              <a:t>売上の分散化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バリューチェーン上流への進出による付加価値の向上や、特定国・顧客への依存度の低減に注力</a:t>
            </a:r>
            <a:endParaRPr lang="en-US" altLang="ja-JP" sz="1200" dirty="0">
              <a:latin typeface="BIZ UDPゴシック" panose="020B0400000000000000" pitchFamily="50" charset="-128"/>
              <a:ea typeface="BIZ UDPゴシック" panose="020B0400000000000000" pitchFamily="50" charset="-128"/>
            </a:endParaRPr>
          </a:p>
          <a:p>
            <a:pPr marL="342900" indent="-342900">
              <a:buFont typeface="+mj-ea"/>
              <a:buAutoNum type="circleNumDbPlain"/>
            </a:pPr>
            <a:endParaRPr lang="en-US" altLang="ja-JP" sz="12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6838973B-FA7D-6902-77CB-9A7F122C7B8F}"/>
              </a:ext>
            </a:extLst>
          </p:cNvPr>
          <p:cNvSpPr txBox="1"/>
          <p:nvPr/>
        </p:nvSpPr>
        <p:spPr>
          <a:xfrm>
            <a:off x="4075593" y="1446703"/>
            <a:ext cx="1237518" cy="184666"/>
          </a:xfrm>
          <a:prstGeom prst="rect">
            <a:avLst/>
          </a:prstGeom>
          <a:noFill/>
        </p:spPr>
        <p:txBody>
          <a:bodyPr wrap="none" lIns="0" tIns="0" rIns="0" bIns="0" rtlCol="0">
            <a:spAutoFit/>
          </a:bodyPr>
          <a:lstStyle/>
          <a:p>
            <a:r>
              <a:rPr lang="ja-JP" altLang="en-US" sz="1200" dirty="0">
                <a:latin typeface="BIZ UDPゴシック" panose="020B0400000000000000" pitchFamily="50" charset="-128"/>
                <a:ea typeface="BIZ UDPゴシック" panose="020B0400000000000000" pitchFamily="50" charset="-128"/>
              </a:rPr>
              <a:t>インド自動車・部品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C8976FD-B08A-572B-0C42-9C03BF2D89E2}"/>
              </a:ext>
            </a:extLst>
          </p:cNvPr>
          <p:cNvSpPr txBox="1"/>
          <p:nvPr/>
        </p:nvSpPr>
        <p:spPr>
          <a:xfrm>
            <a:off x="6763968" y="1446703"/>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90761BA6-EC62-997D-D91E-74B0FFB83748}"/>
              </a:ext>
            </a:extLst>
          </p:cNvPr>
          <p:cNvSpPr txBox="1"/>
          <p:nvPr/>
        </p:nvSpPr>
        <p:spPr>
          <a:xfrm>
            <a:off x="6763968" y="2152379"/>
            <a:ext cx="2520904" cy="1107996"/>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顧客基盤の多様化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市場成長が鈍化する中、バリューチェーンのポジションアップを志向</a:t>
            </a:r>
            <a:endParaRPr lang="en-US" altLang="ja-JP" sz="1200" dirty="0">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EV</a:t>
            </a:r>
            <a:r>
              <a:rPr lang="ja-JP" altLang="en-US" sz="1200" dirty="0">
                <a:latin typeface="BIZ UDPゴシック" panose="020B0400000000000000" pitchFamily="50" charset="-128"/>
                <a:ea typeface="BIZ UDPゴシック" panose="020B0400000000000000" pitchFamily="50" charset="-128"/>
              </a:rPr>
              <a:t>等で対等してきている中華系</a:t>
            </a:r>
            <a:r>
              <a:rPr lang="en-US" altLang="ja-JP" sz="1200" dirty="0">
                <a:latin typeface="BIZ UDPゴシック" panose="020B0400000000000000" pitchFamily="50" charset="-128"/>
                <a:ea typeface="BIZ UDPゴシック" panose="020B0400000000000000" pitchFamily="50" charset="-128"/>
              </a:rPr>
              <a:t>OEM</a:t>
            </a:r>
            <a:r>
              <a:rPr lang="ja-JP" altLang="en-US" sz="1200" dirty="0">
                <a:latin typeface="BIZ UDPゴシック" panose="020B0400000000000000" pitchFamily="50" charset="-128"/>
                <a:ea typeface="BIZ UDPゴシック" panose="020B0400000000000000" pitchFamily="50" charset="-128"/>
              </a:rPr>
              <a:t>とも連携強化し、取り込みの多角化を検討</a:t>
            </a:r>
            <a:endParaRPr lang="en-US" altLang="ja-JP" sz="1200" dirty="0">
              <a:latin typeface="BIZ UDPゴシック" panose="020B0400000000000000" pitchFamily="50" charset="-128"/>
              <a:ea typeface="BIZ UDPゴシック" panose="020B0400000000000000" pitchFamily="50" charset="-128"/>
            </a:endParaRPr>
          </a:p>
        </p:txBody>
      </p:sp>
      <p:cxnSp>
        <p:nvCxnSpPr>
          <p:cNvPr id="32" name="直線コネクタ 31">
            <a:extLst>
              <a:ext uri="{FF2B5EF4-FFF2-40B4-BE49-F238E27FC236}">
                <a16:creationId xmlns:a16="http://schemas.microsoft.com/office/drawing/2014/main" id="{24CD37A7-CB1F-0635-AAB9-C582E9C0D2F8}"/>
              </a:ext>
              <a:ext uri="{C183D7F6-B498-43B3-948B-1728B52AA6E4}">
                <adec:decorative xmlns:adec="http://schemas.microsoft.com/office/drawing/2017/decorative" val="1"/>
              </a:ext>
            </a:extLst>
          </p:cNvPr>
          <p:cNvCxnSpPr>
            <a:cxnSpLocks/>
          </p:cNvCxnSpPr>
          <p:nvPr/>
        </p:nvCxnSpPr>
        <p:spPr>
          <a:xfrm flipV="1">
            <a:off x="1344482" y="1631369"/>
            <a:ext cx="10439534" cy="3077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8" name="テキスト ボックス 37">
            <a:extLst>
              <a:ext uri="{FF2B5EF4-FFF2-40B4-BE49-F238E27FC236}">
                <a16:creationId xmlns:a16="http://schemas.microsoft.com/office/drawing/2014/main" id="{1B6FD8D2-1362-D28D-554C-B0AB88DD075E}"/>
              </a:ext>
            </a:extLst>
          </p:cNvPr>
          <p:cNvSpPr txBox="1"/>
          <p:nvPr/>
        </p:nvSpPr>
        <p:spPr>
          <a:xfrm>
            <a:off x="9452342" y="1446703"/>
            <a:ext cx="1437317" cy="184666"/>
          </a:xfrm>
          <a:prstGeom prst="rect">
            <a:avLst/>
          </a:prstGeom>
          <a:noFill/>
        </p:spPr>
        <p:txBody>
          <a:bodyPr wrap="non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ASEAN</a:t>
            </a:r>
            <a:r>
              <a:rPr lang="ja-JP" altLang="en-US" sz="1200" dirty="0">
                <a:latin typeface="BIZ UDPゴシック" panose="020B0400000000000000" pitchFamily="50" charset="-128"/>
                <a:ea typeface="BIZ UDPゴシック" panose="020B0400000000000000" pitchFamily="50" charset="-128"/>
              </a:rPr>
              <a:t>自動車・部品</a:t>
            </a:r>
            <a:endParaRPr lang="en-US" altLang="ja-JP" sz="1200" dirty="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5184BCD8-D841-B099-BDBE-F8E7C2EAD4F5}"/>
              </a:ext>
            </a:extLst>
          </p:cNvPr>
          <p:cNvSpPr txBox="1"/>
          <p:nvPr/>
        </p:nvSpPr>
        <p:spPr>
          <a:xfrm>
            <a:off x="9452342" y="215237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スケール拡大</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高付加価値化</a:t>
            </a:r>
            <a:r>
              <a:rPr lang="en-US" altLang="ja-JP" sz="1200" dirty="0">
                <a:solidFill>
                  <a:schemeClr val="accent1"/>
                </a:solidFill>
                <a:latin typeface="BIZ UDPゴシック" panose="020B0400000000000000" pitchFamily="50" charset="-128"/>
                <a:ea typeface="BIZ UDPゴシック" panose="020B0400000000000000" pitchFamily="50" charset="-128"/>
              </a:rPr>
              <a:t>/</a:t>
            </a:r>
            <a:r>
              <a:rPr lang="ja-JP" altLang="en-US" sz="1200" dirty="0">
                <a:solidFill>
                  <a:schemeClr val="accent1"/>
                </a:solidFill>
                <a:latin typeface="BIZ UDPゴシック" panose="020B0400000000000000" pitchFamily="50" charset="-128"/>
                <a:ea typeface="BIZ UDPゴシック" panose="020B0400000000000000" pitchFamily="50" charset="-128"/>
              </a:rPr>
              <a:t>顧客基盤の多様化</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組立の価値減少に伴い、スケール化によるコスト削減と、上流工程進出による付加価値向上を狙う</a:t>
            </a:r>
            <a:endParaRPr lang="en-US" altLang="ja-JP" sz="1200" dirty="0">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CBED3742-824A-A38F-D242-D561320082B2}"/>
              </a:ext>
            </a:extLst>
          </p:cNvPr>
          <p:cNvSpPr txBox="1"/>
          <p:nvPr/>
        </p:nvSpPr>
        <p:spPr>
          <a:xfrm>
            <a:off x="4075593" y="215237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国内市場の生産・販売拡大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国内市場の成長に合わせ、自社の生産・供給を増加し、成長を取り込みたい</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AC06D8F5-BC31-EABD-D0CF-1CA42600C445}"/>
              </a:ext>
            </a:extLst>
          </p:cNvPr>
          <p:cNvSpPr txBox="1"/>
          <p:nvPr/>
        </p:nvSpPr>
        <p:spPr>
          <a:xfrm>
            <a:off x="1387218"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日本市場における売上拡大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日系企業へのアプローチ・売上を拡大したい </a:t>
            </a:r>
            <a:r>
              <a:rPr lang="en-US" altLang="ja-JP" sz="1200" dirty="0">
                <a:latin typeface="BIZ UDPゴシック" panose="020B0400000000000000" pitchFamily="50" charset="-128"/>
                <a:ea typeface="BIZ UDPゴシック" panose="020B0400000000000000" pitchFamily="50" charset="-128"/>
              </a:rPr>
              <a:t>(</a:t>
            </a:r>
            <a:r>
              <a:rPr lang="ja-JP" altLang="en-US" sz="1200" dirty="0">
                <a:latin typeface="BIZ UDPゴシック" panose="020B0400000000000000" pitchFamily="50" charset="-128"/>
                <a:ea typeface="BIZ UDPゴシック" panose="020B0400000000000000" pitchFamily="50" charset="-128"/>
              </a:rPr>
              <a:t>特に</a:t>
            </a:r>
            <a:r>
              <a:rPr lang="en-US" altLang="ja-JP" sz="1200" dirty="0">
                <a:latin typeface="BIZ UDPゴシック" panose="020B0400000000000000" pitchFamily="50" charset="-128"/>
                <a:ea typeface="BIZ UDPゴシック" panose="020B0400000000000000" pitchFamily="50" charset="-128"/>
              </a:rPr>
              <a:t>IT</a:t>
            </a:r>
            <a:r>
              <a:rPr lang="ja-JP" altLang="en-US" sz="1200" dirty="0">
                <a:latin typeface="BIZ UDPゴシック" panose="020B0400000000000000" pitchFamily="50" charset="-128"/>
                <a:ea typeface="BIZ UDPゴシック" panose="020B0400000000000000" pitchFamily="50" charset="-128"/>
              </a:rPr>
              <a:t>開発のアウトソース、先端デジタル技術のインプリ等</a:t>
            </a:r>
            <a:r>
              <a:rPr lang="en-US" altLang="ja-JP" sz="1200" dirty="0">
                <a:latin typeface="BIZ UDPゴシック" panose="020B0400000000000000" pitchFamily="50" charset="-128"/>
                <a:ea typeface="BIZ UDPゴシック" panose="020B0400000000000000" pitchFamily="50" charset="-128"/>
              </a:rPr>
              <a:t>)</a:t>
            </a:r>
          </a:p>
        </p:txBody>
      </p:sp>
      <p:sp>
        <p:nvSpPr>
          <p:cNvPr id="67" name="テキスト ボックス 66">
            <a:extLst>
              <a:ext uri="{FF2B5EF4-FFF2-40B4-BE49-F238E27FC236}">
                <a16:creationId xmlns:a16="http://schemas.microsoft.com/office/drawing/2014/main" id="{33947AC8-8810-1CCB-069F-57AF233AE17E}"/>
              </a:ext>
            </a:extLst>
          </p:cNvPr>
          <p:cNvSpPr txBox="1"/>
          <p:nvPr/>
        </p:nvSpPr>
        <p:spPr>
          <a:xfrm>
            <a:off x="9452342"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日本企業からの技術取得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solidFill>
                  <a:schemeClr val="accent1"/>
                </a:solidFill>
                <a:latin typeface="BIZ UDPゴシック" panose="020B0400000000000000" pitchFamily="50" charset="-128"/>
                <a:ea typeface="BIZ UDPゴシック" panose="020B0400000000000000" pitchFamily="50" charset="-128"/>
              </a:rPr>
              <a:t>設計や調達までバリューチェーンを広げるうえで、高付加価値工程を含めた製造技術・ノウハウを取得したい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25F9C747-A698-E0E7-2FB4-5E6FE07F6B2B}"/>
              </a:ext>
            </a:extLst>
          </p:cNvPr>
          <p:cNvSpPr txBox="1"/>
          <p:nvPr/>
        </p:nvSpPr>
        <p:spPr>
          <a:xfrm>
            <a:off x="4075593" y="3658274"/>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日系企業からの技術・チャネル取得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設計技術の不足、品質のばらつきに対して、日系企業から製造・生産技術を取得したい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69" name="テキスト ボックス 68">
            <a:extLst>
              <a:ext uri="{FF2B5EF4-FFF2-40B4-BE49-F238E27FC236}">
                <a16:creationId xmlns:a16="http://schemas.microsoft.com/office/drawing/2014/main" id="{834625DF-64F7-51D8-DF9E-EBD0FBBC877A}"/>
              </a:ext>
            </a:extLst>
          </p:cNvPr>
          <p:cNvSpPr txBox="1"/>
          <p:nvPr/>
        </p:nvSpPr>
        <p:spPr>
          <a:xfrm>
            <a:off x="6763967" y="3658274"/>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日本企業からの技術取得</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自律的に仕様変更するための設計・製造技術やバリューチェーン横ぐしでの生産・調達管理のノウハウを取得したい</a:t>
            </a:r>
            <a:endParaRPr lang="en-US" altLang="ja-JP" sz="1200" dirty="0">
              <a:latin typeface="BIZ UDPゴシック" panose="020B0400000000000000" pitchFamily="50" charset="-128"/>
              <a:ea typeface="BIZ UDPゴシック" panose="020B0400000000000000" pitchFamily="50" charset="-128"/>
            </a:endParaRPr>
          </a:p>
        </p:txBody>
      </p:sp>
      <p:sp>
        <p:nvSpPr>
          <p:cNvPr id="70" name="テキスト ボックス 69">
            <a:extLst>
              <a:ext uri="{FF2B5EF4-FFF2-40B4-BE49-F238E27FC236}">
                <a16:creationId xmlns:a16="http://schemas.microsoft.com/office/drawing/2014/main" id="{8EA21EF6-ECE0-E6A3-E5FA-F66B38FD680A}"/>
              </a:ext>
            </a:extLst>
          </p:cNvPr>
          <p:cNvSpPr txBox="1"/>
          <p:nvPr/>
        </p:nvSpPr>
        <p:spPr>
          <a:xfrm>
            <a:off x="1387218" y="512745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案件の複雑性・収益性の低さ</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個社側の要望が多く、要望水準も高いため、案件が難易度で利益が出づらい</a:t>
            </a:r>
            <a:endParaRPr lang="en-US" altLang="ja-JP" sz="1200" dirty="0">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5BF946E5-AA94-5BA2-C80A-C40AB6D64BBB}"/>
              </a:ext>
            </a:extLst>
          </p:cNvPr>
          <p:cNvSpPr txBox="1"/>
          <p:nvPr/>
        </p:nvSpPr>
        <p:spPr>
          <a:xfrm>
            <a:off x="9452342" y="5127459"/>
            <a:ext cx="2520904" cy="738664"/>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高付加価値工程・技術の囲い込み</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
        <p:nvSpPr>
          <p:cNvPr id="76" name="テキスト ボックス 75">
            <a:extLst>
              <a:ext uri="{FF2B5EF4-FFF2-40B4-BE49-F238E27FC236}">
                <a16:creationId xmlns:a16="http://schemas.microsoft.com/office/drawing/2014/main" id="{D3B2177F-FC9D-230D-BBC4-4D5D439A70D0}"/>
              </a:ext>
            </a:extLst>
          </p:cNvPr>
          <p:cNvSpPr txBox="1"/>
          <p:nvPr/>
        </p:nvSpPr>
        <p:spPr>
          <a:xfrm>
            <a:off x="4075593" y="512745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必要以上の品質基準の高さ</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71450" indent="-171450">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インドでは前提としている耐用期間や原価構造が異なり、国内基準をそのまま適用すると、オーバースペックでコストも見合わない</a:t>
            </a:r>
            <a:endParaRPr lang="en-US" altLang="ja-JP" sz="1200" dirty="0">
              <a:latin typeface="BIZ UDPゴシック" panose="020B0400000000000000" pitchFamily="50" charset="-128"/>
              <a:ea typeface="BIZ UDPゴシック" panose="020B0400000000000000" pitchFamily="50" charset="-128"/>
            </a:endParaRPr>
          </a:p>
        </p:txBody>
      </p:sp>
      <p:sp>
        <p:nvSpPr>
          <p:cNvPr id="77" name="テキスト ボックス 76">
            <a:extLst>
              <a:ext uri="{FF2B5EF4-FFF2-40B4-BE49-F238E27FC236}">
                <a16:creationId xmlns:a16="http://schemas.microsoft.com/office/drawing/2014/main" id="{046A269E-1609-AB72-4618-43B39CD390D9}"/>
              </a:ext>
            </a:extLst>
          </p:cNvPr>
          <p:cNvSpPr txBox="1"/>
          <p:nvPr/>
        </p:nvSpPr>
        <p:spPr>
          <a:xfrm>
            <a:off x="6763967" y="5127459"/>
            <a:ext cx="2520904" cy="923330"/>
          </a:xfrm>
          <a:prstGeom prst="rect">
            <a:avLst/>
          </a:prstGeom>
          <a:noFill/>
        </p:spPr>
        <p:txBody>
          <a:bodyPr wrap="square" lIns="0" tIns="0" rIns="0" bIns="0" rtlCol="0">
            <a:spAutoFit/>
          </a:bodyPr>
          <a:lstStyle/>
          <a:p>
            <a:r>
              <a:rPr lang="ja-JP" altLang="en-US" sz="1200" dirty="0">
                <a:solidFill>
                  <a:schemeClr val="accent1"/>
                </a:solidFill>
                <a:latin typeface="BIZ UDPゴシック" panose="020B0400000000000000" pitchFamily="50" charset="-128"/>
                <a:ea typeface="BIZ UDPゴシック" panose="020B0400000000000000" pitchFamily="50" charset="-128"/>
              </a:rPr>
              <a:t>高付加価値工程・技術の囲い込み</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pPr marL="182563" indent="-182563">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設計工程や基幹部材に対する技術・ノウハウが、自社もしくは系列サプライヤーで秘匿され開示されない</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293042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36C4-4630-8134-D198-36AA0FFA7C3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1ED5680-D280-C7BD-17F7-0C7DDA996970}"/>
              </a:ext>
            </a:extLst>
          </p:cNvPr>
          <p:cNvSpPr>
            <a:spLocks noGrp="1"/>
          </p:cNvSpPr>
          <p:nvPr>
            <p:ph type="title"/>
          </p:nvPr>
        </p:nvSpPr>
        <p:spPr/>
        <p:txBody>
          <a:bodyPr/>
          <a:lstStyle/>
          <a:p>
            <a:r>
              <a:rPr kumimoji="1" lang="ja-JP" altLang="en-US" dirty="0"/>
              <a:t>どのようなインセンティブを選択するか、どのような水準とするか、複数の指標によって評価</a:t>
            </a:r>
          </a:p>
        </p:txBody>
      </p:sp>
      <p:sp>
        <p:nvSpPr>
          <p:cNvPr id="3" name="フッター プレースホルダー 2">
            <a:extLst>
              <a:ext uri="{FF2B5EF4-FFF2-40B4-BE49-F238E27FC236}">
                <a16:creationId xmlns:a16="http://schemas.microsoft.com/office/drawing/2014/main" id="{931B98C8-BE43-6904-67D8-CC66DD32AE1B}"/>
              </a:ext>
            </a:extLst>
          </p:cNvPr>
          <p:cNvSpPr>
            <a:spLocks noGrp="1"/>
          </p:cNvSpPr>
          <p:nvPr>
            <p:ph type="ftr" sz="quarter" idx="11"/>
          </p:nvPr>
        </p:nvSpPr>
        <p:spPr>
          <a:xfrm>
            <a:off x="407990" y="6446646"/>
            <a:ext cx="7745413" cy="365125"/>
          </a:xfrm>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297AD376-4AF8-8F9C-2C2D-E23DA1476A88}"/>
              </a:ext>
            </a:extLst>
          </p:cNvPr>
          <p:cNvSpPr>
            <a:spLocks noGrp="1"/>
          </p:cNvSpPr>
          <p:nvPr>
            <p:ph type="sldNum" sz="quarter" idx="12"/>
          </p:nvPr>
        </p:nvSpPr>
        <p:spPr/>
        <p:txBody>
          <a:bodyPr/>
          <a:lstStyle/>
          <a:p>
            <a:fld id="{DCB5AA93-092B-49A1-87A7-3C88D5F38AD7}" type="slidenum">
              <a:rPr lang="ja-JP" altLang="en-US" smtClean="0"/>
              <a:pPr/>
              <a:t>21</a:t>
            </a:fld>
            <a:endParaRPr lang="ja-JP" altLang="en-US"/>
          </a:p>
        </p:txBody>
      </p:sp>
      <p:sp>
        <p:nvSpPr>
          <p:cNvPr id="5" name="テキスト プレースホルダー 4">
            <a:extLst>
              <a:ext uri="{FF2B5EF4-FFF2-40B4-BE49-F238E27FC236}">
                <a16:creationId xmlns:a16="http://schemas.microsoft.com/office/drawing/2014/main" id="{DDEAB822-4452-9A32-257B-606DC79D381B}"/>
              </a:ext>
            </a:extLst>
          </p:cNvPr>
          <p:cNvSpPr>
            <a:spLocks noGrp="1"/>
          </p:cNvSpPr>
          <p:nvPr>
            <p:ph type="body" sz="quarter" idx="13"/>
          </p:nvPr>
        </p:nvSpPr>
        <p:spPr>
          <a:xfrm>
            <a:off x="0" y="914401"/>
            <a:ext cx="12192000" cy="507074"/>
          </a:xfrm>
        </p:spPr>
        <p:txBody>
          <a:bodyPr/>
          <a:lstStyle/>
          <a:p>
            <a:r>
              <a:rPr kumimoji="1" lang="ja-JP" altLang="en-US" dirty="0"/>
              <a:t>インセンティブを評価するための指標 </a:t>
            </a:r>
            <a:r>
              <a:rPr kumimoji="1" lang="en-US" altLang="ja-JP" dirty="0"/>
              <a:t>(</a:t>
            </a:r>
            <a:r>
              <a:rPr kumimoji="1" lang="ja-JP" altLang="en-US" dirty="0"/>
              <a:t>中東某国における実例</a:t>
            </a:r>
            <a:r>
              <a:rPr kumimoji="1" lang="en-US" altLang="ja-JP" dirty="0"/>
              <a:t>)</a:t>
            </a:r>
          </a:p>
        </p:txBody>
      </p:sp>
      <p:sp>
        <p:nvSpPr>
          <p:cNvPr id="6" name="テキスト ボックス 5">
            <a:extLst>
              <a:ext uri="{FF2B5EF4-FFF2-40B4-BE49-F238E27FC236}">
                <a16:creationId xmlns:a16="http://schemas.microsoft.com/office/drawing/2014/main" id="{5573D388-E70C-1BD4-7438-934151118468}"/>
              </a:ext>
            </a:extLst>
          </p:cNvPr>
          <p:cNvSpPr txBox="1"/>
          <p:nvPr/>
        </p:nvSpPr>
        <p:spPr>
          <a:xfrm>
            <a:off x="454436" y="1822376"/>
            <a:ext cx="1624013" cy="215443"/>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政府</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8" name="直線コネクタ 7">
            <a:extLst>
              <a:ext uri="{FF2B5EF4-FFF2-40B4-BE49-F238E27FC236}">
                <a16:creationId xmlns:a16="http://schemas.microsoft.com/office/drawing/2014/main" id="{8D6EDA88-E3DC-9556-47EE-AB9B5311C678}"/>
              </a:ext>
            </a:extLst>
          </p:cNvPr>
          <p:cNvCxnSpPr>
            <a:cxnSpLocks/>
          </p:cNvCxnSpPr>
          <p:nvPr/>
        </p:nvCxnSpPr>
        <p:spPr>
          <a:xfrm>
            <a:off x="454436" y="1732085"/>
            <a:ext cx="8864277"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1" name="テキスト ボックス 10">
            <a:extLst>
              <a:ext uri="{FF2B5EF4-FFF2-40B4-BE49-F238E27FC236}">
                <a16:creationId xmlns:a16="http://schemas.microsoft.com/office/drawing/2014/main" id="{338E92EC-DED4-8DAA-02FF-5FC93724CAD8}"/>
              </a:ext>
            </a:extLst>
          </p:cNvPr>
          <p:cNvSpPr txBox="1"/>
          <p:nvPr/>
        </p:nvSpPr>
        <p:spPr>
          <a:xfrm>
            <a:off x="454437" y="1516641"/>
            <a:ext cx="1624012" cy="215444"/>
          </a:xfrm>
          <a:prstGeom prst="rect">
            <a:avLst/>
          </a:prstGeom>
          <a:noFill/>
        </p:spPr>
        <p:txBody>
          <a:bodyPr wrap="square" lIns="0" tIns="0" rIns="0" bIns="0" rtlCol="0" anchor="t" anchorCtr="0">
            <a:spAutoFit/>
          </a:bodyPr>
          <a:lstStyle/>
          <a:p>
            <a:pPr algn="l"/>
            <a:r>
              <a:rPr lang="ja-JP" altLang="en-US" sz="1400" b="1" dirty="0">
                <a:latin typeface="BIZ UDPゴシック" panose="020B0400000000000000" pitchFamily="50" charset="-128"/>
                <a:ea typeface="BIZ UDPゴシック" panose="020B0400000000000000" pitchFamily="50" charset="-128"/>
              </a:rPr>
              <a:t>ステークホルダー</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FF69CA7E-A1BB-2B84-F4F1-36F9989173AE}"/>
              </a:ext>
            </a:extLst>
          </p:cNvPr>
          <p:cNvSpPr txBox="1"/>
          <p:nvPr/>
        </p:nvSpPr>
        <p:spPr>
          <a:xfrm>
            <a:off x="2353932" y="1516640"/>
            <a:ext cx="1134005"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切り口</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83F8507A-966A-EBD5-403D-451699576E98}"/>
              </a:ext>
            </a:extLst>
          </p:cNvPr>
          <p:cNvSpPr txBox="1"/>
          <p:nvPr/>
        </p:nvSpPr>
        <p:spPr>
          <a:xfrm>
            <a:off x="3837830" y="1822376"/>
            <a:ext cx="4315573" cy="430887"/>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インセンティブコストの現在価値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インセンティブコストの名目価値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76C43455-8CB4-9C56-DE49-13C7A028894A}"/>
              </a:ext>
            </a:extLst>
          </p:cNvPr>
          <p:cNvSpPr txBox="1"/>
          <p:nvPr/>
        </p:nvSpPr>
        <p:spPr>
          <a:xfrm>
            <a:off x="2353933" y="182237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政府のコスト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47" name="テキスト ボックス 46">
            <a:extLst>
              <a:ext uri="{FF2B5EF4-FFF2-40B4-BE49-F238E27FC236}">
                <a16:creationId xmlns:a16="http://schemas.microsoft.com/office/drawing/2014/main" id="{4C2E23AA-132C-CAC9-1C25-6F836F6985FF}"/>
              </a:ext>
            </a:extLst>
          </p:cNvPr>
          <p:cNvSpPr txBox="1"/>
          <p:nvPr/>
        </p:nvSpPr>
        <p:spPr>
          <a:xfrm>
            <a:off x="9806636" y="3202317"/>
            <a:ext cx="1889808" cy="2154436"/>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予測正味現在価値割合への限界効果</a:t>
            </a:r>
            <a:endParaRPr kumimoji="1" lang="en-US" altLang="ja-JP" sz="1400" dirty="0">
              <a:latin typeface="BIZ UDPゴシック" panose="020B0400000000000000" pitchFamily="50" charset="-128"/>
              <a:ea typeface="BIZ UDPゴシック" panose="020B0400000000000000" pitchFamily="50" charset="-128"/>
            </a:endParaRP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en-US" altLang="ja-JP" sz="1400" dirty="0">
                <a:latin typeface="BIZ UDPゴシック" panose="020B0400000000000000" pitchFamily="50" charset="-128"/>
                <a:ea typeface="BIZ UDPゴシック" panose="020B0400000000000000" pitchFamily="50" charset="-128"/>
              </a:rPr>
              <a:t>=</a:t>
            </a:r>
          </a:p>
          <a:p>
            <a:pPr algn="l"/>
            <a:endParaRPr lang="en-US" altLang="ja-JP" sz="1400" dirty="0">
              <a:latin typeface="BIZ UDPゴシック" panose="020B0400000000000000" pitchFamily="50" charset="-128"/>
              <a:ea typeface="BIZ UDPゴシック" panose="020B0400000000000000" pitchFamily="50" charset="-128"/>
            </a:endParaRPr>
          </a:p>
          <a:p>
            <a:pPr algn="l"/>
            <a:r>
              <a:rPr kumimoji="1" lang="ja-JP" altLang="en-US" sz="1400" dirty="0">
                <a:latin typeface="BIZ UDPゴシック" panose="020B0400000000000000" pitchFamily="50" charset="-128"/>
                <a:ea typeface="BIZ UDPゴシック" panose="020B0400000000000000" pitchFamily="50" charset="-128"/>
              </a:rPr>
              <a:t>株主資本正味現在価値</a:t>
            </a:r>
            <a:endParaRPr kumimoji="1" lang="en-US" altLang="ja-JP" sz="1400" dirty="0">
              <a:latin typeface="BIZ UDPゴシック" panose="020B0400000000000000" pitchFamily="50" charset="-128"/>
              <a:ea typeface="BIZ UDPゴシック" panose="020B0400000000000000" pitchFamily="50" charset="-128"/>
            </a:endParaRPr>
          </a:p>
          <a:p>
            <a:pPr algn="l"/>
            <a:r>
              <a:rPr lang="en-US" altLang="ja-JP" sz="1400" dirty="0">
                <a:latin typeface="BIZ UDPゴシック" panose="020B0400000000000000" pitchFamily="50" charset="-128"/>
                <a:ea typeface="BIZ UDPゴシック" panose="020B0400000000000000" pitchFamily="50" charset="-128"/>
              </a:rPr>
              <a:t>-----------------------</a:t>
            </a:r>
          </a:p>
          <a:p>
            <a:pPr algn="l"/>
            <a:r>
              <a:rPr kumimoji="1" lang="ja-JP" altLang="en-US" sz="1400" dirty="0">
                <a:latin typeface="BIZ UDPゴシック" panose="020B0400000000000000" pitchFamily="50" charset="-128"/>
                <a:ea typeface="BIZ UDPゴシック" panose="020B0400000000000000" pitchFamily="50" charset="-128"/>
              </a:rPr>
              <a:t>インセンティブコストの現在価値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E66FFE2E-E7AA-E981-F467-E1C6B94DABB8}"/>
              </a:ext>
            </a:extLst>
          </p:cNvPr>
          <p:cNvSpPr txBox="1"/>
          <p:nvPr/>
        </p:nvSpPr>
        <p:spPr>
          <a:xfrm>
            <a:off x="3837830" y="1516640"/>
            <a:ext cx="747480" cy="215444"/>
          </a:xfrm>
          <a:prstGeom prst="rect">
            <a:avLst/>
          </a:prstGeom>
          <a:noFill/>
        </p:spPr>
        <p:txBody>
          <a:bodyPr wrap="square" lIns="0" tIns="0" rIns="0" bIns="0" rtlCol="0" anchor="t" anchorCtr="0">
            <a:spAutoFit/>
          </a:bodyPr>
          <a:lstStyle/>
          <a:p>
            <a:pPr algn="l"/>
            <a:r>
              <a:rPr kumimoji="1" lang="ja-JP" altLang="en-US" sz="1400" b="1" dirty="0">
                <a:latin typeface="BIZ UDPゴシック" panose="020B0400000000000000" pitchFamily="50" charset="-128"/>
                <a:ea typeface="BIZ UDPゴシック" panose="020B0400000000000000" pitchFamily="50" charset="-128"/>
              </a:rPr>
              <a:t>判断指標</a:t>
            </a:r>
            <a:endParaRPr kumimoji="1" lang="en-US" altLang="ja-JP" sz="1400" b="1" dirty="0">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38F69F7B-7A57-CC4E-7D4D-4CB9748C4C1A}"/>
              </a:ext>
            </a:extLst>
          </p:cNvPr>
          <p:cNvSpPr txBox="1"/>
          <p:nvPr/>
        </p:nvSpPr>
        <p:spPr>
          <a:xfrm>
            <a:off x="3837830" y="2350116"/>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投資家への現金流出額の現金価値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75122DD-3618-5800-F3A7-8363F5A46220}"/>
              </a:ext>
            </a:extLst>
          </p:cNvPr>
          <p:cNvSpPr txBox="1"/>
          <p:nvPr/>
        </p:nvSpPr>
        <p:spPr>
          <a:xfrm>
            <a:off x="2353933" y="235011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キャッシュ</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65671134-21F7-CE5B-5B19-FB4A6D60FE2E}"/>
              </a:ext>
            </a:extLst>
          </p:cNvPr>
          <p:cNvSpPr txBox="1"/>
          <p:nvPr/>
        </p:nvSpPr>
        <p:spPr>
          <a:xfrm>
            <a:off x="3837830" y="3094595"/>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インセンティブに対する繰延収益の割合</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繰延インセンティブの現在価値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繰延インセンティブの名目価値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B680871E-379F-B34B-25CD-AC7ED36B7F80}"/>
              </a:ext>
            </a:extLst>
          </p:cNvPr>
          <p:cNvSpPr txBox="1"/>
          <p:nvPr/>
        </p:nvSpPr>
        <p:spPr>
          <a:xfrm>
            <a:off x="2353933" y="3094595"/>
            <a:ext cx="1134005" cy="215444"/>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繰延収益</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47E184C9-8DF6-445B-C132-08FF80893051}"/>
              </a:ext>
            </a:extLst>
          </p:cNvPr>
          <p:cNvSpPr txBox="1"/>
          <p:nvPr/>
        </p:nvSpPr>
        <p:spPr>
          <a:xfrm>
            <a:off x="3837830" y="3839074"/>
            <a:ext cx="4315573" cy="215444"/>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オペレーション開始前のインセンティブ割合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9BE19176-E18F-147A-740E-8D7CC44C0E32}"/>
              </a:ext>
            </a:extLst>
          </p:cNvPr>
          <p:cNvSpPr txBox="1"/>
          <p:nvPr/>
        </p:nvSpPr>
        <p:spPr>
          <a:xfrm>
            <a:off x="2353933" y="3839074"/>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タイミング</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D7602040-2D53-6587-A2A5-F4ED1C608A96}"/>
              </a:ext>
            </a:extLst>
          </p:cNvPr>
          <p:cNvSpPr txBox="1"/>
          <p:nvPr/>
        </p:nvSpPr>
        <p:spPr>
          <a:xfrm>
            <a:off x="454436" y="4312653"/>
            <a:ext cx="1624013" cy="215443"/>
          </a:xfrm>
          <a:prstGeom prst="rect">
            <a:avLst/>
          </a:prstGeom>
          <a:noFill/>
        </p:spPr>
        <p:txBody>
          <a:bodyPr wrap="square" lIns="0" tIns="0" rIns="0" bIns="0" rtlCol="0" anchor="t" anchorCtr="0">
            <a:spAutoFit/>
          </a:bodyPr>
          <a:lstStyle/>
          <a:p>
            <a:pPr algn="l"/>
            <a:r>
              <a:rPr lang="ja-JP" altLang="en-US" sz="1400" dirty="0">
                <a:latin typeface="BIZ UDPゴシック" panose="020B0400000000000000" pitchFamily="50" charset="-128"/>
                <a:ea typeface="BIZ UDPゴシック" panose="020B0400000000000000" pitchFamily="50" charset="-128"/>
              </a:rPr>
              <a:t>投資家</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57D8570D-9183-9C18-47B7-85BA10D00A9E}"/>
              </a:ext>
            </a:extLst>
          </p:cNvPr>
          <p:cNvSpPr txBox="1"/>
          <p:nvPr/>
        </p:nvSpPr>
        <p:spPr>
          <a:xfrm>
            <a:off x="3837830" y="4312653"/>
            <a:ext cx="4315573" cy="861774"/>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プロジェクトの内部収益率</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株主資本の内部収益率</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プロジェクト正味収益率</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株主資本正味現在価値</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50775631-5DE2-920B-7B71-310AEF910DA6}"/>
              </a:ext>
            </a:extLst>
          </p:cNvPr>
          <p:cNvSpPr txBox="1"/>
          <p:nvPr/>
        </p:nvSpPr>
        <p:spPr>
          <a:xfrm>
            <a:off x="2353933" y="4312653"/>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収益性</a:t>
            </a:r>
            <a:endParaRPr kumimoji="1" lang="en-US" altLang="ja-JP" sz="1400" dirty="0">
              <a:latin typeface="BIZ UDPゴシック" panose="020B0400000000000000" pitchFamily="50" charset="-128"/>
              <a:ea typeface="BIZ UDPゴシック" panose="020B0400000000000000" pitchFamily="50" charset="-128"/>
            </a:endParaRPr>
          </a:p>
        </p:txBody>
      </p:sp>
      <p:cxnSp>
        <p:nvCxnSpPr>
          <p:cNvPr id="42" name="直線コネクタ 41">
            <a:extLst>
              <a:ext uri="{FF2B5EF4-FFF2-40B4-BE49-F238E27FC236}">
                <a16:creationId xmlns:a16="http://schemas.microsoft.com/office/drawing/2014/main" id="{86A405B5-E85A-6863-A54D-9CE18BA6CF69}"/>
              </a:ext>
            </a:extLst>
          </p:cNvPr>
          <p:cNvCxnSpPr>
            <a:cxnSpLocks/>
          </p:cNvCxnSpPr>
          <p:nvPr/>
        </p:nvCxnSpPr>
        <p:spPr>
          <a:xfrm>
            <a:off x="407988" y="4226258"/>
            <a:ext cx="8910725"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49" name="直線コネクタ 48">
            <a:extLst>
              <a:ext uri="{FF2B5EF4-FFF2-40B4-BE49-F238E27FC236}">
                <a16:creationId xmlns:a16="http://schemas.microsoft.com/office/drawing/2014/main" id="{94025BFC-BFA8-7D4C-E5B5-9E3F34E33B93}"/>
              </a:ext>
            </a:extLst>
          </p:cNvPr>
          <p:cNvCxnSpPr>
            <a:cxnSpLocks/>
          </p:cNvCxnSpPr>
          <p:nvPr/>
        </p:nvCxnSpPr>
        <p:spPr>
          <a:xfrm flipV="1">
            <a:off x="9481354" y="1857238"/>
            <a:ext cx="0" cy="427216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grpSp>
        <p:nvGrpSpPr>
          <p:cNvPr id="50" name="グループ化 49">
            <a:extLst>
              <a:ext uri="{FF2B5EF4-FFF2-40B4-BE49-F238E27FC236}">
                <a16:creationId xmlns:a16="http://schemas.microsoft.com/office/drawing/2014/main" id="{D2C8E7A4-5E27-DFFE-DBA0-1B6628CE6CD1}"/>
              </a:ext>
            </a:extLst>
          </p:cNvPr>
          <p:cNvGrpSpPr/>
          <p:nvPr/>
        </p:nvGrpSpPr>
        <p:grpSpPr>
          <a:xfrm>
            <a:off x="9318713" y="3839613"/>
            <a:ext cx="325282" cy="310112"/>
            <a:chOff x="9855582" y="1257300"/>
            <a:chExt cx="325282" cy="310112"/>
          </a:xfrm>
        </p:grpSpPr>
        <p:sp>
          <p:nvSpPr>
            <p:cNvPr id="51" name="楕円 50">
              <a:extLst>
                <a:ext uri="{FF2B5EF4-FFF2-40B4-BE49-F238E27FC236}">
                  <a16:creationId xmlns:a16="http://schemas.microsoft.com/office/drawing/2014/main" id="{DB5E6DFE-BE95-A172-FB20-7DE607B333C3}"/>
                </a:ext>
              </a:extLst>
            </p:cNvPr>
            <p:cNvSpPr/>
            <p:nvPr/>
          </p:nvSpPr>
          <p:spPr>
            <a:xfrm>
              <a:off x="9855582" y="1257300"/>
              <a:ext cx="325282" cy="310112"/>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lgn="l">
                <a:buFont typeface="+mj-ea"/>
                <a:buAutoNum type="circleNumDbPlain"/>
              </a:pPr>
              <a:endPar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C1F1DB4-2B28-82FE-55A2-DD033A68AFF9}"/>
                </a:ext>
              </a:extLst>
            </p:cNvPr>
            <p:cNvSpPr txBox="1"/>
            <p:nvPr/>
          </p:nvSpPr>
          <p:spPr>
            <a:xfrm>
              <a:off x="9946088" y="1322065"/>
              <a:ext cx="150682" cy="215444"/>
            </a:xfrm>
            <a:prstGeom prst="rect">
              <a:avLst/>
            </a:prstGeom>
            <a:noFill/>
          </p:spPr>
          <p:txBody>
            <a:bodyPr wrap="none" lIns="0" tIns="0" rIns="0" bIns="0" rtlCol="0" anchor="t" anchorCtr="0">
              <a:spAutoFit/>
            </a:bodyPr>
            <a:lstStyle/>
            <a:p>
              <a:pPr algn="l"/>
              <a:r>
                <a:rPr kumimoji="1" lang="en-US" altLang="ja-JP" sz="1400">
                  <a:solidFill>
                    <a:schemeClr val="bg1">
                      <a:lumMod val="50000"/>
                    </a:schemeClr>
                  </a:solidFill>
                  <a:latin typeface="BIZ UDPゴシック" panose="020B0400000000000000" pitchFamily="50" charset="-128"/>
                  <a:ea typeface="BIZ UDPゴシック" panose="020B0400000000000000" pitchFamily="50" charset="-128"/>
                </a:rPr>
                <a:t>&gt;</a:t>
              </a:r>
              <a:endParaRPr kumimoji="1" lang="ja-JP" altLang="en-US" sz="1400" dirty="0">
                <a:solidFill>
                  <a:schemeClr val="bg1">
                    <a:lumMod val="50000"/>
                  </a:schemeClr>
                </a:solidFill>
                <a:latin typeface="BIZ UDPゴシック" panose="020B0400000000000000" pitchFamily="50" charset="-128"/>
                <a:ea typeface="BIZ UDPゴシック" panose="020B0400000000000000" pitchFamily="50" charset="-128"/>
              </a:endParaRPr>
            </a:p>
          </p:txBody>
        </p:sp>
      </p:grpSp>
      <p:sp>
        <p:nvSpPr>
          <p:cNvPr id="57" name="テキスト ボックス 56">
            <a:extLst>
              <a:ext uri="{FF2B5EF4-FFF2-40B4-BE49-F238E27FC236}">
                <a16:creationId xmlns:a16="http://schemas.microsoft.com/office/drawing/2014/main" id="{A14C6690-E960-9B47-0631-0D1E02B6044B}"/>
              </a:ext>
            </a:extLst>
          </p:cNvPr>
          <p:cNvSpPr txBox="1"/>
          <p:nvPr/>
        </p:nvSpPr>
        <p:spPr>
          <a:xfrm>
            <a:off x="3837830" y="5329846"/>
            <a:ext cx="4315573" cy="646331"/>
          </a:xfrm>
          <a:prstGeom prst="rect">
            <a:avLst/>
          </a:prstGeom>
          <a:noFill/>
        </p:spPr>
        <p:txBody>
          <a:bodyPr wrap="square" lIns="0" tIns="0" rIns="0" bIns="0" rtlCol="0" anchor="t" anchorCtr="0">
            <a:spAutoFit/>
          </a:bodyPr>
          <a:lstStyle/>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投資家への現金流出額の名目価値</a:t>
            </a:r>
            <a:endParaRPr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kumimoji="1" lang="ja-JP" altLang="en-US" sz="1400" dirty="0">
                <a:latin typeface="BIZ UDPゴシック" panose="020B0400000000000000" pitchFamily="50" charset="-128"/>
                <a:ea typeface="BIZ UDPゴシック" panose="020B0400000000000000" pitchFamily="50" charset="-128"/>
              </a:rPr>
              <a:t>投資家への現金流出額の現金価値</a:t>
            </a:r>
            <a:endParaRPr kumimoji="1" lang="en-US" altLang="ja-JP" sz="1400" dirty="0">
              <a:latin typeface="BIZ UDPゴシック" panose="020B0400000000000000" pitchFamily="50" charset="-128"/>
              <a:ea typeface="BIZ UDPゴシック" panose="020B0400000000000000" pitchFamily="50" charset="-128"/>
            </a:endParaRPr>
          </a:p>
          <a:p>
            <a:pPr marL="342900" indent="-342900" algn="l">
              <a:buFont typeface="+mj-ea"/>
              <a:buAutoNum type="circleNumDbPlain"/>
            </a:pPr>
            <a:r>
              <a:rPr lang="ja-JP" altLang="en-US" sz="1400" dirty="0">
                <a:latin typeface="BIZ UDPゴシック" panose="020B0400000000000000" pitchFamily="50" charset="-128"/>
                <a:ea typeface="BIZ UDPゴシック" panose="020B0400000000000000" pitchFamily="50" charset="-128"/>
              </a:rPr>
              <a:t>インセンティブに対する現金の割合</a:t>
            </a:r>
            <a:endParaRPr kumimoji="1" lang="en-US" altLang="ja-JP" sz="1400" dirty="0">
              <a:latin typeface="BIZ UDPゴシック" panose="020B0400000000000000" pitchFamily="50" charset="-128"/>
              <a:ea typeface="BIZ UDPゴシック" panose="020B0400000000000000" pitchFamily="50" charset="-128"/>
            </a:endParaRPr>
          </a:p>
        </p:txBody>
      </p:sp>
      <p:sp>
        <p:nvSpPr>
          <p:cNvPr id="58" name="テキスト ボックス 57">
            <a:extLst>
              <a:ext uri="{FF2B5EF4-FFF2-40B4-BE49-F238E27FC236}">
                <a16:creationId xmlns:a16="http://schemas.microsoft.com/office/drawing/2014/main" id="{8731144E-12D3-2F69-A0BF-15583FE3831F}"/>
              </a:ext>
            </a:extLst>
          </p:cNvPr>
          <p:cNvSpPr txBox="1"/>
          <p:nvPr/>
        </p:nvSpPr>
        <p:spPr>
          <a:xfrm>
            <a:off x="2353933" y="5329846"/>
            <a:ext cx="1134005" cy="215444"/>
          </a:xfrm>
          <a:prstGeom prst="rect">
            <a:avLst/>
          </a:prstGeom>
          <a:noFill/>
        </p:spPr>
        <p:txBody>
          <a:bodyPr wrap="square" lIns="0" tIns="0" rIns="0" bIns="0" rtlCol="0" anchor="t" anchorCtr="0">
            <a:spAutoFit/>
          </a:bodyPr>
          <a:lstStyle/>
          <a:p>
            <a:pPr algn="l"/>
            <a:r>
              <a:rPr kumimoji="1" lang="ja-JP" altLang="en-US" sz="1400" dirty="0">
                <a:latin typeface="BIZ UDPゴシック" panose="020B0400000000000000" pitchFamily="50" charset="-128"/>
                <a:ea typeface="BIZ UDPゴシック" panose="020B0400000000000000" pitchFamily="50" charset="-128"/>
              </a:rPr>
              <a:t>キャッシュ</a:t>
            </a:r>
            <a:endParaRPr kumimoji="1"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445808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09FD31-77B2-6763-424E-61B9702303BD}"/>
              </a:ext>
            </a:extLst>
          </p:cNvPr>
          <p:cNvSpPr>
            <a:spLocks noGrp="1"/>
          </p:cNvSpPr>
          <p:nvPr>
            <p:ph type="title"/>
          </p:nvPr>
        </p:nvSpPr>
        <p:spPr/>
        <p:txBody>
          <a:bodyPr/>
          <a:lstStyle/>
          <a:p>
            <a:r>
              <a:rPr kumimoji="1" lang="ja-JP" altLang="en-US" dirty="0"/>
              <a:t>心理的安全性を作るリーダーの具体的行動</a:t>
            </a:r>
          </a:p>
        </p:txBody>
      </p:sp>
      <p:sp>
        <p:nvSpPr>
          <p:cNvPr id="3" name="フッター プレースホルダー 2">
            <a:extLst>
              <a:ext uri="{FF2B5EF4-FFF2-40B4-BE49-F238E27FC236}">
                <a16:creationId xmlns:a16="http://schemas.microsoft.com/office/drawing/2014/main" id="{A718D626-540F-FA6E-F6F2-87078624197A}"/>
              </a:ext>
            </a:extLst>
          </p:cNvPr>
          <p:cNvSpPr>
            <a:spLocks noGrp="1"/>
          </p:cNvSpPr>
          <p:nvPr>
            <p:ph type="ftr" sz="quarter" idx="11"/>
          </p:nvPr>
        </p:nvSpPr>
        <p:spPr/>
        <p:txBody>
          <a:bodyPr/>
          <a:lstStyle/>
          <a:p>
            <a:r>
              <a:rPr lang="ja-JP" altLang="en-US"/>
              <a:t>出所：</a:t>
            </a:r>
            <a:endParaRPr lang="ja-JP" altLang="en-US" dirty="0"/>
          </a:p>
        </p:txBody>
      </p:sp>
      <p:sp>
        <p:nvSpPr>
          <p:cNvPr id="4" name="スライド番号プレースホルダー 3">
            <a:extLst>
              <a:ext uri="{FF2B5EF4-FFF2-40B4-BE49-F238E27FC236}">
                <a16:creationId xmlns:a16="http://schemas.microsoft.com/office/drawing/2014/main" id="{571D651E-1E8E-0FC0-5C51-7510C713E1E4}"/>
              </a:ext>
            </a:extLst>
          </p:cNvPr>
          <p:cNvSpPr>
            <a:spLocks noGrp="1"/>
          </p:cNvSpPr>
          <p:nvPr>
            <p:ph type="sldNum" sz="quarter" idx="12"/>
          </p:nvPr>
        </p:nvSpPr>
        <p:spPr/>
        <p:txBody>
          <a:bodyPr/>
          <a:lstStyle/>
          <a:p>
            <a:fld id="{DCB5AA93-092B-49A1-87A7-3C88D5F38AD7}" type="slidenum">
              <a:rPr lang="ja-JP" altLang="en-US" smtClean="0"/>
              <a:pPr/>
              <a:t>22</a:t>
            </a:fld>
            <a:endParaRPr lang="ja-JP" altLang="en-US"/>
          </a:p>
        </p:txBody>
      </p:sp>
      <p:sp>
        <p:nvSpPr>
          <p:cNvPr id="5" name="テキスト プレースホルダー 4">
            <a:extLst>
              <a:ext uri="{FF2B5EF4-FFF2-40B4-BE49-F238E27FC236}">
                <a16:creationId xmlns:a16="http://schemas.microsoft.com/office/drawing/2014/main" id="{8BA0DB98-191F-C9D1-E90A-FECE7612FCC4}"/>
              </a:ext>
            </a:extLst>
          </p:cNvPr>
          <p:cNvSpPr>
            <a:spLocks noGrp="1"/>
          </p:cNvSpPr>
          <p:nvPr>
            <p:ph type="body" sz="quarter" idx="13"/>
          </p:nvPr>
        </p:nvSpPr>
        <p:spPr/>
        <p:txBody>
          <a:bodyPr>
            <a:normAutofit fontScale="92500" lnSpcReduction="20000"/>
          </a:bodyPr>
          <a:lstStyle/>
          <a:p>
            <a:r>
              <a:rPr kumimoji="1" lang="ja-JP" altLang="en-US" dirty="0"/>
              <a:t>チームのためにリスクある発言や挑戦をしても、責めたりバカにしたりしない」とチームメンバーが信じられる状態のこと</a:t>
            </a:r>
          </a:p>
        </p:txBody>
      </p:sp>
      <p:sp>
        <p:nvSpPr>
          <p:cNvPr id="6" name="正方形/長方形 5">
            <a:extLst>
              <a:ext uri="{FF2B5EF4-FFF2-40B4-BE49-F238E27FC236}">
                <a16:creationId xmlns:a16="http://schemas.microsoft.com/office/drawing/2014/main" id="{DB4E40DB-441F-E6CE-760D-E237B9A7EDB9}"/>
              </a:ext>
            </a:extLst>
          </p:cNvPr>
          <p:cNvSpPr/>
          <p:nvPr/>
        </p:nvSpPr>
        <p:spPr>
          <a:xfrm>
            <a:off x="407989" y="1765366"/>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完璧な上司をやめる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68288"/>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弱みを開示 </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kumimoji="1" lang="ja-JP" altLang="en-US" sz="1400" dirty="0" err="1">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339B888D-1514-2D14-73C4-83359BFEB67D}"/>
              </a:ext>
            </a:extLst>
          </p:cNvPr>
          <p:cNvSpPr/>
          <p:nvPr/>
        </p:nvSpPr>
        <p:spPr>
          <a:xfrm>
            <a:off x="407988" y="3064317"/>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2"/>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問題を「懸念」に変えるだけ</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marL="268288"/>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 </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発言ハードルを下げる質問 </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kumimoji="1" lang="ja-JP" altLang="en-US" sz="1400" dirty="0" err="1">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0A92E074-9EF2-D990-ACC5-76447C710767}"/>
              </a:ext>
            </a:extLst>
          </p:cNvPr>
          <p:cNvSpPr/>
          <p:nvPr/>
        </p:nvSpPr>
        <p:spPr>
          <a:xfrm>
            <a:off x="407988" y="4155650"/>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3"/>
            </a:pP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反論は</a:t>
            </a:r>
            <a:r>
              <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NG</a:t>
            </a:r>
            <a:r>
              <a:rPr kumimoji="1"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「なるほど」からはじめる</a:t>
            </a:r>
          </a:p>
        </p:txBody>
      </p:sp>
      <p:sp>
        <p:nvSpPr>
          <p:cNvPr id="9" name="正方形/長方形 8">
            <a:extLst>
              <a:ext uri="{FF2B5EF4-FFF2-40B4-BE49-F238E27FC236}">
                <a16:creationId xmlns:a16="http://schemas.microsoft.com/office/drawing/2014/main" id="{C4703769-18DA-4DB9-B44B-CBDD7A1DF261}"/>
              </a:ext>
            </a:extLst>
          </p:cNvPr>
          <p:cNvSpPr/>
          <p:nvPr/>
        </p:nvSpPr>
        <p:spPr>
          <a:xfrm>
            <a:off x="407988" y="5321604"/>
            <a:ext cx="2792410" cy="729366"/>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268288" indent="-268288">
              <a:buFont typeface="+mj-ea"/>
              <a:buAutoNum type="circleNumDbPlain" startAt="4"/>
            </a:pP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失敗を責めない．挑戦を称える</a:t>
            </a:r>
            <a:endParaRPr kumimoji="1"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B97A8E41-A460-91A4-E6B2-CB357C36125A}"/>
              </a:ext>
            </a:extLst>
          </p:cNvPr>
          <p:cNvSpPr txBox="1"/>
          <p:nvPr/>
        </p:nvSpPr>
        <p:spPr>
          <a:xfrm>
            <a:off x="3499943" y="1760717"/>
            <a:ext cx="8347842" cy="738664"/>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「完璧な上司」の前では、部下は完璧な報告しかしない。ミスを隠し、問題を共有しなくなる。</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まずはリーダーが自ら、自分の失敗談や弱みを具体的に話すことから始める。「先週のプレゼン、あそこで言葉に詰まっちゃってさ」「○○の件、完全に俺の判断ミスだった。申し訳ない」</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上司が先に腹を見せることで、部下も「この人には本音を話しても大丈夫だ」という安心感を得る。</a:t>
            </a:r>
            <a:endParaRPr kumimoji="1" lang="en-US" altLang="ja-JP" sz="1200" dirty="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0B76EC0F-BC06-641D-FD4F-25C7B6A7D19A}"/>
              </a:ext>
            </a:extLst>
          </p:cNvPr>
          <p:cNvSpPr txBox="1"/>
          <p:nvPr/>
        </p:nvSpPr>
        <p:spPr>
          <a:xfrm>
            <a:off x="3499944" y="2967335"/>
            <a:ext cx="8284068"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部下は上司が思う以上に「こんな些細な事、言っていいのだろうか</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」と躊躇している。発言の心理的ハードルを極限まで下げることが重要</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en-US" altLang="ja-JP" sz="1200" dirty="0">
                <a:latin typeface="BIZ UDPゴシック" panose="020B0400000000000000" pitchFamily="50" charset="-128"/>
                <a:ea typeface="BIZ UDPゴシック" panose="020B0400000000000000" pitchFamily="50" charset="-128"/>
              </a:rPr>
              <a:t>NG</a:t>
            </a:r>
            <a:r>
              <a:rPr lang="ja-JP" altLang="en-US" sz="1200" dirty="0">
                <a:latin typeface="BIZ UDPゴシック" panose="020B0400000000000000" pitchFamily="50" charset="-128"/>
                <a:ea typeface="BIZ UDPゴシック" panose="020B0400000000000000" pitchFamily="50" charset="-128"/>
              </a:rPr>
              <a:t>ワード：「何か問題ある？」 → おおごとに聞こえ、報告をためらわせてしまう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en-US" altLang="ja-JP" sz="1200" dirty="0">
                <a:latin typeface="BIZ UDPゴシック" panose="020B0400000000000000" pitchFamily="50" charset="-128"/>
                <a:ea typeface="BIZ UDPゴシック" panose="020B0400000000000000" pitchFamily="50" charset="-128"/>
              </a:rPr>
              <a:t>OK</a:t>
            </a:r>
            <a:r>
              <a:rPr kumimoji="1" lang="ja-JP" altLang="en-US" sz="1200" dirty="0">
                <a:latin typeface="BIZ UDPゴシック" panose="020B0400000000000000" pitchFamily="50" charset="-128"/>
                <a:ea typeface="BIZ UDPゴシック" panose="020B0400000000000000" pitchFamily="50" charset="-128"/>
              </a:rPr>
              <a:t>ワード：「何か懸念ある？」「ちょっと気になってることない？」「やってて違和感ある部分とか」 → 些細なことでも話してよいというメッセージになる</a:t>
            </a:r>
          </a:p>
        </p:txBody>
      </p:sp>
      <p:sp>
        <p:nvSpPr>
          <p:cNvPr id="12" name="テキスト ボックス 11">
            <a:extLst>
              <a:ext uri="{FF2B5EF4-FFF2-40B4-BE49-F238E27FC236}">
                <a16:creationId xmlns:a16="http://schemas.microsoft.com/office/drawing/2014/main" id="{0B58983C-C73E-1F38-6303-D6B040DDFB22}"/>
              </a:ext>
            </a:extLst>
          </p:cNvPr>
          <p:cNvSpPr txBox="1"/>
          <p:nvPr/>
        </p:nvSpPr>
        <p:spPr>
          <a:xfrm>
            <a:off x="3499944" y="4243334"/>
            <a:ext cx="8284068" cy="553998"/>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どんな的外れに見える意見でも、頭ごなしに否定するのは最悪。「</a:t>
            </a:r>
            <a:r>
              <a:rPr lang="ja-JP" altLang="en-US" sz="1200" dirty="0">
                <a:latin typeface="BIZ UDPゴシック" panose="020B0400000000000000" pitchFamily="50" charset="-128"/>
                <a:ea typeface="BIZ UDPゴシック" panose="020B0400000000000000" pitchFamily="50" charset="-128"/>
              </a:rPr>
              <a:t>発言すると損をする」と部下に学習させてしまう</a:t>
            </a:r>
            <a:endParaRPr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鉄則は、どんな意見もまず「承認」から入ること。「なるほど、視点があるんだね。話してくれてありがとう」「面白い意見だね。もう少し詳しく教えてくれる？」自分の意見を言うのはそのあと。</a:t>
            </a:r>
          </a:p>
        </p:txBody>
      </p:sp>
      <p:sp>
        <p:nvSpPr>
          <p:cNvPr id="13" name="テキスト ボックス 12">
            <a:extLst>
              <a:ext uri="{FF2B5EF4-FFF2-40B4-BE49-F238E27FC236}">
                <a16:creationId xmlns:a16="http://schemas.microsoft.com/office/drawing/2014/main" id="{47DE5F90-73DE-7854-E43A-5C94855DF276}"/>
              </a:ext>
            </a:extLst>
          </p:cNvPr>
          <p:cNvSpPr txBox="1"/>
          <p:nvPr/>
        </p:nvSpPr>
        <p:spPr>
          <a:xfrm>
            <a:off x="3499943" y="5224622"/>
            <a:ext cx="8284067" cy="923330"/>
          </a:xfrm>
          <a:prstGeom prst="rect">
            <a:avLst/>
          </a:prstGeom>
          <a:noFill/>
        </p:spPr>
        <p:txBody>
          <a:bodyPr wrap="square" lIns="0" tIns="0" rIns="0" bIns="0" rtlCol="0">
            <a:spAutoFit/>
          </a:bodyPr>
          <a:lstStyle/>
          <a:p>
            <a:pPr marL="180975" indent="-180975" algn="l">
              <a:buFont typeface="Arial" panose="020B0604020202020204" pitchFamily="34" charset="0"/>
              <a:buChar char="•"/>
            </a:pPr>
            <a:r>
              <a:rPr kumimoji="1" lang="ja-JP" altLang="en-US" sz="1200" dirty="0">
                <a:latin typeface="BIZ UDPゴシック" panose="020B0400000000000000" pitchFamily="50" charset="-128"/>
                <a:ea typeface="BIZ UDPゴシック" panose="020B0400000000000000" pitchFamily="50" charset="-128"/>
              </a:rPr>
              <a:t>心理的安全性の本質は「対人関係リスク</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無知だと思われる、無能だと思われるなど</a:t>
            </a:r>
            <a:r>
              <a:rPr kumimoji="1" lang="en-US" altLang="ja-JP" sz="1200" dirty="0">
                <a:latin typeface="BIZ UDPゴシック" panose="020B0400000000000000" pitchFamily="50" charset="-128"/>
                <a:ea typeface="BIZ UDPゴシック" panose="020B0400000000000000" pitchFamily="50" charset="-128"/>
              </a:rPr>
              <a:t>)</a:t>
            </a:r>
            <a:r>
              <a:rPr kumimoji="1" lang="ja-JP" altLang="en-US" sz="1200" dirty="0">
                <a:latin typeface="BIZ UDPゴシック" panose="020B0400000000000000" pitchFamily="50" charset="-128"/>
                <a:ea typeface="BIZ UDPゴシック" panose="020B0400000000000000" pitchFamily="50" charset="-128"/>
              </a:rPr>
              <a:t>を取れる」こと。つまり安心して挑戦と失敗ができる状態</a:t>
            </a:r>
            <a:endParaRPr kumimoji="1" lang="en-US" altLang="ja-JP" sz="1200" dirty="0">
              <a:latin typeface="BIZ UDPゴシック" panose="020B0400000000000000" pitchFamily="50" charset="-128"/>
              <a:ea typeface="BIZ UDPゴシック" panose="020B0400000000000000" pitchFamily="50" charset="-128"/>
            </a:endParaRPr>
          </a:p>
          <a:p>
            <a:pPr marL="180975" indent="-180975" algn="l">
              <a:buFont typeface="Arial" panose="020B0604020202020204" pitchFamily="34" charset="0"/>
              <a:buChar char="•"/>
            </a:pPr>
            <a:r>
              <a:rPr lang="ja-JP" altLang="en-US" sz="1200" dirty="0">
                <a:latin typeface="BIZ UDPゴシック" panose="020B0400000000000000" pitchFamily="50" charset="-128"/>
                <a:ea typeface="BIZ UDPゴシック" panose="020B0400000000000000" pitchFamily="50" charset="-128"/>
              </a:rPr>
              <a:t>部下が新しい挑戦をしたら、結果がどうであれ、まず「ナイスチャレンジ」と行動そのものを称賛する。失敗した場合は、犯人探しではなく原因究明と学びの抽出にフォーカスする。「この失敗から、ぼくたちは何を学べるかな？」「次やるとしたら、どうすればもっと上手くできそう？」この問いかけが重要</a:t>
            </a:r>
            <a:endParaRPr kumimoji="1" lang="ja-JP" altLang="en-US"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11104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89A3-F991-9ABB-BC33-FC8A84C327D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EB6A1E-5E70-A5E4-B612-FE05310241E6}"/>
              </a:ext>
            </a:extLst>
          </p:cNvPr>
          <p:cNvSpPr>
            <a:spLocks noGrp="1"/>
          </p:cNvSpPr>
          <p:nvPr>
            <p:ph type="title"/>
          </p:nvPr>
        </p:nvSpPr>
        <p:spPr/>
        <p:txBody>
          <a:bodyPr/>
          <a:lstStyle/>
          <a:p>
            <a:r>
              <a:rPr lang="ja-JP" altLang="en-US" dirty="0"/>
              <a:t>データ越境のヒアリング調査対象企業</a:t>
            </a:r>
            <a:endParaRPr kumimoji="1" lang="ja-JP" altLang="en-US" dirty="0"/>
          </a:p>
        </p:txBody>
      </p:sp>
      <p:sp>
        <p:nvSpPr>
          <p:cNvPr id="3" name="フッター プレースホルダー 2">
            <a:extLst>
              <a:ext uri="{FF2B5EF4-FFF2-40B4-BE49-F238E27FC236}">
                <a16:creationId xmlns:a16="http://schemas.microsoft.com/office/drawing/2014/main" id="{739CFECD-2075-469A-2ED8-3F36DCAA7611}"/>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A686E97D-5778-6D51-E732-97AC818534F2}"/>
              </a:ext>
            </a:extLst>
          </p:cNvPr>
          <p:cNvSpPr>
            <a:spLocks noGrp="1"/>
          </p:cNvSpPr>
          <p:nvPr>
            <p:ph type="sldNum" sz="quarter" idx="12"/>
          </p:nvPr>
        </p:nvSpPr>
        <p:spPr/>
        <p:txBody>
          <a:bodyPr/>
          <a:lstStyle/>
          <a:p>
            <a:fld id="{DCB5AA93-092B-49A1-87A7-3C88D5F38AD7}" type="slidenum">
              <a:rPr lang="ja-JP" altLang="en-US" smtClean="0"/>
              <a:pPr/>
              <a:t>23</a:t>
            </a:fld>
            <a:endParaRPr lang="ja-JP" altLang="en-US"/>
          </a:p>
        </p:txBody>
      </p:sp>
      <p:cxnSp>
        <p:nvCxnSpPr>
          <p:cNvPr id="16" name="直線コネクタ 15">
            <a:extLst>
              <a:ext uri="{FF2B5EF4-FFF2-40B4-BE49-F238E27FC236}">
                <a16:creationId xmlns:a16="http://schemas.microsoft.com/office/drawing/2014/main" id="{8C87CD25-D26A-E5B8-4DEB-2A9731C875F3}"/>
              </a:ext>
              <a:ext uri="{C183D7F6-B498-43B3-948B-1728B52AA6E4}">
                <adec:decorative xmlns:adec="http://schemas.microsoft.com/office/drawing/2017/decorative" val="1"/>
              </a:ext>
            </a:extLst>
          </p:cNvPr>
          <p:cNvCxnSpPr>
            <a:cxnSpLocks/>
          </p:cNvCxnSpPr>
          <p:nvPr/>
        </p:nvCxnSpPr>
        <p:spPr>
          <a:xfrm flipV="1">
            <a:off x="3908122" y="1367551"/>
            <a:ext cx="7875894" cy="26528"/>
          </a:xfrm>
          <a:prstGeom prst="line">
            <a:avLst/>
          </a:prstGeom>
          <a:ln w="9525">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E2FE8C80-4779-81A4-B940-78D604C63329}"/>
              </a:ext>
            </a:extLst>
          </p:cNvPr>
          <p:cNvSpPr txBox="1"/>
          <p:nvPr/>
        </p:nvSpPr>
        <p:spPr>
          <a:xfrm>
            <a:off x="4075593" y="1182885"/>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事業運営</a:t>
            </a:r>
            <a:endParaRPr lang="en-US" altLang="ja-JP" sz="1200" b="1" dirty="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DE26EF9F-3C56-E0BF-2AD5-AA63AE87B72C}"/>
              </a:ext>
            </a:extLst>
          </p:cNvPr>
          <p:cNvSpPr txBox="1"/>
          <p:nvPr/>
        </p:nvSpPr>
        <p:spPr>
          <a:xfrm>
            <a:off x="1387218" y="1589225"/>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r>
              <a:rPr lang="ja-JP" altLang="en-US" sz="1200" dirty="0">
                <a:solidFill>
                  <a:schemeClr val="accent1"/>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42" name="テキスト ボックス 41">
            <a:extLst>
              <a:ext uri="{FF2B5EF4-FFF2-40B4-BE49-F238E27FC236}">
                <a16:creationId xmlns:a16="http://schemas.microsoft.com/office/drawing/2014/main" id="{B4551655-4CA0-918E-12DD-9260EC4F0931}"/>
              </a:ext>
            </a:extLst>
          </p:cNvPr>
          <p:cNvSpPr txBox="1"/>
          <p:nvPr/>
        </p:nvSpPr>
        <p:spPr>
          <a:xfrm>
            <a:off x="4075593"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DF8EBE3E-7953-5CDA-33ED-012D9030D144}"/>
              </a:ext>
            </a:extLst>
          </p:cNvPr>
          <p:cNvSpPr txBox="1"/>
          <p:nvPr/>
        </p:nvSpPr>
        <p:spPr>
          <a:xfrm>
            <a:off x="1387218" y="3051496"/>
            <a:ext cx="2520904"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日本市場における売上拡大</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1E0C932D-EBB6-79FE-A59F-BEE7CAD9D7EA}"/>
              </a:ext>
            </a:extLst>
          </p:cNvPr>
          <p:cNvSpPr txBox="1"/>
          <p:nvPr/>
        </p:nvSpPr>
        <p:spPr>
          <a:xfrm>
            <a:off x="4075593"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5" name="直線コネクタ 4">
            <a:extLst>
              <a:ext uri="{FF2B5EF4-FFF2-40B4-BE49-F238E27FC236}">
                <a16:creationId xmlns:a16="http://schemas.microsoft.com/office/drawing/2014/main" id="{4B56362C-AC59-2D81-0615-2275142A566E}"/>
              </a:ext>
            </a:extLst>
          </p:cNvPr>
          <p:cNvCxnSpPr>
            <a:cxnSpLocks/>
          </p:cNvCxnSpPr>
          <p:nvPr/>
        </p:nvCxnSpPr>
        <p:spPr>
          <a:xfrm>
            <a:off x="282469" y="2913315"/>
            <a:ext cx="11501547" cy="9339"/>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正方形/長方形 5">
            <a:extLst>
              <a:ext uri="{FF2B5EF4-FFF2-40B4-BE49-F238E27FC236}">
                <a16:creationId xmlns:a16="http://schemas.microsoft.com/office/drawing/2014/main" id="{9C6C79CF-EB5E-DF11-3E25-39E6CDFFADE6}"/>
              </a:ext>
            </a:extLst>
          </p:cNvPr>
          <p:cNvSpPr/>
          <p:nvPr/>
        </p:nvSpPr>
        <p:spPr>
          <a:xfrm>
            <a:off x="282470" y="1589225"/>
            <a:ext cx="565427" cy="123570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欧州型</a:t>
            </a:r>
          </a:p>
        </p:txBody>
      </p:sp>
      <p:sp>
        <p:nvSpPr>
          <p:cNvPr id="7" name="正方形/長方形 6">
            <a:extLst>
              <a:ext uri="{FF2B5EF4-FFF2-40B4-BE49-F238E27FC236}">
                <a16:creationId xmlns:a16="http://schemas.microsoft.com/office/drawing/2014/main" id="{5F8F725F-F826-0282-F6D5-3817732DFCEC}"/>
              </a:ext>
            </a:extLst>
          </p:cNvPr>
          <p:cNvSpPr/>
          <p:nvPr/>
        </p:nvSpPr>
        <p:spPr>
          <a:xfrm>
            <a:off x="282470" y="3028763"/>
            <a:ext cx="565427" cy="38503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中国型</a:t>
            </a:r>
          </a:p>
        </p:txBody>
      </p:sp>
      <p:sp>
        <p:nvSpPr>
          <p:cNvPr id="9" name="テキスト ボックス 8">
            <a:extLst>
              <a:ext uri="{FF2B5EF4-FFF2-40B4-BE49-F238E27FC236}">
                <a16:creationId xmlns:a16="http://schemas.microsoft.com/office/drawing/2014/main" id="{5AC9C7A5-6D9A-0DE9-D235-AC2FE4CCE58C}"/>
              </a:ext>
            </a:extLst>
          </p:cNvPr>
          <p:cNvSpPr txBox="1"/>
          <p:nvPr/>
        </p:nvSpPr>
        <p:spPr>
          <a:xfrm>
            <a:off x="1387218" y="2295585"/>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563886D-C198-17A9-457D-5F1664E0B468}"/>
              </a:ext>
            </a:extLst>
          </p:cNvPr>
          <p:cNvSpPr txBox="1"/>
          <p:nvPr/>
        </p:nvSpPr>
        <p:spPr>
          <a:xfrm>
            <a:off x="1387218" y="2634568"/>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米国</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4760FB55-4F00-42C0-4417-064067DE3868}"/>
              </a:ext>
            </a:extLst>
          </p:cNvPr>
          <p:cNvSpPr txBox="1"/>
          <p:nvPr/>
        </p:nvSpPr>
        <p:spPr>
          <a:xfrm>
            <a:off x="4075593"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14" name="テキスト ボックス 13">
            <a:extLst>
              <a:ext uri="{FF2B5EF4-FFF2-40B4-BE49-F238E27FC236}">
                <a16:creationId xmlns:a16="http://schemas.microsoft.com/office/drawing/2014/main" id="{71690C88-7756-B28E-2FF6-948E2830D718}"/>
              </a:ext>
            </a:extLst>
          </p:cNvPr>
          <p:cNvSpPr txBox="1"/>
          <p:nvPr/>
        </p:nvSpPr>
        <p:spPr>
          <a:xfrm>
            <a:off x="6763967" y="1198274"/>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研究開発</a:t>
            </a:r>
            <a:endParaRPr lang="en-US" altLang="ja-JP" sz="1200" b="1" dirty="0">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CFF28AFA-2BB0-6413-1FBD-034EC57CF9C1}"/>
              </a:ext>
            </a:extLst>
          </p:cNvPr>
          <p:cNvSpPr txBox="1"/>
          <p:nvPr/>
        </p:nvSpPr>
        <p:spPr>
          <a:xfrm>
            <a:off x="9452341" y="1190580"/>
            <a:ext cx="615553" cy="184666"/>
          </a:xfrm>
          <a:prstGeom prst="rect">
            <a:avLst/>
          </a:prstGeom>
          <a:noFill/>
        </p:spPr>
        <p:txBody>
          <a:bodyPr wrap="none" lIns="0" tIns="0" rIns="0" bIns="0" rtlCol="0">
            <a:spAutoFit/>
          </a:bodyPr>
          <a:lstStyle/>
          <a:p>
            <a:r>
              <a:rPr lang="ja-JP" altLang="en-US" sz="1200" b="1" dirty="0">
                <a:latin typeface="BIZ UDPゴシック" panose="020B0400000000000000" pitchFamily="50" charset="-128"/>
                <a:ea typeface="BIZ UDPゴシック" panose="020B0400000000000000" pitchFamily="50" charset="-128"/>
              </a:rPr>
              <a:t>社内運営</a:t>
            </a:r>
            <a:endParaRPr lang="en-US" altLang="ja-JP" sz="1200" b="1" dirty="0">
              <a:latin typeface="BIZ UDPゴシック" panose="020B0400000000000000" pitchFamily="50" charset="-128"/>
              <a:ea typeface="BIZ UDPゴシック" panose="020B0400000000000000" pitchFamily="50" charset="-128"/>
            </a:endParaRPr>
          </a:p>
        </p:txBody>
      </p:sp>
      <p:cxnSp>
        <p:nvCxnSpPr>
          <p:cNvPr id="17" name="直線コネクタ 16">
            <a:extLst>
              <a:ext uri="{FF2B5EF4-FFF2-40B4-BE49-F238E27FC236}">
                <a16:creationId xmlns:a16="http://schemas.microsoft.com/office/drawing/2014/main" id="{14D2CD78-84FA-2B1B-C24F-B9CC760212AF}"/>
              </a:ext>
            </a:extLst>
          </p:cNvPr>
          <p:cNvCxnSpPr>
            <a:cxnSpLocks/>
          </p:cNvCxnSpPr>
          <p:nvPr/>
        </p:nvCxnSpPr>
        <p:spPr>
          <a:xfrm>
            <a:off x="1387218" y="2173241"/>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88D60FF3-7D78-835F-EFBF-51A5B017F521}"/>
              </a:ext>
            </a:extLst>
          </p:cNvPr>
          <p:cNvCxnSpPr>
            <a:cxnSpLocks/>
          </p:cNvCxnSpPr>
          <p:nvPr/>
        </p:nvCxnSpPr>
        <p:spPr>
          <a:xfrm>
            <a:off x="1387218" y="2564086"/>
            <a:ext cx="10396798" cy="24620"/>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9AE87FD6-B478-E1FD-8CF8-9BB6ECC72B78}"/>
              </a:ext>
            </a:extLst>
          </p:cNvPr>
          <p:cNvCxnSpPr>
            <a:cxnSpLocks/>
          </p:cNvCxnSpPr>
          <p:nvPr/>
        </p:nvCxnSpPr>
        <p:spPr>
          <a:xfrm flipV="1">
            <a:off x="282469" y="3553987"/>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1" name="テキスト ボックス 20">
            <a:extLst>
              <a:ext uri="{FF2B5EF4-FFF2-40B4-BE49-F238E27FC236}">
                <a16:creationId xmlns:a16="http://schemas.microsoft.com/office/drawing/2014/main" id="{7BB15B3A-B4FE-A36C-A92E-52383B3902E2}"/>
              </a:ext>
            </a:extLst>
          </p:cNvPr>
          <p:cNvSpPr txBox="1"/>
          <p:nvPr/>
        </p:nvSpPr>
        <p:spPr>
          <a:xfrm>
            <a:off x="1387218" y="3760758"/>
            <a:ext cx="2358458" cy="369332"/>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a:p>
            <a:r>
              <a:rPr lang="ja-JP" altLang="en-US" sz="1200" dirty="0">
                <a:solidFill>
                  <a:schemeClr val="accent1"/>
                </a:solidFill>
                <a:latin typeface="BIZ UDPゴシック" panose="020B0400000000000000" pitchFamily="50" charset="-128"/>
                <a:ea typeface="BIZ UDPゴシック" panose="020B0400000000000000" pitchFamily="50" charset="-128"/>
              </a:rPr>
              <a:t>    充分制認定取得地域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433C612B-4CB9-6CC6-462D-369A3AD1E228}"/>
              </a:ext>
            </a:extLst>
          </p:cNvPr>
          <p:cNvSpPr txBox="1"/>
          <p:nvPr/>
        </p:nvSpPr>
        <p:spPr>
          <a:xfrm>
            <a:off x="4075593"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33" name="直線コネクタ 32">
            <a:extLst>
              <a:ext uri="{FF2B5EF4-FFF2-40B4-BE49-F238E27FC236}">
                <a16:creationId xmlns:a16="http://schemas.microsoft.com/office/drawing/2014/main" id="{2DE073EB-1A85-2898-7F4F-04C9CC24ADB3}"/>
              </a:ext>
            </a:extLst>
          </p:cNvPr>
          <p:cNvCxnSpPr>
            <a:cxnSpLocks/>
          </p:cNvCxnSpPr>
          <p:nvPr/>
        </p:nvCxnSpPr>
        <p:spPr>
          <a:xfrm>
            <a:off x="1387218" y="4344774"/>
            <a:ext cx="10317102" cy="24431"/>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5E3E0931-9A66-4A71-0613-53F9193F938C}"/>
              </a:ext>
            </a:extLst>
          </p:cNvPr>
          <p:cNvCxnSpPr>
            <a:cxnSpLocks/>
          </p:cNvCxnSpPr>
          <p:nvPr/>
        </p:nvCxnSpPr>
        <p:spPr>
          <a:xfrm>
            <a:off x="1387218" y="6974158"/>
            <a:ext cx="9023241" cy="21367"/>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5" name="正方形/長方形 44">
            <a:extLst>
              <a:ext uri="{FF2B5EF4-FFF2-40B4-BE49-F238E27FC236}">
                <a16:creationId xmlns:a16="http://schemas.microsoft.com/office/drawing/2014/main" id="{A608D251-F782-1474-5E86-99612C785F7A}"/>
              </a:ext>
            </a:extLst>
          </p:cNvPr>
          <p:cNvSpPr/>
          <p:nvPr/>
        </p:nvSpPr>
        <p:spPr>
          <a:xfrm>
            <a:off x="282470" y="3760758"/>
            <a:ext cx="565427" cy="93329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米国型</a:t>
            </a:r>
          </a:p>
        </p:txBody>
      </p:sp>
      <p:sp>
        <p:nvSpPr>
          <p:cNvPr id="49" name="テキスト ボックス 48">
            <a:extLst>
              <a:ext uri="{FF2B5EF4-FFF2-40B4-BE49-F238E27FC236}">
                <a16:creationId xmlns:a16="http://schemas.microsoft.com/office/drawing/2014/main" id="{A19892BA-DFC6-2901-3182-1AE72BA9AECC}"/>
              </a:ext>
            </a:extLst>
          </p:cNvPr>
          <p:cNvSpPr txBox="1"/>
          <p:nvPr/>
        </p:nvSpPr>
        <p:spPr>
          <a:xfrm>
            <a:off x="4075593"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C2BE4271-9012-609E-1F8D-CD451B65D52D}"/>
              </a:ext>
            </a:extLst>
          </p:cNvPr>
          <p:cNvSpPr txBox="1"/>
          <p:nvPr/>
        </p:nvSpPr>
        <p:spPr>
          <a:xfrm>
            <a:off x="1387218" y="4509391"/>
            <a:ext cx="2358458" cy="184666"/>
          </a:xfrm>
          <a:prstGeom prst="rect">
            <a:avLst/>
          </a:prstGeom>
          <a:noFill/>
        </p:spPr>
        <p:txBody>
          <a:bodyPr wrap="square" lIns="0" tIns="0" rIns="0" bIns="0" rtlCol="0">
            <a:spAutoFit/>
          </a:bodyPr>
          <a:lstStyle/>
          <a:p>
            <a:pPr marL="228600" indent="-228600">
              <a:buFont typeface="+mj-ea"/>
              <a:buAutoNum type="circleNumDbPlain"/>
            </a:pPr>
            <a:r>
              <a:rPr lang="ja-JP" altLang="en-US" sz="1200" dirty="0">
                <a:solidFill>
                  <a:schemeClr val="accent1"/>
                </a:solidFill>
                <a:latin typeface="BIZ UDPゴシック" panose="020B0400000000000000" pitchFamily="50" charset="-128"/>
                <a:ea typeface="BIZ UDPゴシック" panose="020B0400000000000000" pitchFamily="50" charset="-128"/>
              </a:rPr>
              <a:t>欧州 → 他地域</a:t>
            </a:r>
            <a:endParaRPr lang="en-US" altLang="ja-JP" sz="1200" dirty="0">
              <a:solidFill>
                <a:schemeClr val="accent1"/>
              </a:solidFill>
              <a:latin typeface="BIZ UDPゴシック" panose="020B0400000000000000" pitchFamily="50" charset="-128"/>
              <a:ea typeface="BIZ UDPゴシック" panose="020B0400000000000000" pitchFamily="50" charset="-128"/>
            </a:endParaRPr>
          </a:p>
        </p:txBody>
      </p:sp>
      <p:sp>
        <p:nvSpPr>
          <p:cNvPr id="74" name="テキスト ボックス 73">
            <a:extLst>
              <a:ext uri="{FF2B5EF4-FFF2-40B4-BE49-F238E27FC236}">
                <a16:creationId xmlns:a16="http://schemas.microsoft.com/office/drawing/2014/main" id="{E7674631-33D6-1674-BD4A-36AE8FA07109}"/>
              </a:ext>
            </a:extLst>
          </p:cNvPr>
          <p:cNvSpPr txBox="1"/>
          <p:nvPr/>
        </p:nvSpPr>
        <p:spPr>
          <a:xfrm>
            <a:off x="6763967"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制約会社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自動車部品メーカー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78" name="テキスト ボックス 77">
            <a:extLst>
              <a:ext uri="{FF2B5EF4-FFF2-40B4-BE49-F238E27FC236}">
                <a16:creationId xmlns:a16="http://schemas.microsoft.com/office/drawing/2014/main" id="{49CC585F-9EA1-F2B3-23B6-FDBA964D49F2}"/>
              </a:ext>
            </a:extLst>
          </p:cNvPr>
          <p:cNvSpPr txBox="1"/>
          <p:nvPr/>
        </p:nvSpPr>
        <p:spPr>
          <a:xfrm>
            <a:off x="6763967"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79" name="テキスト ボックス 78">
            <a:extLst>
              <a:ext uri="{FF2B5EF4-FFF2-40B4-BE49-F238E27FC236}">
                <a16:creationId xmlns:a16="http://schemas.microsoft.com/office/drawing/2014/main" id="{A919B137-0ED2-C3A2-77B3-B5D1DD51F08F}"/>
              </a:ext>
            </a:extLst>
          </p:cNvPr>
          <p:cNvSpPr txBox="1"/>
          <p:nvPr/>
        </p:nvSpPr>
        <p:spPr>
          <a:xfrm>
            <a:off x="6763967"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80" name="テキスト ボックス 79">
            <a:extLst>
              <a:ext uri="{FF2B5EF4-FFF2-40B4-BE49-F238E27FC236}">
                <a16:creationId xmlns:a16="http://schemas.microsoft.com/office/drawing/2014/main" id="{B39F79AF-30FB-3CAC-4573-47B298B4EBFF}"/>
              </a:ext>
            </a:extLst>
          </p:cNvPr>
          <p:cNvSpPr txBox="1"/>
          <p:nvPr/>
        </p:nvSpPr>
        <p:spPr>
          <a:xfrm>
            <a:off x="6763967"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1" name="テキスト ボックス 80">
            <a:extLst>
              <a:ext uri="{FF2B5EF4-FFF2-40B4-BE49-F238E27FC236}">
                <a16:creationId xmlns:a16="http://schemas.microsoft.com/office/drawing/2014/main" id="{7BA0C8E9-D001-3EF2-16CF-D08DB743D3CC}"/>
              </a:ext>
            </a:extLst>
          </p:cNvPr>
          <p:cNvSpPr txBox="1"/>
          <p:nvPr/>
        </p:nvSpPr>
        <p:spPr>
          <a:xfrm>
            <a:off x="6763967"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7" name="テキスト ボックス 86">
            <a:extLst>
              <a:ext uri="{FF2B5EF4-FFF2-40B4-BE49-F238E27FC236}">
                <a16:creationId xmlns:a16="http://schemas.microsoft.com/office/drawing/2014/main" id="{90440A6F-E80C-3A80-56AA-3BC8FA7BBF1C}"/>
              </a:ext>
            </a:extLst>
          </p:cNvPr>
          <p:cNvSpPr txBox="1"/>
          <p:nvPr/>
        </p:nvSpPr>
        <p:spPr>
          <a:xfrm>
            <a:off x="9452341" y="1589225"/>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8" name="テキスト ボックス 87">
            <a:extLst>
              <a:ext uri="{FF2B5EF4-FFF2-40B4-BE49-F238E27FC236}">
                <a16:creationId xmlns:a16="http://schemas.microsoft.com/office/drawing/2014/main" id="{3BBC3C96-9B65-3E9B-CEAF-EB7E61AEE8A1}"/>
              </a:ext>
            </a:extLst>
          </p:cNvPr>
          <p:cNvSpPr txBox="1"/>
          <p:nvPr/>
        </p:nvSpPr>
        <p:spPr>
          <a:xfrm>
            <a:off x="9452341" y="22965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89" name="テキスト ボックス 88">
            <a:extLst>
              <a:ext uri="{FF2B5EF4-FFF2-40B4-BE49-F238E27FC236}">
                <a16:creationId xmlns:a16="http://schemas.microsoft.com/office/drawing/2014/main" id="{B86C0969-B696-16E1-5F12-AB4521EB7F10}"/>
              </a:ext>
            </a:extLst>
          </p:cNvPr>
          <p:cNvSpPr txBox="1"/>
          <p:nvPr/>
        </p:nvSpPr>
        <p:spPr>
          <a:xfrm>
            <a:off x="9452341" y="2634568"/>
            <a:ext cx="2358458" cy="184666"/>
          </a:xfrm>
          <a:prstGeom prst="rect">
            <a:avLst/>
          </a:prstGeom>
          <a:noFill/>
        </p:spPr>
        <p:txBody>
          <a:bodyPr wrap="square" lIns="0" tIns="0" rIns="0" bIns="0" rtlCol="0">
            <a:spAutoFit/>
          </a:bodyPr>
          <a:lstStyle/>
          <a:p>
            <a:r>
              <a:rPr lang="en-US" altLang="ja-JP" sz="1200" dirty="0">
                <a:latin typeface="BIZ UDPゴシック" panose="020B0400000000000000" pitchFamily="50" charset="-128"/>
                <a:ea typeface="BIZ UDPゴシック" panose="020B0400000000000000" pitchFamily="50" charset="-128"/>
              </a:rPr>
              <a:t>-</a:t>
            </a:r>
          </a:p>
        </p:txBody>
      </p:sp>
      <p:sp>
        <p:nvSpPr>
          <p:cNvPr id="90" name="テキスト ボックス 89">
            <a:extLst>
              <a:ext uri="{FF2B5EF4-FFF2-40B4-BE49-F238E27FC236}">
                <a16:creationId xmlns:a16="http://schemas.microsoft.com/office/drawing/2014/main" id="{404E9D2D-43F5-5EEA-C839-4DCA578ACB4D}"/>
              </a:ext>
            </a:extLst>
          </p:cNvPr>
          <p:cNvSpPr txBox="1"/>
          <p:nvPr/>
        </p:nvSpPr>
        <p:spPr>
          <a:xfrm>
            <a:off x="9452341" y="3760758"/>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1" name="テキスト ボックス 90">
            <a:extLst>
              <a:ext uri="{FF2B5EF4-FFF2-40B4-BE49-F238E27FC236}">
                <a16:creationId xmlns:a16="http://schemas.microsoft.com/office/drawing/2014/main" id="{783A24E7-29B6-97EB-4DC6-AAD19B5C5B2A}"/>
              </a:ext>
            </a:extLst>
          </p:cNvPr>
          <p:cNvSpPr txBox="1"/>
          <p:nvPr/>
        </p:nvSpPr>
        <p:spPr>
          <a:xfrm>
            <a:off x="9452341" y="4510369"/>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2" name="テキスト ボックス 91">
            <a:extLst>
              <a:ext uri="{FF2B5EF4-FFF2-40B4-BE49-F238E27FC236}">
                <a16:creationId xmlns:a16="http://schemas.microsoft.com/office/drawing/2014/main" id="{BC6E63A3-7F92-4692-6D59-327A9B80F11E}"/>
              </a:ext>
            </a:extLst>
          </p:cNvPr>
          <p:cNvSpPr txBox="1"/>
          <p:nvPr/>
        </p:nvSpPr>
        <p:spPr>
          <a:xfrm>
            <a:off x="4075593"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93" name="テキスト ボックス 92">
            <a:extLst>
              <a:ext uri="{FF2B5EF4-FFF2-40B4-BE49-F238E27FC236}">
                <a16:creationId xmlns:a16="http://schemas.microsoft.com/office/drawing/2014/main" id="{F8A75737-4AD4-6DC0-675B-E8B9FD5F7ED0}"/>
              </a:ext>
            </a:extLst>
          </p:cNvPr>
          <p:cNvSpPr txBox="1"/>
          <p:nvPr/>
        </p:nvSpPr>
        <p:spPr>
          <a:xfrm>
            <a:off x="6763967"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米国機器メーカー</a:t>
            </a:r>
            <a:endParaRPr lang="en-US" altLang="ja-JP" sz="1200" dirty="0">
              <a:latin typeface="BIZ UDPゴシック" panose="020B0400000000000000" pitchFamily="50" charset="-128"/>
              <a:ea typeface="BIZ UDPゴシック" panose="020B0400000000000000" pitchFamily="50" charset="-128"/>
            </a:endParaRPr>
          </a:p>
        </p:txBody>
      </p:sp>
      <p:sp>
        <p:nvSpPr>
          <p:cNvPr id="94" name="テキスト ボックス 93">
            <a:extLst>
              <a:ext uri="{FF2B5EF4-FFF2-40B4-BE49-F238E27FC236}">
                <a16:creationId xmlns:a16="http://schemas.microsoft.com/office/drawing/2014/main" id="{CC67D7EB-ED63-2068-1CAE-0B299BD65A41}"/>
              </a:ext>
            </a:extLst>
          </p:cNvPr>
          <p:cNvSpPr txBox="1"/>
          <p:nvPr/>
        </p:nvSpPr>
        <p:spPr>
          <a:xfrm>
            <a:off x="9452341" y="3028763"/>
            <a:ext cx="2358458" cy="184666"/>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cxnSp>
        <p:nvCxnSpPr>
          <p:cNvPr id="95" name="直線コネクタ 94">
            <a:extLst>
              <a:ext uri="{FF2B5EF4-FFF2-40B4-BE49-F238E27FC236}">
                <a16:creationId xmlns:a16="http://schemas.microsoft.com/office/drawing/2014/main" id="{24DD1E68-7A25-95E3-37A9-49202318D6CF}"/>
              </a:ext>
            </a:extLst>
          </p:cNvPr>
          <p:cNvCxnSpPr>
            <a:cxnSpLocks/>
          </p:cNvCxnSpPr>
          <p:nvPr/>
        </p:nvCxnSpPr>
        <p:spPr>
          <a:xfrm flipV="1">
            <a:off x="282469" y="4843192"/>
            <a:ext cx="11501547" cy="18344"/>
          </a:xfrm>
          <a:prstGeom prst="line">
            <a:avLst/>
          </a:prstGeom>
          <a:ln>
            <a:solidFill>
              <a:schemeClr val="bg1">
                <a:lumMod val="75000"/>
              </a:schemeClr>
            </a:solidFill>
            <a:prstDash val="sysDash"/>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7" name="テキスト ボックス 96">
            <a:extLst>
              <a:ext uri="{FF2B5EF4-FFF2-40B4-BE49-F238E27FC236}">
                <a16:creationId xmlns:a16="http://schemas.microsoft.com/office/drawing/2014/main" id="{987ECEA4-4951-7886-7492-AD2EAB9EEF24}"/>
              </a:ext>
            </a:extLst>
          </p:cNvPr>
          <p:cNvSpPr txBox="1"/>
          <p:nvPr/>
        </p:nvSpPr>
        <p:spPr>
          <a:xfrm>
            <a:off x="4075593" y="5049963"/>
            <a:ext cx="2358458" cy="369332"/>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ネットワーク機器メーカー</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クラウドベンダー</a:t>
            </a:r>
            <a:endParaRPr lang="en-US" altLang="ja-JP" sz="1200" dirty="0">
              <a:latin typeface="BIZ UDPゴシック" panose="020B0400000000000000" pitchFamily="50" charset="-128"/>
              <a:ea typeface="BIZ UDPゴシック" panose="020B0400000000000000" pitchFamily="50" charset="-128"/>
            </a:endParaRPr>
          </a:p>
        </p:txBody>
      </p:sp>
      <p:sp>
        <p:nvSpPr>
          <p:cNvPr id="99" name="正方形/長方形 98">
            <a:extLst>
              <a:ext uri="{FF2B5EF4-FFF2-40B4-BE49-F238E27FC236}">
                <a16:creationId xmlns:a16="http://schemas.microsoft.com/office/drawing/2014/main" id="{342DFAC3-6523-88CC-FAEE-F0E385273D26}"/>
              </a:ext>
            </a:extLst>
          </p:cNvPr>
          <p:cNvSpPr/>
          <p:nvPr/>
        </p:nvSpPr>
        <p:spPr>
          <a:xfrm>
            <a:off x="282470" y="5049963"/>
            <a:ext cx="3295736" cy="671095"/>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グローバル統一基準で管理</a:t>
            </a:r>
          </a:p>
        </p:txBody>
      </p:sp>
      <p:sp>
        <p:nvSpPr>
          <p:cNvPr id="102" name="テキスト ボックス 101">
            <a:extLst>
              <a:ext uri="{FF2B5EF4-FFF2-40B4-BE49-F238E27FC236}">
                <a16:creationId xmlns:a16="http://schemas.microsoft.com/office/drawing/2014/main" id="{6C54688A-EA1C-DFB6-5361-2EF77037F3D4}"/>
              </a:ext>
            </a:extLst>
          </p:cNvPr>
          <p:cNvSpPr txBox="1"/>
          <p:nvPr/>
        </p:nvSpPr>
        <p:spPr>
          <a:xfrm>
            <a:off x="6763967" y="504996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
        <p:nvSpPr>
          <p:cNvPr id="104" name="テキスト ボックス 103">
            <a:extLst>
              <a:ext uri="{FF2B5EF4-FFF2-40B4-BE49-F238E27FC236}">
                <a16:creationId xmlns:a16="http://schemas.microsoft.com/office/drawing/2014/main" id="{EABA4D0C-84AC-6490-0965-60AD70DE2E3B}"/>
              </a:ext>
            </a:extLst>
          </p:cNvPr>
          <p:cNvSpPr txBox="1"/>
          <p:nvPr/>
        </p:nvSpPr>
        <p:spPr>
          <a:xfrm>
            <a:off x="9452341" y="5049963"/>
            <a:ext cx="2358458" cy="553998"/>
          </a:xfrm>
          <a:prstGeom prst="rect">
            <a:avLst/>
          </a:prstGeom>
          <a:noFill/>
        </p:spPr>
        <p:txBody>
          <a:bodyPr wrap="square" lIns="0" tIns="0" rIns="0" bIns="0" rtlCol="0">
            <a:spAutoFit/>
          </a:bodyPr>
          <a:lstStyle/>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インターネットサービス会社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鉄道会社</a:t>
            </a:r>
            <a:endParaRPr lang="en-US" altLang="ja-JP" sz="1200" dirty="0">
              <a:latin typeface="BIZ UDPゴシック" panose="020B0400000000000000" pitchFamily="50" charset="-128"/>
              <a:ea typeface="BIZ UDPゴシック" panose="020B0400000000000000" pitchFamily="50" charset="-128"/>
            </a:endParaRPr>
          </a:p>
          <a:p>
            <a:pPr marL="228600" indent="-228600">
              <a:buFont typeface="+mj-lt"/>
              <a:buAutoNum type="arabicPeriod"/>
            </a:pPr>
            <a:r>
              <a:rPr lang="ja-JP" altLang="en-US" sz="1200" dirty="0">
                <a:latin typeface="BIZ UDPゴシック" panose="020B0400000000000000" pitchFamily="50" charset="-128"/>
                <a:ea typeface="BIZ UDPゴシック" panose="020B0400000000000000" pitchFamily="50" charset="-128"/>
              </a:rPr>
              <a:t>アパレル会社</a:t>
            </a:r>
            <a:endParaRPr lang="en-US" altLang="ja-JP" sz="12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594312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666D6-70C3-E07A-35C1-71ABA272A0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7FC298-A966-DE05-AD66-7F387DD56B60}"/>
              </a:ext>
            </a:extLst>
          </p:cNvPr>
          <p:cNvSpPr>
            <a:spLocks noGrp="1"/>
          </p:cNvSpPr>
          <p:nvPr>
            <p:ph type="title"/>
          </p:nvPr>
        </p:nvSpPr>
        <p:spPr/>
        <p:txBody>
          <a:bodyPr/>
          <a:lstStyle/>
          <a:p>
            <a:r>
              <a:rPr kumimoji="1" lang="ja-JP" altLang="en-US" dirty="0"/>
              <a:t>フレームワーク一覧</a:t>
            </a:r>
          </a:p>
        </p:txBody>
      </p:sp>
      <p:sp>
        <p:nvSpPr>
          <p:cNvPr id="3" name="フッター プレースホルダー 2">
            <a:extLst>
              <a:ext uri="{FF2B5EF4-FFF2-40B4-BE49-F238E27FC236}">
                <a16:creationId xmlns:a16="http://schemas.microsoft.com/office/drawing/2014/main" id="{30CC02AA-7824-F2AA-C592-CCE90C964849}"/>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B5BEFEA2-CBDD-F401-0D2A-3C5A2675D7D2}"/>
              </a:ext>
            </a:extLst>
          </p:cNvPr>
          <p:cNvSpPr>
            <a:spLocks noGrp="1"/>
          </p:cNvSpPr>
          <p:nvPr>
            <p:ph type="sldNum" sz="quarter" idx="12"/>
          </p:nvPr>
        </p:nvSpPr>
        <p:spPr/>
        <p:txBody>
          <a:bodyPr/>
          <a:lstStyle/>
          <a:p>
            <a:fld id="{DCB5AA93-092B-49A1-87A7-3C88D5F38AD7}" type="slidenum">
              <a:rPr lang="ja-JP" altLang="en-US" smtClean="0"/>
              <a:pPr/>
              <a:t>24</a:t>
            </a:fld>
            <a:endParaRPr lang="ja-JP" altLang="en-US" dirty="0"/>
          </a:p>
        </p:txBody>
      </p:sp>
      <p:sp>
        <p:nvSpPr>
          <p:cNvPr id="5" name="テキスト プレースホルダー 4">
            <a:extLst>
              <a:ext uri="{FF2B5EF4-FFF2-40B4-BE49-F238E27FC236}">
                <a16:creationId xmlns:a16="http://schemas.microsoft.com/office/drawing/2014/main" id="{FEFB9F16-27EA-C5C0-0EB0-9B9532D97065}"/>
              </a:ext>
            </a:extLst>
          </p:cNvPr>
          <p:cNvSpPr>
            <a:spLocks noGrp="1"/>
          </p:cNvSpPr>
          <p:nvPr>
            <p:ph type="body" sz="quarter" idx="13"/>
          </p:nvPr>
        </p:nvSpPr>
        <p:spPr/>
        <p:txBody>
          <a:bodyPr/>
          <a:lstStyle/>
          <a:p>
            <a:r>
              <a:rPr kumimoji="1" lang="ja-JP" altLang="en-US" dirty="0"/>
              <a:t>目的と課題に応じた手法を選択しないと，本来の意図からはかけ離れてしまう</a:t>
            </a:r>
          </a:p>
        </p:txBody>
      </p:sp>
      <p:sp>
        <p:nvSpPr>
          <p:cNvPr id="7" name="テキスト ボックス 6">
            <a:extLst>
              <a:ext uri="{FF2B5EF4-FFF2-40B4-BE49-F238E27FC236}">
                <a16:creationId xmlns:a16="http://schemas.microsoft.com/office/drawing/2014/main" id="{1BC6523A-008C-4FAD-5093-725F8DD7475F}"/>
              </a:ext>
            </a:extLst>
          </p:cNvPr>
          <p:cNvSpPr txBox="1"/>
          <p:nvPr/>
        </p:nvSpPr>
        <p:spPr>
          <a:xfrm>
            <a:off x="568855" y="1721167"/>
            <a:ext cx="359073"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範囲</a:t>
            </a:r>
          </a:p>
        </p:txBody>
      </p:sp>
      <p:sp>
        <p:nvSpPr>
          <p:cNvPr id="8" name="テキスト ボックス 7">
            <a:extLst>
              <a:ext uri="{FF2B5EF4-FFF2-40B4-BE49-F238E27FC236}">
                <a16:creationId xmlns:a16="http://schemas.microsoft.com/office/drawing/2014/main" id="{495FEBA7-37DF-4308-BC23-F50D436BD9B7}"/>
              </a:ext>
            </a:extLst>
          </p:cNvPr>
          <p:cNvSpPr txBox="1"/>
          <p:nvPr/>
        </p:nvSpPr>
        <p:spPr>
          <a:xfrm>
            <a:off x="2638703" y="1751982"/>
            <a:ext cx="897682"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データ集計</a:t>
            </a:r>
          </a:p>
        </p:txBody>
      </p:sp>
      <p:sp>
        <p:nvSpPr>
          <p:cNvPr id="10" name="正方形/長方形 9">
            <a:extLst>
              <a:ext uri="{FF2B5EF4-FFF2-40B4-BE49-F238E27FC236}">
                <a16:creationId xmlns:a16="http://schemas.microsoft.com/office/drawing/2014/main" id="{52486A0C-FDDF-43DC-692D-4788A236D6E7}"/>
              </a:ext>
            </a:extLst>
          </p:cNvPr>
          <p:cNvSpPr/>
          <p:nvPr/>
        </p:nvSpPr>
        <p:spPr>
          <a:xfrm>
            <a:off x="470043" y="219418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1</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62C53DE3-88B4-D1A8-39B0-A4B8B603EC80}"/>
              </a:ext>
            </a:extLst>
          </p:cNvPr>
          <p:cNvSpPr txBox="1"/>
          <p:nvPr/>
        </p:nvSpPr>
        <p:spPr>
          <a:xfrm>
            <a:off x="1952222"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15" name="直線コネクタ 14">
            <a:extLst>
              <a:ext uri="{FF2B5EF4-FFF2-40B4-BE49-F238E27FC236}">
                <a16:creationId xmlns:a16="http://schemas.microsoft.com/office/drawing/2014/main" id="{DBEDE569-EBCA-94F2-F52F-FC551F8CEFDC}"/>
              </a:ext>
              <a:ext uri="{C183D7F6-B498-43B3-948B-1728B52AA6E4}">
                <adec:decorative xmlns:adec="http://schemas.microsoft.com/office/drawing/2017/decorative" val="1"/>
              </a:ext>
            </a:extLst>
          </p:cNvPr>
          <p:cNvCxnSpPr>
            <a:cxnSpLocks/>
          </p:cNvCxnSpPr>
          <p:nvPr/>
        </p:nvCxnSpPr>
        <p:spPr>
          <a:xfrm>
            <a:off x="470043" y="1998107"/>
            <a:ext cx="1299491"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A78EC858-128C-C2C0-CFDE-5CAC764E2398}"/>
              </a:ext>
              <a:ext uri="{C183D7F6-B498-43B3-948B-1728B52AA6E4}">
                <adec:decorative xmlns:adec="http://schemas.microsoft.com/office/drawing/2017/decorative" val="1"/>
              </a:ext>
            </a:extLst>
          </p:cNvPr>
          <p:cNvCxnSpPr>
            <a:cxnSpLocks/>
          </p:cNvCxnSpPr>
          <p:nvPr/>
        </p:nvCxnSpPr>
        <p:spPr>
          <a:xfrm>
            <a:off x="1952221"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2" name="正方形/長方形 21">
            <a:extLst>
              <a:ext uri="{FF2B5EF4-FFF2-40B4-BE49-F238E27FC236}">
                <a16:creationId xmlns:a16="http://schemas.microsoft.com/office/drawing/2014/main" id="{DD074003-0072-1B57-7A71-8ED4DAD819DF}"/>
              </a:ext>
            </a:extLst>
          </p:cNvPr>
          <p:cNvSpPr/>
          <p:nvPr/>
        </p:nvSpPr>
        <p:spPr>
          <a:xfrm>
            <a:off x="470043" y="335601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2</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0097B269-9B1D-BF79-C91B-DEBC258C931D}"/>
              </a:ext>
            </a:extLst>
          </p:cNvPr>
          <p:cNvSpPr txBox="1"/>
          <p:nvPr/>
        </p:nvSpPr>
        <p:spPr>
          <a:xfrm>
            <a:off x="1952222"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49C23D3E-84FB-24F7-86C7-DD7D1D982824}"/>
              </a:ext>
            </a:extLst>
          </p:cNvPr>
          <p:cNvSpPr/>
          <p:nvPr/>
        </p:nvSpPr>
        <p:spPr>
          <a:xfrm>
            <a:off x="470043" y="4517848"/>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593A3593-0850-7B5B-C951-E73B97A11E09}"/>
              </a:ext>
            </a:extLst>
          </p:cNvPr>
          <p:cNvSpPr txBox="1"/>
          <p:nvPr/>
        </p:nvSpPr>
        <p:spPr>
          <a:xfrm>
            <a:off x="1952222"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28" name="正方形/長方形 27">
            <a:extLst>
              <a:ext uri="{FF2B5EF4-FFF2-40B4-BE49-F238E27FC236}">
                <a16:creationId xmlns:a16="http://schemas.microsoft.com/office/drawing/2014/main" id="{AB17C6E8-1C47-F326-C746-B6E261C07A37}"/>
              </a:ext>
            </a:extLst>
          </p:cNvPr>
          <p:cNvSpPr/>
          <p:nvPr/>
        </p:nvSpPr>
        <p:spPr>
          <a:xfrm>
            <a:off x="470043" y="5679677"/>
            <a:ext cx="1299491" cy="62679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例</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E5E36216-CA5D-B5C2-CF68-95D36FFEF249}"/>
              </a:ext>
            </a:extLst>
          </p:cNvPr>
          <p:cNvSpPr txBox="1"/>
          <p:nvPr/>
        </p:nvSpPr>
        <p:spPr>
          <a:xfrm>
            <a:off x="1952222" y="5679677"/>
            <a:ext cx="2270644" cy="86177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xxx</a:t>
            </a:r>
            <a:r>
              <a:rPr lang="ja-JP" altLang="en-US" sz="1400" dirty="0">
                <a:latin typeface="BIZ UDPゴシック" panose="020B0400000000000000" pitchFamily="50" charset="-128"/>
                <a:ea typeface="BIZ UDPゴシック" panose="020B0400000000000000" pitchFamily="50" charset="-128"/>
              </a:rPr>
              <a:t>棚卸リストの運用</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E-learning</a:t>
            </a:r>
            <a:r>
              <a:rPr lang="ja-JP" altLang="en-US" sz="1400" dirty="0">
                <a:latin typeface="BIZ UDPゴシック" panose="020B0400000000000000" pitchFamily="50" charset="-128"/>
                <a:ea typeface="BIZ UDPゴシック" panose="020B0400000000000000" pitchFamily="50" charset="-128"/>
              </a:rPr>
              <a:t>など期限もの</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計数データの取りまとめ</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文書校閲</a:t>
            </a:r>
          </a:p>
        </p:txBody>
      </p:sp>
      <p:sp>
        <p:nvSpPr>
          <p:cNvPr id="47" name="テキスト ボックス 46">
            <a:extLst>
              <a:ext uri="{FF2B5EF4-FFF2-40B4-BE49-F238E27FC236}">
                <a16:creationId xmlns:a16="http://schemas.microsoft.com/office/drawing/2014/main" id="{CDA0E816-81E9-9E49-0379-35C7A9C9B5AB}"/>
              </a:ext>
            </a:extLst>
          </p:cNvPr>
          <p:cNvSpPr txBox="1"/>
          <p:nvPr/>
        </p:nvSpPr>
        <p:spPr>
          <a:xfrm>
            <a:off x="5210854" y="1751982"/>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社内申請</a:t>
            </a:r>
          </a:p>
        </p:txBody>
      </p:sp>
      <p:sp>
        <p:nvSpPr>
          <p:cNvPr id="48" name="テキスト ボックス 47">
            <a:extLst>
              <a:ext uri="{FF2B5EF4-FFF2-40B4-BE49-F238E27FC236}">
                <a16:creationId xmlns:a16="http://schemas.microsoft.com/office/drawing/2014/main" id="{835726C7-9BF1-9BD5-B428-35E0EC2F4DC8}"/>
              </a:ext>
            </a:extLst>
          </p:cNvPr>
          <p:cNvSpPr txBox="1"/>
          <p:nvPr/>
        </p:nvSpPr>
        <p:spPr>
          <a:xfrm>
            <a:off x="4524373"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49" name="直線コネクタ 48">
            <a:extLst>
              <a:ext uri="{FF2B5EF4-FFF2-40B4-BE49-F238E27FC236}">
                <a16:creationId xmlns:a16="http://schemas.microsoft.com/office/drawing/2014/main" id="{42515105-2DB3-0AF1-8450-14507C1AC7BB}"/>
              </a:ext>
              <a:ext uri="{C183D7F6-B498-43B3-948B-1728B52AA6E4}">
                <adec:decorative xmlns:adec="http://schemas.microsoft.com/office/drawing/2017/decorative" val="1"/>
              </a:ext>
            </a:extLst>
          </p:cNvPr>
          <p:cNvCxnSpPr>
            <a:cxnSpLocks/>
          </p:cNvCxnSpPr>
          <p:nvPr/>
        </p:nvCxnSpPr>
        <p:spPr>
          <a:xfrm>
            <a:off x="4524372"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0" name="テキスト ボックス 49">
            <a:extLst>
              <a:ext uri="{FF2B5EF4-FFF2-40B4-BE49-F238E27FC236}">
                <a16:creationId xmlns:a16="http://schemas.microsoft.com/office/drawing/2014/main" id="{CF3D7718-08E5-6653-9198-433E12F19B71}"/>
              </a:ext>
            </a:extLst>
          </p:cNvPr>
          <p:cNvSpPr txBox="1"/>
          <p:nvPr/>
        </p:nvSpPr>
        <p:spPr>
          <a:xfrm>
            <a:off x="4524373"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2EC9A7F7-8865-847C-C4B6-7DAB68E15511}"/>
              </a:ext>
            </a:extLst>
          </p:cNvPr>
          <p:cNvSpPr txBox="1"/>
          <p:nvPr/>
        </p:nvSpPr>
        <p:spPr>
          <a:xfrm>
            <a:off x="4524373"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52" name="テキスト ボックス 51">
            <a:extLst>
              <a:ext uri="{FF2B5EF4-FFF2-40B4-BE49-F238E27FC236}">
                <a16:creationId xmlns:a16="http://schemas.microsoft.com/office/drawing/2014/main" id="{93BEC973-35F8-52A3-939D-8E1C3BA26FE0}"/>
              </a:ext>
            </a:extLst>
          </p:cNvPr>
          <p:cNvSpPr txBox="1"/>
          <p:nvPr/>
        </p:nvSpPr>
        <p:spPr>
          <a:xfrm>
            <a:off x="4524373" y="5679677"/>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購買依頼、支払い申請</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公印申請</a:t>
            </a:r>
            <a:endParaRPr lang="en-US" altLang="ja-JP" sz="1400" dirty="0">
              <a:latin typeface="BIZ UDPゴシック" panose="020B0400000000000000" pitchFamily="50" charset="-128"/>
              <a:ea typeface="BIZ UDPゴシック" panose="020B0400000000000000" pitchFamily="50" charset="-128"/>
            </a:endParaRPr>
          </a:p>
        </p:txBody>
      </p:sp>
      <p:sp>
        <p:nvSpPr>
          <p:cNvPr id="53" name="テキスト ボックス 52">
            <a:extLst>
              <a:ext uri="{FF2B5EF4-FFF2-40B4-BE49-F238E27FC236}">
                <a16:creationId xmlns:a16="http://schemas.microsoft.com/office/drawing/2014/main" id="{6A9F0495-7CB1-8AC1-8BA2-AC1833B99DF3}"/>
              </a:ext>
            </a:extLst>
          </p:cNvPr>
          <p:cNvSpPr txBox="1"/>
          <p:nvPr/>
        </p:nvSpPr>
        <p:spPr>
          <a:xfrm>
            <a:off x="7849506" y="1751982"/>
            <a:ext cx="718145"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会議支援</a:t>
            </a:r>
          </a:p>
        </p:txBody>
      </p:sp>
      <p:sp>
        <p:nvSpPr>
          <p:cNvPr id="54" name="テキスト ボックス 53">
            <a:extLst>
              <a:ext uri="{FF2B5EF4-FFF2-40B4-BE49-F238E27FC236}">
                <a16:creationId xmlns:a16="http://schemas.microsoft.com/office/drawing/2014/main" id="{DAB87054-8250-12FB-2BAE-EB41D1165190}"/>
              </a:ext>
            </a:extLst>
          </p:cNvPr>
          <p:cNvSpPr txBox="1"/>
          <p:nvPr/>
        </p:nvSpPr>
        <p:spPr>
          <a:xfrm>
            <a:off x="7163025"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55" name="直線コネクタ 54">
            <a:extLst>
              <a:ext uri="{FF2B5EF4-FFF2-40B4-BE49-F238E27FC236}">
                <a16:creationId xmlns:a16="http://schemas.microsoft.com/office/drawing/2014/main" id="{481091D1-1EA0-B184-5C54-4C5BD7241245}"/>
              </a:ext>
              <a:ext uri="{C183D7F6-B498-43B3-948B-1728B52AA6E4}">
                <adec:decorative xmlns:adec="http://schemas.microsoft.com/office/drawing/2017/decorative" val="1"/>
              </a:ext>
            </a:extLst>
          </p:cNvPr>
          <p:cNvCxnSpPr>
            <a:cxnSpLocks/>
          </p:cNvCxnSpPr>
          <p:nvPr/>
        </p:nvCxnSpPr>
        <p:spPr>
          <a:xfrm>
            <a:off x="7163024"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835416D9-02EF-D85F-9AA2-A5FBC6E8A00F}"/>
              </a:ext>
            </a:extLst>
          </p:cNvPr>
          <p:cNvSpPr txBox="1"/>
          <p:nvPr/>
        </p:nvSpPr>
        <p:spPr>
          <a:xfrm>
            <a:off x="7163025"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95038FC3-D11A-9A46-1713-A644B88CE41A}"/>
              </a:ext>
            </a:extLst>
          </p:cNvPr>
          <p:cNvSpPr txBox="1"/>
          <p:nvPr/>
        </p:nvSpPr>
        <p:spPr>
          <a:xfrm>
            <a:off x="7163025"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58" name="テキスト ボックス 57">
            <a:extLst>
              <a:ext uri="{FF2B5EF4-FFF2-40B4-BE49-F238E27FC236}">
                <a16:creationId xmlns:a16="http://schemas.microsoft.com/office/drawing/2014/main" id="{EECCCEAE-00C2-D65E-B543-217259AA3836}"/>
              </a:ext>
            </a:extLst>
          </p:cNvPr>
          <p:cNvSpPr txBox="1"/>
          <p:nvPr/>
        </p:nvSpPr>
        <p:spPr>
          <a:xfrm>
            <a:off x="7163025" y="5679677"/>
            <a:ext cx="2270644" cy="430887"/>
          </a:xfrm>
          <a:prstGeom prst="rect">
            <a:avLst/>
          </a:prstGeom>
          <a:noFill/>
        </p:spPr>
        <p:txBody>
          <a:bodyPr wrap="square" lIns="0" tIns="0" rIns="0" bIns="0" rtlCol="0">
            <a:spAutoFit/>
          </a:bodyPr>
          <a:lstStyle/>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会議調整</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1on1 </a:t>
            </a:r>
            <a:r>
              <a:rPr lang="ja-JP" altLang="en-US" sz="1400" dirty="0">
                <a:latin typeface="BIZ UDPゴシック" panose="020B0400000000000000" pitchFamily="50" charset="-128"/>
                <a:ea typeface="BIZ UDPゴシック" panose="020B0400000000000000" pitchFamily="50" charset="-128"/>
              </a:rPr>
              <a:t>日程調整・案内送付</a:t>
            </a:r>
          </a:p>
        </p:txBody>
      </p:sp>
      <p:sp>
        <p:nvSpPr>
          <p:cNvPr id="59" name="テキスト ボックス 58">
            <a:extLst>
              <a:ext uri="{FF2B5EF4-FFF2-40B4-BE49-F238E27FC236}">
                <a16:creationId xmlns:a16="http://schemas.microsoft.com/office/drawing/2014/main" id="{30CEF61F-CFC0-0B78-D480-A137B23CF09A}"/>
              </a:ext>
            </a:extLst>
          </p:cNvPr>
          <p:cNvSpPr txBox="1"/>
          <p:nvPr/>
        </p:nvSpPr>
        <p:spPr>
          <a:xfrm>
            <a:off x="10397706" y="1751982"/>
            <a:ext cx="538609" cy="215444"/>
          </a:xfrm>
          <a:prstGeom prst="rect">
            <a:avLst/>
          </a:prstGeom>
          <a:noFill/>
        </p:spPr>
        <p:txBody>
          <a:bodyPr wrap="none" lIns="0" tIns="0" rIns="0" bIns="0" rtlCol="0">
            <a:spAutoFit/>
          </a:bodyPr>
          <a:lstStyle/>
          <a:p>
            <a:r>
              <a:rPr lang="ja-JP" altLang="en-US" sz="1400" dirty="0">
                <a:latin typeface="BIZ UDPゴシック" panose="020B0400000000000000" pitchFamily="50" charset="-128"/>
                <a:ea typeface="BIZ UDPゴシック" panose="020B0400000000000000" pitchFamily="50" charset="-128"/>
              </a:rPr>
              <a:t>その他</a:t>
            </a:r>
          </a:p>
        </p:txBody>
      </p:sp>
      <p:sp>
        <p:nvSpPr>
          <p:cNvPr id="60" name="テキスト ボックス 59">
            <a:extLst>
              <a:ext uri="{FF2B5EF4-FFF2-40B4-BE49-F238E27FC236}">
                <a16:creationId xmlns:a16="http://schemas.microsoft.com/office/drawing/2014/main" id="{9E6C538F-E97F-6D20-3941-391F55893ADC}"/>
              </a:ext>
            </a:extLst>
          </p:cNvPr>
          <p:cNvSpPr txBox="1"/>
          <p:nvPr/>
        </p:nvSpPr>
        <p:spPr>
          <a:xfrm>
            <a:off x="9711225" y="2194183"/>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cxnSp>
        <p:nvCxnSpPr>
          <p:cNvPr id="61" name="直線コネクタ 60">
            <a:extLst>
              <a:ext uri="{FF2B5EF4-FFF2-40B4-BE49-F238E27FC236}">
                <a16:creationId xmlns:a16="http://schemas.microsoft.com/office/drawing/2014/main" id="{31A8E7F7-21AE-F509-8766-7CD7EE1CC660}"/>
              </a:ext>
              <a:ext uri="{C183D7F6-B498-43B3-948B-1728B52AA6E4}">
                <adec:decorative xmlns:adec="http://schemas.microsoft.com/office/drawing/2017/decorative" val="1"/>
              </a:ext>
            </a:extLst>
          </p:cNvPr>
          <p:cNvCxnSpPr>
            <a:cxnSpLocks/>
          </p:cNvCxnSpPr>
          <p:nvPr/>
        </p:nvCxnSpPr>
        <p:spPr>
          <a:xfrm>
            <a:off x="9711224" y="1998107"/>
            <a:ext cx="2204143" cy="0"/>
          </a:xfrm>
          <a:prstGeom prst="line">
            <a:avLst/>
          </a:prstGeom>
          <a:ln w="28575">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2" name="テキスト ボックス 61">
            <a:extLst>
              <a:ext uri="{FF2B5EF4-FFF2-40B4-BE49-F238E27FC236}">
                <a16:creationId xmlns:a16="http://schemas.microsoft.com/office/drawing/2014/main" id="{C3FEB717-C903-BB34-4E80-3680B4D56B1A}"/>
              </a:ext>
            </a:extLst>
          </p:cNvPr>
          <p:cNvSpPr txBox="1"/>
          <p:nvPr/>
        </p:nvSpPr>
        <p:spPr>
          <a:xfrm>
            <a:off x="9711225" y="335601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en-US" altLang="ja-JP" sz="1400" dirty="0">
              <a:latin typeface="BIZ UDPゴシック" panose="020B0400000000000000" pitchFamily="50" charset="-128"/>
              <a:ea typeface="BIZ UDPゴシック" panose="020B0400000000000000" pitchFamily="50" charset="-128"/>
            </a:endParaRPr>
          </a:p>
        </p:txBody>
      </p:sp>
      <p:sp>
        <p:nvSpPr>
          <p:cNvPr id="63" name="テキスト ボックス 62">
            <a:extLst>
              <a:ext uri="{FF2B5EF4-FFF2-40B4-BE49-F238E27FC236}">
                <a16:creationId xmlns:a16="http://schemas.microsoft.com/office/drawing/2014/main" id="{1171C83B-B174-4F6D-6294-0914A5BAFFFB}"/>
              </a:ext>
            </a:extLst>
          </p:cNvPr>
          <p:cNvSpPr txBox="1"/>
          <p:nvPr/>
        </p:nvSpPr>
        <p:spPr>
          <a:xfrm>
            <a:off x="9711225" y="4517848"/>
            <a:ext cx="2270644" cy="215444"/>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err="1">
                <a:latin typeface="BIZ UDPゴシック" panose="020B0400000000000000" pitchFamily="50" charset="-128"/>
                <a:ea typeface="BIZ UDPゴシック" panose="020B0400000000000000" pitchFamily="50" charset="-128"/>
              </a:rPr>
              <a:t>aaa</a:t>
            </a:r>
            <a:endParaRPr lang="ja-JP" altLang="en-US" sz="1400" dirty="0">
              <a:latin typeface="BIZ UDPゴシック" panose="020B0400000000000000" pitchFamily="50" charset="-128"/>
              <a:ea typeface="BIZ UDPゴシック" panose="020B0400000000000000" pitchFamily="50" charset="-128"/>
            </a:endParaRPr>
          </a:p>
        </p:txBody>
      </p:sp>
      <p:sp>
        <p:nvSpPr>
          <p:cNvPr id="64" name="テキスト ボックス 63">
            <a:extLst>
              <a:ext uri="{FF2B5EF4-FFF2-40B4-BE49-F238E27FC236}">
                <a16:creationId xmlns:a16="http://schemas.microsoft.com/office/drawing/2014/main" id="{19B0240A-F691-3650-07FA-220D90494C7F}"/>
              </a:ext>
            </a:extLst>
          </p:cNvPr>
          <p:cNvSpPr txBox="1"/>
          <p:nvPr/>
        </p:nvSpPr>
        <p:spPr>
          <a:xfrm>
            <a:off x="9711225" y="5679677"/>
            <a:ext cx="2270644" cy="646331"/>
          </a:xfrm>
          <a:prstGeom prst="rect">
            <a:avLst/>
          </a:prstGeom>
          <a:noFill/>
        </p:spPr>
        <p:txBody>
          <a:bodyPr wrap="square" lIns="0" tIns="0" rIns="0" bIns="0" rtlCol="0">
            <a:spAutoFit/>
          </a:bodyPr>
          <a:lstStyle/>
          <a:p>
            <a:pPr marL="180975" indent="-180975">
              <a:buFont typeface="Arial" panose="020B0604020202020204" pitchFamily="34" charset="0"/>
              <a:buChar char="•"/>
            </a:pPr>
            <a:r>
              <a:rPr lang="en-US" altLang="ja-JP" sz="1400" dirty="0">
                <a:latin typeface="BIZ UDPゴシック" panose="020B0400000000000000" pitchFamily="50" charset="-128"/>
                <a:ea typeface="BIZ UDPゴシック" panose="020B0400000000000000" pitchFamily="50" charset="-128"/>
              </a:rPr>
              <a:t>PC</a:t>
            </a:r>
            <a:r>
              <a:rPr lang="ja-JP" altLang="en-US" sz="1400" dirty="0">
                <a:latin typeface="BIZ UDPゴシック" panose="020B0400000000000000" pitchFamily="50" charset="-128"/>
                <a:ea typeface="BIZ UDPゴシック" panose="020B0400000000000000" pitchFamily="50" charset="-128"/>
              </a:rPr>
              <a:t>申請・消耗品購入</a:t>
            </a:r>
            <a:endParaRPr lang="en-US" altLang="ja-JP" sz="1400" dirty="0">
              <a:latin typeface="BIZ UDPゴシック" panose="020B0400000000000000" pitchFamily="50" charset="-128"/>
              <a:ea typeface="BIZ UDPゴシック" panose="020B0400000000000000" pitchFamily="50" charset="-128"/>
            </a:endParaRP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社員受入れ </a:t>
            </a:r>
            <a:r>
              <a:rPr lang="en-US" altLang="ja-JP" sz="1400" dirty="0">
                <a:latin typeface="BIZ UDPゴシック" panose="020B0400000000000000" pitchFamily="50" charset="-128"/>
                <a:ea typeface="BIZ UDPゴシック" panose="020B0400000000000000" pitchFamily="50" charset="-128"/>
              </a:rPr>
              <a:t>(</a:t>
            </a:r>
            <a:r>
              <a:rPr lang="ja-JP" altLang="en-US" sz="1400" dirty="0">
                <a:latin typeface="BIZ UDPゴシック" panose="020B0400000000000000" pitchFamily="50" charset="-128"/>
                <a:ea typeface="BIZ UDPゴシック" panose="020B0400000000000000" pitchFamily="50" charset="-128"/>
              </a:rPr>
              <a:t>備品</a:t>
            </a:r>
            <a:r>
              <a:rPr lang="en-US" altLang="ja-JP" sz="1400" dirty="0">
                <a:latin typeface="BIZ UDPゴシック" panose="020B0400000000000000" pitchFamily="50" charset="-128"/>
                <a:ea typeface="BIZ UDPゴシック" panose="020B0400000000000000" pitchFamily="50" charset="-128"/>
              </a:rPr>
              <a:t>)</a:t>
            </a:r>
          </a:p>
          <a:p>
            <a:pPr marL="180975" indent="-180975">
              <a:buFont typeface="Arial" panose="020B0604020202020204" pitchFamily="34" charset="0"/>
              <a:buChar char="•"/>
            </a:pPr>
            <a:r>
              <a:rPr lang="ja-JP" altLang="en-US" sz="1400" dirty="0">
                <a:latin typeface="BIZ UDPゴシック" panose="020B0400000000000000" pitchFamily="50" charset="-128"/>
                <a:ea typeface="BIZ UDPゴシック" panose="020B0400000000000000" pitchFamily="50" charset="-128"/>
              </a:rPr>
              <a:t>周知文書の展開</a:t>
            </a:r>
            <a:endParaRPr lang="en-US" altLang="ja-JP" sz="140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61237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34BBD-AAA4-BA13-36B4-C8407AFFA0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C7F4784-ACEB-271A-456C-1F0A7D71E6CE}"/>
              </a:ext>
            </a:extLst>
          </p:cNvPr>
          <p:cNvSpPr>
            <a:spLocks noGrp="1"/>
          </p:cNvSpPr>
          <p:nvPr>
            <p:ph type="title"/>
          </p:nvPr>
        </p:nvSpPr>
        <p:spPr/>
        <p:txBody>
          <a:bodyPr/>
          <a:lstStyle/>
          <a:p>
            <a:endParaRPr kumimoji="1" lang="ja-JP" altLang="en-US" dirty="0"/>
          </a:p>
        </p:txBody>
      </p:sp>
      <p:sp>
        <p:nvSpPr>
          <p:cNvPr id="3" name="フッター プレースホルダー 2">
            <a:extLst>
              <a:ext uri="{FF2B5EF4-FFF2-40B4-BE49-F238E27FC236}">
                <a16:creationId xmlns:a16="http://schemas.microsoft.com/office/drawing/2014/main" id="{ADF44B51-D60F-C9D6-441D-DF5DC41BCA66}"/>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50BBE75B-97D8-546B-9B51-2AF4301EB14D}"/>
              </a:ext>
            </a:extLst>
          </p:cNvPr>
          <p:cNvSpPr>
            <a:spLocks noGrp="1"/>
          </p:cNvSpPr>
          <p:nvPr>
            <p:ph type="sldNum" sz="quarter" idx="12"/>
          </p:nvPr>
        </p:nvSpPr>
        <p:spPr/>
        <p:txBody>
          <a:bodyPr/>
          <a:lstStyle/>
          <a:p>
            <a:fld id="{DCB5AA93-092B-49A1-87A7-3C88D5F38AD7}" type="slidenum">
              <a:rPr lang="ja-JP" altLang="en-US" smtClean="0"/>
              <a:pPr/>
              <a:t>25</a:t>
            </a:fld>
            <a:endParaRPr lang="ja-JP" altLang="en-US" dirty="0"/>
          </a:p>
        </p:txBody>
      </p:sp>
      <p:sp>
        <p:nvSpPr>
          <p:cNvPr id="5" name="テキスト プレースホルダー 4">
            <a:extLst>
              <a:ext uri="{FF2B5EF4-FFF2-40B4-BE49-F238E27FC236}">
                <a16:creationId xmlns:a16="http://schemas.microsoft.com/office/drawing/2014/main" id="{20410C66-0104-FE55-174E-A15538E9B291}"/>
              </a:ext>
            </a:extLst>
          </p:cNvPr>
          <p:cNvSpPr>
            <a:spLocks noGrp="1"/>
          </p:cNvSpPr>
          <p:nvPr>
            <p:ph type="body" sz="quarter" idx="13"/>
          </p:nvPr>
        </p:nvSpPr>
        <p:spPr/>
        <p:txBody>
          <a:bodyPr/>
          <a:lstStyle/>
          <a:p>
            <a:endParaRPr kumimoji="1" lang="ja-JP" altLang="en-US"/>
          </a:p>
        </p:txBody>
      </p:sp>
      <p:sp>
        <p:nvSpPr>
          <p:cNvPr id="6" name="正方形/長方形 5">
            <a:extLst>
              <a:ext uri="{FF2B5EF4-FFF2-40B4-BE49-F238E27FC236}">
                <a16:creationId xmlns:a16="http://schemas.microsoft.com/office/drawing/2014/main" id="{F332116A-66DF-EE9F-CCD6-618EC337303F}"/>
              </a:ext>
            </a:extLst>
          </p:cNvPr>
          <p:cNvSpPr/>
          <p:nvPr/>
        </p:nvSpPr>
        <p:spPr>
          <a:xfrm>
            <a:off x="770466"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きっと後悔します</a:t>
            </a:r>
          </a:p>
        </p:txBody>
      </p:sp>
      <p:sp>
        <p:nvSpPr>
          <p:cNvPr id="11" name="正方形/長方形 10">
            <a:extLst>
              <a:ext uri="{FF2B5EF4-FFF2-40B4-BE49-F238E27FC236}">
                <a16:creationId xmlns:a16="http://schemas.microsoft.com/office/drawing/2014/main" id="{B68A7DE4-7539-63B7-5898-8773A6ED9464}"/>
              </a:ext>
            </a:extLst>
          </p:cNvPr>
          <p:cNvSpPr/>
          <p:nvPr/>
        </p:nvSpPr>
        <p:spPr>
          <a:xfrm>
            <a:off x="3591277"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冷たい視線</a:t>
            </a:r>
          </a:p>
        </p:txBody>
      </p:sp>
      <p:sp>
        <p:nvSpPr>
          <p:cNvPr id="14" name="正方形/長方形 13">
            <a:extLst>
              <a:ext uri="{FF2B5EF4-FFF2-40B4-BE49-F238E27FC236}">
                <a16:creationId xmlns:a16="http://schemas.microsoft.com/office/drawing/2014/main" id="{98663185-9D27-7F76-0C68-D135910DBCF1}"/>
              </a:ext>
            </a:extLst>
          </p:cNvPr>
          <p:cNvSpPr/>
          <p:nvPr/>
        </p:nvSpPr>
        <p:spPr>
          <a:xfrm>
            <a:off x="6412088"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送っちゃえ</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申し訳なさそうに</a:t>
            </a:r>
          </a:p>
        </p:txBody>
      </p:sp>
      <p:sp>
        <p:nvSpPr>
          <p:cNvPr id="16" name="正方形/長方形 15">
            <a:extLst>
              <a:ext uri="{FF2B5EF4-FFF2-40B4-BE49-F238E27FC236}">
                <a16:creationId xmlns:a16="http://schemas.microsoft.com/office/drawing/2014/main" id="{7D417DD0-94DC-0F7C-3826-EBFA7E2D94CA}"/>
              </a:ext>
            </a:extLst>
          </p:cNvPr>
          <p:cNvSpPr/>
          <p:nvPr/>
        </p:nvSpPr>
        <p:spPr>
          <a:xfrm>
            <a:off x="9232900" y="4934875"/>
            <a:ext cx="2188634" cy="914400"/>
          </a:xfrm>
          <a:prstGeom prst="rect">
            <a:avLst/>
          </a:prstGeom>
          <a:solidFill>
            <a:schemeClr val="tx1">
              <a:lumMod val="65000"/>
              <a:lumOff val="35000"/>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2117" b="1" dirty="0">
                <a:solidFill>
                  <a:schemeClr val="tx1">
                    <a:lumMod val="75000"/>
                    <a:lumOff val="25000"/>
                  </a:schemeClr>
                </a:solidFill>
                <a:latin typeface="BIZ UDPゴシック" panose="020B0400000000000000" pitchFamily="50" charset="-128"/>
                <a:ea typeface="BIZ UDPゴシック" panose="020B0400000000000000" pitchFamily="50" charset="-128"/>
              </a:rPr>
              <a:t>送ってはダメ</a:t>
            </a:r>
            <a:endParaRPr lang="en-US" altLang="ja-JP" sz="2117"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学習しないやつ</a:t>
            </a:r>
            <a:endParaRPr lang="en-US" altLang="ja-JP" sz="1400" b="1"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b="1" dirty="0">
                <a:solidFill>
                  <a:schemeClr val="tx1">
                    <a:lumMod val="75000"/>
                    <a:lumOff val="25000"/>
                  </a:schemeClr>
                </a:solidFill>
                <a:latin typeface="BIZ UDPゴシック" panose="020B0400000000000000" pitchFamily="50" charset="-128"/>
                <a:ea typeface="BIZ UDPゴシック" panose="020B0400000000000000" pitchFamily="50" charset="-128"/>
              </a:rPr>
              <a:t>とみなされる</a:t>
            </a:r>
          </a:p>
        </p:txBody>
      </p:sp>
      <p:sp>
        <p:nvSpPr>
          <p:cNvPr id="17" name="四角形: 角を丸くする 16">
            <a:extLst>
              <a:ext uri="{FF2B5EF4-FFF2-40B4-BE49-F238E27FC236}">
                <a16:creationId xmlns:a16="http://schemas.microsoft.com/office/drawing/2014/main" id="{6FC37EA6-A5B0-7EDC-B35C-033CDB67F853}"/>
              </a:ext>
            </a:extLst>
          </p:cNvPr>
          <p:cNvSpPr/>
          <p:nvPr/>
        </p:nvSpPr>
        <p:spPr>
          <a:xfrm>
            <a:off x="770466"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昨日は飲み会</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19" name="四角形: 角を丸くする 18">
            <a:extLst>
              <a:ext uri="{FF2B5EF4-FFF2-40B4-BE49-F238E27FC236}">
                <a16:creationId xmlns:a16="http://schemas.microsoft.com/office/drawing/2014/main" id="{728BC288-9F4C-AE69-9618-B4C5617FA406}"/>
              </a:ext>
            </a:extLst>
          </p:cNvPr>
          <p:cNvSpPr/>
          <p:nvPr/>
        </p:nvSpPr>
        <p:spPr>
          <a:xfrm>
            <a:off x="3591277"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その上司とは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親しい？</a:t>
            </a:r>
          </a:p>
        </p:txBody>
      </p:sp>
      <p:sp>
        <p:nvSpPr>
          <p:cNvPr id="21" name="四角形: 角を丸くする 20">
            <a:extLst>
              <a:ext uri="{FF2B5EF4-FFF2-40B4-BE49-F238E27FC236}">
                <a16:creationId xmlns:a16="http://schemas.microsoft.com/office/drawing/2014/main" id="{E5DFB07B-EE24-E178-E25A-77A5AC9B4129}"/>
              </a:ext>
            </a:extLst>
          </p:cNvPr>
          <p:cNvSpPr/>
          <p:nvPr/>
        </p:nvSpPr>
        <p:spPr>
          <a:xfrm>
            <a:off x="6412088"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これまでにメールで遅刻連絡をしたことがある？</a:t>
            </a:r>
          </a:p>
        </p:txBody>
      </p:sp>
      <p:sp>
        <p:nvSpPr>
          <p:cNvPr id="34" name="四角形: 角を丸くする 33">
            <a:extLst>
              <a:ext uri="{FF2B5EF4-FFF2-40B4-BE49-F238E27FC236}">
                <a16:creationId xmlns:a16="http://schemas.microsoft.com/office/drawing/2014/main" id="{0E69D6AD-A9E0-829A-05F5-70A893826118}"/>
              </a:ext>
            </a:extLst>
          </p:cNvPr>
          <p:cNvSpPr/>
          <p:nvPr/>
        </p:nvSpPr>
        <p:spPr>
          <a:xfrm>
            <a:off x="64135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そのときに</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怒られたことは</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ある？</a:t>
            </a:r>
          </a:p>
        </p:txBody>
      </p:sp>
      <p:sp>
        <p:nvSpPr>
          <p:cNvPr id="35" name="四角形: 角を丸くする 34">
            <a:extLst>
              <a:ext uri="{FF2B5EF4-FFF2-40B4-BE49-F238E27FC236}">
                <a16:creationId xmlns:a16="http://schemas.microsoft.com/office/drawing/2014/main" id="{BE31A4AE-5964-17BB-561F-A896C71FB66C}"/>
              </a:ext>
            </a:extLst>
          </p:cNvPr>
          <p:cNvSpPr/>
          <p:nvPr/>
        </p:nvSpPr>
        <p:spPr>
          <a:xfrm>
            <a:off x="9232900" y="2495088"/>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メール以外に連絡手段がない？</a:t>
            </a:r>
          </a:p>
        </p:txBody>
      </p:sp>
      <p:sp>
        <p:nvSpPr>
          <p:cNvPr id="36" name="四角形: 角を丸くする 35">
            <a:extLst>
              <a:ext uri="{FF2B5EF4-FFF2-40B4-BE49-F238E27FC236}">
                <a16:creationId xmlns:a16="http://schemas.microsoft.com/office/drawing/2014/main" id="{A3DDC80C-4C02-8CFE-ADF7-204734608682}"/>
              </a:ext>
            </a:extLst>
          </p:cNvPr>
          <p:cNvSpPr/>
          <p:nvPr/>
        </p:nvSpPr>
        <p:spPr>
          <a:xfrm>
            <a:off x="9232900" y="3613150"/>
            <a:ext cx="2188634" cy="914400"/>
          </a:xfrm>
          <a:prstGeom prst="round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メールで連絡したことに怒っていた？</a:t>
            </a:r>
          </a:p>
        </p:txBody>
      </p:sp>
      <p:cxnSp>
        <p:nvCxnSpPr>
          <p:cNvPr id="38" name="直線コネクタ 37">
            <a:extLst>
              <a:ext uri="{FF2B5EF4-FFF2-40B4-BE49-F238E27FC236}">
                <a16:creationId xmlns:a16="http://schemas.microsoft.com/office/drawing/2014/main" id="{FC46DEF7-4F69-619E-477F-0BD1A8BA3CA3}"/>
              </a:ext>
              <a:ext uri="{C183D7F6-B498-43B3-948B-1728B52AA6E4}">
                <adec:decorative xmlns:adec="http://schemas.microsoft.com/office/drawing/2017/decorative" val="1"/>
              </a:ext>
            </a:extLst>
          </p:cNvPr>
          <p:cNvCxnSpPr>
            <a:cxnSpLocks/>
            <a:stCxn id="17" idx="2"/>
            <a:endCxn id="6" idx="0"/>
          </p:cNvCxnSpPr>
          <p:nvPr/>
        </p:nvCxnSpPr>
        <p:spPr>
          <a:xfrm>
            <a:off x="1864783"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5273E200-9F4C-9208-88E5-BF8A5095F3B0}"/>
              </a:ext>
              <a:ext uri="{C183D7F6-B498-43B3-948B-1728B52AA6E4}">
                <adec:decorative xmlns:adec="http://schemas.microsoft.com/office/drawing/2017/decorative" val="1"/>
              </a:ext>
            </a:extLst>
          </p:cNvPr>
          <p:cNvCxnSpPr>
            <a:cxnSpLocks/>
            <a:stCxn id="19" idx="2"/>
            <a:endCxn id="11" idx="0"/>
          </p:cNvCxnSpPr>
          <p:nvPr/>
        </p:nvCxnSpPr>
        <p:spPr>
          <a:xfrm>
            <a:off x="4685594" y="3409491"/>
            <a:ext cx="0" cy="1525387"/>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898DD599-E3C4-58A7-9374-A5C3E52974ED}"/>
              </a:ext>
              <a:ext uri="{C183D7F6-B498-43B3-948B-1728B52AA6E4}">
                <adec:decorative xmlns:adec="http://schemas.microsoft.com/office/drawing/2017/decorative" val="1"/>
              </a:ext>
            </a:extLst>
          </p:cNvPr>
          <p:cNvCxnSpPr>
            <a:cxnSpLocks/>
            <a:endCxn id="34" idx="0"/>
          </p:cNvCxnSpPr>
          <p:nvPr/>
        </p:nvCxnSpPr>
        <p:spPr>
          <a:xfrm>
            <a:off x="7497940" y="3427556"/>
            <a:ext cx="9878" cy="185594"/>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直線コネクタ 45">
            <a:extLst>
              <a:ext uri="{FF2B5EF4-FFF2-40B4-BE49-F238E27FC236}">
                <a16:creationId xmlns:a16="http://schemas.microsoft.com/office/drawing/2014/main" id="{31139981-0E21-83F7-6775-01A13DD1F773}"/>
              </a:ext>
              <a:ext uri="{C183D7F6-B498-43B3-948B-1728B52AA6E4}">
                <adec:decorative xmlns:adec="http://schemas.microsoft.com/office/drawing/2017/decorative" val="1"/>
              </a:ext>
            </a:extLst>
          </p:cNvPr>
          <p:cNvCxnSpPr>
            <a:cxnSpLocks/>
            <a:stCxn id="34" idx="2"/>
            <a:endCxn id="14" idx="0"/>
          </p:cNvCxnSpPr>
          <p:nvPr/>
        </p:nvCxnSpPr>
        <p:spPr>
          <a:xfrm flipH="1">
            <a:off x="7506407" y="4527555"/>
            <a:ext cx="1412" cy="407325"/>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9" name="吹き出し: 角を丸めた四角形 48">
            <a:extLst>
              <a:ext uri="{FF2B5EF4-FFF2-40B4-BE49-F238E27FC236}">
                <a16:creationId xmlns:a16="http://schemas.microsoft.com/office/drawing/2014/main" id="{465EAEFA-813B-8AC0-8D5A-4BED7B0814E0}"/>
              </a:ext>
            </a:extLst>
          </p:cNvPr>
          <p:cNvSpPr/>
          <p:nvPr/>
        </p:nvSpPr>
        <p:spPr>
          <a:xfrm>
            <a:off x="770466" y="1628775"/>
            <a:ext cx="2188634" cy="612648"/>
          </a:xfrm>
          <a:prstGeom prst="wedgeRoundRectCallout">
            <a:avLst>
              <a:gd name="adj1" fmla="val -20833"/>
              <a:gd name="adj2" fmla="val 77702"/>
              <a:gd name="adj3" fmla="val 16667"/>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遅刻の連絡をメールで上司に伝えてよい？</a:t>
            </a:r>
          </a:p>
        </p:txBody>
      </p:sp>
      <p:cxnSp>
        <p:nvCxnSpPr>
          <p:cNvPr id="50" name="直線コネクタ 49">
            <a:extLst>
              <a:ext uri="{FF2B5EF4-FFF2-40B4-BE49-F238E27FC236}">
                <a16:creationId xmlns:a16="http://schemas.microsoft.com/office/drawing/2014/main" id="{E48E348E-C864-D54B-EF51-C68EC8E4B0FB}"/>
              </a:ext>
              <a:ext uri="{C183D7F6-B498-43B3-948B-1728B52AA6E4}">
                <adec:decorative xmlns:adec="http://schemas.microsoft.com/office/drawing/2017/decorative" val="1"/>
              </a:ext>
            </a:extLst>
          </p:cNvPr>
          <p:cNvCxnSpPr>
            <a:cxnSpLocks/>
            <a:stCxn id="17" idx="3"/>
            <a:endCxn id="19" idx="1"/>
          </p:cNvCxnSpPr>
          <p:nvPr/>
        </p:nvCxnSpPr>
        <p:spPr>
          <a:xfrm>
            <a:off x="295910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直線コネクタ 52">
            <a:extLst>
              <a:ext uri="{FF2B5EF4-FFF2-40B4-BE49-F238E27FC236}">
                <a16:creationId xmlns:a16="http://schemas.microsoft.com/office/drawing/2014/main" id="{78A12AB9-9139-16DF-08D6-E5AEE39B34E4}"/>
              </a:ext>
              <a:ext uri="{C183D7F6-B498-43B3-948B-1728B52AA6E4}">
                <adec:decorative xmlns:adec="http://schemas.microsoft.com/office/drawing/2017/decorative" val="1"/>
              </a:ext>
            </a:extLst>
          </p:cNvPr>
          <p:cNvCxnSpPr>
            <a:cxnSpLocks/>
            <a:stCxn id="19" idx="3"/>
            <a:endCxn id="21" idx="1"/>
          </p:cNvCxnSpPr>
          <p:nvPr/>
        </p:nvCxnSpPr>
        <p:spPr>
          <a:xfrm>
            <a:off x="5779913" y="2952288"/>
            <a:ext cx="632177"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直線コネクタ 55">
            <a:extLst>
              <a:ext uri="{FF2B5EF4-FFF2-40B4-BE49-F238E27FC236}">
                <a16:creationId xmlns:a16="http://schemas.microsoft.com/office/drawing/2014/main" id="{ED87BA84-A4E2-75D4-A3F3-5E657E863714}"/>
              </a:ext>
              <a:ext uri="{C183D7F6-B498-43B3-948B-1728B52AA6E4}">
                <adec:decorative xmlns:adec="http://schemas.microsoft.com/office/drawing/2017/decorative" val="1"/>
              </a:ext>
            </a:extLst>
          </p:cNvPr>
          <p:cNvCxnSpPr>
            <a:cxnSpLocks/>
            <a:stCxn id="21" idx="3"/>
            <a:endCxn id="35" idx="1"/>
          </p:cNvCxnSpPr>
          <p:nvPr/>
        </p:nvCxnSpPr>
        <p:spPr>
          <a:xfrm>
            <a:off x="8600724" y="2952288"/>
            <a:ext cx="632178"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1CCA77F0-0521-95C0-675D-FA352C110D72}"/>
              </a:ext>
              <a:ext uri="{C183D7F6-B498-43B3-948B-1728B52AA6E4}">
                <adec:decorative xmlns:adec="http://schemas.microsoft.com/office/drawing/2017/decorative" val="1"/>
              </a:ext>
            </a:extLst>
          </p:cNvPr>
          <p:cNvCxnSpPr>
            <a:cxnSpLocks/>
            <a:stCxn id="34" idx="3"/>
            <a:endCxn id="36" idx="1"/>
          </p:cNvCxnSpPr>
          <p:nvPr/>
        </p:nvCxnSpPr>
        <p:spPr>
          <a:xfrm>
            <a:off x="8602134" y="4070350"/>
            <a:ext cx="630766"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3" name="コネクタ: カギ線 62">
            <a:extLst>
              <a:ext uri="{FF2B5EF4-FFF2-40B4-BE49-F238E27FC236}">
                <a16:creationId xmlns:a16="http://schemas.microsoft.com/office/drawing/2014/main" id="{29CB83A4-98BB-3121-C51C-1F7618357E42}"/>
              </a:ext>
              <a:ext uri="{C183D7F6-B498-43B3-948B-1728B52AA6E4}">
                <adec:decorative xmlns:adec="http://schemas.microsoft.com/office/drawing/2017/decorative" val="1"/>
              </a:ext>
            </a:extLst>
          </p:cNvPr>
          <p:cNvCxnSpPr>
            <a:cxnSpLocks/>
            <a:stCxn id="36" idx="3"/>
            <a:endCxn id="16" idx="0"/>
          </p:cNvCxnSpPr>
          <p:nvPr/>
        </p:nvCxnSpPr>
        <p:spPr>
          <a:xfrm flipH="1">
            <a:off x="10327220" y="4070355"/>
            <a:ext cx="1094317" cy="864525"/>
          </a:xfrm>
          <a:prstGeom prst="bentConnector4">
            <a:avLst>
              <a:gd name="adj1" fmla="val -20890"/>
              <a:gd name="adj2" fmla="val 76442"/>
            </a:avLst>
          </a:prstGeom>
          <a:ln w="28575">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1" name="楕円 70">
            <a:extLst>
              <a:ext uri="{FF2B5EF4-FFF2-40B4-BE49-F238E27FC236}">
                <a16:creationId xmlns:a16="http://schemas.microsoft.com/office/drawing/2014/main" id="{955FD02C-C623-8FF0-A7EC-8B2F36ECEB5B}"/>
              </a:ext>
            </a:extLst>
          </p:cNvPr>
          <p:cNvSpPr/>
          <p:nvPr/>
        </p:nvSpPr>
        <p:spPr>
          <a:xfrm>
            <a:off x="3086102" y="1657144"/>
            <a:ext cx="774700" cy="2779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はい</a:t>
            </a:r>
          </a:p>
        </p:txBody>
      </p:sp>
      <p:sp>
        <p:nvSpPr>
          <p:cNvPr id="72" name="楕円 71">
            <a:extLst>
              <a:ext uri="{FF2B5EF4-FFF2-40B4-BE49-F238E27FC236}">
                <a16:creationId xmlns:a16="http://schemas.microsoft.com/office/drawing/2014/main" id="{8246604D-1867-02FB-495F-88D840B9C6D9}"/>
              </a:ext>
            </a:extLst>
          </p:cNvPr>
          <p:cNvSpPr/>
          <p:nvPr/>
        </p:nvSpPr>
        <p:spPr>
          <a:xfrm>
            <a:off x="3086102" y="1950510"/>
            <a:ext cx="774700" cy="277956"/>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いいえ</a:t>
            </a:r>
          </a:p>
        </p:txBody>
      </p:sp>
      <p:cxnSp>
        <p:nvCxnSpPr>
          <p:cNvPr id="73" name="直線コネクタ 72">
            <a:extLst>
              <a:ext uri="{FF2B5EF4-FFF2-40B4-BE49-F238E27FC236}">
                <a16:creationId xmlns:a16="http://schemas.microsoft.com/office/drawing/2014/main" id="{CA868C34-2005-FAD3-E1F2-8904FA90598A}"/>
              </a:ext>
              <a:ext uri="{C183D7F6-B498-43B3-948B-1728B52AA6E4}">
                <adec:decorative xmlns:adec="http://schemas.microsoft.com/office/drawing/2017/decorative" val="1"/>
              </a:ext>
            </a:extLst>
          </p:cNvPr>
          <p:cNvCxnSpPr>
            <a:cxnSpLocks/>
          </p:cNvCxnSpPr>
          <p:nvPr/>
        </p:nvCxnSpPr>
        <p:spPr>
          <a:xfrm>
            <a:off x="3860800" y="1787654"/>
            <a:ext cx="258234" cy="0"/>
          </a:xfrm>
          <a:prstGeom prst="line">
            <a:avLst/>
          </a:prstGeom>
          <a:ln w="28575">
            <a:solidFill>
              <a:schemeClr val="accent2">
                <a:lumMod val="60000"/>
                <a:lumOff val="40000"/>
              </a:schemeClr>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直線コネクタ 78">
            <a:extLst>
              <a:ext uri="{FF2B5EF4-FFF2-40B4-BE49-F238E27FC236}">
                <a16:creationId xmlns:a16="http://schemas.microsoft.com/office/drawing/2014/main" id="{A59100E3-D030-754A-E978-8DA7B41A2800}"/>
              </a:ext>
              <a:ext uri="{C183D7F6-B498-43B3-948B-1728B52AA6E4}">
                <adec:decorative xmlns:adec="http://schemas.microsoft.com/office/drawing/2017/decorative" val="1"/>
              </a:ext>
            </a:extLst>
          </p:cNvPr>
          <p:cNvCxnSpPr>
            <a:cxnSpLocks/>
          </p:cNvCxnSpPr>
          <p:nvPr/>
        </p:nvCxnSpPr>
        <p:spPr>
          <a:xfrm>
            <a:off x="3860800" y="2081019"/>
            <a:ext cx="258234" cy="0"/>
          </a:xfrm>
          <a:prstGeom prst="line">
            <a:avLst/>
          </a:prstGeom>
          <a:ln w="28575">
            <a:solidFill>
              <a:schemeClr val="accent2">
                <a:lumMod val="60000"/>
                <a:lumOff val="40000"/>
              </a:schemeClr>
            </a:solidFill>
            <a:prstDash val="sysDot"/>
            <a:headEnd type="non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0978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FB2AEC-8EE7-2695-CB24-2721FDA449E0}"/>
              </a:ext>
            </a:extLst>
          </p:cNvPr>
          <p:cNvSpPr>
            <a:spLocks noGrp="1"/>
          </p:cNvSpPr>
          <p:nvPr>
            <p:ph type="title"/>
          </p:nvPr>
        </p:nvSpPr>
        <p:spPr/>
        <p:txBody>
          <a:bodyPr/>
          <a:lstStyle/>
          <a:p>
            <a:endParaRPr kumimoji="1" lang="ja-JP" altLang="en-US" dirty="0"/>
          </a:p>
        </p:txBody>
      </p:sp>
      <p:sp>
        <p:nvSpPr>
          <p:cNvPr id="3" name="フッター プレースホルダー 2">
            <a:extLst>
              <a:ext uri="{FF2B5EF4-FFF2-40B4-BE49-F238E27FC236}">
                <a16:creationId xmlns:a16="http://schemas.microsoft.com/office/drawing/2014/main" id="{0E1B0280-CB01-B723-47EE-F118153B656B}"/>
              </a:ext>
            </a:extLst>
          </p:cNvPr>
          <p:cNvSpPr>
            <a:spLocks noGrp="1"/>
          </p:cNvSpPr>
          <p:nvPr>
            <p:ph type="ftr" sz="quarter" idx="11"/>
          </p:nvPr>
        </p:nvSpPr>
        <p:spPr/>
        <p:txBody>
          <a:bodyPr/>
          <a:lstStyle/>
          <a:p>
            <a:r>
              <a:rPr lang="ja-JP" altLang="en-US" dirty="0"/>
              <a:t>出所：</a:t>
            </a:r>
          </a:p>
        </p:txBody>
      </p:sp>
      <p:sp>
        <p:nvSpPr>
          <p:cNvPr id="4" name="スライド番号プレースホルダー 3">
            <a:extLst>
              <a:ext uri="{FF2B5EF4-FFF2-40B4-BE49-F238E27FC236}">
                <a16:creationId xmlns:a16="http://schemas.microsoft.com/office/drawing/2014/main" id="{E5919EB3-48F8-EB49-EC15-C7A73A90E4CE}"/>
              </a:ext>
            </a:extLst>
          </p:cNvPr>
          <p:cNvSpPr>
            <a:spLocks noGrp="1"/>
          </p:cNvSpPr>
          <p:nvPr>
            <p:ph type="sldNum" sz="quarter" idx="12"/>
          </p:nvPr>
        </p:nvSpPr>
        <p:spPr/>
        <p:txBody>
          <a:bodyPr/>
          <a:lstStyle/>
          <a:p>
            <a:fld id="{DCB5AA93-092B-49A1-87A7-3C88D5F38AD7}" type="slidenum">
              <a:rPr lang="ja-JP" altLang="en-US" smtClean="0"/>
              <a:pPr/>
              <a:t>26</a:t>
            </a:fld>
            <a:endParaRPr lang="ja-JP" altLang="en-US"/>
          </a:p>
        </p:txBody>
      </p:sp>
      <p:sp>
        <p:nvSpPr>
          <p:cNvPr id="5" name="テキスト プレースホルダー 4">
            <a:extLst>
              <a:ext uri="{FF2B5EF4-FFF2-40B4-BE49-F238E27FC236}">
                <a16:creationId xmlns:a16="http://schemas.microsoft.com/office/drawing/2014/main" id="{090A4614-7A4B-A5AF-5031-7BE34AE302ED}"/>
              </a:ext>
            </a:extLst>
          </p:cNvPr>
          <p:cNvSpPr>
            <a:spLocks noGrp="1"/>
          </p:cNvSpPr>
          <p:nvPr>
            <p:ph type="body" sz="quarter" idx="13"/>
          </p:nvPr>
        </p:nvSpPr>
        <p:spPr/>
        <p:txBody>
          <a:bodyPr/>
          <a:lstStyle/>
          <a:p>
            <a:endParaRPr kumimoji="1" lang="ja-JP" altLang="en-US"/>
          </a:p>
        </p:txBody>
      </p:sp>
      <p:sp>
        <p:nvSpPr>
          <p:cNvPr id="9" name="テキスト ボックス 8">
            <a:extLst>
              <a:ext uri="{FF2B5EF4-FFF2-40B4-BE49-F238E27FC236}">
                <a16:creationId xmlns:a16="http://schemas.microsoft.com/office/drawing/2014/main" id="{1914B6AA-0240-A689-4966-D2DEB559F469}"/>
              </a:ext>
            </a:extLst>
          </p:cNvPr>
          <p:cNvSpPr txBox="1"/>
          <p:nvPr/>
        </p:nvSpPr>
        <p:spPr>
          <a:xfrm>
            <a:off x="592655" y="1628778"/>
            <a:ext cx="215444" cy="4679950"/>
          </a:xfrm>
          <a:prstGeom prst="rect">
            <a:avLst/>
          </a:prstGeom>
          <a:noFill/>
          <a:ln w="57150">
            <a:solidFill>
              <a:schemeClr val="bg1">
                <a:lumMod val="50000"/>
              </a:schemeClr>
            </a:solidFill>
          </a:ln>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利便性の高い金融サービスの実現</a:t>
            </a:r>
          </a:p>
        </p:txBody>
      </p:sp>
      <p:sp>
        <p:nvSpPr>
          <p:cNvPr id="10" name="正方形/長方形 9">
            <a:extLst>
              <a:ext uri="{FF2B5EF4-FFF2-40B4-BE49-F238E27FC236}">
                <a16:creationId xmlns:a16="http://schemas.microsoft.com/office/drawing/2014/main" id="{F16E174C-FE1C-4994-16CB-1E35B1FB7A7D}"/>
              </a:ext>
            </a:extLst>
          </p:cNvPr>
          <p:cNvSpPr/>
          <p:nvPr/>
        </p:nvSpPr>
        <p:spPr>
          <a:xfrm>
            <a:off x="1524003" y="1628777"/>
            <a:ext cx="897467" cy="216058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お金の動きを捉えてビジネスを生む</a:t>
            </a:r>
          </a:p>
        </p:txBody>
      </p:sp>
      <p:sp>
        <p:nvSpPr>
          <p:cNvPr id="11" name="正方形/長方形 10">
            <a:extLst>
              <a:ext uri="{FF2B5EF4-FFF2-40B4-BE49-F238E27FC236}">
                <a16:creationId xmlns:a16="http://schemas.microsoft.com/office/drawing/2014/main" id="{2E95CFC1-B8A0-071D-096E-F029683B20B9}"/>
              </a:ext>
            </a:extLst>
          </p:cNvPr>
          <p:cNvSpPr/>
          <p:nvPr/>
        </p:nvSpPr>
        <p:spPr>
          <a:xfrm>
            <a:off x="1524003" y="4148140"/>
            <a:ext cx="897467" cy="2160589"/>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bg1"/>
                </a:solidFill>
                <a:latin typeface="BIZ UDPゴシック" panose="020B0400000000000000" pitchFamily="50" charset="-128"/>
                <a:ea typeface="BIZ UDPゴシック" panose="020B0400000000000000" pitchFamily="50" charset="-128"/>
              </a:rPr>
              <a:t>動いたお金がビジネスを拡大する</a:t>
            </a:r>
          </a:p>
        </p:txBody>
      </p:sp>
      <p:sp>
        <p:nvSpPr>
          <p:cNvPr id="12" name="正方形/長方形 11">
            <a:extLst>
              <a:ext uri="{FF2B5EF4-FFF2-40B4-BE49-F238E27FC236}">
                <a16:creationId xmlns:a16="http://schemas.microsoft.com/office/drawing/2014/main" id="{FCFD8773-55B8-6ADC-F2B6-655CCB16EB75}"/>
              </a:ext>
            </a:extLst>
          </p:cNvPr>
          <p:cNvSpPr/>
          <p:nvPr/>
        </p:nvSpPr>
        <p:spPr>
          <a:xfrm>
            <a:off x="2626105" y="1628775"/>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決算トランザクションの動きでニーズを掴む</a:t>
            </a:r>
          </a:p>
        </p:txBody>
      </p:sp>
      <p:sp>
        <p:nvSpPr>
          <p:cNvPr id="13" name="正方形/長方形 12">
            <a:extLst>
              <a:ext uri="{FF2B5EF4-FFF2-40B4-BE49-F238E27FC236}">
                <a16:creationId xmlns:a16="http://schemas.microsoft.com/office/drawing/2014/main" id="{DF556B58-9F39-8D3F-564F-A74A893CA98E}"/>
              </a:ext>
            </a:extLst>
          </p:cNvPr>
          <p:cNvSpPr/>
          <p:nvPr/>
        </p:nvSpPr>
        <p:spPr>
          <a:xfrm>
            <a:off x="2626105" y="3026050"/>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お金を必要とする相手にジャストインタイムでリーチする</a:t>
            </a:r>
          </a:p>
        </p:txBody>
      </p:sp>
      <p:sp>
        <p:nvSpPr>
          <p:cNvPr id="14" name="正方形/長方形 13">
            <a:extLst>
              <a:ext uri="{FF2B5EF4-FFF2-40B4-BE49-F238E27FC236}">
                <a16:creationId xmlns:a16="http://schemas.microsoft.com/office/drawing/2014/main" id="{C37CC258-2078-0FAA-EA5F-D01DD897736D}"/>
              </a:ext>
            </a:extLst>
          </p:cNvPr>
          <p:cNvSpPr/>
          <p:nvPr/>
        </p:nvSpPr>
        <p:spPr>
          <a:xfrm>
            <a:off x="2626105" y="4146672"/>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より多くのお金が融資されることで設備投資が増大する</a:t>
            </a:r>
          </a:p>
        </p:txBody>
      </p:sp>
      <p:sp>
        <p:nvSpPr>
          <p:cNvPr id="15" name="正方形/長方形 14">
            <a:extLst>
              <a:ext uri="{FF2B5EF4-FFF2-40B4-BE49-F238E27FC236}">
                <a16:creationId xmlns:a16="http://schemas.microsoft.com/office/drawing/2014/main" id="{58B2F8F6-EBEE-3452-3A7E-98F3A63696D9}"/>
              </a:ext>
            </a:extLst>
          </p:cNvPr>
          <p:cNvSpPr/>
          <p:nvPr/>
        </p:nvSpPr>
        <p:spPr>
          <a:xfrm>
            <a:off x="2626105" y="5543947"/>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資金調達・決済・運用手法が多様化し，取引コストが低下する</a:t>
            </a:r>
          </a:p>
        </p:txBody>
      </p:sp>
      <p:sp>
        <p:nvSpPr>
          <p:cNvPr id="17" name="テキスト ボックス 16">
            <a:extLst>
              <a:ext uri="{FF2B5EF4-FFF2-40B4-BE49-F238E27FC236}">
                <a16:creationId xmlns:a16="http://schemas.microsoft.com/office/drawing/2014/main" id="{9C915344-3979-C1D8-18E1-01D6A074A70D}"/>
              </a:ext>
            </a:extLst>
          </p:cNvPr>
          <p:cNvSpPr txBox="1"/>
          <p:nvPr/>
        </p:nvSpPr>
        <p:spPr>
          <a:xfrm>
            <a:off x="6798724" y="1628776"/>
            <a:ext cx="215444" cy="2160588"/>
          </a:xfrm>
          <a:prstGeom prst="rect">
            <a:avLst/>
          </a:prstGeom>
          <a:solidFill>
            <a:schemeClr val="accent2">
              <a:lumMod val="40000"/>
              <a:lumOff val="60000"/>
            </a:schemeClr>
          </a:solidFill>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ライフスタイルの変化</a:t>
            </a:r>
          </a:p>
        </p:txBody>
      </p:sp>
      <p:sp>
        <p:nvSpPr>
          <p:cNvPr id="18" name="テキスト ボックス 17">
            <a:extLst>
              <a:ext uri="{FF2B5EF4-FFF2-40B4-BE49-F238E27FC236}">
                <a16:creationId xmlns:a16="http://schemas.microsoft.com/office/drawing/2014/main" id="{20B2D211-51BB-9D08-1D30-6A8BE29B3A5B}"/>
              </a:ext>
            </a:extLst>
          </p:cNvPr>
          <p:cNvSpPr txBox="1"/>
          <p:nvPr/>
        </p:nvSpPr>
        <p:spPr>
          <a:xfrm>
            <a:off x="6798724" y="4146675"/>
            <a:ext cx="215444" cy="2159275"/>
          </a:xfrm>
          <a:prstGeom prst="rect">
            <a:avLst/>
          </a:prstGeom>
          <a:solidFill>
            <a:schemeClr val="accent2">
              <a:lumMod val="40000"/>
              <a:lumOff val="60000"/>
            </a:schemeClr>
          </a:solidFill>
        </p:spPr>
        <p:txBody>
          <a:bodyPr vert="eaVert" wrap="square" lIns="0" tIns="0" rIns="0" bIns="0" rtlCol="0">
            <a:spAutoFit/>
          </a:bodyPr>
          <a:lstStyle/>
          <a:p>
            <a:pPr algn="ctr"/>
            <a:r>
              <a:rPr lang="ja-JP" altLang="en-US" sz="1400" dirty="0">
                <a:latin typeface="BIZ UDPゴシック" panose="020B0400000000000000" pitchFamily="50" charset="-128"/>
                <a:ea typeface="BIZ UDPゴシック" panose="020B0400000000000000" pitchFamily="50" charset="-128"/>
              </a:rPr>
              <a:t>ビジネス環境の変化</a:t>
            </a:r>
          </a:p>
        </p:txBody>
      </p:sp>
      <p:sp>
        <p:nvSpPr>
          <p:cNvPr id="19" name="二等辺三角形 18">
            <a:extLst>
              <a:ext uri="{FF2B5EF4-FFF2-40B4-BE49-F238E27FC236}">
                <a16:creationId xmlns:a16="http://schemas.microsoft.com/office/drawing/2014/main" id="{1BDDEF51-59C6-8391-93A0-9FF28A8E6901}"/>
              </a:ext>
              <a:ext uri="{C183D7F6-B498-43B3-948B-1728B52AA6E4}">
                <adec:decorative xmlns:adec="http://schemas.microsoft.com/office/drawing/2017/decorative" val="1"/>
              </a:ext>
            </a:extLst>
          </p:cNvPr>
          <p:cNvSpPr/>
          <p:nvPr/>
        </p:nvSpPr>
        <p:spPr>
          <a:xfrm rot="5400000">
            <a:off x="3455990" y="3768698"/>
            <a:ext cx="4521200" cy="400110"/>
          </a:xfrm>
          <a:prstGeom prst="triangl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sp>
        <p:nvSpPr>
          <p:cNvPr id="20" name="正方形/長方形 19">
            <a:extLst>
              <a:ext uri="{FF2B5EF4-FFF2-40B4-BE49-F238E27FC236}">
                <a16:creationId xmlns:a16="http://schemas.microsoft.com/office/drawing/2014/main" id="{42C5E3FF-7E6F-E9A8-1C2B-5E80B3CE95D5}"/>
              </a:ext>
            </a:extLst>
          </p:cNvPr>
          <p:cNvSpPr/>
          <p:nvPr/>
        </p:nvSpPr>
        <p:spPr>
          <a:xfrm>
            <a:off x="7218302" y="1628775"/>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ファイナンシャルプランニングが一般化</a:t>
            </a:r>
          </a:p>
        </p:txBody>
      </p:sp>
      <p:sp>
        <p:nvSpPr>
          <p:cNvPr id="21" name="正方形/長方形 20">
            <a:extLst>
              <a:ext uri="{FF2B5EF4-FFF2-40B4-BE49-F238E27FC236}">
                <a16:creationId xmlns:a16="http://schemas.microsoft.com/office/drawing/2014/main" id="{10FBCE7D-B6B1-A0DE-2544-BB8DC25AE036}"/>
              </a:ext>
            </a:extLst>
          </p:cNvPr>
          <p:cNvSpPr/>
          <p:nvPr/>
        </p:nvSpPr>
        <p:spPr>
          <a:xfrm>
            <a:off x="7218302" y="3033713"/>
            <a:ext cx="2040466" cy="762000"/>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電子マネーで決済できる範囲の拡大</a:t>
            </a:r>
          </a:p>
        </p:txBody>
      </p:sp>
      <p:sp>
        <p:nvSpPr>
          <p:cNvPr id="22" name="正方形/長方形 21">
            <a:extLst>
              <a:ext uri="{FF2B5EF4-FFF2-40B4-BE49-F238E27FC236}">
                <a16:creationId xmlns:a16="http://schemas.microsoft.com/office/drawing/2014/main" id="{178C9163-7031-3BE7-11A4-FE9CD6F7706F}"/>
              </a:ext>
            </a:extLst>
          </p:cNvPr>
          <p:cNvSpPr/>
          <p:nvPr/>
        </p:nvSpPr>
        <p:spPr>
          <a:xfrm>
            <a:off x="7218302" y="4149726"/>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ファームバンキングの高度化</a:t>
            </a:r>
          </a:p>
        </p:txBody>
      </p:sp>
      <p:sp>
        <p:nvSpPr>
          <p:cNvPr id="24" name="正方形/長方形 23">
            <a:extLst>
              <a:ext uri="{FF2B5EF4-FFF2-40B4-BE49-F238E27FC236}">
                <a16:creationId xmlns:a16="http://schemas.microsoft.com/office/drawing/2014/main" id="{41809158-0534-D582-FAEB-D8C863B6A6CD}"/>
              </a:ext>
            </a:extLst>
          </p:cNvPr>
          <p:cNvSpPr/>
          <p:nvPr/>
        </p:nvSpPr>
        <p:spPr>
          <a:xfrm>
            <a:off x="7218302" y="5833269"/>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ビジネスプロセスアウトソーシングの浸透</a:t>
            </a:r>
          </a:p>
        </p:txBody>
      </p:sp>
      <p:sp>
        <p:nvSpPr>
          <p:cNvPr id="25" name="正方形/長方形 24">
            <a:extLst>
              <a:ext uri="{FF2B5EF4-FFF2-40B4-BE49-F238E27FC236}">
                <a16:creationId xmlns:a16="http://schemas.microsoft.com/office/drawing/2014/main" id="{E672F240-4796-20D4-FC32-80CFCEB96DC4}"/>
              </a:ext>
            </a:extLst>
          </p:cNvPr>
          <p:cNvSpPr/>
          <p:nvPr/>
        </p:nvSpPr>
        <p:spPr>
          <a:xfrm>
            <a:off x="7218302" y="4965943"/>
            <a:ext cx="2040466" cy="477838"/>
          </a:xfrm>
          <a:prstGeom prst="rect">
            <a:avLst/>
          </a:prstGeom>
          <a:noFill/>
          <a:ln w="381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機動的投資の割合</a:t>
            </a: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UP</a:t>
            </a:r>
            <a:endPar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p:txBody>
      </p:sp>
      <p:cxnSp>
        <p:nvCxnSpPr>
          <p:cNvPr id="27" name="直線コネクタ 26">
            <a:extLst>
              <a:ext uri="{FF2B5EF4-FFF2-40B4-BE49-F238E27FC236}">
                <a16:creationId xmlns:a16="http://schemas.microsoft.com/office/drawing/2014/main" id="{6DF07820-61BB-4198-065D-57B758466BE4}"/>
              </a:ext>
              <a:ext uri="{C183D7F6-B498-43B3-948B-1728B52AA6E4}">
                <adec:decorative xmlns:adec="http://schemas.microsoft.com/office/drawing/2017/decorative" val="1"/>
              </a:ext>
            </a:extLst>
          </p:cNvPr>
          <p:cNvCxnSpPr>
            <a:cxnSpLocks/>
            <a:stCxn id="22" idx="2"/>
            <a:endCxn id="25" idx="0"/>
          </p:cNvCxnSpPr>
          <p:nvPr/>
        </p:nvCxnSpPr>
        <p:spPr>
          <a:xfrm>
            <a:off x="8238535" y="4627565"/>
            <a:ext cx="0" cy="338380"/>
          </a:xfrm>
          <a:prstGeom prst="line">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0" name="直線コネクタ 29">
            <a:extLst>
              <a:ext uri="{FF2B5EF4-FFF2-40B4-BE49-F238E27FC236}">
                <a16:creationId xmlns:a16="http://schemas.microsoft.com/office/drawing/2014/main" id="{3DE4E843-87E1-4940-36D1-6F7373D8AA10}"/>
              </a:ext>
              <a:ext uri="{C183D7F6-B498-43B3-948B-1728B52AA6E4}">
                <adec:decorative xmlns:adec="http://schemas.microsoft.com/office/drawing/2017/decorative" val="1"/>
              </a:ext>
            </a:extLst>
          </p:cNvPr>
          <p:cNvCxnSpPr>
            <a:cxnSpLocks/>
            <a:stCxn id="24" idx="0"/>
            <a:endCxn id="25" idx="2"/>
          </p:cNvCxnSpPr>
          <p:nvPr/>
        </p:nvCxnSpPr>
        <p:spPr>
          <a:xfrm flipV="1">
            <a:off x="8238535" y="5443781"/>
            <a:ext cx="0" cy="389488"/>
          </a:xfrm>
          <a:prstGeom prst="line">
            <a:avLst/>
          </a:prstGeom>
          <a:ln>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四角形: 角を丸くする 32">
            <a:extLst>
              <a:ext uri="{FF2B5EF4-FFF2-40B4-BE49-F238E27FC236}">
                <a16:creationId xmlns:a16="http://schemas.microsoft.com/office/drawing/2014/main" id="{73DC783A-1762-7304-3784-D680EA68CFD9}"/>
              </a:ext>
            </a:extLst>
          </p:cNvPr>
          <p:cNvSpPr/>
          <p:nvPr/>
        </p:nvSpPr>
        <p:spPr>
          <a:xfrm>
            <a:off x="10024535" y="2660937"/>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【1】</a:t>
            </a: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電子マネー比率</a:t>
            </a:r>
          </a:p>
        </p:txBody>
      </p:sp>
      <p:sp>
        <p:nvSpPr>
          <p:cNvPr id="34" name="四角形: 角を丸くする 33">
            <a:extLst>
              <a:ext uri="{FF2B5EF4-FFF2-40B4-BE49-F238E27FC236}">
                <a16:creationId xmlns:a16="http://schemas.microsoft.com/office/drawing/2014/main" id="{08829AEB-32CA-CBED-4B5B-AF5C1FFDBBB9}"/>
              </a:ext>
            </a:extLst>
          </p:cNvPr>
          <p:cNvSpPr/>
          <p:nvPr/>
        </p:nvSpPr>
        <p:spPr>
          <a:xfrm>
            <a:off x="10024535" y="4149725"/>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【2】</a:t>
            </a: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資金調達</a:t>
            </a:r>
            <a:endPar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endParaRPr>
          </a:p>
          <a:p>
            <a:pPr algn="ct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リードタイム</a:t>
            </a:r>
          </a:p>
        </p:txBody>
      </p:sp>
      <p:sp>
        <p:nvSpPr>
          <p:cNvPr id="35" name="四角形: 角を丸くする 34">
            <a:extLst>
              <a:ext uri="{FF2B5EF4-FFF2-40B4-BE49-F238E27FC236}">
                <a16:creationId xmlns:a16="http://schemas.microsoft.com/office/drawing/2014/main" id="{1C49B676-0C8A-F3DC-7172-9207307803AB}"/>
              </a:ext>
            </a:extLst>
          </p:cNvPr>
          <p:cNvSpPr/>
          <p:nvPr/>
        </p:nvSpPr>
        <p:spPr>
          <a:xfrm>
            <a:off x="10024535" y="5543946"/>
            <a:ext cx="1413933" cy="762000"/>
          </a:xfrm>
          <a:prstGeom prst="round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【3】</a:t>
            </a:r>
          </a:p>
          <a:p>
            <a:pPr algn="ctr"/>
            <a:r>
              <a:rPr lang="en-US" altLang="ja-JP" sz="1400" dirty="0">
                <a:solidFill>
                  <a:schemeClr val="tx1">
                    <a:lumMod val="75000"/>
                    <a:lumOff val="25000"/>
                  </a:schemeClr>
                </a:solidFill>
                <a:latin typeface="BIZ UDPゴシック" panose="020B0400000000000000" pitchFamily="50" charset="-128"/>
                <a:ea typeface="BIZ UDPゴシック" panose="020B0400000000000000" pitchFamily="50" charset="-128"/>
              </a:rPr>
              <a:t>BPO</a:t>
            </a:r>
            <a:r>
              <a:rPr lang="ja-JP" altLang="en-US" sz="1400" dirty="0">
                <a:solidFill>
                  <a:schemeClr val="tx1">
                    <a:lumMod val="75000"/>
                    <a:lumOff val="25000"/>
                  </a:schemeClr>
                </a:solidFill>
                <a:latin typeface="BIZ UDPゴシック" panose="020B0400000000000000" pitchFamily="50" charset="-128"/>
                <a:ea typeface="BIZ UDPゴシック" panose="020B0400000000000000" pitchFamily="50" charset="-128"/>
              </a:rPr>
              <a:t>導入率</a:t>
            </a:r>
          </a:p>
        </p:txBody>
      </p:sp>
      <p:cxnSp>
        <p:nvCxnSpPr>
          <p:cNvPr id="40" name="直線コネクタ 39">
            <a:extLst>
              <a:ext uri="{FF2B5EF4-FFF2-40B4-BE49-F238E27FC236}">
                <a16:creationId xmlns:a16="http://schemas.microsoft.com/office/drawing/2014/main" id="{674C34D6-1E5D-DB79-5728-A357C01A7ADE}"/>
              </a:ext>
              <a:ext uri="{C183D7F6-B498-43B3-948B-1728B52AA6E4}">
                <adec:decorative xmlns:adec="http://schemas.microsoft.com/office/drawing/2017/decorative" val="1"/>
              </a:ext>
            </a:extLst>
          </p:cNvPr>
          <p:cNvCxnSpPr>
            <a:cxnSpLocks/>
            <a:endCxn id="10" idx="1"/>
          </p:cNvCxnSpPr>
          <p:nvPr/>
        </p:nvCxnSpPr>
        <p:spPr>
          <a:xfrm>
            <a:off x="808100" y="2709073"/>
            <a:ext cx="715902" cy="1"/>
          </a:xfrm>
          <a:prstGeom prst="line">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3" name="直線コネクタ 42">
            <a:extLst>
              <a:ext uri="{FF2B5EF4-FFF2-40B4-BE49-F238E27FC236}">
                <a16:creationId xmlns:a16="http://schemas.microsoft.com/office/drawing/2014/main" id="{356D2E77-E0B1-51EC-6B42-9A086A25907F}"/>
              </a:ext>
              <a:ext uri="{C183D7F6-B498-43B3-948B-1728B52AA6E4}">
                <adec:decorative xmlns:adec="http://schemas.microsoft.com/office/drawing/2017/decorative" val="1"/>
              </a:ext>
            </a:extLst>
          </p:cNvPr>
          <p:cNvCxnSpPr>
            <a:cxnSpLocks/>
          </p:cNvCxnSpPr>
          <p:nvPr/>
        </p:nvCxnSpPr>
        <p:spPr>
          <a:xfrm>
            <a:off x="808100" y="5204867"/>
            <a:ext cx="715902" cy="1"/>
          </a:xfrm>
          <a:prstGeom prst="line">
            <a:avLst/>
          </a:prstGeom>
          <a:ln>
            <a:solidFill>
              <a:schemeClr val="bg1">
                <a:lumMod val="6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7325292"/>
      </p:ext>
    </p:extLst>
  </p:cSld>
  <p:clrMapOvr>
    <a:masterClrMapping/>
  </p:clrMapOvr>
</p:sld>
</file>

<file path=ppt/theme/theme1.xml><?xml version="1.0" encoding="utf-8"?>
<a:theme xmlns:a="http://schemas.openxmlformats.org/drawingml/2006/main" name="Office テーマ">
  <a:themeElements>
    <a:clrScheme name="ユーザー定義 2">
      <a:dk1>
        <a:sysClr val="windowText" lastClr="000000"/>
      </a:dk1>
      <a:lt1>
        <a:sysClr val="window" lastClr="FFFFFF"/>
      </a:lt1>
      <a:dk2>
        <a:srgbClr val="17406D"/>
      </a:dk2>
      <a:lt2>
        <a:srgbClr val="DBEFF9"/>
      </a:lt2>
      <a:accent1>
        <a:srgbClr val="0000FF"/>
      </a:accent1>
      <a:accent2>
        <a:srgbClr val="0096FA"/>
      </a:accent2>
      <a:accent3>
        <a:srgbClr val="0096C8"/>
      </a:accent3>
      <a:accent4>
        <a:srgbClr val="C80000"/>
      </a:accent4>
      <a:accent5>
        <a:srgbClr val="FF9600"/>
      </a:accent5>
      <a:accent6>
        <a:srgbClr val="FFC800"/>
      </a:accent6>
      <a:hlink>
        <a:srgbClr val="59A9F2"/>
      </a:hlink>
      <a:folHlink>
        <a:srgbClr val="BFBFBF"/>
      </a:folHlink>
    </a:clrScheme>
    <a:fontScheme name="Arial-MeiryoUI">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85000"/>
          </a:schemeClr>
        </a:solidFill>
        <a:ln>
          <a:noFill/>
        </a:ln>
      </a:spPr>
      <a:bodyPr lIns="0" tIns="0" rIns="0" bIns="0" rtlCol="0" anchor="t" anchorCtr="0"/>
      <a:lstStyle>
        <a:defPPr algn="l">
          <a:defRPr kumimoji="1" sz="1400" dirty="0" smtClean="0">
            <a:solidFill>
              <a:schemeClr val="tx1"/>
            </a:solidFill>
            <a:latin typeface="BIZ UDPゴシック" panose="020B0400000000000000" pitchFamily="50" charset="-128"/>
            <a:ea typeface="BIZ UDPゴシック" panose="020B0400000000000000" pitchFamily="50" charset="-128"/>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accent2">
              <a:lumMod val="60000"/>
              <a:lumOff val="40000"/>
            </a:schemeClr>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chor="t" anchorCtr="0">
        <a:spAutoFit/>
      </a:bodyPr>
      <a:lstStyle>
        <a:defPPr marL="182563" indent="-182563" algn="l">
          <a:buFont typeface="Arial" panose="020B0604020202020204" pitchFamily="34" charset="0"/>
          <a:buChar char="•"/>
          <a:defRPr kumimoji="1" sz="1400" dirty="0" smtClean="0">
            <a:latin typeface="BIZ UDPゴシック" panose="020B0400000000000000" pitchFamily="50" charset="-128"/>
            <a:ea typeface="BIZ UDPゴシック" panose="020B0400000000000000" pitchFamily="50" charset="-128"/>
          </a:defRPr>
        </a:defPPr>
      </a:lstStyle>
    </a:txDef>
  </a:objectDefaults>
  <a:extraClrSchemeLst/>
  <a:extLst>
    <a:ext uri="{05A4C25C-085E-4340-85A3-A5531E510DB2}">
      <thm15:themeFamily xmlns:thm15="http://schemas.microsoft.com/office/thememl/2012/main" name="プレゼンテーション1" id="{D8B7F87A-2FF0-4110-85F3-D07E1A73FDFD}" vid="{47124C65-9A2E-4C5C-A72F-101C2ED18D7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19</TotalTime>
  <Words>5540</Words>
  <Application>Microsoft Office PowerPoint</Application>
  <PresentationFormat>ワイド画面</PresentationFormat>
  <Paragraphs>828</Paragraphs>
  <Slides>26</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26</vt:i4>
      </vt:variant>
    </vt:vector>
  </HeadingPairs>
  <TitlesOfParts>
    <vt:vector size="32" baseType="lpstr">
      <vt:lpstr>BIZ UDPゴシック</vt:lpstr>
      <vt:lpstr>メイリオ</vt:lpstr>
      <vt:lpstr>游ゴシック</vt:lpstr>
      <vt:lpstr>Arial</vt:lpstr>
      <vt:lpstr>Wingdings</vt:lpstr>
      <vt:lpstr>Office テーマ</vt:lpstr>
      <vt:lpstr>第4回 システム要件確認会</vt:lpstr>
      <vt:lpstr>浜通り地域の産業集積状況の把握を目的に、福島県の産業実態調査を実施した</vt:lpstr>
      <vt:lpstr>本事業の背景/目的 と 基本方針</vt:lpstr>
      <vt:lpstr>背景・プロジェクト目的</vt:lpstr>
      <vt:lpstr>プロジェクト憲章</vt:lpstr>
      <vt:lpstr>体制 - WBS</vt:lpstr>
      <vt:lpstr>コミュニケーションルール</vt:lpstr>
      <vt:lpstr>成果物構造 - WBS</vt:lpstr>
      <vt:lpstr>課題ログ</vt:lpstr>
      <vt:lpstr>カスタマージャーニーの作成方法</vt:lpstr>
      <vt:lpstr>新たなライフスタイルを構築した社会イメージ実現に向けた検討ステップ</vt:lpstr>
      <vt:lpstr>M&amp;Aアドバイザリーの主な業務</vt:lpstr>
      <vt:lpstr>昨年度までの課題と対応検討</vt:lpstr>
      <vt:lpstr>示唆</vt:lpstr>
      <vt:lpstr>洋上風力産業の集積事例：需要の予見性、サプライチェーン国内化の推進、 政府による資金支援が集積成功に寄与</vt:lpstr>
      <vt:lpstr>民間企業の産業集積・立地に関して、各産業別に異なる投資阻害要因が存在 これらの解消に寄与しうる政府支援策を検討する必要がある</vt:lpstr>
      <vt:lpstr>サプライチェーン構造</vt:lpstr>
      <vt:lpstr>フレームワーク一覧</vt:lpstr>
      <vt:lpstr>フレームワーク一覧</vt:lpstr>
      <vt:lpstr>各国企業における事業機会と連携の課題</vt:lpstr>
      <vt:lpstr>どのようなインセンティブを選択するか、どのような水準とするか、複数の指標によって評価</vt:lpstr>
      <vt:lpstr>心理的安全性を作るリーダーの具体的行動</vt:lpstr>
      <vt:lpstr>データ越境のヒアリング調査対象企業</vt:lpstr>
      <vt:lpstr>フレームワーク一覧</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Kazu ENDO</dc:creator>
  <cp:lastModifiedBy>Kazu ENDO</cp:lastModifiedBy>
  <cp:revision>1</cp:revision>
  <dcterms:created xsi:type="dcterms:W3CDTF">2025-10-19T05:59:23Z</dcterms:created>
  <dcterms:modified xsi:type="dcterms:W3CDTF">2025-10-19T06:19:04Z</dcterms:modified>
</cp:coreProperties>
</file>