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handoutMasterIdLst>
    <p:handoutMasterId r:id="rId48"/>
  </p:handoutMasterIdLst>
  <p:sldIdLst>
    <p:sldId id="380" r:id="rId2"/>
    <p:sldId id="379" r:id="rId3"/>
    <p:sldId id="377" r:id="rId4"/>
    <p:sldId id="338" r:id="rId5"/>
    <p:sldId id="373" r:id="rId6"/>
    <p:sldId id="366" r:id="rId7"/>
    <p:sldId id="367" r:id="rId8"/>
    <p:sldId id="378" r:id="rId9"/>
    <p:sldId id="356" r:id="rId10"/>
    <p:sldId id="357" r:id="rId11"/>
    <p:sldId id="358" r:id="rId12"/>
    <p:sldId id="359" r:id="rId13"/>
    <p:sldId id="389" r:id="rId14"/>
    <p:sldId id="371" r:id="rId15"/>
    <p:sldId id="384" r:id="rId16"/>
    <p:sldId id="311" r:id="rId17"/>
    <p:sldId id="345" r:id="rId18"/>
    <p:sldId id="346" r:id="rId19"/>
    <p:sldId id="286" r:id="rId20"/>
    <p:sldId id="382" r:id="rId21"/>
    <p:sldId id="383" r:id="rId22"/>
    <p:sldId id="310" r:id="rId23"/>
    <p:sldId id="352" r:id="rId24"/>
    <p:sldId id="353" r:id="rId25"/>
    <p:sldId id="347" r:id="rId26"/>
    <p:sldId id="348" r:id="rId27"/>
    <p:sldId id="349" r:id="rId28"/>
    <p:sldId id="350" r:id="rId29"/>
    <p:sldId id="354" r:id="rId30"/>
    <p:sldId id="355" r:id="rId31"/>
    <p:sldId id="308" r:id="rId32"/>
    <p:sldId id="360" r:id="rId33"/>
    <p:sldId id="361" r:id="rId34"/>
    <p:sldId id="362" r:id="rId35"/>
    <p:sldId id="363" r:id="rId36"/>
    <p:sldId id="364" r:id="rId37"/>
    <p:sldId id="365" r:id="rId38"/>
    <p:sldId id="306" r:id="rId39"/>
    <p:sldId id="369" r:id="rId40"/>
    <p:sldId id="370" r:id="rId41"/>
    <p:sldId id="305" r:id="rId42"/>
    <p:sldId id="374" r:id="rId43"/>
    <p:sldId id="312" r:id="rId44"/>
    <p:sldId id="376" r:id="rId45"/>
    <p:sldId id="372" r:id="rId46"/>
  </p:sldIdLst>
  <p:sldSz cx="12192000" cy="6858000"/>
  <p:notesSz cx="6858000" cy="9144000"/>
  <p:defaultTextStyle>
    <a:defPPr>
      <a:defRPr lang="ja-JP"/>
    </a:defPPr>
    <a:lvl1pPr marL="0" algn="l" defTabSz="914314" rtl="0" eaLnBrk="1" latinLnBrk="0" hangingPunct="1">
      <a:defRPr kumimoji="1" sz="1800" kern="1200">
        <a:solidFill>
          <a:schemeClr val="tx1"/>
        </a:solidFill>
        <a:latin typeface="+mn-lt"/>
        <a:ea typeface="+mn-ea"/>
        <a:cs typeface="+mn-cs"/>
      </a:defRPr>
    </a:lvl1pPr>
    <a:lvl2pPr marL="457156" algn="l" defTabSz="914314" rtl="0" eaLnBrk="1" latinLnBrk="0" hangingPunct="1">
      <a:defRPr kumimoji="1" sz="1800" kern="1200">
        <a:solidFill>
          <a:schemeClr val="tx1"/>
        </a:solidFill>
        <a:latin typeface="+mn-lt"/>
        <a:ea typeface="+mn-ea"/>
        <a:cs typeface="+mn-cs"/>
      </a:defRPr>
    </a:lvl2pPr>
    <a:lvl3pPr marL="914314" algn="l" defTabSz="914314" rtl="0" eaLnBrk="1" latinLnBrk="0" hangingPunct="1">
      <a:defRPr kumimoji="1" sz="1800" kern="1200">
        <a:solidFill>
          <a:schemeClr val="tx1"/>
        </a:solidFill>
        <a:latin typeface="+mn-lt"/>
        <a:ea typeface="+mn-ea"/>
        <a:cs typeface="+mn-cs"/>
      </a:defRPr>
    </a:lvl3pPr>
    <a:lvl4pPr marL="1371471" algn="l" defTabSz="914314" rtl="0" eaLnBrk="1" latinLnBrk="0" hangingPunct="1">
      <a:defRPr kumimoji="1" sz="1800" kern="1200">
        <a:solidFill>
          <a:schemeClr val="tx1"/>
        </a:solidFill>
        <a:latin typeface="+mn-lt"/>
        <a:ea typeface="+mn-ea"/>
        <a:cs typeface="+mn-cs"/>
      </a:defRPr>
    </a:lvl4pPr>
    <a:lvl5pPr marL="1828628" algn="l" defTabSz="914314" rtl="0" eaLnBrk="1" latinLnBrk="0" hangingPunct="1">
      <a:defRPr kumimoji="1" sz="1800" kern="1200">
        <a:solidFill>
          <a:schemeClr val="tx1"/>
        </a:solidFill>
        <a:latin typeface="+mn-lt"/>
        <a:ea typeface="+mn-ea"/>
        <a:cs typeface="+mn-cs"/>
      </a:defRPr>
    </a:lvl5pPr>
    <a:lvl6pPr marL="2285784" algn="l" defTabSz="914314" rtl="0" eaLnBrk="1" latinLnBrk="0" hangingPunct="1">
      <a:defRPr kumimoji="1" sz="1800" kern="1200">
        <a:solidFill>
          <a:schemeClr val="tx1"/>
        </a:solidFill>
        <a:latin typeface="+mn-lt"/>
        <a:ea typeface="+mn-ea"/>
        <a:cs typeface="+mn-cs"/>
      </a:defRPr>
    </a:lvl6pPr>
    <a:lvl7pPr marL="2742940" algn="l" defTabSz="914314" rtl="0" eaLnBrk="1" latinLnBrk="0" hangingPunct="1">
      <a:defRPr kumimoji="1" sz="1800" kern="1200">
        <a:solidFill>
          <a:schemeClr val="tx1"/>
        </a:solidFill>
        <a:latin typeface="+mn-lt"/>
        <a:ea typeface="+mn-ea"/>
        <a:cs typeface="+mn-cs"/>
      </a:defRPr>
    </a:lvl7pPr>
    <a:lvl8pPr marL="3200098" algn="l" defTabSz="914314" rtl="0" eaLnBrk="1" latinLnBrk="0" hangingPunct="1">
      <a:defRPr kumimoji="1" sz="1800" kern="1200">
        <a:solidFill>
          <a:schemeClr val="tx1"/>
        </a:solidFill>
        <a:latin typeface="+mn-lt"/>
        <a:ea typeface="+mn-ea"/>
        <a:cs typeface="+mn-cs"/>
      </a:defRPr>
    </a:lvl8pPr>
    <a:lvl9pPr marL="3657255" algn="l" defTabSz="914314"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0F3319EF-BE6A-413D-A1C3-54F6463AF89D}">
          <p14:sldIdLst>
            <p14:sldId id="380"/>
            <p14:sldId id="379"/>
            <p14:sldId id="377"/>
            <p14:sldId id="338"/>
            <p14:sldId id="373"/>
            <p14:sldId id="366"/>
            <p14:sldId id="367"/>
            <p14:sldId id="378"/>
            <p14:sldId id="356"/>
            <p14:sldId id="357"/>
            <p14:sldId id="358"/>
            <p14:sldId id="359"/>
            <p14:sldId id="389"/>
            <p14:sldId id="371"/>
            <p14:sldId id="384"/>
            <p14:sldId id="311"/>
            <p14:sldId id="345"/>
            <p14:sldId id="346"/>
            <p14:sldId id="286"/>
            <p14:sldId id="382"/>
            <p14:sldId id="383"/>
            <p14:sldId id="310"/>
            <p14:sldId id="352"/>
            <p14:sldId id="353"/>
            <p14:sldId id="347"/>
            <p14:sldId id="348"/>
            <p14:sldId id="349"/>
            <p14:sldId id="350"/>
            <p14:sldId id="354"/>
            <p14:sldId id="355"/>
            <p14:sldId id="308"/>
            <p14:sldId id="360"/>
            <p14:sldId id="361"/>
            <p14:sldId id="362"/>
            <p14:sldId id="363"/>
            <p14:sldId id="364"/>
            <p14:sldId id="365"/>
            <p14:sldId id="306"/>
            <p14:sldId id="369"/>
            <p14:sldId id="370"/>
            <p14:sldId id="305"/>
            <p14:sldId id="374"/>
            <p14:sldId id="312"/>
            <p14:sldId id="376"/>
            <p14:sldId id="372"/>
          </p14:sldIdLst>
        </p14:section>
      </p14:sectionLst>
    </p:ext>
    <p:ext uri="{EFAFB233-063F-42B5-8137-9DF3F51BA10A}">
      <p15:sldGuideLst xmlns:p15="http://schemas.microsoft.com/office/powerpoint/2012/main">
        <p15:guide id="3" orient="horz" userDrawn="1">
          <p15:clr>
            <a:srgbClr val="A4A3A4"/>
          </p15:clr>
        </p15:guide>
        <p15:guide id="4"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3A8A"/>
    <a:srgbClr val="3B82F6"/>
    <a:srgbClr val="E8ECF3"/>
    <a:srgbClr val="7CA7C5"/>
    <a:srgbClr val="077196"/>
    <a:srgbClr val="7F7F7F"/>
    <a:srgbClr val="FFFFFF"/>
    <a:srgbClr val="E2F8FF"/>
    <a:srgbClr val="F0F0F0"/>
    <a:srgbClr val="C1E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20" autoAdjust="0"/>
    <p:restoredTop sz="96234" autoAdjust="0"/>
  </p:normalViewPr>
  <p:slideViewPr>
    <p:cSldViewPr snapToGrid="0" showGuides="1">
      <p:cViewPr varScale="1">
        <p:scale>
          <a:sx n="45" d="100"/>
          <a:sy n="45" d="100"/>
        </p:scale>
        <p:origin x="53" y="1181"/>
      </p:cViewPr>
      <p:guideLst>
        <p:guide orient="horz"/>
        <p:guide pos="3840"/>
      </p:guideLst>
    </p:cSldViewPr>
  </p:slideViewPr>
  <p:outlineViewPr>
    <p:cViewPr>
      <p:scale>
        <a:sx n="33" d="100"/>
        <a:sy n="33" d="100"/>
      </p:scale>
      <p:origin x="0" y="-3562"/>
    </p:cViewPr>
  </p:outlineViewPr>
  <p:notesTextViewPr>
    <p:cViewPr>
      <p:scale>
        <a:sx n="1" d="1"/>
        <a:sy n="1" d="1"/>
      </p:scale>
      <p:origin x="0" y="0"/>
    </p:cViewPr>
  </p:notesTextViewPr>
  <p:sorterViewPr>
    <p:cViewPr>
      <p:scale>
        <a:sx n="75" d="100"/>
        <a:sy n="75" d="100"/>
      </p:scale>
      <p:origin x="0" y="-8866"/>
    </p:cViewPr>
  </p:sorterViewPr>
  <p:notesViewPr>
    <p:cSldViewPr snapToGrid="0" showGuides="1">
      <p:cViewPr varScale="1">
        <p:scale>
          <a:sx n="80" d="100"/>
          <a:sy n="80" d="100"/>
        </p:scale>
        <p:origin x="2755" y="48"/>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azu ENDO" userId="394a0fe494bc10a7" providerId="LiveId" clId="{9B94F21E-C83F-4FE9-9F96-8B842C8D39FE}"/>
    <pc:docChg chg="delSld modSection">
      <pc:chgData name="Kazu ENDO" userId="394a0fe494bc10a7" providerId="LiveId" clId="{9B94F21E-C83F-4FE9-9F96-8B842C8D39FE}" dt="2026-04-11T13:24:44.871" v="10" actId="47"/>
      <pc:docMkLst>
        <pc:docMk/>
      </pc:docMkLst>
      <pc:sldChg chg="del">
        <pc:chgData name="Kazu ENDO" userId="394a0fe494bc10a7" providerId="LiveId" clId="{9B94F21E-C83F-4FE9-9F96-8B842C8D39FE}" dt="2026-04-11T13:24:02.974" v="5" actId="47"/>
        <pc:sldMkLst>
          <pc:docMk/>
          <pc:sldMk cId="1665003852" sldId="307"/>
        </pc:sldMkLst>
      </pc:sldChg>
      <pc:sldChg chg="del">
        <pc:chgData name="Kazu ENDO" userId="394a0fe494bc10a7" providerId="LiveId" clId="{9B94F21E-C83F-4FE9-9F96-8B842C8D39FE}" dt="2026-04-11T13:24:03.625" v="6" actId="47"/>
        <pc:sldMkLst>
          <pc:docMk/>
          <pc:sldMk cId="2193149072" sldId="309"/>
        </pc:sldMkLst>
      </pc:sldChg>
      <pc:sldChg chg="del">
        <pc:chgData name="Kazu ENDO" userId="394a0fe494bc10a7" providerId="LiveId" clId="{9B94F21E-C83F-4FE9-9F96-8B842C8D39FE}" dt="2026-04-11T13:24:04.211" v="7" actId="47"/>
        <pc:sldMkLst>
          <pc:docMk/>
          <pc:sldMk cId="2961888311" sldId="313"/>
        </pc:sldMkLst>
      </pc:sldChg>
      <pc:sldChg chg="del">
        <pc:chgData name="Kazu ENDO" userId="394a0fe494bc10a7" providerId="LiveId" clId="{9B94F21E-C83F-4FE9-9F96-8B842C8D39FE}" dt="2026-04-11T13:24:05.493" v="8" actId="47"/>
        <pc:sldMkLst>
          <pc:docMk/>
          <pc:sldMk cId="3841795920" sldId="385"/>
        </pc:sldMkLst>
      </pc:sldChg>
      <pc:sldChg chg="del">
        <pc:chgData name="Kazu ENDO" userId="394a0fe494bc10a7" providerId="LiveId" clId="{9B94F21E-C83F-4FE9-9F96-8B842C8D39FE}" dt="2026-04-11T13:23:59.504" v="3" actId="47"/>
        <pc:sldMkLst>
          <pc:docMk/>
          <pc:sldMk cId="2154883813" sldId="386"/>
        </pc:sldMkLst>
      </pc:sldChg>
      <pc:sldChg chg="del">
        <pc:chgData name="Kazu ENDO" userId="394a0fe494bc10a7" providerId="LiveId" clId="{9B94F21E-C83F-4FE9-9F96-8B842C8D39FE}" dt="2026-04-11T13:24:06.137" v="9" actId="47"/>
        <pc:sldMkLst>
          <pc:docMk/>
          <pc:sldMk cId="2359936808" sldId="391"/>
        </pc:sldMkLst>
      </pc:sldChg>
      <pc:sldChg chg="del">
        <pc:chgData name="Kazu ENDO" userId="394a0fe494bc10a7" providerId="LiveId" clId="{9B94F21E-C83F-4FE9-9F96-8B842C8D39FE}" dt="2026-04-11T13:24:44.871" v="10" actId="47"/>
        <pc:sldMkLst>
          <pc:docMk/>
          <pc:sldMk cId="3411378132" sldId="392"/>
        </pc:sldMkLst>
      </pc:sldChg>
      <pc:sldChg chg="del">
        <pc:chgData name="Kazu ENDO" userId="394a0fe494bc10a7" providerId="LiveId" clId="{9B94F21E-C83F-4FE9-9F96-8B842C8D39FE}" dt="2026-04-11T13:24:02.328" v="4" actId="47"/>
        <pc:sldMkLst>
          <pc:docMk/>
          <pc:sldMk cId="3337353574" sldId="39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32820198-B303-F5B4-B84D-123BB9423CE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B6B78AE9-8FF1-A19A-68CF-15F1E68B2F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111EFB-F628-40F9-BEA8-8B741629A066}" type="datetimeFigureOut">
              <a:rPr kumimoji="1" lang="ja-JP" altLang="en-US" smtClean="0"/>
              <a:t>2026/4/11</a:t>
            </a:fld>
            <a:endParaRPr kumimoji="1" lang="ja-JP" altLang="en-US"/>
          </a:p>
        </p:txBody>
      </p:sp>
      <p:sp>
        <p:nvSpPr>
          <p:cNvPr id="4" name="フッター プレースホルダー 3">
            <a:extLst>
              <a:ext uri="{FF2B5EF4-FFF2-40B4-BE49-F238E27FC236}">
                <a16:creationId xmlns:a16="http://schemas.microsoft.com/office/drawing/2014/main" id="{C1F05596-5F0A-30AE-7814-80452262F12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B7ED2970-600E-B043-9C6E-26122FB918D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FB8C93B-B4CB-432E-9311-FACF9FA5C83D}" type="slidenum">
              <a:rPr kumimoji="1" lang="ja-JP" altLang="en-US" smtClean="0"/>
              <a:t>‹#›</a:t>
            </a:fld>
            <a:endParaRPr kumimoji="1" lang="ja-JP" altLang="en-US"/>
          </a:p>
        </p:txBody>
      </p:sp>
    </p:spTree>
    <p:extLst>
      <p:ext uri="{BB962C8B-B14F-4D97-AF65-F5344CB8AC3E}">
        <p14:creationId xmlns:p14="http://schemas.microsoft.com/office/powerpoint/2010/main" val="220869962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71714D2-F2A7-4A29-BCB6-C0D2D9AA6AE5}" type="datetimeFigureOut">
              <a:rPr kumimoji="1" lang="ja-JP" altLang="en-US" smtClean="0"/>
              <a:t>2026/4/11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D1D408-0708-441E-AE9B-ADAF392E03F9}" type="slidenum">
              <a:rPr kumimoji="1" lang="ja-JP" altLang="en-US" smtClean="0"/>
              <a:t>‹#›</a:t>
            </a:fld>
            <a:endParaRPr kumimoji="1" lang="ja-JP" altLang="en-US"/>
          </a:p>
        </p:txBody>
      </p:sp>
    </p:spTree>
    <p:extLst>
      <p:ext uri="{BB962C8B-B14F-4D97-AF65-F5344CB8AC3E}">
        <p14:creationId xmlns:p14="http://schemas.microsoft.com/office/powerpoint/2010/main" val="4117348487"/>
      </p:ext>
    </p:extLst>
  </p:cSld>
  <p:clrMap bg1="lt1" tx1="dk1" bg2="lt2" tx2="dk2" accent1="accent1" accent2="accent2" accent3="accent3" accent4="accent4" accent5="accent5" accent6="accent6" hlink="hlink" folHlink="folHlink"/>
  <p:notesStyle>
    <a:lvl1pPr marL="0" algn="l" defTabSz="914314" rtl="0" eaLnBrk="1" latinLnBrk="0" hangingPunct="1">
      <a:defRPr kumimoji="1" sz="1200" kern="1200">
        <a:solidFill>
          <a:schemeClr val="tx1"/>
        </a:solidFill>
        <a:latin typeface="+mn-lt"/>
        <a:ea typeface="+mn-ea"/>
        <a:cs typeface="+mn-cs"/>
      </a:defRPr>
    </a:lvl1pPr>
    <a:lvl2pPr marL="457156" algn="l" defTabSz="914314" rtl="0" eaLnBrk="1" latinLnBrk="0" hangingPunct="1">
      <a:defRPr kumimoji="1" sz="1200" kern="1200">
        <a:solidFill>
          <a:schemeClr val="tx1"/>
        </a:solidFill>
        <a:latin typeface="+mn-lt"/>
        <a:ea typeface="+mn-ea"/>
        <a:cs typeface="+mn-cs"/>
      </a:defRPr>
    </a:lvl2pPr>
    <a:lvl3pPr marL="914314" algn="l" defTabSz="914314" rtl="0" eaLnBrk="1" latinLnBrk="0" hangingPunct="1">
      <a:defRPr kumimoji="1" sz="1200" kern="1200">
        <a:solidFill>
          <a:schemeClr val="tx1"/>
        </a:solidFill>
        <a:latin typeface="+mn-lt"/>
        <a:ea typeface="+mn-ea"/>
        <a:cs typeface="+mn-cs"/>
      </a:defRPr>
    </a:lvl3pPr>
    <a:lvl4pPr marL="1371471" algn="l" defTabSz="914314" rtl="0" eaLnBrk="1" latinLnBrk="0" hangingPunct="1">
      <a:defRPr kumimoji="1" sz="1200" kern="1200">
        <a:solidFill>
          <a:schemeClr val="tx1"/>
        </a:solidFill>
        <a:latin typeface="+mn-lt"/>
        <a:ea typeface="+mn-ea"/>
        <a:cs typeface="+mn-cs"/>
      </a:defRPr>
    </a:lvl4pPr>
    <a:lvl5pPr marL="1828628" algn="l" defTabSz="914314" rtl="0" eaLnBrk="1" latinLnBrk="0" hangingPunct="1">
      <a:defRPr kumimoji="1" sz="1200" kern="1200">
        <a:solidFill>
          <a:schemeClr val="tx1"/>
        </a:solidFill>
        <a:latin typeface="+mn-lt"/>
        <a:ea typeface="+mn-ea"/>
        <a:cs typeface="+mn-cs"/>
      </a:defRPr>
    </a:lvl5pPr>
    <a:lvl6pPr marL="2285784" algn="l" defTabSz="914314" rtl="0" eaLnBrk="1" latinLnBrk="0" hangingPunct="1">
      <a:defRPr kumimoji="1" sz="1200" kern="1200">
        <a:solidFill>
          <a:schemeClr val="tx1"/>
        </a:solidFill>
        <a:latin typeface="+mn-lt"/>
        <a:ea typeface="+mn-ea"/>
        <a:cs typeface="+mn-cs"/>
      </a:defRPr>
    </a:lvl6pPr>
    <a:lvl7pPr marL="2742940" algn="l" defTabSz="914314" rtl="0" eaLnBrk="1" latinLnBrk="0" hangingPunct="1">
      <a:defRPr kumimoji="1" sz="1200" kern="1200">
        <a:solidFill>
          <a:schemeClr val="tx1"/>
        </a:solidFill>
        <a:latin typeface="+mn-lt"/>
        <a:ea typeface="+mn-ea"/>
        <a:cs typeface="+mn-cs"/>
      </a:defRPr>
    </a:lvl7pPr>
    <a:lvl8pPr marL="3200098" algn="l" defTabSz="914314" rtl="0" eaLnBrk="1" latinLnBrk="0" hangingPunct="1">
      <a:defRPr kumimoji="1" sz="1200" kern="1200">
        <a:solidFill>
          <a:schemeClr val="tx1"/>
        </a:solidFill>
        <a:latin typeface="+mn-lt"/>
        <a:ea typeface="+mn-ea"/>
        <a:cs typeface="+mn-cs"/>
      </a:defRPr>
    </a:lvl8pPr>
    <a:lvl9pPr marL="3657255" algn="l" defTabSz="914314" rtl="0" eaLnBrk="1" latinLnBrk="0" hangingPunct="1">
      <a:defRPr kumimoji="1"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0_タイトル">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89BD15-688A-D1E3-C6F5-DF5677C05AD5}"/>
              </a:ext>
            </a:extLst>
          </p:cNvPr>
          <p:cNvSpPr>
            <a:spLocks noGrp="1"/>
          </p:cNvSpPr>
          <p:nvPr>
            <p:ph type="ctrTitle" hasCustomPrompt="1"/>
          </p:nvPr>
        </p:nvSpPr>
        <p:spPr>
          <a:xfrm>
            <a:off x="1524000" y="1122363"/>
            <a:ext cx="9144000" cy="2387600"/>
          </a:xfrm>
        </p:spPr>
        <p:txBody>
          <a:bodyPr anchor="b">
            <a:normAutofit/>
          </a:bodyPr>
          <a:lstStyle>
            <a:lvl1pPr algn="ctr">
              <a:defRPr sz="3200" u="sng">
                <a:solidFill>
                  <a:schemeClr val="tx1"/>
                </a:solidFill>
                <a:latin typeface="BIZ UDPゴシック" panose="020B0400000000000000" pitchFamily="50" charset="-128"/>
                <a:ea typeface="BIZ UDPゴシック" panose="020B0400000000000000" pitchFamily="50" charset="-128"/>
              </a:defRPr>
            </a:lvl1pPr>
          </a:lstStyle>
          <a:p>
            <a:r>
              <a:rPr kumimoji="1" lang="ja-JP" altLang="en-US" dirty="0"/>
              <a:t>タイトル</a:t>
            </a:r>
          </a:p>
        </p:txBody>
      </p:sp>
      <p:sp>
        <p:nvSpPr>
          <p:cNvPr id="3" name="字幕 2">
            <a:extLst>
              <a:ext uri="{FF2B5EF4-FFF2-40B4-BE49-F238E27FC236}">
                <a16:creationId xmlns:a16="http://schemas.microsoft.com/office/drawing/2014/main" id="{D0BEFF7B-3EA3-EF87-F707-143A26841542}"/>
              </a:ext>
            </a:extLst>
          </p:cNvPr>
          <p:cNvSpPr>
            <a:spLocks noGrp="1"/>
          </p:cNvSpPr>
          <p:nvPr>
            <p:ph type="subTitle" idx="1" hasCustomPrompt="1"/>
          </p:nvPr>
        </p:nvSpPr>
        <p:spPr>
          <a:xfrm>
            <a:off x="1524000" y="3602039"/>
            <a:ext cx="9144000" cy="1655762"/>
          </a:xfrm>
        </p:spPr>
        <p:txBody>
          <a:bodyPr anchor="b" anchorCtr="0">
            <a:normAutofit/>
          </a:bodyPr>
          <a:lstStyle>
            <a:lvl1pPr marL="0" indent="0" algn="r">
              <a:buNone/>
              <a:defRPr sz="3200">
                <a:solidFill>
                  <a:schemeClr val="tx1"/>
                </a:solidFill>
                <a:latin typeface="BIZ UDPゴシック" panose="020B0400000000000000" pitchFamily="50" charset="-128"/>
                <a:ea typeface="BIZ UDPゴシック" panose="020B0400000000000000" pitchFamily="50" charset="-128"/>
              </a:defRPr>
            </a:lvl1pPr>
            <a:lvl2pPr marL="457186" indent="0" algn="ctr">
              <a:buNone/>
              <a:defRPr sz="2000"/>
            </a:lvl2pPr>
            <a:lvl3pPr marL="914373" indent="0" algn="ctr">
              <a:buNone/>
              <a:defRPr sz="1800"/>
            </a:lvl3pPr>
            <a:lvl4pPr marL="1371559" indent="0" algn="ctr">
              <a:buNone/>
              <a:defRPr sz="1600"/>
            </a:lvl4pPr>
            <a:lvl5pPr marL="1828745" indent="0" algn="ctr">
              <a:buNone/>
              <a:defRPr sz="1600"/>
            </a:lvl5pPr>
            <a:lvl6pPr marL="2285931" indent="0" algn="ctr">
              <a:buNone/>
              <a:defRPr sz="1600"/>
            </a:lvl6pPr>
            <a:lvl7pPr marL="2743118" indent="0" algn="ctr">
              <a:buNone/>
              <a:defRPr sz="1600"/>
            </a:lvl7pPr>
            <a:lvl8pPr marL="3200304" indent="0" algn="ctr">
              <a:buNone/>
              <a:defRPr sz="1600"/>
            </a:lvl8pPr>
            <a:lvl9pPr marL="3657490" indent="0" algn="ctr">
              <a:buNone/>
              <a:defRPr sz="1600"/>
            </a:lvl9pPr>
          </a:lstStyle>
          <a:p>
            <a:r>
              <a:rPr kumimoji="1" lang="ja-JP" altLang="en-US" dirty="0"/>
              <a:t>年月日</a:t>
            </a:r>
            <a:endParaRPr kumimoji="1" lang="en-US" altLang="ja-JP" dirty="0"/>
          </a:p>
          <a:p>
            <a:r>
              <a:rPr kumimoji="1" lang="ja-JP" altLang="en-US" dirty="0"/>
              <a:t>名前</a:t>
            </a:r>
          </a:p>
        </p:txBody>
      </p:sp>
      <p:sp>
        <p:nvSpPr>
          <p:cNvPr id="6" name="フッター プレースホルダー 4">
            <a:extLst>
              <a:ext uri="{FF2B5EF4-FFF2-40B4-BE49-F238E27FC236}">
                <a16:creationId xmlns:a16="http://schemas.microsoft.com/office/drawing/2014/main" id="{90881147-5CCF-D07D-58D4-B63613C27CBC}"/>
              </a:ext>
            </a:extLst>
          </p:cNvPr>
          <p:cNvSpPr>
            <a:spLocks noGrp="1"/>
          </p:cNvSpPr>
          <p:nvPr>
            <p:ph type="ftr" sz="quarter" idx="11"/>
          </p:nvPr>
        </p:nvSpPr>
        <p:spPr>
          <a:xfrm>
            <a:off x="431999" y="6552000"/>
            <a:ext cx="10080000" cy="216000"/>
          </a:xfrm>
          <a:prstGeom prst="rect">
            <a:avLst/>
          </a:prstGeom>
        </p:spPr>
        <p:txBody>
          <a:bodyPr anchor="ctr" anchorCtr="0"/>
          <a:lstStyle>
            <a:lvl1pPr algn="l">
              <a:defRPr sz="900">
                <a:solidFill>
                  <a:schemeClr val="tx1"/>
                </a:solidFill>
                <a:latin typeface="BIZ UDPゴシック" panose="020B0400000000000000" pitchFamily="50" charset="-128"/>
                <a:ea typeface="BIZ UDPゴシック" panose="020B0400000000000000" pitchFamily="50" charset="-128"/>
              </a:defRPr>
            </a:lvl1pPr>
          </a:lstStyle>
          <a:p>
            <a:r>
              <a:rPr lang="ja-JP" altLang="en-US" sz="900" dirty="0"/>
              <a:t>プロジェクト</a:t>
            </a:r>
            <a:r>
              <a:rPr lang="en-US" altLang="ja-JP" sz="900" dirty="0"/>
              <a:t>/</a:t>
            </a:r>
            <a:r>
              <a:rPr lang="ja-JP" altLang="en-US" sz="900" dirty="0"/>
              <a:t>部署</a:t>
            </a:r>
            <a:r>
              <a:rPr lang="en-US" altLang="ja-JP" sz="900" dirty="0"/>
              <a:t>/</a:t>
            </a:r>
            <a:r>
              <a:rPr lang="ja-JP" altLang="en-US" sz="900" dirty="0"/>
              <a:t>管理番号</a:t>
            </a:r>
          </a:p>
        </p:txBody>
      </p:sp>
      <p:sp>
        <p:nvSpPr>
          <p:cNvPr id="8" name="スライド番号プレースホルダー 5">
            <a:extLst>
              <a:ext uri="{FF2B5EF4-FFF2-40B4-BE49-F238E27FC236}">
                <a16:creationId xmlns:a16="http://schemas.microsoft.com/office/drawing/2014/main" id="{1E755BD5-6E1B-2333-D6DF-51E959DB6652}"/>
              </a:ext>
            </a:extLst>
          </p:cNvPr>
          <p:cNvSpPr>
            <a:spLocks noGrp="1"/>
          </p:cNvSpPr>
          <p:nvPr>
            <p:ph type="sldNum" sz="quarter" idx="12"/>
          </p:nvPr>
        </p:nvSpPr>
        <p:spPr>
          <a:xfrm>
            <a:off x="11592000" y="6552000"/>
            <a:ext cx="540000" cy="216000"/>
          </a:xfrm>
          <a:prstGeom prst="rect">
            <a:avLst/>
          </a:prstGeom>
        </p:spPr>
        <p:txBody>
          <a:bodyPr/>
          <a:lstStyle>
            <a:lvl1pPr>
              <a:defRPr sz="900">
                <a:solidFill>
                  <a:schemeClr val="tx1"/>
                </a:solidFill>
                <a:latin typeface="BIZ UDPゴシック" panose="020B0400000000000000" pitchFamily="50" charset="-128"/>
                <a:ea typeface="BIZ UDPゴシック" panose="020B0400000000000000" pitchFamily="50" charset="-128"/>
              </a:defRPr>
            </a:lvl1pPr>
          </a:lstStyle>
          <a:p>
            <a:fld id="{DCB5AA93-092B-49A1-87A7-3C88D5F38AD7}" type="slidenum">
              <a:rPr lang="ja-JP" altLang="en-US" smtClean="0"/>
              <a:pPr/>
              <a:t>‹#›</a:t>
            </a:fld>
            <a:endParaRPr lang="ja-JP" altLang="en-US" sz="900" dirty="0"/>
          </a:p>
        </p:txBody>
      </p:sp>
    </p:spTree>
    <p:extLst>
      <p:ext uri="{BB962C8B-B14F-4D97-AF65-F5344CB8AC3E}">
        <p14:creationId xmlns:p14="http://schemas.microsoft.com/office/powerpoint/2010/main" val="914946822"/>
      </p:ext>
    </p:extLst>
  </p:cSld>
  <p:clrMapOvr>
    <a:masterClrMapping/>
  </p:clrMapOvr>
  <p:extLst>
    <p:ext uri="{DCECCB84-F9BA-43D5-87BE-67443E8EF086}">
      <p15:sldGuideLst xmlns:p15="http://schemas.microsoft.com/office/powerpoint/2012/main">
        <p15:guide id="1" orient="horz" pos="2160">
          <p15:clr>
            <a:srgbClr val="547EBF"/>
          </p15:clr>
        </p15:guide>
        <p15:guide id="2" pos="3840">
          <p15:clr>
            <a:srgbClr val="547EBF"/>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F62B98A-5E0B-335E-C425-E48A1C614D18}"/>
              </a:ext>
            </a:extLst>
          </p:cNvPr>
          <p:cNvSpPr>
            <a:spLocks noGrp="1"/>
          </p:cNvSpPr>
          <p:nvPr>
            <p:ph type="title" hasCustomPrompt="1"/>
          </p:nvPr>
        </p:nvSpPr>
        <p:spPr>
          <a:xfrm>
            <a:off x="0" y="3"/>
            <a:ext cx="12186000" cy="540324"/>
          </a:xfrm>
        </p:spPr>
        <p:txBody>
          <a:bodyPr anchor="ctr" anchorCtr="0">
            <a:normAutofit/>
          </a:bodyPr>
          <a:lstStyle>
            <a:lvl1pPr algn="l">
              <a:defRPr sz="2400"/>
            </a:lvl1pPr>
          </a:lstStyle>
          <a:p>
            <a:r>
              <a:rPr kumimoji="1" lang="ja-JP" altLang="en-US" dirty="0"/>
              <a:t>スライドタイトル</a:t>
            </a:r>
          </a:p>
        </p:txBody>
      </p:sp>
      <p:sp>
        <p:nvSpPr>
          <p:cNvPr id="5" name="フッター プレースホルダー 4">
            <a:extLst>
              <a:ext uri="{FF2B5EF4-FFF2-40B4-BE49-F238E27FC236}">
                <a16:creationId xmlns:a16="http://schemas.microsoft.com/office/drawing/2014/main" id="{073838D6-28D4-8AAD-8E5F-2F93892364C7}"/>
              </a:ext>
            </a:extLst>
          </p:cNvPr>
          <p:cNvSpPr>
            <a:spLocks noGrp="1"/>
          </p:cNvSpPr>
          <p:nvPr>
            <p:ph type="ftr" sz="quarter" idx="11"/>
          </p:nvPr>
        </p:nvSpPr>
        <p:spPr>
          <a:xfrm>
            <a:off x="431999" y="6552000"/>
            <a:ext cx="10080000" cy="216000"/>
          </a:xfrm>
          <a:prstGeom prst="rect">
            <a:avLst/>
          </a:prstGeom>
        </p:spPr>
        <p:txBody>
          <a:bodyPr anchor="ctr" anchorCtr="0"/>
          <a:lstStyle>
            <a:lvl1pPr algn="l">
              <a:defRPr sz="900">
                <a:solidFill>
                  <a:schemeClr val="tx1"/>
                </a:solidFill>
                <a:latin typeface="BIZ UDPゴシック" panose="020B0400000000000000" pitchFamily="50" charset="-128"/>
                <a:ea typeface="BIZ UDPゴシック" panose="020B0400000000000000" pitchFamily="50" charset="-128"/>
              </a:defRPr>
            </a:lvl1pPr>
          </a:lstStyle>
          <a:p>
            <a:r>
              <a:rPr lang="ja-JP" altLang="en-US" dirty="0"/>
              <a:t>備考：</a:t>
            </a:r>
            <a:endParaRPr lang="ja-JP" altLang="en-US" sz="900" dirty="0"/>
          </a:p>
        </p:txBody>
      </p:sp>
      <p:sp>
        <p:nvSpPr>
          <p:cNvPr id="6" name="スライド番号プレースホルダー 5">
            <a:extLst>
              <a:ext uri="{FF2B5EF4-FFF2-40B4-BE49-F238E27FC236}">
                <a16:creationId xmlns:a16="http://schemas.microsoft.com/office/drawing/2014/main" id="{600AD3A3-493E-1DC5-C673-6B04C0730253}"/>
              </a:ext>
            </a:extLst>
          </p:cNvPr>
          <p:cNvSpPr>
            <a:spLocks noGrp="1"/>
          </p:cNvSpPr>
          <p:nvPr>
            <p:ph type="sldNum" sz="quarter" idx="12"/>
          </p:nvPr>
        </p:nvSpPr>
        <p:spPr>
          <a:xfrm>
            <a:off x="11592000" y="6552000"/>
            <a:ext cx="540000" cy="216000"/>
          </a:xfrm>
          <a:prstGeom prst="rect">
            <a:avLst/>
          </a:prstGeom>
        </p:spPr>
        <p:txBody>
          <a:bodyPr/>
          <a:lstStyle>
            <a:lvl1pPr>
              <a:defRPr sz="900">
                <a:solidFill>
                  <a:schemeClr val="tx1"/>
                </a:solidFill>
                <a:latin typeface="BIZ UDPゴシック" panose="020B0400000000000000" pitchFamily="50" charset="-128"/>
                <a:ea typeface="BIZ UDPゴシック" panose="020B0400000000000000" pitchFamily="50" charset="-128"/>
              </a:defRPr>
            </a:lvl1pPr>
          </a:lstStyle>
          <a:p>
            <a:fld id="{DCB5AA93-092B-49A1-87A7-3C88D5F38AD7}" type="slidenum">
              <a:rPr lang="ja-JP" altLang="en-US" smtClean="0"/>
              <a:pPr/>
              <a:t>‹#›</a:t>
            </a:fld>
            <a:endParaRPr lang="ja-JP" altLang="en-US" sz="900" dirty="0"/>
          </a:p>
        </p:txBody>
      </p:sp>
      <p:cxnSp>
        <p:nvCxnSpPr>
          <p:cNvPr id="8" name="直線コネクタ 7">
            <a:extLst>
              <a:ext uri="{FF2B5EF4-FFF2-40B4-BE49-F238E27FC236}">
                <a16:creationId xmlns:a16="http://schemas.microsoft.com/office/drawing/2014/main" id="{4C9262B6-C232-FF1E-F30F-62C446446085}"/>
              </a:ext>
            </a:extLst>
          </p:cNvPr>
          <p:cNvCxnSpPr>
            <a:cxnSpLocks/>
          </p:cNvCxnSpPr>
          <p:nvPr userDrawn="1"/>
        </p:nvCxnSpPr>
        <p:spPr>
          <a:xfrm>
            <a:off x="0" y="540000"/>
            <a:ext cx="12186000"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3" name="テキスト プレースホルダー 14">
            <a:extLst>
              <a:ext uri="{FF2B5EF4-FFF2-40B4-BE49-F238E27FC236}">
                <a16:creationId xmlns:a16="http://schemas.microsoft.com/office/drawing/2014/main" id="{1B8BAED9-DF44-0BF8-2404-2A58E0F40F7A}"/>
              </a:ext>
            </a:extLst>
          </p:cNvPr>
          <p:cNvSpPr>
            <a:spLocks noGrp="1"/>
          </p:cNvSpPr>
          <p:nvPr>
            <p:ph type="body" sz="quarter" idx="13" hasCustomPrompt="1"/>
          </p:nvPr>
        </p:nvSpPr>
        <p:spPr>
          <a:xfrm>
            <a:off x="0" y="540327"/>
            <a:ext cx="12186000" cy="540000"/>
          </a:xfrm>
        </p:spPr>
        <p:txBody>
          <a:bodyPr anchor="ctr" anchorCtr="0">
            <a:normAutofit/>
          </a:bodyPr>
          <a:lstStyle>
            <a:lvl1pPr marL="0" indent="0" algn="l">
              <a:buNone/>
              <a:defRPr sz="2000"/>
            </a:lvl1pPr>
          </a:lstStyle>
          <a:p>
            <a:pPr lvl="0"/>
            <a:r>
              <a:rPr kumimoji="1" lang="ja-JP" altLang="en-US" dirty="0"/>
              <a:t>スライドメッセージ</a:t>
            </a:r>
          </a:p>
        </p:txBody>
      </p:sp>
    </p:spTree>
    <p:extLst>
      <p:ext uri="{BB962C8B-B14F-4D97-AF65-F5344CB8AC3E}">
        <p14:creationId xmlns:p14="http://schemas.microsoft.com/office/powerpoint/2010/main" val="4111418134"/>
      </p:ext>
    </p:extLst>
  </p:cSld>
  <p:clrMapOvr>
    <a:masterClrMapping/>
  </p:clrMapOvr>
  <p:extLst>
    <p:ext uri="{DCECCB84-F9BA-43D5-87BE-67443E8EF086}">
      <p15:sldGuideLst xmlns:p15="http://schemas.microsoft.com/office/powerpoint/2012/main">
        <p15:guide id="4" orient="horz" pos="4088">
          <p15:clr>
            <a:srgbClr val="547EBF"/>
          </p15:clr>
        </p15:guide>
        <p15:guide id="5" pos="211">
          <p15:clr>
            <a:srgbClr val="547EBF"/>
          </p15:clr>
        </p15:guide>
        <p15:guide id="6" pos="7469">
          <p15:clr>
            <a:srgbClr val="547EBF"/>
          </p15:clr>
        </p15:guide>
        <p15:guide id="7" orient="horz" pos="2387">
          <p15:clr>
            <a:srgbClr val="547EBF"/>
          </p15:clr>
        </p15:guide>
        <p15:guide id="11" pos="3727">
          <p15:clr>
            <a:srgbClr val="547EBF"/>
          </p15:clr>
        </p15:guide>
        <p15:guide id="12" pos="3953">
          <p15:clr>
            <a:srgbClr val="547EBF"/>
          </p15:clr>
        </p15:guide>
        <p15:guide id="13" orient="horz" pos="799">
          <p15:clr>
            <a:srgbClr val="547EBF"/>
          </p15:clr>
        </p15:guide>
        <p15:guide id="14" orient="horz" pos="2500">
          <p15:clr>
            <a:srgbClr val="547EBF"/>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20426D-55C7-5082-C5BB-DFCD609072B6}"/>
              </a:ext>
            </a:extLst>
          </p:cNvPr>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BE3B443A-32D9-F0FB-6B43-215C4ADBF892}"/>
              </a:ext>
            </a:extLst>
          </p:cNvPr>
          <p:cNvSpPr>
            <a:spLocks noGrp="1"/>
          </p:cNvSpPr>
          <p:nvPr>
            <p:ph type="body" idx="1"/>
          </p:nvPr>
        </p:nvSpPr>
        <p:spPr>
          <a:xfrm>
            <a:off x="838200" y="1825626"/>
            <a:ext cx="10515600"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フッター プレースホルダー 4">
            <a:extLst>
              <a:ext uri="{FF2B5EF4-FFF2-40B4-BE49-F238E27FC236}">
                <a16:creationId xmlns:a16="http://schemas.microsoft.com/office/drawing/2014/main" id="{66265F75-9302-C969-C1CF-A5C6AB0FCC49}"/>
              </a:ext>
            </a:extLst>
          </p:cNvPr>
          <p:cNvSpPr>
            <a:spLocks noGrp="1"/>
          </p:cNvSpPr>
          <p:nvPr>
            <p:ph type="ftr" sz="quarter" idx="3"/>
          </p:nvPr>
        </p:nvSpPr>
        <p:spPr>
          <a:xfrm>
            <a:off x="431999" y="6552000"/>
            <a:ext cx="10080000" cy="216000"/>
          </a:xfrm>
          <a:prstGeom prst="rect">
            <a:avLst/>
          </a:prstGeom>
        </p:spPr>
        <p:txBody>
          <a:bodyPr anchor="ctr" anchorCtr="0"/>
          <a:lstStyle>
            <a:lvl1pPr algn="l">
              <a:defRPr sz="900">
                <a:solidFill>
                  <a:schemeClr val="tx1"/>
                </a:solidFill>
                <a:latin typeface="BIZ UDPゴシック" panose="020B0400000000000000" pitchFamily="50" charset="-128"/>
                <a:ea typeface="BIZ UDPゴシック" panose="020B0400000000000000" pitchFamily="50" charset="-128"/>
              </a:defRPr>
            </a:lvl1pPr>
          </a:lstStyle>
          <a:p>
            <a:r>
              <a:rPr lang="ja-JP" altLang="en-US" dirty="0"/>
              <a:t>プロジェクト</a:t>
            </a:r>
            <a:r>
              <a:rPr lang="en-US" altLang="ja-JP" dirty="0"/>
              <a:t>/</a:t>
            </a:r>
            <a:r>
              <a:rPr lang="ja-JP" altLang="en-US" dirty="0"/>
              <a:t>部署</a:t>
            </a:r>
            <a:r>
              <a:rPr lang="en-US" altLang="ja-JP" dirty="0"/>
              <a:t>/</a:t>
            </a:r>
            <a:r>
              <a:rPr lang="ja-JP" altLang="en-US" dirty="0"/>
              <a:t>管理番号</a:t>
            </a:r>
            <a:endParaRPr lang="ja-JP" altLang="en-US" sz="900" dirty="0"/>
          </a:p>
        </p:txBody>
      </p:sp>
      <p:sp>
        <p:nvSpPr>
          <p:cNvPr id="12" name="スライド番号プレースホルダー 5">
            <a:extLst>
              <a:ext uri="{FF2B5EF4-FFF2-40B4-BE49-F238E27FC236}">
                <a16:creationId xmlns:a16="http://schemas.microsoft.com/office/drawing/2014/main" id="{796D5859-FF54-DB66-044C-083CA2272F7C}"/>
              </a:ext>
            </a:extLst>
          </p:cNvPr>
          <p:cNvSpPr>
            <a:spLocks noGrp="1"/>
          </p:cNvSpPr>
          <p:nvPr>
            <p:ph type="sldNum" sz="quarter" idx="4"/>
          </p:nvPr>
        </p:nvSpPr>
        <p:spPr>
          <a:xfrm>
            <a:off x="11592000" y="6552000"/>
            <a:ext cx="540000" cy="216000"/>
          </a:xfrm>
          <a:prstGeom prst="rect">
            <a:avLst/>
          </a:prstGeom>
        </p:spPr>
        <p:txBody>
          <a:bodyPr/>
          <a:lstStyle>
            <a:lvl1pPr>
              <a:defRPr sz="900">
                <a:solidFill>
                  <a:schemeClr val="tx1"/>
                </a:solidFill>
                <a:latin typeface="BIZ UDPゴシック" panose="020B0400000000000000" pitchFamily="50" charset="-128"/>
                <a:ea typeface="BIZ UDPゴシック" panose="020B0400000000000000" pitchFamily="50" charset="-128"/>
              </a:defRPr>
            </a:lvl1pPr>
          </a:lstStyle>
          <a:p>
            <a:fld id="{DCB5AA93-092B-49A1-87A7-3C88D5F38AD7}" type="slidenum">
              <a:rPr lang="ja-JP" altLang="en-US" smtClean="0"/>
              <a:pPr/>
              <a:t>‹#›</a:t>
            </a:fld>
            <a:endParaRPr lang="ja-JP" altLang="en-US" sz="900" dirty="0"/>
          </a:p>
        </p:txBody>
      </p:sp>
    </p:spTree>
    <p:extLst>
      <p:ext uri="{BB962C8B-B14F-4D97-AF65-F5344CB8AC3E}">
        <p14:creationId xmlns:p14="http://schemas.microsoft.com/office/powerpoint/2010/main" val="1990327497"/>
      </p:ext>
    </p:extLst>
  </p:cSld>
  <p:clrMap bg1="lt1" tx1="dk1" bg2="lt2" tx2="dk2" accent1="accent1" accent2="accent2" accent3="accent3" accent4="accent4" accent5="accent5" accent6="accent6" hlink="hlink" folHlink="folHlink"/>
  <p:sldLayoutIdLst>
    <p:sldLayoutId id="2147483649" r:id="rId1"/>
    <p:sldLayoutId id="2147483650" r:id="rId2"/>
  </p:sldLayoutIdLst>
  <p:hf hdr="0" dt="0"/>
  <p:txStyles>
    <p:titleStyle>
      <a:lvl1pPr algn="l" defTabSz="914373" rtl="0" eaLnBrk="1" latinLnBrk="0" hangingPunct="1">
        <a:lnSpc>
          <a:spcPct val="90000"/>
        </a:lnSpc>
        <a:spcBef>
          <a:spcPct val="0"/>
        </a:spcBef>
        <a:buNone/>
        <a:defRPr kumimoji="1" sz="4400" kern="1200">
          <a:solidFill>
            <a:schemeClr val="tx1"/>
          </a:solidFill>
          <a:latin typeface="BIZ UDPゴシック" panose="020B0400000000000000" pitchFamily="50" charset="-128"/>
          <a:ea typeface="BIZ UDPゴシック" panose="020B0400000000000000" pitchFamily="50" charset="-128"/>
          <a:cs typeface="+mj-cs"/>
        </a:defRPr>
      </a:lvl1pPr>
    </p:titleStyle>
    <p:bodyStyle>
      <a:lvl1pPr marL="228593" indent="-228593" algn="l" defTabSz="914373" rtl="0" eaLnBrk="1" latinLnBrk="0" hangingPunct="1">
        <a:lnSpc>
          <a:spcPct val="90000"/>
        </a:lnSpc>
        <a:spcBef>
          <a:spcPts val="1000"/>
        </a:spcBef>
        <a:buFont typeface="Arial" panose="020B0604020202020204" pitchFamily="34" charset="0"/>
        <a:buChar char="•"/>
        <a:defRPr kumimoji="1" sz="1800" kern="1200">
          <a:solidFill>
            <a:schemeClr val="tx1"/>
          </a:solidFill>
          <a:latin typeface="BIZ UDPゴシック" panose="020B0400000000000000" pitchFamily="50" charset="-128"/>
          <a:ea typeface="BIZ UDPゴシック" panose="020B0400000000000000" pitchFamily="50" charset="-128"/>
          <a:cs typeface="+mn-cs"/>
        </a:defRPr>
      </a:lvl1pPr>
      <a:lvl2pPr marL="685779" indent="-22859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1142966" indent="-22859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1600152" indent="-22859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2057338" indent="-22859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373" rtl="0" eaLnBrk="1" latinLnBrk="0" hangingPunct="1">
        <a:defRPr kumimoji="1" sz="1800" kern="1200">
          <a:solidFill>
            <a:schemeClr val="tx1"/>
          </a:solidFill>
          <a:latin typeface="+mn-lt"/>
          <a:ea typeface="+mn-ea"/>
          <a:cs typeface="+mn-cs"/>
        </a:defRPr>
      </a:lvl1pPr>
      <a:lvl2pPr marL="457186" algn="l" defTabSz="914373" rtl="0" eaLnBrk="1" latinLnBrk="0" hangingPunct="1">
        <a:defRPr kumimoji="1" sz="1800" kern="1200">
          <a:solidFill>
            <a:schemeClr val="tx1"/>
          </a:solidFill>
          <a:latin typeface="+mn-lt"/>
          <a:ea typeface="+mn-ea"/>
          <a:cs typeface="+mn-cs"/>
        </a:defRPr>
      </a:lvl2pPr>
      <a:lvl3pPr marL="914373" algn="l" defTabSz="914373" rtl="0" eaLnBrk="1" latinLnBrk="0" hangingPunct="1">
        <a:defRPr kumimoji="1" sz="1800" kern="1200">
          <a:solidFill>
            <a:schemeClr val="tx1"/>
          </a:solidFill>
          <a:latin typeface="+mn-lt"/>
          <a:ea typeface="+mn-ea"/>
          <a:cs typeface="+mn-cs"/>
        </a:defRPr>
      </a:lvl3pPr>
      <a:lvl4pPr marL="1371559" algn="l" defTabSz="914373" rtl="0" eaLnBrk="1" latinLnBrk="0" hangingPunct="1">
        <a:defRPr kumimoji="1" sz="1800" kern="1200">
          <a:solidFill>
            <a:schemeClr val="tx1"/>
          </a:solidFill>
          <a:latin typeface="+mn-lt"/>
          <a:ea typeface="+mn-ea"/>
          <a:cs typeface="+mn-cs"/>
        </a:defRPr>
      </a:lvl4pPr>
      <a:lvl5pPr marL="1828745" algn="l" defTabSz="914373" rtl="0" eaLnBrk="1" latinLnBrk="0" hangingPunct="1">
        <a:defRPr kumimoji="1" sz="1800" kern="1200">
          <a:solidFill>
            <a:schemeClr val="tx1"/>
          </a:solidFill>
          <a:latin typeface="+mn-lt"/>
          <a:ea typeface="+mn-ea"/>
          <a:cs typeface="+mn-cs"/>
        </a:defRPr>
      </a:lvl5pPr>
      <a:lvl6pPr marL="2285931" algn="l" defTabSz="914373" rtl="0" eaLnBrk="1" latinLnBrk="0" hangingPunct="1">
        <a:defRPr kumimoji="1" sz="1800" kern="1200">
          <a:solidFill>
            <a:schemeClr val="tx1"/>
          </a:solidFill>
          <a:latin typeface="+mn-lt"/>
          <a:ea typeface="+mn-ea"/>
          <a:cs typeface="+mn-cs"/>
        </a:defRPr>
      </a:lvl6pPr>
      <a:lvl7pPr marL="2743118" algn="l" defTabSz="914373" rtl="0" eaLnBrk="1" latinLnBrk="0" hangingPunct="1">
        <a:defRPr kumimoji="1" sz="1800" kern="1200">
          <a:solidFill>
            <a:schemeClr val="tx1"/>
          </a:solidFill>
          <a:latin typeface="+mn-lt"/>
          <a:ea typeface="+mn-ea"/>
          <a:cs typeface="+mn-cs"/>
        </a:defRPr>
      </a:lvl7pPr>
      <a:lvl8pPr marL="3200304" algn="l" defTabSz="914373" rtl="0" eaLnBrk="1" latinLnBrk="0" hangingPunct="1">
        <a:defRPr kumimoji="1" sz="1800" kern="1200">
          <a:solidFill>
            <a:schemeClr val="tx1"/>
          </a:solidFill>
          <a:latin typeface="+mn-lt"/>
          <a:ea typeface="+mn-ea"/>
          <a:cs typeface="+mn-cs"/>
        </a:defRPr>
      </a:lvl8pPr>
      <a:lvl9pPr marL="3657490" algn="l" defTabSz="914373"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svg"/><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913B9-3511-CCD7-B06D-B299B6C69D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6EFF9DB-832A-04AC-34B9-F161367B81D1}"/>
              </a:ext>
            </a:extLst>
          </p:cNvPr>
          <p:cNvSpPr>
            <a:spLocks noGrp="1"/>
          </p:cNvSpPr>
          <p:nvPr>
            <p:ph type="title"/>
          </p:nvPr>
        </p:nvSpPr>
        <p:spPr/>
        <p:txBody>
          <a:bodyPr/>
          <a:lstStyle/>
          <a:p>
            <a:r>
              <a:rPr lang="ja-JP" altLang="en-US" dirty="0"/>
              <a:t>第回 打合せ名</a:t>
            </a:r>
            <a:endParaRPr kumimoji="1" lang="ja-JP" altLang="en-US" dirty="0"/>
          </a:p>
        </p:txBody>
      </p:sp>
      <p:sp>
        <p:nvSpPr>
          <p:cNvPr id="3" name="フッター プレースホルダー 2">
            <a:extLst>
              <a:ext uri="{FF2B5EF4-FFF2-40B4-BE49-F238E27FC236}">
                <a16:creationId xmlns:a16="http://schemas.microsoft.com/office/drawing/2014/main" id="{4743E298-BCD4-57A1-4113-22850AC7D25F}"/>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90738A21-0286-075D-958A-F4FCEBFBE3CE}"/>
              </a:ext>
            </a:extLst>
          </p:cNvPr>
          <p:cNvSpPr>
            <a:spLocks noGrp="1"/>
          </p:cNvSpPr>
          <p:nvPr>
            <p:ph type="sldNum" sz="quarter" idx="12"/>
          </p:nvPr>
        </p:nvSpPr>
        <p:spPr/>
        <p:txBody>
          <a:bodyPr/>
          <a:lstStyle/>
          <a:p>
            <a:fld id="{DCB5AA93-092B-49A1-87A7-3C88D5F38AD7}" type="slidenum">
              <a:rPr lang="ja-JP" altLang="en-US" smtClean="0"/>
              <a:pPr/>
              <a:t>1</a:t>
            </a:fld>
            <a:endParaRPr lang="ja-JP" altLang="en-US" sz="900" dirty="0"/>
          </a:p>
        </p:txBody>
      </p:sp>
      <p:sp>
        <p:nvSpPr>
          <p:cNvPr id="5" name="テキスト プレースホルダー 4">
            <a:extLst>
              <a:ext uri="{FF2B5EF4-FFF2-40B4-BE49-F238E27FC236}">
                <a16:creationId xmlns:a16="http://schemas.microsoft.com/office/drawing/2014/main" id="{4736CB4E-D0C4-9DE0-B5C2-C86D745E0996}"/>
              </a:ext>
            </a:extLst>
          </p:cNvPr>
          <p:cNvSpPr>
            <a:spLocks noGrp="1"/>
          </p:cNvSpPr>
          <p:nvPr>
            <p:ph type="body" sz="quarter" idx="13"/>
          </p:nvPr>
        </p:nvSpPr>
        <p:spPr/>
        <p:txBody>
          <a:bodyPr/>
          <a:lstStyle/>
          <a:p>
            <a:endParaRPr kumimoji="1" lang="ja-JP" altLang="en-US"/>
          </a:p>
        </p:txBody>
      </p:sp>
      <p:sp>
        <p:nvSpPr>
          <p:cNvPr id="6" name="テキスト プレースホルダー 6">
            <a:extLst>
              <a:ext uri="{FF2B5EF4-FFF2-40B4-BE49-F238E27FC236}">
                <a16:creationId xmlns:a16="http://schemas.microsoft.com/office/drawing/2014/main" id="{EC81DB0E-57B0-1B5F-92D1-42CF2639DAF6}"/>
              </a:ext>
            </a:extLst>
          </p:cNvPr>
          <p:cNvSpPr txBox="1">
            <a:spLocks/>
          </p:cNvSpPr>
          <p:nvPr/>
        </p:nvSpPr>
        <p:spPr>
          <a:xfrm>
            <a:off x="334964" y="1268413"/>
            <a:ext cx="5581649" cy="5221287"/>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80000"/>
              </a:lnSpc>
              <a:buNone/>
            </a:pPr>
            <a:r>
              <a:rPr lang="ja-JP" altLang="en-US" sz="1200" b="1" u="sng" dirty="0">
                <a:solidFill>
                  <a:srgbClr val="0070C0"/>
                </a:solidFill>
              </a:rPr>
              <a:t>決定事項・</a:t>
            </a:r>
            <a:r>
              <a:rPr lang="en-US" altLang="ja-JP" sz="1200" b="1" u="sng" dirty="0">
                <a:solidFill>
                  <a:srgbClr val="0070C0"/>
                </a:solidFill>
              </a:rPr>
              <a:t>Todo</a:t>
            </a:r>
          </a:p>
          <a:p>
            <a:pPr marL="342900" indent="-342900">
              <a:lnSpc>
                <a:spcPct val="80000"/>
              </a:lnSpc>
              <a:buFont typeface="+mj-lt"/>
              <a:buAutoNum type="arabicPeriod"/>
            </a:pPr>
            <a:r>
              <a:rPr lang="en-US" altLang="ja-JP" sz="1200" dirty="0"/>
              <a:t>	(</a:t>
            </a:r>
            <a:r>
              <a:rPr lang="ja-JP" altLang="en-US" sz="1200" dirty="0"/>
              <a:t>、期日</a:t>
            </a:r>
            <a:r>
              <a:rPr lang="en-US" altLang="ja-JP" sz="1200" dirty="0"/>
              <a:t>: )</a:t>
            </a:r>
          </a:p>
          <a:p>
            <a:pPr marL="342900" indent="-342900">
              <a:lnSpc>
                <a:spcPct val="80000"/>
              </a:lnSpc>
              <a:buFont typeface="+mj-lt"/>
              <a:buAutoNum type="arabicPeriod"/>
            </a:pPr>
            <a:endParaRPr lang="en-US" altLang="ja-JP" sz="1200" dirty="0"/>
          </a:p>
          <a:p>
            <a:pPr marL="0" indent="0">
              <a:lnSpc>
                <a:spcPct val="80000"/>
              </a:lnSpc>
              <a:buNone/>
            </a:pPr>
            <a:r>
              <a:rPr lang="ja-JP" altLang="en-US" sz="1200" b="1" u="sng" dirty="0">
                <a:solidFill>
                  <a:srgbClr val="0070C0"/>
                </a:solidFill>
              </a:rPr>
              <a:t>概要</a:t>
            </a:r>
            <a:endParaRPr lang="en-US" altLang="ja-JP" sz="1200" b="1" dirty="0">
              <a:solidFill>
                <a:srgbClr val="0070C0"/>
              </a:solidFill>
            </a:endParaRPr>
          </a:p>
          <a:p>
            <a:pPr>
              <a:lnSpc>
                <a:spcPct val="80000"/>
              </a:lnSpc>
            </a:pPr>
            <a:r>
              <a:rPr lang="ja-JP" altLang="en-US" sz="1200" dirty="0"/>
              <a:t>日時：</a:t>
            </a:r>
            <a:r>
              <a:rPr lang="en-US" altLang="ja-JP" sz="1200" dirty="0"/>
              <a:t>2025//() :0 – :0</a:t>
            </a:r>
          </a:p>
          <a:p>
            <a:pPr>
              <a:lnSpc>
                <a:spcPct val="80000"/>
              </a:lnSpc>
            </a:pPr>
            <a:r>
              <a:rPr lang="ja-JP" altLang="en-US" sz="1200" dirty="0"/>
              <a:t>出席者 </a:t>
            </a:r>
            <a:r>
              <a:rPr lang="en-US" altLang="ja-JP" sz="1200" dirty="0"/>
              <a:t>(</a:t>
            </a:r>
            <a:r>
              <a:rPr lang="ja-JP" altLang="en-US" sz="1200" dirty="0"/>
              <a:t>敬称略</a:t>
            </a:r>
            <a:r>
              <a:rPr lang="en-US" altLang="ja-JP" sz="1200" dirty="0"/>
              <a:t>)</a:t>
            </a:r>
            <a:r>
              <a:rPr lang="ja-JP" altLang="en-US" sz="1200" dirty="0"/>
              <a:t>：</a:t>
            </a:r>
            <a:endParaRPr lang="en-US" altLang="ja-JP" sz="1200" dirty="0"/>
          </a:p>
          <a:p>
            <a:pPr lvl="1">
              <a:lnSpc>
                <a:spcPct val="80000"/>
              </a:lnSpc>
            </a:pPr>
            <a:r>
              <a:rPr lang="en-US" altLang="ja-JP" sz="1200" dirty="0"/>
              <a:t>A</a:t>
            </a:r>
            <a:r>
              <a:rPr lang="ja-JP" altLang="en-US" sz="1200" dirty="0"/>
              <a:t>社：</a:t>
            </a:r>
            <a:endParaRPr lang="en-US" altLang="ja-JP" sz="1200" dirty="0"/>
          </a:p>
          <a:p>
            <a:pPr lvl="1">
              <a:lnSpc>
                <a:spcPct val="80000"/>
              </a:lnSpc>
            </a:pPr>
            <a:r>
              <a:rPr lang="en-US" altLang="ja-JP" sz="1200" dirty="0"/>
              <a:t>B</a:t>
            </a:r>
            <a:r>
              <a:rPr lang="ja-JP" altLang="en-US" sz="1200" dirty="0"/>
              <a:t>社：</a:t>
            </a:r>
            <a:endParaRPr lang="en-US" altLang="ja-JP" sz="1200" dirty="0"/>
          </a:p>
          <a:p>
            <a:pPr>
              <a:lnSpc>
                <a:spcPct val="80000"/>
              </a:lnSpc>
            </a:pPr>
            <a:r>
              <a:rPr lang="ja-JP" altLang="en-US" sz="1200" dirty="0"/>
              <a:t>議題：</a:t>
            </a:r>
            <a:endParaRPr lang="en-US" altLang="ja-JP" sz="1200" dirty="0"/>
          </a:p>
          <a:p>
            <a:pPr lvl="1">
              <a:lnSpc>
                <a:spcPct val="80000"/>
              </a:lnSpc>
            </a:pPr>
            <a:r>
              <a:rPr lang="ja-JP" altLang="en-US" sz="1200" dirty="0"/>
              <a:t>前回までの対応状況</a:t>
            </a:r>
            <a:endParaRPr lang="en-US" altLang="ja-JP" sz="1200" dirty="0"/>
          </a:p>
          <a:p>
            <a:pPr lvl="1">
              <a:lnSpc>
                <a:spcPct val="80000"/>
              </a:lnSpc>
            </a:pPr>
            <a:r>
              <a:rPr lang="ja-JP" altLang="en-US" sz="1200" dirty="0"/>
              <a:t>情報共有アイテム</a:t>
            </a:r>
            <a:endParaRPr lang="en-US" altLang="ja-JP" sz="1200" dirty="0"/>
          </a:p>
          <a:p>
            <a:pPr>
              <a:lnSpc>
                <a:spcPct val="80000"/>
              </a:lnSpc>
            </a:pPr>
            <a:r>
              <a:rPr lang="ja-JP" altLang="en-US" sz="1200" dirty="0"/>
              <a:t>会議資料：</a:t>
            </a:r>
            <a:endParaRPr lang="en-US" altLang="ja-JP" sz="1200" dirty="0"/>
          </a:p>
          <a:p>
            <a:pPr lvl="1">
              <a:lnSpc>
                <a:spcPct val="80000"/>
              </a:lnSpc>
            </a:pPr>
            <a:r>
              <a:rPr lang="en-US" altLang="ja-JP" sz="1200" dirty="0"/>
              <a:t>20251002_</a:t>
            </a:r>
            <a:r>
              <a:rPr lang="ja-JP" altLang="en-US" sz="1200" dirty="0"/>
              <a:t>部内会議</a:t>
            </a:r>
            <a:r>
              <a:rPr lang="en-US" altLang="ja-JP" sz="1200" dirty="0"/>
              <a:t>.pptx</a:t>
            </a:r>
            <a:endParaRPr lang="en-US" altLang="ja-JP" sz="1200" u="sng" dirty="0">
              <a:solidFill>
                <a:schemeClr val="accent3"/>
              </a:solidFill>
            </a:endParaRPr>
          </a:p>
        </p:txBody>
      </p:sp>
      <p:sp>
        <p:nvSpPr>
          <p:cNvPr id="8" name="テキスト プレースホルダー 6">
            <a:extLst>
              <a:ext uri="{FF2B5EF4-FFF2-40B4-BE49-F238E27FC236}">
                <a16:creationId xmlns:a16="http://schemas.microsoft.com/office/drawing/2014/main" id="{DDCC053B-D168-C888-7000-E2E772C33131}"/>
              </a:ext>
            </a:extLst>
          </p:cNvPr>
          <p:cNvSpPr txBox="1">
            <a:spLocks/>
          </p:cNvSpPr>
          <p:nvPr/>
        </p:nvSpPr>
        <p:spPr>
          <a:xfrm>
            <a:off x="6275388" y="1268412"/>
            <a:ext cx="5581648" cy="5221287"/>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1200" b="1" u="sng" dirty="0">
                <a:solidFill>
                  <a:srgbClr val="0070C0"/>
                </a:solidFill>
              </a:rPr>
              <a:t>議事内容</a:t>
            </a:r>
            <a:endParaRPr lang="en-US" altLang="ja-JP" sz="1200" b="1" u="sng" dirty="0">
              <a:solidFill>
                <a:srgbClr val="0070C0"/>
              </a:solidFill>
            </a:endParaRPr>
          </a:p>
          <a:p>
            <a:pPr marL="0" indent="0">
              <a:buNone/>
            </a:pPr>
            <a:r>
              <a:rPr lang="ja-JP" altLang="en-US" sz="1200" b="1" dirty="0"/>
              <a:t>これまでの状況</a:t>
            </a:r>
            <a:endParaRPr lang="en-US" altLang="ja-JP" sz="1200" b="1" dirty="0"/>
          </a:p>
          <a:p>
            <a:r>
              <a:rPr lang="ja-JP" altLang="en-US" sz="1200" dirty="0"/>
              <a:t>第 </a:t>
            </a:r>
            <a:r>
              <a:rPr lang="en-US" altLang="ja-JP" sz="1200" dirty="0"/>
              <a:t>1 </a:t>
            </a:r>
            <a:r>
              <a:rPr lang="ja-JP" altLang="en-US" sz="1200" dirty="0"/>
              <a:t>レベル</a:t>
            </a:r>
            <a:endParaRPr lang="en-US" altLang="ja-JP" sz="1200" dirty="0"/>
          </a:p>
          <a:p>
            <a:pPr lvl="1"/>
            <a:r>
              <a:rPr lang="ja-JP" altLang="en-US" sz="1200" dirty="0"/>
              <a:t>第 </a:t>
            </a:r>
            <a:r>
              <a:rPr lang="en-US" altLang="ja-JP" sz="1200" dirty="0"/>
              <a:t>2 </a:t>
            </a:r>
            <a:r>
              <a:rPr lang="ja-JP" altLang="en-US" sz="1200" dirty="0"/>
              <a:t>レベル</a:t>
            </a:r>
            <a:endParaRPr lang="en-US" altLang="ja-JP" sz="1200" dirty="0"/>
          </a:p>
          <a:p>
            <a:pPr marL="0" indent="0">
              <a:buNone/>
            </a:pPr>
            <a:r>
              <a:rPr lang="ja-JP" altLang="en-US" sz="1200" b="1" dirty="0"/>
              <a:t>議題</a:t>
            </a:r>
            <a:r>
              <a:rPr lang="en-US" altLang="ja-JP" sz="1200" b="1" dirty="0"/>
              <a:t>1</a:t>
            </a:r>
          </a:p>
          <a:p>
            <a:r>
              <a:rPr lang="ja-JP" altLang="en-US" sz="1200" dirty="0"/>
              <a:t>第 </a:t>
            </a:r>
            <a:r>
              <a:rPr lang="en-US" altLang="ja-JP" sz="1200" dirty="0"/>
              <a:t>1 </a:t>
            </a:r>
            <a:r>
              <a:rPr lang="ja-JP" altLang="en-US" sz="1200" dirty="0"/>
              <a:t>レベル</a:t>
            </a:r>
            <a:endParaRPr lang="en-US" altLang="ja-JP" sz="1200" dirty="0"/>
          </a:p>
          <a:p>
            <a:pPr lvl="1"/>
            <a:r>
              <a:rPr lang="ja-JP" altLang="en-US" sz="1200" dirty="0"/>
              <a:t>第 </a:t>
            </a:r>
            <a:r>
              <a:rPr lang="en-US" altLang="ja-JP" sz="1200" dirty="0"/>
              <a:t>2 </a:t>
            </a:r>
            <a:r>
              <a:rPr lang="ja-JP" altLang="en-US" sz="1200" dirty="0"/>
              <a:t>レベル</a:t>
            </a:r>
            <a:endParaRPr lang="en-US" altLang="ja-JP" sz="1200" dirty="0"/>
          </a:p>
          <a:p>
            <a:pPr lvl="1"/>
            <a:endParaRPr lang="ja-JP" altLang="en-US" sz="1200" dirty="0"/>
          </a:p>
          <a:p>
            <a:pPr marL="0" indent="0">
              <a:buNone/>
            </a:pPr>
            <a:r>
              <a:rPr lang="ja-JP" altLang="en-US" sz="1200" b="1" dirty="0"/>
              <a:t>議題</a:t>
            </a:r>
            <a:r>
              <a:rPr lang="en-US" altLang="ja-JP" sz="1200" b="1" dirty="0"/>
              <a:t>2</a:t>
            </a:r>
          </a:p>
          <a:p>
            <a:pPr>
              <a:lnSpc>
                <a:spcPct val="80000"/>
              </a:lnSpc>
            </a:pPr>
            <a:r>
              <a:rPr lang="ja-JP" altLang="en-US" sz="1200" dirty="0"/>
              <a:t>第 </a:t>
            </a:r>
            <a:r>
              <a:rPr lang="en-US" altLang="ja-JP" sz="1200" dirty="0"/>
              <a:t>1 </a:t>
            </a:r>
            <a:r>
              <a:rPr lang="ja-JP" altLang="en-US" sz="1200" dirty="0"/>
              <a:t>レベル</a:t>
            </a:r>
            <a:endParaRPr lang="en-US" altLang="ja-JP" sz="1200" dirty="0"/>
          </a:p>
          <a:p>
            <a:pPr lvl="1"/>
            <a:r>
              <a:rPr lang="ja-JP" altLang="en-US" sz="1200" dirty="0"/>
              <a:t>第 </a:t>
            </a:r>
            <a:r>
              <a:rPr lang="en-US" altLang="ja-JP" sz="1200" dirty="0"/>
              <a:t>2 </a:t>
            </a:r>
            <a:r>
              <a:rPr lang="ja-JP" altLang="en-US" sz="1200" dirty="0"/>
              <a:t>レベル</a:t>
            </a:r>
          </a:p>
          <a:p>
            <a:pPr marL="0" indent="0">
              <a:buNone/>
            </a:pPr>
            <a:endParaRPr lang="ja-JP" altLang="en-US" sz="1200" dirty="0"/>
          </a:p>
          <a:p>
            <a:pPr lvl="1"/>
            <a:endParaRPr lang="ja-JP" altLang="en-US" sz="1200" dirty="0"/>
          </a:p>
          <a:p>
            <a:pPr lvl="1"/>
            <a:endParaRPr lang="ja-JP" altLang="en-US" sz="1200" dirty="0"/>
          </a:p>
        </p:txBody>
      </p:sp>
    </p:spTree>
    <p:extLst>
      <p:ext uri="{BB962C8B-B14F-4D97-AF65-F5344CB8AC3E}">
        <p14:creationId xmlns:p14="http://schemas.microsoft.com/office/powerpoint/2010/main" val="4083045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9BEF5C-6F1C-9884-3E29-1EF6450A5DC9}"/>
              </a:ext>
            </a:extLst>
          </p:cNvPr>
          <p:cNvSpPr>
            <a:spLocks noGrp="1"/>
          </p:cNvSpPr>
          <p:nvPr>
            <p:ph type="title"/>
          </p:nvPr>
        </p:nvSpPr>
        <p:spPr/>
        <p:txBody>
          <a:bodyPr/>
          <a:lstStyle/>
          <a:p>
            <a:r>
              <a:rPr lang="ja-JP" altLang="en-US" dirty="0"/>
              <a:t>第回 打合せ名</a:t>
            </a:r>
            <a:endParaRPr kumimoji="1" lang="ja-JP" altLang="en-US" dirty="0"/>
          </a:p>
        </p:txBody>
      </p:sp>
      <p:sp>
        <p:nvSpPr>
          <p:cNvPr id="3" name="フッター プレースホルダー 2">
            <a:extLst>
              <a:ext uri="{FF2B5EF4-FFF2-40B4-BE49-F238E27FC236}">
                <a16:creationId xmlns:a16="http://schemas.microsoft.com/office/drawing/2014/main" id="{0F3BAEE4-3A31-0978-D0A0-66E19DD6614A}"/>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72CBBA87-DBC3-9110-4DF5-71C9EFF6D547}"/>
              </a:ext>
            </a:extLst>
          </p:cNvPr>
          <p:cNvSpPr>
            <a:spLocks noGrp="1"/>
          </p:cNvSpPr>
          <p:nvPr>
            <p:ph type="sldNum" sz="quarter" idx="12"/>
          </p:nvPr>
        </p:nvSpPr>
        <p:spPr/>
        <p:txBody>
          <a:bodyPr/>
          <a:lstStyle/>
          <a:p>
            <a:fld id="{DCB5AA93-092B-49A1-87A7-3C88D5F38AD7}" type="slidenum">
              <a:rPr lang="ja-JP" altLang="en-US" smtClean="0"/>
              <a:pPr/>
              <a:t>2</a:t>
            </a:fld>
            <a:endParaRPr lang="ja-JP" altLang="en-US" sz="900" dirty="0"/>
          </a:p>
        </p:txBody>
      </p:sp>
      <p:sp>
        <p:nvSpPr>
          <p:cNvPr id="5" name="テキスト プレースホルダー 4">
            <a:extLst>
              <a:ext uri="{FF2B5EF4-FFF2-40B4-BE49-F238E27FC236}">
                <a16:creationId xmlns:a16="http://schemas.microsoft.com/office/drawing/2014/main" id="{D960195A-71E1-12E4-179A-1605DED1602B}"/>
              </a:ext>
            </a:extLst>
          </p:cNvPr>
          <p:cNvSpPr>
            <a:spLocks noGrp="1"/>
          </p:cNvSpPr>
          <p:nvPr>
            <p:ph type="body" sz="quarter" idx="13"/>
          </p:nvPr>
        </p:nvSpPr>
        <p:spPr/>
        <p:txBody>
          <a:bodyPr/>
          <a:lstStyle/>
          <a:p>
            <a:endParaRPr kumimoji="1" lang="ja-JP" altLang="en-US"/>
          </a:p>
        </p:txBody>
      </p:sp>
      <p:sp>
        <p:nvSpPr>
          <p:cNvPr id="6" name="テキスト プレースホルダー 6">
            <a:extLst>
              <a:ext uri="{FF2B5EF4-FFF2-40B4-BE49-F238E27FC236}">
                <a16:creationId xmlns:a16="http://schemas.microsoft.com/office/drawing/2014/main" id="{1CAF51F5-4EF3-5C1B-65AC-C77065ED58A6}"/>
              </a:ext>
            </a:extLst>
          </p:cNvPr>
          <p:cNvSpPr txBox="1">
            <a:spLocks/>
          </p:cNvSpPr>
          <p:nvPr/>
        </p:nvSpPr>
        <p:spPr>
          <a:xfrm>
            <a:off x="334964" y="1268413"/>
            <a:ext cx="11522074" cy="5221287"/>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lnSpc>
                <a:spcPct val="80000"/>
              </a:lnSpc>
              <a:buNone/>
            </a:pPr>
            <a:r>
              <a:rPr lang="ja-JP" altLang="en-US" sz="1200" b="1" u="sng" dirty="0">
                <a:solidFill>
                  <a:srgbClr val="0070C0"/>
                </a:solidFill>
              </a:rPr>
              <a:t>決定事項・</a:t>
            </a:r>
            <a:r>
              <a:rPr lang="en-US" altLang="ja-JP" sz="1200" b="1" u="sng" dirty="0">
                <a:solidFill>
                  <a:srgbClr val="0070C0"/>
                </a:solidFill>
              </a:rPr>
              <a:t>Todo</a:t>
            </a:r>
          </a:p>
          <a:p>
            <a:pPr marL="342900" indent="-342900">
              <a:lnSpc>
                <a:spcPct val="80000"/>
              </a:lnSpc>
              <a:buFont typeface="+mj-lt"/>
              <a:buAutoNum type="arabicPeriod"/>
            </a:pPr>
            <a:r>
              <a:rPr lang="en-US" altLang="ja-JP" sz="1200" dirty="0"/>
              <a:t>	(</a:t>
            </a:r>
            <a:r>
              <a:rPr lang="ja-JP" altLang="en-US" sz="1200" dirty="0"/>
              <a:t>、期日</a:t>
            </a:r>
            <a:r>
              <a:rPr lang="en-US" altLang="ja-JP" sz="1200" dirty="0"/>
              <a:t>: )</a:t>
            </a:r>
          </a:p>
          <a:p>
            <a:pPr marL="342900" indent="-342900">
              <a:lnSpc>
                <a:spcPct val="80000"/>
              </a:lnSpc>
              <a:buFont typeface="+mj-lt"/>
              <a:buAutoNum type="arabicPeriod"/>
            </a:pPr>
            <a:endParaRPr lang="en-US" altLang="ja-JP" sz="1200" dirty="0"/>
          </a:p>
          <a:p>
            <a:pPr marL="0" indent="0">
              <a:lnSpc>
                <a:spcPct val="80000"/>
              </a:lnSpc>
              <a:buNone/>
            </a:pPr>
            <a:r>
              <a:rPr lang="ja-JP" altLang="en-US" sz="1200" b="1" u="sng" dirty="0">
                <a:solidFill>
                  <a:srgbClr val="0070C0"/>
                </a:solidFill>
              </a:rPr>
              <a:t>議事内容</a:t>
            </a:r>
            <a:endParaRPr lang="en-US" altLang="ja-JP" sz="1200" b="1" u="sng" dirty="0">
              <a:solidFill>
                <a:srgbClr val="0070C0"/>
              </a:solidFill>
            </a:endParaRPr>
          </a:p>
          <a:p>
            <a:pPr marL="0" indent="0">
              <a:lnSpc>
                <a:spcPct val="80000"/>
              </a:lnSpc>
              <a:buNone/>
            </a:pPr>
            <a:r>
              <a:rPr lang="ja-JP" altLang="en-US" sz="1200" b="1" dirty="0"/>
              <a:t>これまでの状況</a:t>
            </a:r>
            <a:endParaRPr lang="en-US" altLang="ja-JP" sz="1200" b="1" dirty="0"/>
          </a:p>
          <a:p>
            <a:pPr>
              <a:lnSpc>
                <a:spcPct val="80000"/>
              </a:lnSpc>
            </a:pPr>
            <a:r>
              <a:rPr lang="ja-JP" altLang="en-US" sz="1200" dirty="0"/>
              <a:t>第 </a:t>
            </a:r>
            <a:r>
              <a:rPr lang="en-US" altLang="ja-JP" sz="1200" dirty="0"/>
              <a:t>1 </a:t>
            </a:r>
            <a:r>
              <a:rPr lang="ja-JP" altLang="en-US" sz="1200" dirty="0"/>
              <a:t>レベル</a:t>
            </a:r>
            <a:endParaRPr lang="en-US" altLang="ja-JP" sz="1200" dirty="0"/>
          </a:p>
          <a:p>
            <a:pPr lvl="1">
              <a:lnSpc>
                <a:spcPct val="80000"/>
              </a:lnSpc>
            </a:pPr>
            <a:r>
              <a:rPr lang="ja-JP" altLang="en-US" sz="1200" dirty="0"/>
              <a:t>第 </a:t>
            </a:r>
            <a:r>
              <a:rPr lang="en-US" altLang="ja-JP" sz="1200" dirty="0"/>
              <a:t>2 </a:t>
            </a:r>
            <a:r>
              <a:rPr lang="ja-JP" altLang="en-US" sz="1200" dirty="0"/>
              <a:t>レベル</a:t>
            </a:r>
            <a:endParaRPr lang="en-US" altLang="ja-JP" sz="1200" dirty="0"/>
          </a:p>
          <a:p>
            <a:pPr marL="0" indent="0">
              <a:lnSpc>
                <a:spcPct val="80000"/>
              </a:lnSpc>
              <a:buNone/>
            </a:pPr>
            <a:r>
              <a:rPr lang="ja-JP" altLang="en-US" sz="1200" b="1" dirty="0"/>
              <a:t>議題</a:t>
            </a:r>
            <a:r>
              <a:rPr lang="en-US" altLang="ja-JP" sz="1200" b="1" dirty="0"/>
              <a:t>1</a:t>
            </a:r>
          </a:p>
          <a:p>
            <a:pPr>
              <a:lnSpc>
                <a:spcPct val="80000"/>
              </a:lnSpc>
            </a:pPr>
            <a:r>
              <a:rPr lang="ja-JP" altLang="en-US" sz="1200" dirty="0"/>
              <a:t>第 </a:t>
            </a:r>
            <a:r>
              <a:rPr lang="en-US" altLang="ja-JP" sz="1200" dirty="0"/>
              <a:t>1 </a:t>
            </a:r>
            <a:r>
              <a:rPr lang="ja-JP" altLang="en-US" sz="1200" dirty="0"/>
              <a:t>レベル</a:t>
            </a:r>
            <a:endParaRPr lang="en-US" altLang="ja-JP" sz="1200" dirty="0"/>
          </a:p>
          <a:p>
            <a:pPr lvl="1">
              <a:lnSpc>
                <a:spcPct val="80000"/>
              </a:lnSpc>
            </a:pPr>
            <a:r>
              <a:rPr lang="ja-JP" altLang="en-US" sz="1200" dirty="0"/>
              <a:t>第 </a:t>
            </a:r>
            <a:r>
              <a:rPr lang="en-US" altLang="ja-JP" sz="1200" dirty="0"/>
              <a:t>2 </a:t>
            </a:r>
            <a:r>
              <a:rPr lang="ja-JP" altLang="en-US" sz="1200" dirty="0"/>
              <a:t>レベル</a:t>
            </a:r>
            <a:endParaRPr lang="en-US" altLang="ja-JP" sz="1200" dirty="0"/>
          </a:p>
          <a:p>
            <a:pPr lvl="1">
              <a:lnSpc>
                <a:spcPct val="80000"/>
              </a:lnSpc>
            </a:pPr>
            <a:endParaRPr lang="ja-JP" altLang="en-US" sz="1200" dirty="0"/>
          </a:p>
          <a:p>
            <a:pPr marL="0" indent="0">
              <a:lnSpc>
                <a:spcPct val="80000"/>
              </a:lnSpc>
              <a:buNone/>
            </a:pPr>
            <a:r>
              <a:rPr lang="ja-JP" altLang="en-US" sz="1200" b="1" dirty="0"/>
              <a:t>議題</a:t>
            </a:r>
            <a:r>
              <a:rPr lang="en-US" altLang="ja-JP" sz="1200" b="1" dirty="0"/>
              <a:t>2</a:t>
            </a:r>
          </a:p>
          <a:p>
            <a:pPr>
              <a:lnSpc>
                <a:spcPct val="80000"/>
              </a:lnSpc>
            </a:pPr>
            <a:r>
              <a:rPr lang="ja-JP" altLang="en-US" sz="1200" dirty="0"/>
              <a:t>第 </a:t>
            </a:r>
            <a:r>
              <a:rPr lang="en-US" altLang="ja-JP" sz="1200" dirty="0"/>
              <a:t>1 </a:t>
            </a:r>
            <a:r>
              <a:rPr lang="ja-JP" altLang="en-US" sz="1200" dirty="0"/>
              <a:t>レベル</a:t>
            </a:r>
            <a:endParaRPr lang="en-US" altLang="ja-JP" sz="1200" dirty="0"/>
          </a:p>
          <a:p>
            <a:pPr lvl="1">
              <a:lnSpc>
                <a:spcPct val="80000"/>
              </a:lnSpc>
            </a:pPr>
            <a:r>
              <a:rPr lang="ja-JP" altLang="en-US" sz="1200" dirty="0"/>
              <a:t>第 </a:t>
            </a:r>
            <a:r>
              <a:rPr lang="en-US" altLang="ja-JP" sz="1200" dirty="0"/>
              <a:t>2 </a:t>
            </a:r>
            <a:r>
              <a:rPr lang="ja-JP" altLang="en-US" sz="1200" dirty="0"/>
              <a:t>レベル</a:t>
            </a:r>
          </a:p>
          <a:p>
            <a:pPr marL="0" indent="0">
              <a:lnSpc>
                <a:spcPct val="80000"/>
              </a:lnSpc>
              <a:buNone/>
            </a:pPr>
            <a:endParaRPr lang="ja-JP" altLang="en-US" sz="1200" dirty="0"/>
          </a:p>
          <a:p>
            <a:pPr lvl="1">
              <a:lnSpc>
                <a:spcPct val="80000"/>
              </a:lnSpc>
            </a:pPr>
            <a:endParaRPr lang="ja-JP" altLang="en-US" sz="1200" dirty="0"/>
          </a:p>
          <a:p>
            <a:pPr lvl="1">
              <a:lnSpc>
                <a:spcPct val="80000"/>
              </a:lnSpc>
            </a:pPr>
            <a:endParaRPr lang="ja-JP" altLang="en-US" sz="1200" dirty="0"/>
          </a:p>
        </p:txBody>
      </p:sp>
      <p:sp>
        <p:nvSpPr>
          <p:cNvPr id="7" name="テキスト ボックス 6">
            <a:extLst>
              <a:ext uri="{FF2B5EF4-FFF2-40B4-BE49-F238E27FC236}">
                <a16:creationId xmlns:a16="http://schemas.microsoft.com/office/drawing/2014/main" id="{4E4B38DC-5881-C9B2-9A61-E04CE0240008}"/>
              </a:ext>
            </a:extLst>
          </p:cNvPr>
          <p:cNvSpPr txBox="1"/>
          <p:nvPr/>
        </p:nvSpPr>
        <p:spPr>
          <a:xfrm>
            <a:off x="7564584" y="1268413"/>
            <a:ext cx="4219431" cy="2160587"/>
          </a:xfrm>
          <a:prstGeom prst="rect">
            <a:avLst/>
          </a:prstGeom>
          <a:noFill/>
        </p:spPr>
        <p:txBody>
          <a:bodyPr wrap="square" lIns="0" tIns="0" rIns="0" bIns="0" rtlCol="0">
            <a:noAutofit/>
          </a:bodyPr>
          <a:lstStyle/>
          <a:p>
            <a:pPr>
              <a:lnSpc>
                <a:spcPct val="80000"/>
              </a:lnSpc>
            </a:pPr>
            <a:r>
              <a:rPr lang="ja-JP" altLang="en-US" sz="1200" b="1" u="sng" dirty="0">
                <a:solidFill>
                  <a:srgbClr val="0070C0"/>
                </a:solidFill>
              </a:rPr>
              <a:t>概要</a:t>
            </a:r>
            <a:endParaRPr lang="en-US" altLang="ja-JP" sz="1200" b="1" dirty="0">
              <a:solidFill>
                <a:srgbClr val="0070C0"/>
              </a:solidFill>
              <a:latin typeface="BIZ UDPゴシック" panose="020B0400000000000000" pitchFamily="50" charset="-128"/>
              <a:ea typeface="BIZ UDPゴシック" panose="020B0400000000000000" pitchFamily="50" charset="-128"/>
            </a:endParaRPr>
          </a:p>
          <a:p>
            <a:pPr marL="182563" indent="-182563">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日時：</a:t>
            </a:r>
            <a:r>
              <a:rPr lang="en-US" altLang="ja-JP" sz="1200" dirty="0">
                <a:latin typeface="BIZ UDPゴシック" panose="020B0400000000000000" pitchFamily="50" charset="-128"/>
                <a:ea typeface="BIZ UDPゴシック" panose="020B0400000000000000" pitchFamily="50" charset="-128"/>
              </a:rPr>
              <a:t>2025//() :0 – :0</a:t>
            </a:r>
          </a:p>
          <a:p>
            <a:pPr marL="182563" indent="-182563">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出席者 </a:t>
            </a:r>
            <a:r>
              <a:rPr lang="en-US" altLang="ja-JP" sz="1200" dirty="0">
                <a:latin typeface="BIZ UDPゴシック" panose="020B0400000000000000" pitchFamily="50" charset="-128"/>
                <a:ea typeface="BIZ UDPゴシック" panose="020B0400000000000000" pitchFamily="50" charset="-128"/>
              </a:rPr>
              <a:t>(</a:t>
            </a:r>
            <a:r>
              <a:rPr lang="ja-JP" altLang="en-US" sz="1200" dirty="0">
                <a:latin typeface="BIZ UDPゴシック" panose="020B0400000000000000" pitchFamily="50" charset="-128"/>
                <a:ea typeface="BIZ UDPゴシック" panose="020B0400000000000000" pitchFamily="50" charset="-128"/>
              </a:rPr>
              <a:t>敬称略</a:t>
            </a:r>
            <a:r>
              <a:rPr lang="en-US" altLang="ja-JP" sz="1200" dirty="0">
                <a:latin typeface="BIZ UDPゴシック" panose="020B0400000000000000" pitchFamily="50" charset="-128"/>
                <a:ea typeface="BIZ UDPゴシック" panose="020B0400000000000000" pitchFamily="50" charset="-128"/>
              </a:rPr>
              <a:t>)</a:t>
            </a:r>
            <a:r>
              <a:rPr lang="ja-JP" altLang="en-US" sz="1200" dirty="0">
                <a:latin typeface="BIZ UDPゴシック" panose="020B0400000000000000" pitchFamily="50" charset="-128"/>
                <a:ea typeface="BIZ UDPゴシック" panose="020B0400000000000000" pitchFamily="50" charset="-128"/>
              </a:rPr>
              <a:t>：</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A</a:t>
            </a:r>
            <a:r>
              <a:rPr lang="ja-JP" altLang="en-US" sz="1200" dirty="0">
                <a:latin typeface="BIZ UDPゴシック" panose="020B0400000000000000" pitchFamily="50" charset="-128"/>
                <a:ea typeface="BIZ UDPゴシック" panose="020B0400000000000000" pitchFamily="50" charset="-128"/>
              </a:rPr>
              <a:t>社：</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B</a:t>
            </a:r>
            <a:r>
              <a:rPr lang="ja-JP" altLang="en-US" sz="1200" dirty="0">
                <a:latin typeface="BIZ UDPゴシック" panose="020B0400000000000000" pitchFamily="50" charset="-128"/>
                <a:ea typeface="BIZ UDPゴシック" panose="020B0400000000000000" pitchFamily="50" charset="-128"/>
              </a:rPr>
              <a:t>社：</a:t>
            </a:r>
            <a:endParaRPr lang="en-US" altLang="ja-JP" sz="1200" dirty="0">
              <a:latin typeface="BIZ UDPゴシック" panose="020B0400000000000000" pitchFamily="50" charset="-128"/>
              <a:ea typeface="BIZ UDPゴシック" panose="020B0400000000000000" pitchFamily="50" charset="-128"/>
            </a:endParaRPr>
          </a:p>
          <a:p>
            <a:pPr marL="182563" indent="-182563">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議題：</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前回までの対応状況</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情報共有アイテム</a:t>
            </a:r>
            <a:endParaRPr lang="en-US" altLang="ja-JP" sz="1200" dirty="0">
              <a:latin typeface="BIZ UDPゴシック" panose="020B0400000000000000" pitchFamily="50" charset="-128"/>
              <a:ea typeface="BIZ UDPゴシック" panose="020B0400000000000000" pitchFamily="50" charset="-128"/>
            </a:endParaRPr>
          </a:p>
          <a:p>
            <a:pPr marL="182563" indent="-182563">
              <a:lnSpc>
                <a:spcPct val="8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会議資料：</a:t>
            </a:r>
            <a:endParaRPr lang="en-US" altLang="ja-JP" sz="1200" dirty="0">
              <a:latin typeface="BIZ UDPゴシック" panose="020B0400000000000000" pitchFamily="50" charset="-128"/>
              <a:ea typeface="BIZ UDPゴシック" panose="020B0400000000000000" pitchFamily="50" charset="-128"/>
            </a:endParaRPr>
          </a:p>
          <a:p>
            <a:pPr marL="357188" lvl="1" indent="-174625">
              <a:lnSpc>
                <a:spcPct val="80000"/>
              </a:lnSpc>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20251002_</a:t>
            </a:r>
            <a:r>
              <a:rPr lang="ja-JP" altLang="en-US" sz="1200" dirty="0">
                <a:latin typeface="BIZ UDPゴシック" panose="020B0400000000000000" pitchFamily="50" charset="-128"/>
                <a:ea typeface="BIZ UDPゴシック" panose="020B0400000000000000" pitchFamily="50" charset="-128"/>
              </a:rPr>
              <a:t>部内会議</a:t>
            </a:r>
            <a:r>
              <a:rPr lang="en-US" altLang="ja-JP" sz="1200" dirty="0">
                <a:latin typeface="BIZ UDPゴシック" panose="020B0400000000000000" pitchFamily="50" charset="-128"/>
                <a:ea typeface="BIZ UDPゴシック" panose="020B0400000000000000" pitchFamily="50" charset="-128"/>
              </a:rPr>
              <a:t>.pptx</a:t>
            </a:r>
          </a:p>
        </p:txBody>
      </p:sp>
    </p:spTree>
    <p:extLst>
      <p:ext uri="{BB962C8B-B14F-4D97-AF65-F5344CB8AC3E}">
        <p14:creationId xmlns:p14="http://schemas.microsoft.com/office/powerpoint/2010/main" val="24567369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6A1417E-A166-D08C-E0A1-6CB63C139886}"/>
              </a:ext>
            </a:extLst>
          </p:cNvPr>
          <p:cNvSpPr>
            <a:spLocks noGrp="1"/>
          </p:cNvSpPr>
          <p:nvPr>
            <p:ph type="title"/>
          </p:nvPr>
        </p:nvSpPr>
        <p:spPr/>
        <p:txBody>
          <a:bodyPr/>
          <a:lstStyle/>
          <a:p>
            <a:endParaRPr kumimoji="1" lang="ja-JP" altLang="en-US" dirty="0"/>
          </a:p>
        </p:txBody>
      </p:sp>
      <p:sp>
        <p:nvSpPr>
          <p:cNvPr id="3" name="フッター プレースホルダー 2">
            <a:extLst>
              <a:ext uri="{FF2B5EF4-FFF2-40B4-BE49-F238E27FC236}">
                <a16:creationId xmlns:a16="http://schemas.microsoft.com/office/drawing/2014/main" id="{2386BE66-DB9F-155A-7442-661281958ECC}"/>
              </a:ext>
            </a:extLst>
          </p:cNvPr>
          <p:cNvSpPr>
            <a:spLocks noGrp="1"/>
          </p:cNvSpPr>
          <p:nvPr>
            <p:ph type="ftr" sz="quarter" idx="11"/>
          </p:nvPr>
        </p:nvSpPr>
        <p:spPr/>
        <p:txBody>
          <a:bodyPr/>
          <a:lstStyle/>
          <a:p>
            <a:r>
              <a:rPr lang="ja-JP" altLang="en-US" dirty="0"/>
              <a:t>出所：</a:t>
            </a:r>
            <a:endParaRPr lang="ja-JP" altLang="en-US" sz="900" dirty="0"/>
          </a:p>
        </p:txBody>
      </p:sp>
      <p:sp>
        <p:nvSpPr>
          <p:cNvPr id="4" name="スライド番号プレースホルダー 3">
            <a:extLst>
              <a:ext uri="{FF2B5EF4-FFF2-40B4-BE49-F238E27FC236}">
                <a16:creationId xmlns:a16="http://schemas.microsoft.com/office/drawing/2014/main" id="{D1684845-1C62-8F51-8B23-6E4DBE57DE89}"/>
              </a:ext>
            </a:extLst>
          </p:cNvPr>
          <p:cNvSpPr>
            <a:spLocks noGrp="1"/>
          </p:cNvSpPr>
          <p:nvPr>
            <p:ph type="sldNum" sz="quarter" idx="12"/>
          </p:nvPr>
        </p:nvSpPr>
        <p:spPr/>
        <p:txBody>
          <a:bodyPr/>
          <a:lstStyle/>
          <a:p>
            <a:fld id="{DCB5AA93-092B-49A1-87A7-3C88D5F38AD7}" type="slidenum">
              <a:rPr lang="ja-JP" altLang="en-US" smtClean="0"/>
              <a:pPr/>
              <a:t>3</a:t>
            </a:fld>
            <a:endParaRPr lang="ja-JP" altLang="en-US" sz="900" dirty="0"/>
          </a:p>
        </p:txBody>
      </p:sp>
      <p:sp>
        <p:nvSpPr>
          <p:cNvPr id="5" name="テキスト プレースホルダー 4">
            <a:extLst>
              <a:ext uri="{FF2B5EF4-FFF2-40B4-BE49-F238E27FC236}">
                <a16:creationId xmlns:a16="http://schemas.microsoft.com/office/drawing/2014/main" id="{E262E75B-3FBB-0C32-A276-C0869DCA5F00}"/>
              </a:ext>
            </a:extLst>
          </p:cNvPr>
          <p:cNvSpPr>
            <a:spLocks noGrp="1"/>
          </p:cNvSpPr>
          <p:nvPr>
            <p:ph type="body" sz="quarter" idx="13"/>
          </p:nvPr>
        </p:nvSpPr>
        <p:spPr/>
        <p:txBody>
          <a:bodyPr/>
          <a:lstStyle/>
          <a:p>
            <a:endParaRPr kumimoji="1" lang="ja-JP" altLang="en-US"/>
          </a:p>
        </p:txBody>
      </p:sp>
      <p:cxnSp>
        <p:nvCxnSpPr>
          <p:cNvPr id="10" name="直線コネクタ 9">
            <a:extLst>
              <a:ext uri="{FF2B5EF4-FFF2-40B4-BE49-F238E27FC236}">
                <a16:creationId xmlns:a16="http://schemas.microsoft.com/office/drawing/2014/main" id="{3FFE75B0-B032-508C-0ED6-113EC4C8B6F7}"/>
              </a:ext>
            </a:extLst>
          </p:cNvPr>
          <p:cNvCxnSpPr>
            <a:cxnSpLocks/>
          </p:cNvCxnSpPr>
          <p:nvPr/>
        </p:nvCxnSpPr>
        <p:spPr>
          <a:xfrm flipV="1">
            <a:off x="6102000" y="1080000"/>
            <a:ext cx="0" cy="5400000"/>
          </a:xfrm>
          <a:prstGeom prst="line">
            <a:avLst/>
          </a:prstGeom>
          <a:ln>
            <a:solidFill>
              <a:schemeClr val="bg1">
                <a:lumMod val="75000"/>
              </a:schemeClr>
            </a:solidFill>
            <a:prstDash val="sysDot"/>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2" name="直線コネクタ 11">
            <a:extLst>
              <a:ext uri="{FF2B5EF4-FFF2-40B4-BE49-F238E27FC236}">
                <a16:creationId xmlns:a16="http://schemas.microsoft.com/office/drawing/2014/main" id="{12812D24-6860-E838-EAB3-B6FBB1E7548E}"/>
              </a:ext>
            </a:extLst>
          </p:cNvPr>
          <p:cNvCxnSpPr>
            <a:cxnSpLocks/>
          </p:cNvCxnSpPr>
          <p:nvPr/>
        </p:nvCxnSpPr>
        <p:spPr>
          <a:xfrm>
            <a:off x="360000" y="6152654"/>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3" name="直線コネクタ 12">
            <a:extLst>
              <a:ext uri="{FF2B5EF4-FFF2-40B4-BE49-F238E27FC236}">
                <a16:creationId xmlns:a16="http://schemas.microsoft.com/office/drawing/2014/main" id="{474B8A75-8551-2A2E-596F-5994CD6DA872}"/>
              </a:ext>
            </a:extLst>
          </p:cNvPr>
          <p:cNvCxnSpPr>
            <a:cxnSpLocks/>
          </p:cNvCxnSpPr>
          <p:nvPr/>
        </p:nvCxnSpPr>
        <p:spPr>
          <a:xfrm>
            <a:off x="360000" y="5956342"/>
            <a:ext cx="558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4" name="直線コネクタ 13">
            <a:extLst>
              <a:ext uri="{FF2B5EF4-FFF2-40B4-BE49-F238E27FC236}">
                <a16:creationId xmlns:a16="http://schemas.microsoft.com/office/drawing/2014/main" id="{968A651A-1F13-5863-0C61-73148BE7A138}"/>
              </a:ext>
            </a:extLst>
          </p:cNvPr>
          <p:cNvCxnSpPr>
            <a:cxnSpLocks/>
          </p:cNvCxnSpPr>
          <p:nvPr/>
        </p:nvCxnSpPr>
        <p:spPr>
          <a:xfrm>
            <a:off x="6300000" y="5956342"/>
            <a:ext cx="558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6" name="テキスト プレースホルダー 6">
            <a:extLst>
              <a:ext uri="{FF2B5EF4-FFF2-40B4-BE49-F238E27FC236}">
                <a16:creationId xmlns:a16="http://schemas.microsoft.com/office/drawing/2014/main" id="{2620FE88-F4AF-5493-1F7F-F503C56CE7CA}"/>
              </a:ext>
            </a:extLst>
          </p:cNvPr>
          <p:cNvSpPr txBox="1">
            <a:spLocks/>
          </p:cNvSpPr>
          <p:nvPr/>
        </p:nvSpPr>
        <p:spPr>
          <a:xfrm>
            <a:off x="9330772" y="3968755"/>
            <a:ext cx="2526266" cy="2348915"/>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55600" indent="-355600">
              <a:buFont typeface="Wingdings" panose="05000000000000000000" pitchFamily="2" charset="2"/>
              <a:buChar char="n"/>
            </a:pPr>
            <a:r>
              <a:rPr lang="ja-JP" altLang="en-US" dirty="0"/>
              <a:t>第 </a:t>
            </a:r>
            <a:r>
              <a:rPr lang="en-US" altLang="ja-JP" dirty="0"/>
              <a:t>1 </a:t>
            </a:r>
            <a:r>
              <a:rPr lang="ja-JP" altLang="en-US" dirty="0"/>
              <a:t>レベル</a:t>
            </a:r>
          </a:p>
          <a:p>
            <a:pPr marL="539750" lvl="1" indent="-184150"/>
            <a:r>
              <a:rPr lang="ja-JP" altLang="en-US" dirty="0"/>
              <a:t>第 </a:t>
            </a:r>
            <a:r>
              <a:rPr lang="en-US" altLang="ja-JP" dirty="0"/>
              <a:t>2 </a:t>
            </a:r>
            <a:r>
              <a:rPr lang="ja-JP" altLang="en-US" dirty="0"/>
              <a:t>レベル</a:t>
            </a:r>
            <a:endParaRPr lang="en-US" altLang="ja-JP" dirty="0"/>
          </a:p>
          <a:p>
            <a:pPr marL="355600" indent="-355600">
              <a:buFont typeface="Wingdings" panose="05000000000000000000" pitchFamily="2" charset="2"/>
              <a:buChar char="n"/>
            </a:pPr>
            <a:r>
              <a:rPr lang="ja-JP" altLang="en-US" dirty="0"/>
              <a:t>第 </a:t>
            </a:r>
            <a:r>
              <a:rPr lang="en-US" altLang="ja-JP" dirty="0"/>
              <a:t>1 </a:t>
            </a:r>
            <a:r>
              <a:rPr lang="ja-JP" altLang="en-US" dirty="0"/>
              <a:t>レベル</a:t>
            </a:r>
            <a:endParaRPr lang="en-US" altLang="ja-JP" dirty="0"/>
          </a:p>
          <a:p>
            <a:pPr marL="698500" lvl="1" indent="-342900">
              <a:buFont typeface="+mj-lt"/>
              <a:buAutoNum type="arabicPeriod"/>
            </a:pPr>
            <a:r>
              <a:rPr lang="ja-JP" altLang="en-US" dirty="0"/>
              <a:t>第 </a:t>
            </a:r>
            <a:r>
              <a:rPr lang="en-US" altLang="ja-JP" dirty="0"/>
              <a:t>2 </a:t>
            </a:r>
            <a:r>
              <a:rPr lang="ja-JP" altLang="en-US" dirty="0"/>
              <a:t>レベル</a:t>
            </a:r>
          </a:p>
          <a:p>
            <a:pPr marL="342900" indent="-342900">
              <a:buFont typeface="+mj-ea"/>
              <a:buAutoNum type="circleNumDbPlain"/>
            </a:pPr>
            <a:r>
              <a:rPr lang="ja-JP" altLang="en-US" dirty="0"/>
              <a:t>第 </a:t>
            </a:r>
            <a:r>
              <a:rPr lang="en-US" altLang="ja-JP" dirty="0"/>
              <a:t>1 </a:t>
            </a:r>
            <a:r>
              <a:rPr lang="ja-JP" altLang="en-US" dirty="0"/>
              <a:t>レベル</a:t>
            </a:r>
          </a:p>
          <a:p>
            <a:pPr marL="534988" lvl="1" indent="-177800"/>
            <a:r>
              <a:rPr lang="ja-JP" altLang="en-US" dirty="0"/>
              <a:t>第 </a:t>
            </a:r>
            <a:r>
              <a:rPr lang="en-US" altLang="ja-JP" dirty="0"/>
              <a:t>2 </a:t>
            </a:r>
            <a:r>
              <a:rPr lang="ja-JP" altLang="en-US" dirty="0"/>
              <a:t>レベル</a:t>
            </a:r>
            <a:endParaRPr lang="en-US" altLang="ja-JP" dirty="0"/>
          </a:p>
        </p:txBody>
      </p:sp>
      <p:sp>
        <p:nvSpPr>
          <p:cNvPr id="17" name="楕円 16">
            <a:extLst>
              <a:ext uri="{FF2B5EF4-FFF2-40B4-BE49-F238E27FC236}">
                <a16:creationId xmlns:a16="http://schemas.microsoft.com/office/drawing/2014/main" id="{DDB33E4E-F777-0B17-1B3C-4FAA762E049E}"/>
              </a:ext>
            </a:extLst>
          </p:cNvPr>
          <p:cNvSpPr/>
          <p:nvPr/>
        </p:nvSpPr>
        <p:spPr>
          <a:xfrm>
            <a:off x="7169379" y="1372272"/>
            <a:ext cx="379225" cy="37439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8" name="楕円 17">
            <a:extLst>
              <a:ext uri="{FF2B5EF4-FFF2-40B4-BE49-F238E27FC236}">
                <a16:creationId xmlns:a16="http://schemas.microsoft.com/office/drawing/2014/main" id="{C93D0913-3F7E-C9A8-5C4F-1A33C3C4C443}"/>
              </a:ext>
            </a:extLst>
          </p:cNvPr>
          <p:cNvSpPr/>
          <p:nvPr/>
        </p:nvSpPr>
        <p:spPr>
          <a:xfrm>
            <a:off x="7710604" y="1372272"/>
            <a:ext cx="379225" cy="37439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1400" dirty="0">
                <a:solidFill>
                  <a:schemeClr val="tx1"/>
                </a:solidFill>
                <a:latin typeface="BIZ UDPゴシック" panose="020B0400000000000000" pitchFamily="50" charset="-128"/>
                <a:ea typeface="BIZ UDPゴシック" panose="020B0400000000000000" pitchFamily="50" charset="-128"/>
              </a:rPr>
              <a:t>&gt;</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AFB513EB-193D-5924-04CF-C369E3A8F859}"/>
              </a:ext>
            </a:extLst>
          </p:cNvPr>
          <p:cNvSpPr/>
          <p:nvPr/>
        </p:nvSpPr>
        <p:spPr>
          <a:xfrm>
            <a:off x="8416382" y="1384733"/>
            <a:ext cx="914390" cy="339596"/>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0" name="楕円 19">
            <a:extLst>
              <a:ext uri="{FF2B5EF4-FFF2-40B4-BE49-F238E27FC236}">
                <a16:creationId xmlns:a16="http://schemas.microsoft.com/office/drawing/2014/main" id="{929423A3-C7AF-602D-2BCC-9E8418C25CEA}"/>
              </a:ext>
            </a:extLst>
          </p:cNvPr>
          <p:cNvSpPr/>
          <p:nvPr/>
        </p:nvSpPr>
        <p:spPr>
          <a:xfrm>
            <a:off x="9657325" y="1933121"/>
            <a:ext cx="914400" cy="416253"/>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1" name="四角形: 角を丸くする 20">
            <a:extLst>
              <a:ext uri="{FF2B5EF4-FFF2-40B4-BE49-F238E27FC236}">
                <a16:creationId xmlns:a16="http://schemas.microsoft.com/office/drawing/2014/main" id="{A0868F27-27C1-0847-40FA-934177D39158}"/>
              </a:ext>
            </a:extLst>
          </p:cNvPr>
          <p:cNvSpPr/>
          <p:nvPr/>
        </p:nvSpPr>
        <p:spPr>
          <a:xfrm>
            <a:off x="9692036" y="1384733"/>
            <a:ext cx="985509" cy="339596"/>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2" name="正方形/長方形 21">
            <a:extLst>
              <a:ext uri="{FF2B5EF4-FFF2-40B4-BE49-F238E27FC236}">
                <a16:creationId xmlns:a16="http://schemas.microsoft.com/office/drawing/2014/main" id="{27528943-562A-3105-D40B-60BFE661947C}"/>
              </a:ext>
            </a:extLst>
          </p:cNvPr>
          <p:cNvSpPr/>
          <p:nvPr/>
        </p:nvSpPr>
        <p:spPr>
          <a:xfrm>
            <a:off x="9657325" y="2610358"/>
            <a:ext cx="409903" cy="118362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b"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3" name="楕円 22">
            <a:extLst>
              <a:ext uri="{FF2B5EF4-FFF2-40B4-BE49-F238E27FC236}">
                <a16:creationId xmlns:a16="http://schemas.microsoft.com/office/drawing/2014/main" id="{789374DD-BF96-6C47-1565-CF1C2F2685D7}"/>
              </a:ext>
            </a:extLst>
          </p:cNvPr>
          <p:cNvSpPr/>
          <p:nvPr/>
        </p:nvSpPr>
        <p:spPr>
          <a:xfrm>
            <a:off x="7169379" y="1881918"/>
            <a:ext cx="379225" cy="374397"/>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4" name="楕円 23">
            <a:extLst>
              <a:ext uri="{FF2B5EF4-FFF2-40B4-BE49-F238E27FC236}">
                <a16:creationId xmlns:a16="http://schemas.microsoft.com/office/drawing/2014/main" id="{82C063C9-909F-DDBC-E9D1-F47F4EDD8572}"/>
              </a:ext>
            </a:extLst>
          </p:cNvPr>
          <p:cNvSpPr/>
          <p:nvPr/>
        </p:nvSpPr>
        <p:spPr>
          <a:xfrm>
            <a:off x="7710604" y="1881918"/>
            <a:ext cx="379225" cy="374397"/>
          </a:xfrm>
          <a:prstGeom prst="ellipse">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1400" dirty="0">
                <a:solidFill>
                  <a:schemeClr val="bg1"/>
                </a:solidFill>
                <a:latin typeface="BIZ UDPゴシック" panose="020B0400000000000000" pitchFamily="50" charset="-128"/>
                <a:ea typeface="BIZ UDPゴシック" panose="020B0400000000000000" pitchFamily="50" charset="-128"/>
              </a:rPr>
              <a:t>&gt;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39BD7909-EDE3-F153-6742-B8D13962500B}"/>
              </a:ext>
            </a:extLst>
          </p:cNvPr>
          <p:cNvSpPr/>
          <p:nvPr/>
        </p:nvSpPr>
        <p:spPr>
          <a:xfrm>
            <a:off x="8416382" y="1964899"/>
            <a:ext cx="914390" cy="339596"/>
          </a:xfrm>
          <a:prstGeom prst="rect">
            <a:avLst/>
          </a:prstGeom>
          <a:solidFill>
            <a:schemeClr val="bg1">
              <a:lumMod val="50000"/>
              <a:alpha val="94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bg1"/>
                </a:solidFill>
                <a:latin typeface="BIZ UDPゴシック" panose="020B0400000000000000" pitchFamily="50" charset="-128"/>
                <a:ea typeface="BIZ UDPゴシック" panose="020B0400000000000000" pitchFamily="50" charset="-128"/>
              </a:rPr>
              <a:t>フレーム</a:t>
            </a:r>
          </a:p>
        </p:txBody>
      </p:sp>
      <p:sp>
        <p:nvSpPr>
          <p:cNvPr id="26" name="正方形/長方形 25">
            <a:extLst>
              <a:ext uri="{FF2B5EF4-FFF2-40B4-BE49-F238E27FC236}">
                <a16:creationId xmlns:a16="http://schemas.microsoft.com/office/drawing/2014/main" id="{7F8E539A-AFAC-A786-3071-C1E9EDFFAA2D}"/>
              </a:ext>
            </a:extLst>
          </p:cNvPr>
          <p:cNvSpPr/>
          <p:nvPr/>
        </p:nvSpPr>
        <p:spPr>
          <a:xfrm>
            <a:off x="8440742" y="2610358"/>
            <a:ext cx="409903" cy="1183620"/>
          </a:xfrm>
          <a:prstGeom prst="rect">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b" anchorCtr="0"/>
          <a:lstStyle/>
          <a:p>
            <a:r>
              <a:rPr kumimoji="1" lang="ja-JP" altLang="en-US" sz="1400" dirty="0">
                <a:solidFill>
                  <a:schemeClr val="bg1"/>
                </a:solidFill>
                <a:latin typeface="BIZ UDPゴシック" panose="020B0400000000000000" pitchFamily="50" charset="-128"/>
                <a:ea typeface="BIZ UDPゴシック" panose="020B0400000000000000" pitchFamily="50" charset="-128"/>
              </a:rPr>
              <a:t>フレーム</a:t>
            </a:r>
          </a:p>
        </p:txBody>
      </p:sp>
      <p:sp>
        <p:nvSpPr>
          <p:cNvPr id="27" name="正方形/長方形 26">
            <a:extLst>
              <a:ext uri="{FF2B5EF4-FFF2-40B4-BE49-F238E27FC236}">
                <a16:creationId xmlns:a16="http://schemas.microsoft.com/office/drawing/2014/main" id="{EAAB97CD-EE4F-3829-F89D-C9A5DE8349E4}"/>
              </a:ext>
            </a:extLst>
          </p:cNvPr>
          <p:cNvSpPr/>
          <p:nvPr/>
        </p:nvSpPr>
        <p:spPr>
          <a:xfrm>
            <a:off x="10942647" y="1384733"/>
            <a:ext cx="914390" cy="339596"/>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8" name="正方形/長方形 27">
            <a:extLst>
              <a:ext uri="{FF2B5EF4-FFF2-40B4-BE49-F238E27FC236}">
                <a16:creationId xmlns:a16="http://schemas.microsoft.com/office/drawing/2014/main" id="{063F3919-C693-156B-088C-9C668A6F02A9}"/>
              </a:ext>
            </a:extLst>
          </p:cNvPr>
          <p:cNvSpPr/>
          <p:nvPr/>
        </p:nvSpPr>
        <p:spPr>
          <a:xfrm>
            <a:off x="10942647" y="1964899"/>
            <a:ext cx="914390" cy="33959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solidFill>
                <a:latin typeface="BIZ UDPゴシック" panose="020B0400000000000000" pitchFamily="50" charset="-128"/>
                <a:ea typeface="BIZ UDPゴシック" panose="020B0400000000000000" pitchFamily="50" charset="-128"/>
              </a:rPr>
              <a:t>フレーム</a:t>
            </a:r>
          </a:p>
        </p:txBody>
      </p:sp>
      <p:sp>
        <p:nvSpPr>
          <p:cNvPr id="29" name="正方形/長方形 28">
            <a:extLst>
              <a:ext uri="{FF2B5EF4-FFF2-40B4-BE49-F238E27FC236}">
                <a16:creationId xmlns:a16="http://schemas.microsoft.com/office/drawing/2014/main" id="{03332644-4223-DA1E-38DA-572D07766F75}"/>
              </a:ext>
            </a:extLst>
          </p:cNvPr>
          <p:cNvSpPr/>
          <p:nvPr/>
        </p:nvSpPr>
        <p:spPr>
          <a:xfrm>
            <a:off x="10942647" y="2545066"/>
            <a:ext cx="914390" cy="339596"/>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bg1"/>
                </a:solidFill>
                <a:latin typeface="BIZ UDPゴシック" panose="020B0400000000000000" pitchFamily="50" charset="-128"/>
                <a:ea typeface="BIZ UDPゴシック" panose="020B0400000000000000" pitchFamily="50" charset="-128"/>
              </a:rPr>
              <a:t>フレーム</a:t>
            </a:r>
          </a:p>
        </p:txBody>
      </p:sp>
      <p:sp>
        <p:nvSpPr>
          <p:cNvPr id="38" name="テキスト プレースホルダー 6">
            <a:extLst>
              <a:ext uri="{FF2B5EF4-FFF2-40B4-BE49-F238E27FC236}">
                <a16:creationId xmlns:a16="http://schemas.microsoft.com/office/drawing/2014/main" id="{D8892324-41C2-5F22-DD2E-6993F2DABA67}"/>
              </a:ext>
            </a:extLst>
          </p:cNvPr>
          <p:cNvSpPr txBox="1">
            <a:spLocks/>
          </p:cNvSpPr>
          <p:nvPr/>
        </p:nvSpPr>
        <p:spPr>
          <a:xfrm>
            <a:off x="6275388" y="3968756"/>
            <a:ext cx="3055383" cy="2348914"/>
          </a:xfrm>
          <a:prstGeom prst="rect">
            <a:avLst/>
          </a:prstGeom>
        </p:spPr>
        <p:txBody>
          <a:bodyPr lIns="0" tIns="0" rIns="0" bIns="0"/>
          <a:lstStyle>
            <a:lvl1pPr marL="182563" indent="-182563" algn="l" defTabSz="914373" rtl="0" eaLnBrk="1" latinLnBrk="0" hangingPunct="1">
              <a:lnSpc>
                <a:spcPct val="90000"/>
              </a:lnSpc>
              <a:spcBef>
                <a:spcPts val="10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1pPr>
            <a:lvl2pPr marL="357188"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2pPr>
            <a:lvl3pPr marL="539750" indent="-182563"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3pPr>
            <a:lvl4pPr marL="714375" indent="-174625"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4pPr>
            <a:lvl5pPr marL="898525" indent="-184150" algn="l" defTabSz="914373" rtl="0" eaLnBrk="1" latinLnBrk="0" hangingPunct="1">
              <a:lnSpc>
                <a:spcPct val="90000"/>
              </a:lnSpc>
              <a:spcBef>
                <a:spcPts val="500"/>
              </a:spcBef>
              <a:buFont typeface="Arial" panose="020B0604020202020204" pitchFamily="34" charset="0"/>
              <a:buChar char="•"/>
              <a:defRPr kumimoji="1" sz="1400" kern="1200">
                <a:solidFill>
                  <a:schemeClr val="tx1"/>
                </a:solidFill>
                <a:latin typeface="BIZ UDPゴシック" panose="020B0400000000000000" pitchFamily="50" charset="-128"/>
                <a:ea typeface="BIZ UDPゴシック" panose="020B0400000000000000" pitchFamily="50" charset="-128"/>
                <a:cs typeface="+mn-cs"/>
              </a:defRPr>
            </a:lvl5pPr>
            <a:lvl6pPr marL="2514525"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711"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897"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083" indent="-228593" algn="l" defTabSz="914373"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dirty="0"/>
              <a:t>第 </a:t>
            </a:r>
            <a:r>
              <a:rPr lang="en-US" altLang="ja-JP" dirty="0"/>
              <a:t>1 </a:t>
            </a:r>
            <a:r>
              <a:rPr lang="ja-JP" altLang="en-US" dirty="0"/>
              <a:t>レベル</a:t>
            </a:r>
          </a:p>
          <a:p>
            <a:pPr lvl="1"/>
            <a:r>
              <a:rPr lang="ja-JP" altLang="en-US" dirty="0"/>
              <a:t>第 </a:t>
            </a:r>
            <a:r>
              <a:rPr lang="en-US" altLang="ja-JP" dirty="0"/>
              <a:t>2 </a:t>
            </a:r>
            <a:r>
              <a:rPr lang="ja-JP" altLang="en-US" dirty="0"/>
              <a:t>レベル</a:t>
            </a:r>
          </a:p>
          <a:p>
            <a:pPr lvl="1"/>
            <a:endParaRPr lang="ja-JP" altLang="en-US" dirty="0"/>
          </a:p>
        </p:txBody>
      </p:sp>
      <p:sp>
        <p:nvSpPr>
          <p:cNvPr id="41" name="矢印: 五方向 40">
            <a:extLst>
              <a:ext uri="{FF2B5EF4-FFF2-40B4-BE49-F238E27FC236}">
                <a16:creationId xmlns:a16="http://schemas.microsoft.com/office/drawing/2014/main" id="{7BBC296A-7C14-1791-C882-0B7AA4F66AFE}"/>
              </a:ext>
            </a:extLst>
          </p:cNvPr>
          <p:cNvSpPr/>
          <p:nvPr/>
        </p:nvSpPr>
        <p:spPr>
          <a:xfrm>
            <a:off x="7169914" y="2431093"/>
            <a:ext cx="1081380" cy="484632"/>
          </a:xfrm>
          <a:prstGeom prst="homePlat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1</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42" name="矢印: 五方向 41">
            <a:extLst>
              <a:ext uri="{FF2B5EF4-FFF2-40B4-BE49-F238E27FC236}">
                <a16:creationId xmlns:a16="http://schemas.microsoft.com/office/drawing/2014/main" id="{E0852639-EE93-34F3-03BF-8606F0097F49}"/>
              </a:ext>
            </a:extLst>
          </p:cNvPr>
          <p:cNvSpPr/>
          <p:nvPr/>
        </p:nvSpPr>
        <p:spPr>
          <a:xfrm rot="5400000">
            <a:off x="7371174" y="2858536"/>
            <a:ext cx="618974" cy="1022565"/>
          </a:xfrm>
          <a:prstGeom prst="homePlat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1</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3909C8BD-189A-AC52-1270-86B165D76248}"/>
              </a:ext>
            </a:extLst>
          </p:cNvPr>
          <p:cNvSpPr/>
          <p:nvPr/>
        </p:nvSpPr>
        <p:spPr>
          <a:xfrm>
            <a:off x="10942647" y="3077222"/>
            <a:ext cx="914390" cy="339596"/>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bg1"/>
                </a:solidFill>
                <a:latin typeface="BIZ UDPゴシック" panose="020B0400000000000000" pitchFamily="50" charset="-128"/>
                <a:ea typeface="BIZ UDPゴシック" panose="020B0400000000000000" pitchFamily="50" charset="-128"/>
              </a:rPr>
              <a:t>フレーム</a:t>
            </a:r>
          </a:p>
        </p:txBody>
      </p:sp>
    </p:spTree>
    <p:extLst>
      <p:ext uri="{BB962C8B-B14F-4D97-AF65-F5344CB8AC3E}">
        <p14:creationId xmlns:p14="http://schemas.microsoft.com/office/powerpoint/2010/main" val="12437864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72A058-9ECA-2C84-8354-BB26156F875A}"/>
              </a:ext>
            </a:extLst>
          </p:cNvPr>
          <p:cNvSpPr>
            <a:spLocks noGrp="1"/>
          </p:cNvSpPr>
          <p:nvPr>
            <p:ph type="title"/>
          </p:nvPr>
        </p:nvSpPr>
        <p:spPr/>
        <p:txBody>
          <a:bodyPr/>
          <a:lstStyle/>
          <a:p>
            <a:r>
              <a:rPr lang="ja-JP" altLang="en-US" dirty="0"/>
              <a:t>概要・目次・結論</a:t>
            </a:r>
            <a:endParaRPr kumimoji="1" lang="ja-JP" altLang="en-US" dirty="0"/>
          </a:p>
        </p:txBody>
      </p:sp>
      <p:sp>
        <p:nvSpPr>
          <p:cNvPr id="3" name="フッター プレースホルダー 2">
            <a:extLst>
              <a:ext uri="{FF2B5EF4-FFF2-40B4-BE49-F238E27FC236}">
                <a16:creationId xmlns:a16="http://schemas.microsoft.com/office/drawing/2014/main" id="{29A3A5E2-1856-016A-A039-C74BCAD10E7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17027E75-3B6C-4E45-330C-32C153CC092A}"/>
              </a:ext>
            </a:extLst>
          </p:cNvPr>
          <p:cNvSpPr>
            <a:spLocks noGrp="1"/>
          </p:cNvSpPr>
          <p:nvPr>
            <p:ph type="sldNum" sz="quarter" idx="12"/>
          </p:nvPr>
        </p:nvSpPr>
        <p:spPr/>
        <p:txBody>
          <a:bodyPr/>
          <a:lstStyle/>
          <a:p>
            <a:fld id="{DCB5AA93-092B-49A1-87A7-3C88D5F38AD7}" type="slidenum">
              <a:rPr lang="ja-JP" altLang="en-US" smtClean="0"/>
              <a:pPr/>
              <a:t>4</a:t>
            </a:fld>
            <a:endParaRPr lang="ja-JP" altLang="en-US" sz="900" dirty="0"/>
          </a:p>
        </p:txBody>
      </p:sp>
      <p:sp>
        <p:nvSpPr>
          <p:cNvPr id="5" name="テキスト プレースホルダー 4">
            <a:extLst>
              <a:ext uri="{FF2B5EF4-FFF2-40B4-BE49-F238E27FC236}">
                <a16:creationId xmlns:a16="http://schemas.microsoft.com/office/drawing/2014/main" id="{C8657A0C-3412-DB0B-B8F6-D228A145673F}"/>
              </a:ext>
            </a:extLst>
          </p:cNvPr>
          <p:cNvSpPr>
            <a:spLocks noGrp="1"/>
          </p:cNvSpPr>
          <p:nvPr>
            <p:ph type="body"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D8394552-BB6C-A90B-276A-456FECCEC6FE}"/>
              </a:ext>
            </a:extLst>
          </p:cNvPr>
          <p:cNvSpPr txBox="1"/>
          <p:nvPr/>
        </p:nvSpPr>
        <p:spPr>
          <a:xfrm>
            <a:off x="334964" y="1268412"/>
            <a:ext cx="2719964" cy="2520951"/>
          </a:xfrm>
          <a:prstGeom prst="rect">
            <a:avLst/>
          </a:prstGeom>
          <a:noFill/>
        </p:spPr>
        <p:txBody>
          <a:bodyPr wrap="square" lIns="0" tIns="0" rIns="0" bIns="0" rtlCol="0" anchor="t" anchorCtr="0">
            <a:noAutofit/>
          </a:bodyPr>
          <a:lstStyle/>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過去</a:t>
            </a:r>
            <a:r>
              <a:rPr kumimoji="1" lang="en-US" altLang="ja-JP" dirty="0">
                <a:latin typeface="BIZ UDPゴシック" panose="020B0400000000000000" pitchFamily="50" charset="-128"/>
                <a:ea typeface="BIZ UDPゴシック" panose="020B0400000000000000" pitchFamily="50" charset="-128"/>
              </a:rPr>
              <a:t>1</a:t>
            </a: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過去</a:t>
            </a:r>
            <a:r>
              <a:rPr lang="en-US" altLang="ja-JP" dirty="0">
                <a:latin typeface="BIZ UDPゴシック" panose="020B0400000000000000" pitchFamily="50" charset="-128"/>
                <a:ea typeface="BIZ UDPゴシック" panose="020B0400000000000000" pitchFamily="50" charset="-128"/>
              </a:rPr>
              <a:t>2</a:t>
            </a: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未来</a:t>
            </a:r>
            <a:r>
              <a:rPr lang="en-US" altLang="ja-JP" dirty="0">
                <a:latin typeface="BIZ UDPゴシック" panose="020B0400000000000000" pitchFamily="50" charset="-128"/>
                <a:ea typeface="BIZ UDPゴシック" panose="020B0400000000000000" pitchFamily="50" charset="-128"/>
              </a:rPr>
              <a:t>1</a:t>
            </a:r>
          </a:p>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未来</a:t>
            </a:r>
            <a:r>
              <a:rPr kumimoji="1" lang="en-US" altLang="ja-JP" dirty="0">
                <a:latin typeface="BIZ UDPゴシック" panose="020B0400000000000000" pitchFamily="50" charset="-128"/>
                <a:ea typeface="BIZ UDPゴシック" panose="020B0400000000000000" pitchFamily="50" charset="-128"/>
              </a:rPr>
              <a:t>2</a:t>
            </a:r>
            <a:endParaRPr kumimoji="1" lang="ja-JP" altLang="en-US" dirty="0">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FAE4E57D-CD2E-F324-AEA1-320EBC987309}"/>
              </a:ext>
            </a:extLst>
          </p:cNvPr>
          <p:cNvSpPr txBox="1"/>
          <p:nvPr/>
        </p:nvSpPr>
        <p:spPr>
          <a:xfrm>
            <a:off x="4291446" y="1268412"/>
            <a:ext cx="3990110" cy="2520951"/>
          </a:xfrm>
          <a:prstGeom prst="rect">
            <a:avLst/>
          </a:prstGeom>
          <a:noFill/>
        </p:spPr>
        <p:txBody>
          <a:bodyPr wrap="square" lIns="0" tIns="0" rIns="0" bIns="0" rtlCol="0" anchor="t" anchorCtr="0">
            <a:noAutofit/>
          </a:bodyPr>
          <a:lstStyle/>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背景と目的</a:t>
            </a:r>
            <a:r>
              <a:rPr kumimoji="1" lang="en-US" altLang="ja-JP" dirty="0">
                <a:latin typeface="BIZ UDPゴシック" panose="020B0400000000000000" pitchFamily="50" charset="-128"/>
                <a:ea typeface="BIZ UDPゴシック" panose="020B0400000000000000" pitchFamily="50" charset="-128"/>
              </a:rPr>
              <a:t>	</a:t>
            </a:r>
            <a:r>
              <a:rPr kumimoji="1" lang="ja-JP" altLang="en-US" dirty="0">
                <a:latin typeface="BIZ UDPゴシック" panose="020B0400000000000000" pitchFamily="50" charset="-128"/>
                <a:ea typeface="BIZ UDPゴシック" panose="020B0400000000000000" pitchFamily="50" charset="-128"/>
              </a:rPr>
              <a:t>推移</a:t>
            </a:r>
            <a:endParaRPr kumimoji="1" lang="en-US" altLang="ja-JP" dirty="0">
              <a:latin typeface="BIZ UDPゴシック" panose="020B0400000000000000" pitchFamily="50" charset="-128"/>
              <a:ea typeface="BIZ UDPゴシック" panose="020B0400000000000000" pitchFamily="50" charset="-128"/>
            </a:endParaRP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課題</a:t>
            </a:r>
            <a:r>
              <a:rPr lang="en-US" altLang="ja-JP" dirty="0">
                <a:latin typeface="BIZ UDPゴシック" panose="020B0400000000000000" pitchFamily="50" charset="-128"/>
                <a:ea typeface="BIZ UDPゴシック" panose="020B0400000000000000" pitchFamily="50" charset="-128"/>
              </a:rPr>
              <a:t>		</a:t>
            </a:r>
            <a:r>
              <a:rPr lang="ja-JP" altLang="en-US" dirty="0">
                <a:latin typeface="BIZ UDPゴシック" panose="020B0400000000000000" pitchFamily="50" charset="-128"/>
                <a:ea typeface="BIZ UDPゴシック" panose="020B0400000000000000" pitchFamily="50" charset="-128"/>
              </a:rPr>
              <a:t>減少の要因</a:t>
            </a:r>
            <a:endParaRPr lang="en-US" altLang="ja-JP" dirty="0">
              <a:latin typeface="BIZ UDPゴシック" panose="020B0400000000000000" pitchFamily="50" charset="-128"/>
              <a:ea typeface="BIZ UDPゴシック" panose="020B0400000000000000" pitchFamily="50" charset="-128"/>
            </a:endParaRP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解決案</a:t>
            </a:r>
            <a:r>
              <a:rPr lang="en-US" altLang="ja-JP" dirty="0">
                <a:latin typeface="BIZ UDPゴシック" panose="020B0400000000000000" pitchFamily="50" charset="-128"/>
                <a:ea typeface="BIZ UDPゴシック" panose="020B0400000000000000" pitchFamily="50" charset="-128"/>
              </a:rPr>
              <a:t>	</a:t>
            </a:r>
            <a:r>
              <a:rPr lang="ja-JP" altLang="en-US" dirty="0">
                <a:latin typeface="BIZ UDPゴシック" panose="020B0400000000000000" pitchFamily="50" charset="-128"/>
                <a:ea typeface="BIZ UDPゴシック" panose="020B0400000000000000" pitchFamily="50" charset="-128"/>
              </a:rPr>
              <a:t>プロモーション</a:t>
            </a:r>
            <a:endParaRPr lang="en-US" altLang="ja-JP" dirty="0">
              <a:latin typeface="BIZ UDPゴシック" panose="020B0400000000000000" pitchFamily="50" charset="-128"/>
              <a:ea typeface="BIZ UDPゴシック" panose="020B0400000000000000" pitchFamily="50" charset="-128"/>
            </a:endParaRP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効果</a:t>
            </a:r>
            <a:r>
              <a:rPr lang="en-US" altLang="ja-JP" dirty="0">
                <a:latin typeface="BIZ UDPゴシック" panose="020B0400000000000000" pitchFamily="50" charset="-128"/>
                <a:ea typeface="BIZ UDPゴシック" panose="020B0400000000000000" pitchFamily="50" charset="-128"/>
              </a:rPr>
              <a:t>		</a:t>
            </a:r>
            <a:r>
              <a:rPr lang="ja-JP" altLang="en-US" dirty="0">
                <a:latin typeface="BIZ UDPゴシック" panose="020B0400000000000000" pitchFamily="50" charset="-128"/>
                <a:ea typeface="BIZ UDPゴシック" panose="020B0400000000000000" pitchFamily="50" charset="-128"/>
              </a:rPr>
              <a:t>影響分析</a:t>
            </a:r>
            <a:endParaRPr lang="en-US" altLang="ja-JP" dirty="0">
              <a:latin typeface="BIZ UDPゴシック" panose="020B0400000000000000" pitchFamily="50" charset="-128"/>
              <a:ea typeface="BIZ UDPゴシック" panose="020B0400000000000000" pitchFamily="50" charset="-128"/>
            </a:endParaRPr>
          </a:p>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結論</a:t>
            </a:r>
            <a:r>
              <a:rPr kumimoji="1" lang="en-US" altLang="ja-JP" dirty="0">
                <a:latin typeface="BIZ UDPゴシック" panose="020B0400000000000000" pitchFamily="50" charset="-128"/>
                <a:ea typeface="BIZ UDPゴシック" panose="020B0400000000000000" pitchFamily="50" charset="-128"/>
              </a:rPr>
              <a:t>		</a:t>
            </a:r>
            <a:r>
              <a:rPr kumimoji="1" lang="ja-JP" altLang="en-US" dirty="0">
                <a:latin typeface="BIZ UDPゴシック" panose="020B0400000000000000" pitchFamily="50" charset="-128"/>
                <a:ea typeface="BIZ UDPゴシック" panose="020B0400000000000000" pitchFamily="50" charset="-128"/>
              </a:rPr>
              <a:t>施策提案</a:t>
            </a:r>
          </a:p>
        </p:txBody>
      </p:sp>
      <p:sp>
        <p:nvSpPr>
          <p:cNvPr id="8" name="テキスト ボックス 7">
            <a:extLst>
              <a:ext uri="{FF2B5EF4-FFF2-40B4-BE49-F238E27FC236}">
                <a16:creationId xmlns:a16="http://schemas.microsoft.com/office/drawing/2014/main" id="{F984D1F5-5732-160F-0002-0FD96A3A9C49}"/>
              </a:ext>
            </a:extLst>
          </p:cNvPr>
          <p:cNvSpPr txBox="1"/>
          <p:nvPr/>
        </p:nvSpPr>
        <p:spPr>
          <a:xfrm>
            <a:off x="8510155" y="1268413"/>
            <a:ext cx="3346883" cy="2520950"/>
          </a:xfrm>
          <a:prstGeom prst="rect">
            <a:avLst/>
          </a:prstGeom>
          <a:noFill/>
        </p:spPr>
        <p:txBody>
          <a:bodyPr wrap="square" lIns="0" tIns="0" rIns="0" bIns="0" rtlCol="0" anchor="t" anchorCtr="0">
            <a:noAutofit/>
          </a:bodyPr>
          <a:lstStyle/>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現在</a:t>
            </a:r>
            <a:r>
              <a:rPr kumimoji="1" lang="en-US" altLang="ja-JP" dirty="0">
                <a:latin typeface="BIZ UDPゴシック" panose="020B0400000000000000" pitchFamily="50" charset="-128"/>
                <a:ea typeface="BIZ UDPゴシック" panose="020B0400000000000000" pitchFamily="50" charset="-128"/>
              </a:rPr>
              <a:t>1</a:t>
            </a: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現在</a:t>
            </a:r>
            <a:r>
              <a:rPr lang="en-US" altLang="ja-JP" dirty="0">
                <a:latin typeface="BIZ UDPゴシック" panose="020B0400000000000000" pitchFamily="50" charset="-128"/>
                <a:ea typeface="BIZ UDPゴシック" panose="020B0400000000000000" pitchFamily="50" charset="-128"/>
              </a:rPr>
              <a:t>2</a:t>
            </a:r>
          </a:p>
          <a:p>
            <a:pPr marL="361950" indent="-180975" algn="l">
              <a:lnSpc>
                <a:spcPct val="200000"/>
              </a:lnSpc>
              <a:buFont typeface="Arial" panose="020B0604020202020204" pitchFamily="34" charset="0"/>
              <a:buChar char="•"/>
            </a:pPr>
            <a:r>
              <a:rPr kumimoji="1" lang="ja-JP" altLang="en-US" dirty="0">
                <a:latin typeface="BIZ UDPゴシック" panose="020B0400000000000000" pitchFamily="50" charset="-128"/>
                <a:ea typeface="BIZ UDPゴシック" panose="020B0400000000000000" pitchFamily="50" charset="-128"/>
              </a:rPr>
              <a:t>未来</a:t>
            </a:r>
            <a:r>
              <a:rPr kumimoji="1" lang="en-US" altLang="ja-JP" dirty="0">
                <a:latin typeface="BIZ UDPゴシック" panose="020B0400000000000000" pitchFamily="50" charset="-128"/>
                <a:ea typeface="BIZ UDPゴシック" panose="020B0400000000000000" pitchFamily="50" charset="-128"/>
              </a:rPr>
              <a:t>1</a:t>
            </a:r>
          </a:p>
          <a:p>
            <a:pPr marL="361950" indent="-180975" algn="l">
              <a:lnSpc>
                <a:spcPct val="200000"/>
              </a:lnSpc>
              <a:buFont typeface="Arial" panose="020B0604020202020204" pitchFamily="34" charset="0"/>
              <a:buChar char="•"/>
            </a:pPr>
            <a:r>
              <a:rPr lang="ja-JP" altLang="en-US" dirty="0">
                <a:latin typeface="BIZ UDPゴシック" panose="020B0400000000000000" pitchFamily="50" charset="-128"/>
                <a:ea typeface="BIZ UDPゴシック" panose="020B0400000000000000" pitchFamily="50" charset="-128"/>
              </a:rPr>
              <a:t>未来</a:t>
            </a:r>
            <a:r>
              <a:rPr lang="en-US" altLang="ja-JP" dirty="0">
                <a:latin typeface="BIZ UDPゴシック" panose="020B0400000000000000" pitchFamily="50" charset="-128"/>
                <a:ea typeface="BIZ UDPゴシック" panose="020B0400000000000000" pitchFamily="50" charset="-128"/>
              </a:rPr>
              <a:t>2</a:t>
            </a:r>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7388607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36C5190-9943-17A7-E33E-561CFF2CB0E2}"/>
              </a:ext>
            </a:extLst>
          </p:cNvPr>
          <p:cNvSpPr>
            <a:spLocks noGrp="1"/>
          </p:cNvSpPr>
          <p:nvPr>
            <p:ph type="title"/>
          </p:nvPr>
        </p:nvSpPr>
        <p:spPr/>
        <p:txBody>
          <a:bodyPr/>
          <a:lstStyle/>
          <a:p>
            <a:r>
              <a:rPr lang="ja-JP" altLang="en-US" dirty="0"/>
              <a:t>フレームワーク一覧</a:t>
            </a:r>
            <a:endParaRPr kumimoji="1" lang="ja-JP" altLang="en-US" dirty="0"/>
          </a:p>
        </p:txBody>
      </p:sp>
      <p:sp>
        <p:nvSpPr>
          <p:cNvPr id="3" name="フッター プレースホルダー 2">
            <a:extLst>
              <a:ext uri="{FF2B5EF4-FFF2-40B4-BE49-F238E27FC236}">
                <a16:creationId xmlns:a16="http://schemas.microsoft.com/office/drawing/2014/main" id="{392ACB1B-9953-D94D-E309-8CCE65ABABD9}"/>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E99FEB1-B94E-0245-E9FC-19B78B24B78A}"/>
              </a:ext>
            </a:extLst>
          </p:cNvPr>
          <p:cNvSpPr>
            <a:spLocks noGrp="1"/>
          </p:cNvSpPr>
          <p:nvPr>
            <p:ph type="sldNum" sz="quarter" idx="12"/>
          </p:nvPr>
        </p:nvSpPr>
        <p:spPr/>
        <p:txBody>
          <a:bodyPr/>
          <a:lstStyle/>
          <a:p>
            <a:fld id="{DCB5AA93-092B-49A1-87A7-3C88D5F38AD7}" type="slidenum">
              <a:rPr lang="ja-JP" altLang="en-US" smtClean="0"/>
              <a:pPr/>
              <a:t>5</a:t>
            </a:fld>
            <a:endParaRPr lang="ja-JP" altLang="en-US" sz="900" dirty="0"/>
          </a:p>
        </p:txBody>
      </p:sp>
      <p:sp>
        <p:nvSpPr>
          <p:cNvPr id="5" name="テキスト プレースホルダー 4">
            <a:extLst>
              <a:ext uri="{FF2B5EF4-FFF2-40B4-BE49-F238E27FC236}">
                <a16:creationId xmlns:a16="http://schemas.microsoft.com/office/drawing/2014/main" id="{965B38DD-8518-996B-4373-1E8079BFC0AF}"/>
              </a:ext>
            </a:extLst>
          </p:cNvPr>
          <p:cNvSpPr>
            <a:spLocks noGrp="1"/>
          </p:cNvSpPr>
          <p:nvPr>
            <p:ph type="body" sz="quarter" idx="13"/>
          </p:nvPr>
        </p:nvSpPr>
        <p:spPr/>
        <p:txBody>
          <a:bodyPr/>
          <a:lstStyle/>
          <a:p>
            <a:r>
              <a:rPr lang="ja-JP" altLang="en-US" dirty="0"/>
              <a:t>目的と課題に応じた手法を選択しないと，本来の意図からはかけ離れてしまう</a:t>
            </a:r>
          </a:p>
        </p:txBody>
      </p:sp>
      <p:sp>
        <p:nvSpPr>
          <p:cNvPr id="6" name="テキスト ボックス 5">
            <a:extLst>
              <a:ext uri="{FF2B5EF4-FFF2-40B4-BE49-F238E27FC236}">
                <a16:creationId xmlns:a16="http://schemas.microsoft.com/office/drawing/2014/main" id="{93456589-E981-ADA9-A6DE-7512DFE0C49C}"/>
              </a:ext>
            </a:extLst>
          </p:cNvPr>
          <p:cNvSpPr txBox="1"/>
          <p:nvPr/>
        </p:nvSpPr>
        <p:spPr>
          <a:xfrm>
            <a:off x="444024" y="1268413"/>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範囲</a:t>
            </a:r>
          </a:p>
        </p:txBody>
      </p:sp>
      <p:sp>
        <p:nvSpPr>
          <p:cNvPr id="7" name="テキスト ボックス 6">
            <a:extLst>
              <a:ext uri="{FF2B5EF4-FFF2-40B4-BE49-F238E27FC236}">
                <a16:creationId xmlns:a16="http://schemas.microsoft.com/office/drawing/2014/main" id="{0C995E01-2D16-3FAE-6E16-2B8FF49BFF80}"/>
              </a:ext>
            </a:extLst>
          </p:cNvPr>
          <p:cNvSpPr txBox="1"/>
          <p:nvPr/>
        </p:nvSpPr>
        <p:spPr>
          <a:xfrm>
            <a:off x="2513872" y="1299228"/>
            <a:ext cx="897682"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データ集計</a:t>
            </a:r>
          </a:p>
        </p:txBody>
      </p:sp>
      <p:sp>
        <p:nvSpPr>
          <p:cNvPr id="8" name="正方形/長方形 7">
            <a:extLst>
              <a:ext uri="{FF2B5EF4-FFF2-40B4-BE49-F238E27FC236}">
                <a16:creationId xmlns:a16="http://schemas.microsoft.com/office/drawing/2014/main" id="{373250D6-418A-EF77-E434-79EFFCA8FBEE}"/>
              </a:ext>
            </a:extLst>
          </p:cNvPr>
          <p:cNvSpPr/>
          <p:nvPr/>
        </p:nvSpPr>
        <p:spPr>
          <a:xfrm>
            <a:off x="345212" y="1741434"/>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1</a:t>
            </a: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338A8D55-4DD2-1E1E-FC97-F7C6F232F00E}"/>
              </a:ext>
            </a:extLst>
          </p:cNvPr>
          <p:cNvSpPr txBox="1"/>
          <p:nvPr/>
        </p:nvSpPr>
        <p:spPr>
          <a:xfrm>
            <a:off x="1827391" y="1741429"/>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cxnSp>
        <p:nvCxnSpPr>
          <p:cNvPr id="10" name="直線コネクタ 9">
            <a:extLst>
              <a:ext uri="{FF2B5EF4-FFF2-40B4-BE49-F238E27FC236}">
                <a16:creationId xmlns:a16="http://schemas.microsoft.com/office/drawing/2014/main" id="{8B1694C4-CD82-51B8-4615-67EC732D22CC}"/>
              </a:ext>
              <a:ext uri="{C183D7F6-B498-43B3-948B-1728B52AA6E4}">
                <adec:decorative xmlns:adec="http://schemas.microsoft.com/office/drawing/2017/decorative" val="1"/>
              </a:ext>
            </a:extLst>
          </p:cNvPr>
          <p:cNvCxnSpPr>
            <a:cxnSpLocks/>
          </p:cNvCxnSpPr>
          <p:nvPr/>
        </p:nvCxnSpPr>
        <p:spPr>
          <a:xfrm>
            <a:off x="345212" y="1545353"/>
            <a:ext cx="1299491"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AF758997-6EE4-77F2-6AC5-862E7567C06E}"/>
              </a:ext>
              <a:ext uri="{C183D7F6-B498-43B3-948B-1728B52AA6E4}">
                <adec:decorative xmlns:adec="http://schemas.microsoft.com/office/drawing/2017/decorative" val="1"/>
              </a:ext>
            </a:extLst>
          </p:cNvPr>
          <p:cNvCxnSpPr>
            <a:cxnSpLocks/>
          </p:cNvCxnSpPr>
          <p:nvPr/>
        </p:nvCxnSpPr>
        <p:spPr>
          <a:xfrm>
            <a:off x="1827390" y="1545353"/>
            <a:ext cx="2204143"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0F57755A-1048-11FC-3042-A775C72ABE31}"/>
              </a:ext>
            </a:extLst>
          </p:cNvPr>
          <p:cNvSpPr/>
          <p:nvPr/>
        </p:nvSpPr>
        <p:spPr>
          <a:xfrm>
            <a:off x="345212" y="2903264"/>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2</a:t>
            </a: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D06C400F-3ABD-8651-CCAE-81093D2264DB}"/>
              </a:ext>
            </a:extLst>
          </p:cNvPr>
          <p:cNvSpPr txBox="1"/>
          <p:nvPr/>
        </p:nvSpPr>
        <p:spPr>
          <a:xfrm>
            <a:off x="1827391" y="290326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en-US" altLang="ja-JP" sz="1400" dirty="0">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312B0864-1501-AC5D-F597-220579EE6323}"/>
              </a:ext>
            </a:extLst>
          </p:cNvPr>
          <p:cNvSpPr/>
          <p:nvPr/>
        </p:nvSpPr>
        <p:spPr>
          <a:xfrm>
            <a:off x="345212" y="4065094"/>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3</a:t>
            </a: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AC56C80C-B607-B4B8-E389-DAE0873522D9}"/>
              </a:ext>
            </a:extLst>
          </p:cNvPr>
          <p:cNvSpPr txBox="1"/>
          <p:nvPr/>
        </p:nvSpPr>
        <p:spPr>
          <a:xfrm>
            <a:off x="1827391" y="406509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2FCE57EA-748F-9994-B430-9AB0FB03D008}"/>
              </a:ext>
            </a:extLst>
          </p:cNvPr>
          <p:cNvSpPr/>
          <p:nvPr/>
        </p:nvSpPr>
        <p:spPr>
          <a:xfrm>
            <a:off x="345212" y="5226923"/>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例</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927A41A3-F16E-ECC1-D61E-A8361FA5FDC9}"/>
              </a:ext>
            </a:extLst>
          </p:cNvPr>
          <p:cNvSpPr txBox="1"/>
          <p:nvPr/>
        </p:nvSpPr>
        <p:spPr>
          <a:xfrm>
            <a:off x="1827391" y="5226923"/>
            <a:ext cx="2270644" cy="86177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xxx</a:t>
            </a:r>
            <a:r>
              <a:rPr lang="ja-JP" altLang="en-US" sz="1400" dirty="0">
                <a:latin typeface="BIZ UDPゴシック" panose="020B0400000000000000" pitchFamily="50" charset="-128"/>
                <a:ea typeface="BIZ UDPゴシック" panose="020B0400000000000000" pitchFamily="50" charset="-128"/>
              </a:rPr>
              <a:t>棚卸リストの運用</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E-learning</a:t>
            </a:r>
            <a:r>
              <a:rPr lang="ja-JP" altLang="en-US" sz="1400" dirty="0">
                <a:latin typeface="BIZ UDPゴシック" panose="020B0400000000000000" pitchFamily="50" charset="-128"/>
                <a:ea typeface="BIZ UDPゴシック" panose="020B0400000000000000" pitchFamily="50" charset="-128"/>
              </a:rPr>
              <a:t>など期限もの</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計数データの取りまとめ</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文書校閲</a:t>
            </a:r>
          </a:p>
        </p:txBody>
      </p:sp>
      <p:sp>
        <p:nvSpPr>
          <p:cNvPr id="18" name="テキスト ボックス 17">
            <a:extLst>
              <a:ext uri="{FF2B5EF4-FFF2-40B4-BE49-F238E27FC236}">
                <a16:creationId xmlns:a16="http://schemas.microsoft.com/office/drawing/2014/main" id="{FB115086-FC53-3C95-3111-9280ECD33B6C}"/>
              </a:ext>
            </a:extLst>
          </p:cNvPr>
          <p:cNvSpPr txBox="1"/>
          <p:nvPr/>
        </p:nvSpPr>
        <p:spPr>
          <a:xfrm>
            <a:off x="5086023" y="1299228"/>
            <a:ext cx="718145"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社内申請</a:t>
            </a:r>
          </a:p>
        </p:txBody>
      </p:sp>
      <p:sp>
        <p:nvSpPr>
          <p:cNvPr id="19" name="テキスト ボックス 18">
            <a:extLst>
              <a:ext uri="{FF2B5EF4-FFF2-40B4-BE49-F238E27FC236}">
                <a16:creationId xmlns:a16="http://schemas.microsoft.com/office/drawing/2014/main" id="{7AD865BB-D2CA-C28C-FCA6-144CE1B81613}"/>
              </a:ext>
            </a:extLst>
          </p:cNvPr>
          <p:cNvSpPr txBox="1"/>
          <p:nvPr/>
        </p:nvSpPr>
        <p:spPr>
          <a:xfrm>
            <a:off x="4399542" y="1741429"/>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cxnSp>
        <p:nvCxnSpPr>
          <p:cNvPr id="20" name="直線コネクタ 19">
            <a:extLst>
              <a:ext uri="{FF2B5EF4-FFF2-40B4-BE49-F238E27FC236}">
                <a16:creationId xmlns:a16="http://schemas.microsoft.com/office/drawing/2014/main" id="{FF9031F3-FC8E-D1AC-05B4-A412947412BB}"/>
              </a:ext>
              <a:ext uri="{C183D7F6-B498-43B3-948B-1728B52AA6E4}">
                <adec:decorative xmlns:adec="http://schemas.microsoft.com/office/drawing/2017/decorative" val="1"/>
              </a:ext>
            </a:extLst>
          </p:cNvPr>
          <p:cNvCxnSpPr>
            <a:cxnSpLocks/>
          </p:cNvCxnSpPr>
          <p:nvPr/>
        </p:nvCxnSpPr>
        <p:spPr>
          <a:xfrm>
            <a:off x="4399541" y="1545353"/>
            <a:ext cx="2204143"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500A9BE8-7672-EAEA-CE76-24712638C79E}"/>
              </a:ext>
            </a:extLst>
          </p:cNvPr>
          <p:cNvSpPr txBox="1"/>
          <p:nvPr/>
        </p:nvSpPr>
        <p:spPr>
          <a:xfrm>
            <a:off x="4399542" y="290326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en-US" altLang="ja-JP" sz="1400" dirty="0">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9C92C7F7-7F33-00EE-D4DA-C8EF138DA7F6}"/>
              </a:ext>
            </a:extLst>
          </p:cNvPr>
          <p:cNvSpPr txBox="1"/>
          <p:nvPr/>
        </p:nvSpPr>
        <p:spPr>
          <a:xfrm>
            <a:off x="4399542" y="406509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80D5A874-4A84-E658-64E2-B964C4982B5A}"/>
              </a:ext>
            </a:extLst>
          </p:cNvPr>
          <p:cNvSpPr txBox="1"/>
          <p:nvPr/>
        </p:nvSpPr>
        <p:spPr>
          <a:xfrm>
            <a:off x="4399542" y="5226923"/>
            <a:ext cx="2270644"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購買依頼、支払い申請</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公印申請</a:t>
            </a:r>
            <a:endParaRPr lang="en-US" altLang="ja-JP" sz="1400"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43B54578-3C4B-FBF6-2437-AE1A3C8C47EC}"/>
              </a:ext>
            </a:extLst>
          </p:cNvPr>
          <p:cNvSpPr txBox="1"/>
          <p:nvPr/>
        </p:nvSpPr>
        <p:spPr>
          <a:xfrm>
            <a:off x="7724675" y="1299228"/>
            <a:ext cx="718145"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会議支援</a:t>
            </a:r>
          </a:p>
        </p:txBody>
      </p:sp>
      <p:sp>
        <p:nvSpPr>
          <p:cNvPr id="25" name="テキスト ボックス 24">
            <a:extLst>
              <a:ext uri="{FF2B5EF4-FFF2-40B4-BE49-F238E27FC236}">
                <a16:creationId xmlns:a16="http://schemas.microsoft.com/office/drawing/2014/main" id="{A8F4C2CC-34A8-5E93-3089-5055C9ED8235}"/>
              </a:ext>
            </a:extLst>
          </p:cNvPr>
          <p:cNvSpPr txBox="1"/>
          <p:nvPr/>
        </p:nvSpPr>
        <p:spPr>
          <a:xfrm>
            <a:off x="7038194" y="1741429"/>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cxnSp>
        <p:nvCxnSpPr>
          <p:cNvPr id="26" name="直線コネクタ 25">
            <a:extLst>
              <a:ext uri="{FF2B5EF4-FFF2-40B4-BE49-F238E27FC236}">
                <a16:creationId xmlns:a16="http://schemas.microsoft.com/office/drawing/2014/main" id="{64BCE69E-79F7-BA98-FCCF-E074F73C8A49}"/>
              </a:ext>
              <a:ext uri="{C183D7F6-B498-43B3-948B-1728B52AA6E4}">
                <adec:decorative xmlns:adec="http://schemas.microsoft.com/office/drawing/2017/decorative" val="1"/>
              </a:ext>
            </a:extLst>
          </p:cNvPr>
          <p:cNvCxnSpPr>
            <a:cxnSpLocks/>
          </p:cNvCxnSpPr>
          <p:nvPr/>
        </p:nvCxnSpPr>
        <p:spPr>
          <a:xfrm>
            <a:off x="7038193" y="1545353"/>
            <a:ext cx="2204143"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7" name="テキスト ボックス 26">
            <a:extLst>
              <a:ext uri="{FF2B5EF4-FFF2-40B4-BE49-F238E27FC236}">
                <a16:creationId xmlns:a16="http://schemas.microsoft.com/office/drawing/2014/main" id="{EFDC3ED4-D5AF-BE0B-235D-D6F12304ED75}"/>
              </a:ext>
            </a:extLst>
          </p:cNvPr>
          <p:cNvSpPr txBox="1"/>
          <p:nvPr/>
        </p:nvSpPr>
        <p:spPr>
          <a:xfrm>
            <a:off x="7038194" y="290326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en-US" altLang="ja-JP" sz="1400"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6484B0B0-FCAB-ED50-4EF8-DA2F64AF4FE6}"/>
              </a:ext>
            </a:extLst>
          </p:cNvPr>
          <p:cNvSpPr txBox="1"/>
          <p:nvPr/>
        </p:nvSpPr>
        <p:spPr>
          <a:xfrm>
            <a:off x="7038194" y="406509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F1CF6F6D-22B4-22B0-8D77-07489CB7AE02}"/>
              </a:ext>
            </a:extLst>
          </p:cNvPr>
          <p:cNvSpPr txBox="1"/>
          <p:nvPr/>
        </p:nvSpPr>
        <p:spPr>
          <a:xfrm>
            <a:off x="7038194" y="5226923"/>
            <a:ext cx="2270644"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会議調整</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1on1 </a:t>
            </a:r>
            <a:r>
              <a:rPr lang="ja-JP" altLang="en-US" sz="1400" dirty="0">
                <a:latin typeface="BIZ UDPゴシック" panose="020B0400000000000000" pitchFamily="50" charset="-128"/>
                <a:ea typeface="BIZ UDPゴシック" panose="020B0400000000000000" pitchFamily="50" charset="-128"/>
              </a:rPr>
              <a:t>日程調整・案内送付</a:t>
            </a:r>
          </a:p>
        </p:txBody>
      </p:sp>
      <p:sp>
        <p:nvSpPr>
          <p:cNvPr id="30" name="テキスト ボックス 29">
            <a:extLst>
              <a:ext uri="{FF2B5EF4-FFF2-40B4-BE49-F238E27FC236}">
                <a16:creationId xmlns:a16="http://schemas.microsoft.com/office/drawing/2014/main" id="{D39E8DDA-A564-D01D-C634-663DD364D355}"/>
              </a:ext>
            </a:extLst>
          </p:cNvPr>
          <p:cNvSpPr txBox="1"/>
          <p:nvPr/>
        </p:nvSpPr>
        <p:spPr>
          <a:xfrm>
            <a:off x="10272875" y="1299228"/>
            <a:ext cx="53860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その他</a:t>
            </a:r>
          </a:p>
        </p:txBody>
      </p:sp>
      <p:sp>
        <p:nvSpPr>
          <p:cNvPr id="31" name="テキスト ボックス 30">
            <a:extLst>
              <a:ext uri="{FF2B5EF4-FFF2-40B4-BE49-F238E27FC236}">
                <a16:creationId xmlns:a16="http://schemas.microsoft.com/office/drawing/2014/main" id="{71F4E56F-5212-4FAF-8F8B-D496636DFDB8}"/>
              </a:ext>
            </a:extLst>
          </p:cNvPr>
          <p:cNvSpPr txBox="1"/>
          <p:nvPr/>
        </p:nvSpPr>
        <p:spPr>
          <a:xfrm>
            <a:off x="9586394" y="1741429"/>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cxnSp>
        <p:nvCxnSpPr>
          <p:cNvPr id="32" name="直線コネクタ 31">
            <a:extLst>
              <a:ext uri="{FF2B5EF4-FFF2-40B4-BE49-F238E27FC236}">
                <a16:creationId xmlns:a16="http://schemas.microsoft.com/office/drawing/2014/main" id="{2958237F-04AA-52E9-CF05-73385B9F3913}"/>
              </a:ext>
              <a:ext uri="{C183D7F6-B498-43B3-948B-1728B52AA6E4}">
                <adec:decorative xmlns:adec="http://schemas.microsoft.com/office/drawing/2017/decorative" val="1"/>
              </a:ext>
            </a:extLst>
          </p:cNvPr>
          <p:cNvCxnSpPr>
            <a:cxnSpLocks/>
          </p:cNvCxnSpPr>
          <p:nvPr/>
        </p:nvCxnSpPr>
        <p:spPr>
          <a:xfrm>
            <a:off x="9586393" y="1545353"/>
            <a:ext cx="2204143" cy="0"/>
          </a:xfrm>
          <a:prstGeom prst="line">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33" name="テキスト ボックス 32">
            <a:extLst>
              <a:ext uri="{FF2B5EF4-FFF2-40B4-BE49-F238E27FC236}">
                <a16:creationId xmlns:a16="http://schemas.microsoft.com/office/drawing/2014/main" id="{C84911A8-BACE-CE07-ADAA-84EF4FD360CB}"/>
              </a:ext>
            </a:extLst>
          </p:cNvPr>
          <p:cNvSpPr txBox="1"/>
          <p:nvPr/>
        </p:nvSpPr>
        <p:spPr>
          <a:xfrm>
            <a:off x="9586394" y="290326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en-US" altLang="ja-JP" sz="1400"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9CF18027-87D3-6B44-9330-642C729C5936}"/>
              </a:ext>
            </a:extLst>
          </p:cNvPr>
          <p:cNvSpPr txBox="1"/>
          <p:nvPr/>
        </p:nvSpPr>
        <p:spPr>
          <a:xfrm>
            <a:off x="9586394" y="4065094"/>
            <a:ext cx="2270644"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err="1">
                <a:latin typeface="BIZ UDPゴシック" panose="020B0400000000000000" pitchFamily="50" charset="-128"/>
                <a:ea typeface="BIZ UDPゴシック" panose="020B0400000000000000" pitchFamily="50" charset="-128"/>
              </a:rPr>
              <a:t>aaa</a:t>
            </a:r>
            <a:endParaRPr lang="ja-JP" altLang="en-US" sz="1400" dirty="0">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97082B52-6366-7967-A730-C57D4DFD5147}"/>
              </a:ext>
            </a:extLst>
          </p:cNvPr>
          <p:cNvSpPr txBox="1"/>
          <p:nvPr/>
        </p:nvSpPr>
        <p:spPr>
          <a:xfrm>
            <a:off x="9586394" y="5226923"/>
            <a:ext cx="2270644" cy="646331"/>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PC</a:t>
            </a:r>
            <a:r>
              <a:rPr lang="ja-JP" altLang="en-US" sz="1400" dirty="0">
                <a:latin typeface="BIZ UDPゴシック" panose="020B0400000000000000" pitchFamily="50" charset="-128"/>
                <a:ea typeface="BIZ UDPゴシック" panose="020B0400000000000000" pitchFamily="50" charset="-128"/>
              </a:rPr>
              <a:t>申請・消耗品購入</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社員受入れ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備品</a:t>
            </a:r>
            <a:r>
              <a:rPr lang="en-US" altLang="ja-JP" sz="1400" dirty="0">
                <a:latin typeface="BIZ UDPゴシック" panose="020B0400000000000000" pitchFamily="50" charset="-128"/>
                <a:ea typeface="BIZ UDPゴシック" panose="020B0400000000000000" pitchFamily="50" charset="-128"/>
              </a:rPr>
              <a:t>)</a:t>
            </a: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周知文書の展開</a:t>
            </a:r>
            <a:endParaRPr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247157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D2A1F57-1282-589F-5F61-4352EAB68C87}"/>
              </a:ext>
            </a:extLst>
          </p:cNvPr>
          <p:cNvSpPr>
            <a:spLocks noGrp="1"/>
          </p:cNvSpPr>
          <p:nvPr>
            <p:ph type="title"/>
          </p:nvPr>
        </p:nvSpPr>
        <p:spPr/>
        <p:txBody>
          <a:bodyPr/>
          <a:lstStyle/>
          <a:p>
            <a:r>
              <a:rPr lang="ja-JP" altLang="en-US" dirty="0"/>
              <a:t>サプライチェーン構造</a:t>
            </a:r>
            <a:endParaRPr kumimoji="1" lang="ja-JP" altLang="en-US" dirty="0"/>
          </a:p>
        </p:txBody>
      </p:sp>
      <p:sp>
        <p:nvSpPr>
          <p:cNvPr id="3" name="フッター プレースホルダー 2">
            <a:extLst>
              <a:ext uri="{FF2B5EF4-FFF2-40B4-BE49-F238E27FC236}">
                <a16:creationId xmlns:a16="http://schemas.microsoft.com/office/drawing/2014/main" id="{6EB6FC94-3AF6-D8CA-1058-9E9C9AEE346B}"/>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E308533-52E2-8084-F734-BDBA30F1386B}"/>
              </a:ext>
            </a:extLst>
          </p:cNvPr>
          <p:cNvSpPr>
            <a:spLocks noGrp="1"/>
          </p:cNvSpPr>
          <p:nvPr>
            <p:ph type="sldNum" sz="quarter" idx="12"/>
          </p:nvPr>
        </p:nvSpPr>
        <p:spPr/>
        <p:txBody>
          <a:bodyPr/>
          <a:lstStyle/>
          <a:p>
            <a:fld id="{DCB5AA93-092B-49A1-87A7-3C88D5F38AD7}" type="slidenum">
              <a:rPr lang="ja-JP" altLang="en-US" smtClean="0"/>
              <a:pPr/>
              <a:t>6</a:t>
            </a:fld>
            <a:endParaRPr lang="ja-JP" altLang="en-US" sz="900" dirty="0"/>
          </a:p>
        </p:txBody>
      </p:sp>
      <p:sp>
        <p:nvSpPr>
          <p:cNvPr id="5" name="テキスト プレースホルダー 4">
            <a:extLst>
              <a:ext uri="{FF2B5EF4-FFF2-40B4-BE49-F238E27FC236}">
                <a16:creationId xmlns:a16="http://schemas.microsoft.com/office/drawing/2014/main" id="{2FC8D744-590E-3163-BCE1-6FC64B32263A}"/>
              </a:ext>
            </a:extLst>
          </p:cNvPr>
          <p:cNvSpPr>
            <a:spLocks noGrp="1"/>
          </p:cNvSpPr>
          <p:nvPr>
            <p:ph type="body" sz="quarter" idx="13"/>
          </p:nvPr>
        </p:nvSpPr>
        <p:spPr/>
        <p:txBody>
          <a:bodyPr/>
          <a:lstStyle/>
          <a:p>
            <a:r>
              <a:rPr lang="ja-JP" altLang="en-US" dirty="0"/>
              <a:t>コンポーネントによって異なるケースもある</a:t>
            </a:r>
          </a:p>
        </p:txBody>
      </p:sp>
      <p:sp>
        <p:nvSpPr>
          <p:cNvPr id="6" name="テキスト ボックス 5">
            <a:extLst>
              <a:ext uri="{FF2B5EF4-FFF2-40B4-BE49-F238E27FC236}">
                <a16:creationId xmlns:a16="http://schemas.microsoft.com/office/drawing/2014/main" id="{CBF13CD5-8C1C-FDB8-96C5-998354DFFFC8}"/>
              </a:ext>
            </a:extLst>
          </p:cNvPr>
          <p:cNvSpPr txBox="1"/>
          <p:nvPr/>
        </p:nvSpPr>
        <p:spPr>
          <a:xfrm>
            <a:off x="442997" y="1290975"/>
            <a:ext cx="897682"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最終消費地</a:t>
            </a:r>
          </a:p>
        </p:txBody>
      </p:sp>
      <p:sp>
        <p:nvSpPr>
          <p:cNvPr id="7" name="テキスト ボックス 6">
            <a:extLst>
              <a:ext uri="{FF2B5EF4-FFF2-40B4-BE49-F238E27FC236}">
                <a16:creationId xmlns:a16="http://schemas.microsoft.com/office/drawing/2014/main" id="{E1CA0AAA-C629-2FA4-BC88-37982760763A}"/>
              </a:ext>
            </a:extLst>
          </p:cNvPr>
          <p:cNvSpPr txBox="1"/>
          <p:nvPr/>
        </p:nvSpPr>
        <p:spPr>
          <a:xfrm>
            <a:off x="5623071" y="1298745"/>
            <a:ext cx="1574806" cy="215444"/>
          </a:xfrm>
          <a:prstGeom prst="rect">
            <a:avLst/>
          </a:prstGeom>
          <a:noFill/>
        </p:spPr>
        <p:txBody>
          <a:bodyPr wrap="squar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モデル区分</a:t>
            </a:r>
          </a:p>
        </p:txBody>
      </p:sp>
      <p:sp>
        <p:nvSpPr>
          <p:cNvPr id="8" name="正方形/長方形 7">
            <a:extLst>
              <a:ext uri="{FF2B5EF4-FFF2-40B4-BE49-F238E27FC236}">
                <a16:creationId xmlns:a16="http://schemas.microsoft.com/office/drawing/2014/main" id="{1B851262-B645-506C-BCC9-97D4D3212FC2}"/>
              </a:ext>
            </a:extLst>
          </p:cNvPr>
          <p:cNvSpPr/>
          <p:nvPr/>
        </p:nvSpPr>
        <p:spPr>
          <a:xfrm>
            <a:off x="360000" y="1741013"/>
            <a:ext cx="1299491" cy="410067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solidFill>
                <a:latin typeface="BIZ UDPゴシック" panose="020B0400000000000000" pitchFamily="50" charset="-128"/>
                <a:ea typeface="BIZ UDPゴシック" panose="020B0400000000000000" pitchFamily="50" charset="-128"/>
              </a:rPr>
              <a:t>A</a:t>
            </a:r>
            <a:r>
              <a:rPr lang="ja-JP" altLang="en-US" sz="1400" dirty="0">
                <a:solidFill>
                  <a:schemeClr val="tx1"/>
                </a:solidFill>
                <a:latin typeface="BIZ UDPゴシック" panose="020B0400000000000000" pitchFamily="50" charset="-128"/>
                <a:ea typeface="BIZ UDPゴシック" panose="020B0400000000000000" pitchFamily="50" charset="-128"/>
              </a:rPr>
              <a:t>国</a:t>
            </a:r>
          </a:p>
        </p:txBody>
      </p:sp>
      <p:sp>
        <p:nvSpPr>
          <p:cNvPr id="9" name="テキスト ボックス 8">
            <a:extLst>
              <a:ext uri="{FF2B5EF4-FFF2-40B4-BE49-F238E27FC236}">
                <a16:creationId xmlns:a16="http://schemas.microsoft.com/office/drawing/2014/main" id="{8862EF59-356F-C1EE-2BB3-759AC1E95D84}"/>
              </a:ext>
            </a:extLst>
          </p:cNvPr>
          <p:cNvSpPr txBox="1"/>
          <p:nvPr/>
        </p:nvSpPr>
        <p:spPr>
          <a:xfrm>
            <a:off x="5748929" y="1741348"/>
            <a:ext cx="5381813" cy="818555"/>
          </a:xfrm>
          <a:prstGeom prst="rect">
            <a:avLst/>
          </a:prstGeom>
          <a:noFill/>
          <a:ln>
            <a:solidFill>
              <a:schemeClr val="bg1">
                <a:lumMod val="65000"/>
              </a:schemeClr>
            </a:solidFill>
          </a:ln>
        </p:spPr>
        <p:txBody>
          <a:bodyPr wrap="square" lIns="0" tIns="0" rIns="0" bIns="0" rtlCol="0">
            <a:noAutofit/>
          </a:bodyPr>
          <a:lstStyle/>
          <a:p>
            <a:pPr marL="342900" indent="-342900">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地産地消モデル</a:t>
            </a:r>
            <a:endParaRPr lang="en-US" altLang="ja-JP" sz="1400" dirty="0">
              <a:latin typeface="BIZ UDPゴシック" panose="020B0400000000000000" pitchFamily="50" charset="-128"/>
              <a:ea typeface="BIZ UDPゴシック" panose="020B0400000000000000" pitchFamily="50" charset="-128"/>
            </a:endParaRPr>
          </a:p>
          <a:p>
            <a:pPr marL="539750"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調達・生産・消費が、域内で完結するモデル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自動車車両など</a:t>
            </a:r>
            <a:r>
              <a:rPr lang="en-US" altLang="ja-JP" sz="1400" dirty="0">
                <a:latin typeface="BIZ UDPゴシック" panose="020B0400000000000000" pitchFamily="50" charset="-128"/>
                <a:ea typeface="BIZ UDPゴシック" panose="020B0400000000000000" pitchFamily="50" charset="-128"/>
              </a:rPr>
              <a:t>)</a:t>
            </a:r>
          </a:p>
        </p:txBody>
      </p:sp>
      <p:cxnSp>
        <p:nvCxnSpPr>
          <p:cNvPr id="10" name="直線コネクタ 9">
            <a:extLst>
              <a:ext uri="{FF2B5EF4-FFF2-40B4-BE49-F238E27FC236}">
                <a16:creationId xmlns:a16="http://schemas.microsoft.com/office/drawing/2014/main" id="{B40D8C76-CF89-B6D0-F4AF-92AE589B5066}"/>
              </a:ext>
              <a:ext uri="{C183D7F6-B498-43B3-948B-1728B52AA6E4}">
                <adec:decorative xmlns:adec="http://schemas.microsoft.com/office/drawing/2017/decorative" val="1"/>
              </a:ext>
            </a:extLst>
          </p:cNvPr>
          <p:cNvCxnSpPr>
            <a:cxnSpLocks/>
          </p:cNvCxnSpPr>
          <p:nvPr/>
        </p:nvCxnSpPr>
        <p:spPr>
          <a:xfrm>
            <a:off x="344185" y="1567915"/>
            <a:ext cx="12994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1" name="直線コネクタ 10">
            <a:extLst>
              <a:ext uri="{FF2B5EF4-FFF2-40B4-BE49-F238E27FC236}">
                <a16:creationId xmlns:a16="http://schemas.microsoft.com/office/drawing/2014/main" id="{14F48214-DFC2-09CB-DC24-A9F2774CBF88}"/>
              </a:ext>
              <a:ext uri="{C183D7F6-B498-43B3-948B-1728B52AA6E4}">
                <adec:decorative xmlns:adec="http://schemas.microsoft.com/office/drawing/2017/decorative" val="1"/>
              </a:ext>
            </a:extLst>
          </p:cNvPr>
          <p:cNvCxnSpPr>
            <a:cxnSpLocks/>
          </p:cNvCxnSpPr>
          <p:nvPr/>
        </p:nvCxnSpPr>
        <p:spPr>
          <a:xfrm>
            <a:off x="5623071" y="1567915"/>
            <a:ext cx="5381813"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8C9CC81B-22CF-0714-F091-2CEE5C21087A}"/>
              </a:ext>
            </a:extLst>
          </p:cNvPr>
          <p:cNvSpPr txBox="1"/>
          <p:nvPr/>
        </p:nvSpPr>
        <p:spPr>
          <a:xfrm>
            <a:off x="5748929" y="2826009"/>
            <a:ext cx="5381813" cy="1080653"/>
          </a:xfrm>
          <a:prstGeom prst="rect">
            <a:avLst/>
          </a:prstGeom>
          <a:noFill/>
          <a:ln>
            <a:solidFill>
              <a:schemeClr val="bg1">
                <a:lumMod val="65000"/>
              </a:schemeClr>
            </a:solidFill>
          </a:ln>
        </p:spPr>
        <p:txBody>
          <a:bodyPr wrap="square" lIns="0" tIns="0" rIns="0" bIns="0" rtlCol="0">
            <a:noAutofit/>
          </a:bodyPr>
          <a:lstStyle/>
          <a:p>
            <a:pPr marL="342900" indent="-342900">
              <a:buFont typeface="+mj-ea"/>
              <a:buAutoNum type="circleNumDbPlain" startAt="2"/>
            </a:pPr>
            <a:r>
              <a:rPr lang="ja-JP" altLang="en-US" sz="1400" dirty="0">
                <a:latin typeface="BIZ UDPゴシック" panose="020B0400000000000000" pitchFamily="50" charset="-128"/>
                <a:ea typeface="BIZ UDPゴシック" panose="020B0400000000000000" pitchFamily="50" charset="-128"/>
              </a:rPr>
              <a:t>消費地生産モデル</a:t>
            </a:r>
            <a:endParaRPr lang="en-US" altLang="ja-JP" sz="1400" dirty="0">
              <a:latin typeface="BIZ UDPゴシック" panose="020B0400000000000000" pitchFamily="50" charset="-128"/>
              <a:ea typeface="BIZ UDPゴシック" panose="020B0400000000000000" pitchFamily="50" charset="-128"/>
            </a:endParaRPr>
          </a:p>
          <a:p>
            <a:pPr marL="539750"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生産をエンドマーケットに寄せているモデル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建設機械など</a:t>
            </a:r>
            <a:r>
              <a:rPr lang="en-US" altLang="ja-JP" sz="1400" dirty="0">
                <a:latin typeface="BIZ UDPゴシック" panose="020B0400000000000000" pitchFamily="50" charset="-128"/>
                <a:ea typeface="BIZ UDPゴシック" panose="020B0400000000000000" pitchFamily="50" charset="-128"/>
              </a:rPr>
              <a:t>)</a:t>
            </a:r>
          </a:p>
        </p:txBody>
      </p:sp>
      <p:sp>
        <p:nvSpPr>
          <p:cNvPr id="13" name="テキスト ボックス 12">
            <a:extLst>
              <a:ext uri="{FF2B5EF4-FFF2-40B4-BE49-F238E27FC236}">
                <a16:creationId xmlns:a16="http://schemas.microsoft.com/office/drawing/2014/main" id="{0EE9134A-C89A-DF50-61C9-9851F3EA7D20}"/>
              </a:ext>
            </a:extLst>
          </p:cNvPr>
          <p:cNvSpPr txBox="1"/>
          <p:nvPr/>
        </p:nvSpPr>
        <p:spPr>
          <a:xfrm>
            <a:off x="5748929" y="4183186"/>
            <a:ext cx="5381813" cy="984399"/>
          </a:xfrm>
          <a:prstGeom prst="rect">
            <a:avLst/>
          </a:prstGeom>
          <a:noFill/>
          <a:ln>
            <a:solidFill>
              <a:schemeClr val="bg1">
                <a:lumMod val="65000"/>
              </a:schemeClr>
            </a:solidFill>
          </a:ln>
        </p:spPr>
        <p:txBody>
          <a:bodyPr wrap="square" lIns="0" tIns="0" rIns="0" bIns="0" rtlCol="0">
            <a:noAutofit/>
          </a:bodyPr>
          <a:lstStyle/>
          <a:p>
            <a:pPr marL="342900" indent="-342900">
              <a:buFont typeface="+mj-ea"/>
              <a:buAutoNum type="circleNumDbPlain" startAt="3"/>
            </a:pPr>
            <a:r>
              <a:rPr lang="ja-JP" altLang="en-US" sz="1400" dirty="0">
                <a:latin typeface="BIZ UDPゴシック" panose="020B0400000000000000" pitchFamily="50" charset="-128"/>
                <a:ea typeface="BIZ UDPゴシック" panose="020B0400000000000000" pitchFamily="50" charset="-128"/>
              </a:rPr>
              <a:t>調達・生産集約モデル</a:t>
            </a:r>
            <a:endParaRPr lang="en-US" altLang="ja-JP" sz="1400" dirty="0">
              <a:latin typeface="BIZ UDPゴシック" panose="020B0400000000000000" pitchFamily="50" charset="-128"/>
              <a:ea typeface="BIZ UDPゴシック" panose="020B0400000000000000" pitchFamily="50" charset="-128"/>
            </a:endParaRPr>
          </a:p>
          <a:p>
            <a:pPr marL="539750"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調達と生産が同地域に集約化されたモデル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半導体など</a:t>
            </a:r>
            <a:r>
              <a:rPr lang="en-US" altLang="ja-JP" sz="1400" dirty="0">
                <a:latin typeface="BIZ UDPゴシック" panose="020B0400000000000000" pitchFamily="50" charset="-128"/>
                <a:ea typeface="BIZ UDPゴシック" panose="020B0400000000000000" pitchFamily="50" charset="-128"/>
              </a:rPr>
              <a:t>)</a:t>
            </a:r>
          </a:p>
        </p:txBody>
      </p:sp>
      <p:sp>
        <p:nvSpPr>
          <p:cNvPr id="14" name="テキスト ボックス 13">
            <a:extLst>
              <a:ext uri="{FF2B5EF4-FFF2-40B4-BE49-F238E27FC236}">
                <a16:creationId xmlns:a16="http://schemas.microsoft.com/office/drawing/2014/main" id="{A275FAEC-F903-860A-4101-9B811C10DD53}"/>
              </a:ext>
            </a:extLst>
          </p:cNvPr>
          <p:cNvSpPr txBox="1"/>
          <p:nvPr/>
        </p:nvSpPr>
        <p:spPr>
          <a:xfrm>
            <a:off x="5748929" y="5439769"/>
            <a:ext cx="5381813" cy="401914"/>
          </a:xfrm>
          <a:prstGeom prst="rect">
            <a:avLst/>
          </a:prstGeom>
          <a:noFill/>
          <a:ln>
            <a:solidFill>
              <a:schemeClr val="bg1">
                <a:lumMod val="65000"/>
              </a:schemeClr>
            </a:solidFill>
          </a:ln>
        </p:spPr>
        <p:txBody>
          <a:bodyPr wrap="square" lIns="0" tIns="0" rIns="0" bIns="0" rtlCol="0">
            <a:noAutofit/>
          </a:bodyPr>
          <a:lstStyle/>
          <a:p>
            <a:pPr marL="342900" indent="-342900">
              <a:buFont typeface="+mj-ea"/>
              <a:buAutoNum type="circleNumDbPlain" startAt="4"/>
            </a:pPr>
            <a:r>
              <a:rPr lang="ja-JP" altLang="en-US" sz="1400" dirty="0">
                <a:latin typeface="BIZ UDPゴシック" panose="020B0400000000000000" pitchFamily="50" charset="-128"/>
                <a:ea typeface="BIZ UDPゴシック" panose="020B0400000000000000" pitchFamily="50" charset="-128"/>
              </a:rPr>
              <a:t>グローバル分散モデル</a:t>
            </a:r>
            <a:endParaRPr lang="en-US" altLang="ja-JP" sz="1400" dirty="0">
              <a:latin typeface="BIZ UDPゴシック" panose="020B0400000000000000" pitchFamily="50" charset="-128"/>
              <a:ea typeface="BIZ UDPゴシック" panose="020B0400000000000000" pitchFamily="50" charset="-128"/>
            </a:endParaRPr>
          </a:p>
          <a:p>
            <a:pPr marL="539750"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機能別にグローバルで分業化されたモデル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鉱山機械など </a:t>
            </a:r>
            <a:r>
              <a:rPr lang="en-US" altLang="ja-JP" sz="1400" dirty="0">
                <a:latin typeface="BIZ UDPゴシック" panose="020B0400000000000000" pitchFamily="50" charset="-128"/>
                <a:ea typeface="BIZ UDPゴシック" panose="020B0400000000000000" pitchFamily="50" charset="-128"/>
              </a:rPr>
              <a:t>)</a:t>
            </a:r>
          </a:p>
        </p:txBody>
      </p:sp>
      <p:sp>
        <p:nvSpPr>
          <p:cNvPr id="15" name="テキスト ボックス 14">
            <a:extLst>
              <a:ext uri="{FF2B5EF4-FFF2-40B4-BE49-F238E27FC236}">
                <a16:creationId xmlns:a16="http://schemas.microsoft.com/office/drawing/2014/main" id="{1EDBA2CB-6BC7-B1DB-36C2-B50ECE7737AC}"/>
              </a:ext>
            </a:extLst>
          </p:cNvPr>
          <p:cNvSpPr txBox="1"/>
          <p:nvPr/>
        </p:nvSpPr>
        <p:spPr>
          <a:xfrm>
            <a:off x="2313462" y="1290975"/>
            <a:ext cx="53860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生産地</a:t>
            </a:r>
          </a:p>
        </p:txBody>
      </p:sp>
      <p:sp>
        <p:nvSpPr>
          <p:cNvPr id="16" name="正方形/長方形 15">
            <a:extLst>
              <a:ext uri="{FF2B5EF4-FFF2-40B4-BE49-F238E27FC236}">
                <a16:creationId xmlns:a16="http://schemas.microsoft.com/office/drawing/2014/main" id="{0761AFB1-9045-3C08-343C-48B3EF1AB128}"/>
              </a:ext>
            </a:extLst>
          </p:cNvPr>
          <p:cNvSpPr/>
          <p:nvPr/>
        </p:nvSpPr>
        <p:spPr>
          <a:xfrm>
            <a:off x="2231629" y="1741013"/>
            <a:ext cx="1299491" cy="216999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域内で生産</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a:t>
            </a: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国</a:t>
            </a: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cxnSp>
        <p:nvCxnSpPr>
          <p:cNvPr id="17" name="直線コネクタ 16">
            <a:extLst>
              <a:ext uri="{FF2B5EF4-FFF2-40B4-BE49-F238E27FC236}">
                <a16:creationId xmlns:a16="http://schemas.microsoft.com/office/drawing/2014/main" id="{66B860BB-76CA-95E7-EB54-20E78BCD6DC4}"/>
              </a:ext>
              <a:ext uri="{C183D7F6-B498-43B3-948B-1728B52AA6E4}">
                <adec:decorative xmlns:adec="http://schemas.microsoft.com/office/drawing/2017/decorative" val="1"/>
              </a:ext>
            </a:extLst>
          </p:cNvPr>
          <p:cNvCxnSpPr>
            <a:cxnSpLocks/>
          </p:cNvCxnSpPr>
          <p:nvPr/>
        </p:nvCxnSpPr>
        <p:spPr>
          <a:xfrm>
            <a:off x="2214650" y="1567915"/>
            <a:ext cx="12994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4E460532-609A-5C18-2226-7C9DDA58C2E5}"/>
              </a:ext>
            </a:extLst>
          </p:cNvPr>
          <p:cNvSpPr/>
          <p:nvPr/>
        </p:nvSpPr>
        <p:spPr>
          <a:xfrm>
            <a:off x="2231629" y="4183187"/>
            <a:ext cx="1299491" cy="16584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域外で生産</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(B</a:t>
            </a: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国</a:t>
            </a: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EB0390F9-A3C9-9B4A-363D-05BF8C9873E4}"/>
              </a:ext>
            </a:extLst>
          </p:cNvPr>
          <p:cNvSpPr txBox="1"/>
          <p:nvPr/>
        </p:nvSpPr>
        <p:spPr>
          <a:xfrm>
            <a:off x="4139749" y="1290975"/>
            <a:ext cx="53860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調達地</a:t>
            </a:r>
          </a:p>
        </p:txBody>
      </p:sp>
      <p:sp>
        <p:nvSpPr>
          <p:cNvPr id="20" name="正方形/長方形 19">
            <a:extLst>
              <a:ext uri="{FF2B5EF4-FFF2-40B4-BE49-F238E27FC236}">
                <a16:creationId xmlns:a16="http://schemas.microsoft.com/office/drawing/2014/main" id="{AF63D630-1C48-C5E6-2B5A-C182EC97459B}"/>
              </a:ext>
            </a:extLst>
          </p:cNvPr>
          <p:cNvSpPr/>
          <p:nvPr/>
        </p:nvSpPr>
        <p:spPr>
          <a:xfrm>
            <a:off x="4103258" y="1741013"/>
            <a:ext cx="1299491" cy="822868"/>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域内で調達</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(A</a:t>
            </a:r>
            <a:r>
              <a:rPr lang="ja-JP" altLang="en-US" sz="1400" dirty="0">
                <a:solidFill>
                  <a:schemeClr val="bg1"/>
                </a:solidFill>
                <a:latin typeface="BIZ UDPゴシック" panose="020B0400000000000000" pitchFamily="50" charset="-128"/>
                <a:ea typeface="BIZ UDPゴシック" panose="020B0400000000000000" pitchFamily="50" charset="-128"/>
              </a:rPr>
              <a:t>国</a:t>
            </a:r>
            <a:r>
              <a:rPr lang="en-US" altLang="ja-JP" sz="1400" dirty="0">
                <a:solidFill>
                  <a:schemeClr val="bg1"/>
                </a:solidFill>
                <a:latin typeface="BIZ UDPゴシック" panose="020B0400000000000000" pitchFamily="50" charset="-128"/>
                <a:ea typeface="BIZ UDPゴシック" panose="020B0400000000000000" pitchFamily="50" charset="-128"/>
              </a:rPr>
              <a:t>)</a:t>
            </a:r>
            <a:endParaRPr lang="ja-JP" altLang="en-US" sz="1400" dirty="0">
              <a:solidFill>
                <a:schemeClr val="bg1"/>
              </a:solidFill>
              <a:latin typeface="BIZ UDPゴシック" panose="020B0400000000000000" pitchFamily="50" charset="-128"/>
              <a:ea typeface="BIZ UDPゴシック" panose="020B0400000000000000" pitchFamily="50" charset="-128"/>
            </a:endParaRPr>
          </a:p>
        </p:txBody>
      </p:sp>
      <p:cxnSp>
        <p:nvCxnSpPr>
          <p:cNvPr id="21" name="直線コネクタ 20">
            <a:extLst>
              <a:ext uri="{FF2B5EF4-FFF2-40B4-BE49-F238E27FC236}">
                <a16:creationId xmlns:a16="http://schemas.microsoft.com/office/drawing/2014/main" id="{7C7F2B90-7C6B-43E5-5DDC-EE200433B645}"/>
              </a:ext>
              <a:ext uri="{C183D7F6-B498-43B3-948B-1728B52AA6E4}">
                <adec:decorative xmlns:adec="http://schemas.microsoft.com/office/drawing/2017/decorative" val="1"/>
              </a:ext>
            </a:extLst>
          </p:cNvPr>
          <p:cNvCxnSpPr>
            <a:cxnSpLocks/>
          </p:cNvCxnSpPr>
          <p:nvPr/>
        </p:nvCxnSpPr>
        <p:spPr>
          <a:xfrm>
            <a:off x="4040937" y="1567915"/>
            <a:ext cx="12994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2" name="正方形/長方形 21">
            <a:extLst>
              <a:ext uri="{FF2B5EF4-FFF2-40B4-BE49-F238E27FC236}">
                <a16:creationId xmlns:a16="http://schemas.microsoft.com/office/drawing/2014/main" id="{3DFB8B36-D39B-E56C-10BD-24440D84E819}"/>
              </a:ext>
            </a:extLst>
          </p:cNvPr>
          <p:cNvSpPr/>
          <p:nvPr/>
        </p:nvSpPr>
        <p:spPr>
          <a:xfrm>
            <a:off x="4103258" y="4183187"/>
            <a:ext cx="1299491" cy="984399"/>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域内で調達</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(B</a:t>
            </a:r>
            <a:r>
              <a:rPr lang="ja-JP" altLang="en-US" sz="1400" dirty="0">
                <a:solidFill>
                  <a:schemeClr val="bg1"/>
                </a:solidFill>
                <a:latin typeface="BIZ UDPゴシック" panose="020B0400000000000000" pitchFamily="50" charset="-128"/>
                <a:ea typeface="BIZ UDPゴシック" panose="020B0400000000000000" pitchFamily="50" charset="-128"/>
              </a:rPr>
              <a:t>国</a:t>
            </a:r>
            <a:r>
              <a:rPr lang="en-US" altLang="ja-JP" sz="1400" dirty="0">
                <a:solidFill>
                  <a:schemeClr val="bg1"/>
                </a:solidFill>
                <a:latin typeface="BIZ UDPゴシック" panose="020B0400000000000000" pitchFamily="50" charset="-128"/>
                <a:ea typeface="BIZ UDPゴシック" panose="020B0400000000000000" pitchFamily="50" charset="-128"/>
              </a:rPr>
              <a:t>)</a:t>
            </a:r>
            <a:endParaRPr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E9001D31-76FD-41A5-C491-518A8EA79556}"/>
              </a:ext>
            </a:extLst>
          </p:cNvPr>
          <p:cNvSpPr/>
          <p:nvPr/>
        </p:nvSpPr>
        <p:spPr>
          <a:xfrm>
            <a:off x="4103258" y="2830352"/>
            <a:ext cx="1299491" cy="1080653"/>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域外で調達</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(B</a:t>
            </a:r>
            <a:r>
              <a:rPr lang="ja-JP" altLang="en-US" sz="1400" dirty="0">
                <a:solidFill>
                  <a:schemeClr val="bg1"/>
                </a:solidFill>
                <a:latin typeface="BIZ UDPゴシック" panose="020B0400000000000000" pitchFamily="50" charset="-128"/>
                <a:ea typeface="BIZ UDPゴシック" panose="020B0400000000000000" pitchFamily="50" charset="-128"/>
              </a:rPr>
              <a:t>国</a:t>
            </a:r>
            <a:r>
              <a:rPr lang="en-US" altLang="ja-JP" sz="1400" dirty="0">
                <a:solidFill>
                  <a:schemeClr val="bg1"/>
                </a:solidFill>
                <a:latin typeface="BIZ UDPゴシック" panose="020B0400000000000000" pitchFamily="50" charset="-128"/>
                <a:ea typeface="BIZ UDPゴシック" panose="020B0400000000000000" pitchFamily="50" charset="-128"/>
              </a:rPr>
              <a:t>)</a:t>
            </a:r>
            <a:endParaRPr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38960FDA-497F-7ABB-9D72-C3EE5302795A}"/>
              </a:ext>
            </a:extLst>
          </p:cNvPr>
          <p:cNvSpPr/>
          <p:nvPr/>
        </p:nvSpPr>
        <p:spPr>
          <a:xfrm>
            <a:off x="4103258" y="5439768"/>
            <a:ext cx="1299491" cy="401914"/>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域外で調達</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(A</a:t>
            </a:r>
            <a:r>
              <a:rPr lang="ja-JP" altLang="en-US" sz="1400" dirty="0">
                <a:solidFill>
                  <a:schemeClr val="bg1"/>
                </a:solidFill>
                <a:latin typeface="BIZ UDPゴシック" panose="020B0400000000000000" pitchFamily="50" charset="-128"/>
                <a:ea typeface="BIZ UDPゴシック" panose="020B0400000000000000" pitchFamily="50" charset="-128"/>
              </a:rPr>
              <a:t>国</a:t>
            </a:r>
            <a:r>
              <a:rPr lang="en-US" altLang="ja-JP" sz="1400" dirty="0">
                <a:solidFill>
                  <a:schemeClr val="bg1"/>
                </a:solidFill>
                <a:latin typeface="BIZ UDPゴシック" panose="020B0400000000000000" pitchFamily="50" charset="-128"/>
                <a:ea typeface="BIZ UDPゴシック" panose="020B0400000000000000" pitchFamily="50" charset="-128"/>
              </a:rPr>
              <a:t>)</a:t>
            </a:r>
            <a:endParaRPr lang="ja-JP" altLang="en-US" sz="1400" dirty="0">
              <a:solidFill>
                <a:schemeClr val="bg1"/>
              </a:solidFill>
              <a:latin typeface="BIZ UDPゴシック" panose="020B0400000000000000" pitchFamily="50" charset="-128"/>
              <a:ea typeface="BIZ UDPゴシック" panose="020B0400000000000000" pitchFamily="50" charset="-128"/>
            </a:endParaRPr>
          </a:p>
        </p:txBody>
      </p:sp>
      <p:cxnSp>
        <p:nvCxnSpPr>
          <p:cNvPr id="25" name="直線コネクタ 24">
            <a:extLst>
              <a:ext uri="{FF2B5EF4-FFF2-40B4-BE49-F238E27FC236}">
                <a16:creationId xmlns:a16="http://schemas.microsoft.com/office/drawing/2014/main" id="{B92CA68E-0C72-B615-1F7A-A7D2A4D5CCDF}"/>
              </a:ext>
            </a:extLst>
          </p:cNvPr>
          <p:cNvCxnSpPr>
            <a:cxnSpLocks/>
          </p:cNvCxnSpPr>
          <p:nvPr/>
        </p:nvCxnSpPr>
        <p:spPr>
          <a:xfrm>
            <a:off x="1769534" y="4037297"/>
            <a:ext cx="9023241" cy="21367"/>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6" name="直線コネクタ 25">
            <a:extLst>
              <a:ext uri="{FF2B5EF4-FFF2-40B4-BE49-F238E27FC236}">
                <a16:creationId xmlns:a16="http://schemas.microsoft.com/office/drawing/2014/main" id="{BB570553-2105-DC5B-1904-A7FF65B330DD}"/>
              </a:ext>
            </a:extLst>
          </p:cNvPr>
          <p:cNvCxnSpPr>
            <a:cxnSpLocks/>
          </p:cNvCxnSpPr>
          <p:nvPr/>
        </p:nvCxnSpPr>
        <p:spPr>
          <a:xfrm>
            <a:off x="3604533" y="2711362"/>
            <a:ext cx="7369871"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7" name="直線コネクタ 26">
            <a:extLst>
              <a:ext uri="{FF2B5EF4-FFF2-40B4-BE49-F238E27FC236}">
                <a16:creationId xmlns:a16="http://schemas.microsoft.com/office/drawing/2014/main" id="{136B54FA-2609-9F35-24B6-6200C7804F47}"/>
              </a:ext>
            </a:extLst>
          </p:cNvPr>
          <p:cNvCxnSpPr>
            <a:cxnSpLocks/>
          </p:cNvCxnSpPr>
          <p:nvPr/>
        </p:nvCxnSpPr>
        <p:spPr>
          <a:xfrm>
            <a:off x="3604533" y="5288308"/>
            <a:ext cx="7369871"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34" name="直角三角形 33">
            <a:extLst>
              <a:ext uri="{FF2B5EF4-FFF2-40B4-BE49-F238E27FC236}">
                <a16:creationId xmlns:a16="http://schemas.microsoft.com/office/drawing/2014/main" id="{899B659E-8997-69E4-64CB-AB16A8410377}"/>
              </a:ext>
            </a:extLst>
          </p:cNvPr>
          <p:cNvSpPr/>
          <p:nvPr/>
        </p:nvSpPr>
        <p:spPr>
          <a:xfrm rot="10800000">
            <a:off x="11436520" y="1567915"/>
            <a:ext cx="420518" cy="4325722"/>
          </a:xfrm>
          <a:prstGeom prst="r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lgn="l">
              <a:buFont typeface="+mj-ea"/>
              <a:buAutoNum type="circleNumDbPlain"/>
            </a:pP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2B03DE3F-28F9-D7CD-78A3-FEB38A622184}"/>
              </a:ext>
            </a:extLst>
          </p:cNvPr>
          <p:cNvSpPr txBox="1"/>
          <p:nvPr/>
        </p:nvSpPr>
        <p:spPr>
          <a:xfrm>
            <a:off x="11409844" y="1324116"/>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依存</a:t>
            </a:r>
          </a:p>
        </p:txBody>
      </p:sp>
      <p:sp>
        <p:nvSpPr>
          <p:cNvPr id="36" name="テキスト ボックス 35">
            <a:extLst>
              <a:ext uri="{FF2B5EF4-FFF2-40B4-BE49-F238E27FC236}">
                <a16:creationId xmlns:a16="http://schemas.microsoft.com/office/drawing/2014/main" id="{FDAE2AE4-85AA-38E6-2CF8-5E7A850BF263}"/>
              </a:ext>
            </a:extLst>
          </p:cNvPr>
          <p:cNvSpPr txBox="1"/>
          <p:nvPr/>
        </p:nvSpPr>
        <p:spPr>
          <a:xfrm>
            <a:off x="11409843" y="1750935"/>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分散</a:t>
            </a:r>
          </a:p>
        </p:txBody>
      </p:sp>
      <p:sp>
        <p:nvSpPr>
          <p:cNvPr id="37" name="テキスト ボックス 36">
            <a:extLst>
              <a:ext uri="{FF2B5EF4-FFF2-40B4-BE49-F238E27FC236}">
                <a16:creationId xmlns:a16="http://schemas.microsoft.com/office/drawing/2014/main" id="{72DA1E51-8B30-1724-580E-CE19D3D742C3}"/>
              </a:ext>
            </a:extLst>
          </p:cNvPr>
          <p:cNvSpPr txBox="1"/>
          <p:nvPr/>
        </p:nvSpPr>
        <p:spPr>
          <a:xfrm>
            <a:off x="11409842" y="5570472"/>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集約</a:t>
            </a:r>
          </a:p>
        </p:txBody>
      </p:sp>
    </p:spTree>
    <p:extLst>
      <p:ext uri="{BB962C8B-B14F-4D97-AF65-F5344CB8AC3E}">
        <p14:creationId xmlns:p14="http://schemas.microsoft.com/office/powerpoint/2010/main" val="19729284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567C7D-0D58-FB0A-4EC6-E4B67496D3DF}"/>
              </a:ext>
            </a:extLst>
          </p:cNvPr>
          <p:cNvSpPr>
            <a:spLocks noGrp="1"/>
          </p:cNvSpPr>
          <p:nvPr>
            <p:ph type="title"/>
          </p:nvPr>
        </p:nvSpPr>
        <p:spPr/>
        <p:txBody>
          <a:bodyPr/>
          <a:lstStyle/>
          <a:p>
            <a:r>
              <a:rPr lang="ja-JP" altLang="en-US" dirty="0"/>
              <a:t>フレームワーク一覧</a:t>
            </a:r>
            <a:endParaRPr kumimoji="1" lang="ja-JP" altLang="en-US" dirty="0"/>
          </a:p>
        </p:txBody>
      </p:sp>
      <p:sp>
        <p:nvSpPr>
          <p:cNvPr id="3" name="フッター プレースホルダー 2">
            <a:extLst>
              <a:ext uri="{FF2B5EF4-FFF2-40B4-BE49-F238E27FC236}">
                <a16:creationId xmlns:a16="http://schemas.microsoft.com/office/drawing/2014/main" id="{8C98CF07-4AD6-2FB2-07C4-916DB146CECE}"/>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5E25CA00-93EA-C23B-3595-5FCB74A36C6D}"/>
              </a:ext>
            </a:extLst>
          </p:cNvPr>
          <p:cNvSpPr>
            <a:spLocks noGrp="1"/>
          </p:cNvSpPr>
          <p:nvPr>
            <p:ph type="sldNum" sz="quarter" idx="12"/>
          </p:nvPr>
        </p:nvSpPr>
        <p:spPr/>
        <p:txBody>
          <a:bodyPr/>
          <a:lstStyle/>
          <a:p>
            <a:fld id="{DCB5AA93-092B-49A1-87A7-3C88D5F38AD7}" type="slidenum">
              <a:rPr lang="ja-JP" altLang="en-US" smtClean="0"/>
              <a:pPr/>
              <a:t>7</a:t>
            </a:fld>
            <a:endParaRPr lang="ja-JP" altLang="en-US" sz="900" dirty="0"/>
          </a:p>
        </p:txBody>
      </p:sp>
      <p:sp>
        <p:nvSpPr>
          <p:cNvPr id="5" name="テキスト プレースホルダー 4">
            <a:extLst>
              <a:ext uri="{FF2B5EF4-FFF2-40B4-BE49-F238E27FC236}">
                <a16:creationId xmlns:a16="http://schemas.microsoft.com/office/drawing/2014/main" id="{C689C0A2-9EA8-2E1A-539E-4D4C686A593A}"/>
              </a:ext>
            </a:extLst>
          </p:cNvPr>
          <p:cNvSpPr>
            <a:spLocks noGrp="1"/>
          </p:cNvSpPr>
          <p:nvPr>
            <p:ph type="body" sz="quarter" idx="13"/>
          </p:nvPr>
        </p:nvSpPr>
        <p:spPr/>
        <p:txBody>
          <a:bodyPr/>
          <a:lstStyle/>
          <a:p>
            <a:r>
              <a:rPr lang="ja-JP" altLang="en-US" dirty="0"/>
              <a:t>目的と課題に応じた手法を選択しないと，本来の意図からはかけ離れてしまう</a:t>
            </a:r>
          </a:p>
        </p:txBody>
      </p:sp>
      <p:sp>
        <p:nvSpPr>
          <p:cNvPr id="6" name="テキスト ボックス 5">
            <a:extLst>
              <a:ext uri="{FF2B5EF4-FFF2-40B4-BE49-F238E27FC236}">
                <a16:creationId xmlns:a16="http://schemas.microsoft.com/office/drawing/2014/main" id="{A01D4D96-40C4-6AA7-2B06-D0EE8E66775B}"/>
              </a:ext>
            </a:extLst>
          </p:cNvPr>
          <p:cNvSpPr txBox="1"/>
          <p:nvPr/>
        </p:nvSpPr>
        <p:spPr>
          <a:xfrm>
            <a:off x="433775" y="1369676"/>
            <a:ext cx="1149354"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フレームワーク</a:t>
            </a:r>
          </a:p>
        </p:txBody>
      </p:sp>
      <p:sp>
        <p:nvSpPr>
          <p:cNvPr id="7" name="テキスト ボックス 6">
            <a:extLst>
              <a:ext uri="{FF2B5EF4-FFF2-40B4-BE49-F238E27FC236}">
                <a16:creationId xmlns:a16="http://schemas.microsoft.com/office/drawing/2014/main" id="{CF8879CD-ECC8-6E4D-CE73-6AFF007D18CD}"/>
              </a:ext>
            </a:extLst>
          </p:cNvPr>
          <p:cNvSpPr txBox="1"/>
          <p:nvPr/>
        </p:nvSpPr>
        <p:spPr>
          <a:xfrm>
            <a:off x="4142181" y="1369676"/>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意味</a:t>
            </a:r>
          </a:p>
        </p:txBody>
      </p:sp>
      <p:sp>
        <p:nvSpPr>
          <p:cNvPr id="8" name="テキスト ボックス 7">
            <a:extLst>
              <a:ext uri="{FF2B5EF4-FFF2-40B4-BE49-F238E27FC236}">
                <a16:creationId xmlns:a16="http://schemas.microsoft.com/office/drawing/2014/main" id="{C32BBF13-C7C4-4A1A-BFDC-B9CD3E0AA43C}"/>
              </a:ext>
            </a:extLst>
          </p:cNvPr>
          <p:cNvSpPr txBox="1"/>
          <p:nvPr/>
        </p:nvSpPr>
        <p:spPr>
          <a:xfrm>
            <a:off x="9027446" y="1361183"/>
            <a:ext cx="53860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注意点</a:t>
            </a:r>
          </a:p>
        </p:txBody>
      </p:sp>
      <p:sp>
        <p:nvSpPr>
          <p:cNvPr id="9" name="正方形/長方形 8">
            <a:extLst>
              <a:ext uri="{FF2B5EF4-FFF2-40B4-BE49-F238E27FC236}">
                <a16:creationId xmlns:a16="http://schemas.microsoft.com/office/drawing/2014/main" id="{97519651-5D92-2E07-98BB-D1629206112D}"/>
              </a:ext>
            </a:extLst>
          </p:cNvPr>
          <p:cNvSpPr/>
          <p:nvPr/>
        </p:nvSpPr>
        <p:spPr>
          <a:xfrm>
            <a:off x="334963" y="1842697"/>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MECE</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044EADB-F82A-C81F-1CDE-C9CC11393D47}"/>
              </a:ext>
            </a:extLst>
          </p:cNvPr>
          <p:cNvSpPr txBox="1"/>
          <p:nvPr/>
        </p:nvSpPr>
        <p:spPr>
          <a:xfrm>
            <a:off x="1817652" y="1842692"/>
            <a:ext cx="4982492"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MECE</a:t>
            </a:r>
            <a:r>
              <a:rPr lang="ja-JP" altLang="en-US" sz="1400" dirty="0">
                <a:latin typeface="BIZ UDPゴシック" panose="020B0400000000000000" pitchFamily="50" charset="-128"/>
                <a:ea typeface="BIZ UDPゴシック" panose="020B0400000000000000" pitchFamily="50" charset="-128"/>
              </a:rPr>
              <a:t>とはダブりがなく，モレがない状態を指す言葉</a:t>
            </a:r>
          </a:p>
        </p:txBody>
      </p:sp>
      <p:sp>
        <p:nvSpPr>
          <p:cNvPr id="11" name="テキスト ボックス 10">
            <a:extLst>
              <a:ext uri="{FF2B5EF4-FFF2-40B4-BE49-F238E27FC236}">
                <a16:creationId xmlns:a16="http://schemas.microsoft.com/office/drawing/2014/main" id="{EC91C1F7-7BEE-70E4-ADE5-AED4CD1E4FF4}"/>
              </a:ext>
            </a:extLst>
          </p:cNvPr>
          <p:cNvSpPr txBox="1"/>
          <p:nvPr/>
        </p:nvSpPr>
        <p:spPr>
          <a:xfrm>
            <a:off x="6983345" y="1842692"/>
            <a:ext cx="4665591"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必ず図に書き出してモレとダブりがあるか確認すること</a:t>
            </a:r>
          </a:p>
        </p:txBody>
      </p:sp>
      <p:cxnSp>
        <p:nvCxnSpPr>
          <p:cNvPr id="12" name="直線コネクタ 11">
            <a:extLst>
              <a:ext uri="{FF2B5EF4-FFF2-40B4-BE49-F238E27FC236}">
                <a16:creationId xmlns:a16="http://schemas.microsoft.com/office/drawing/2014/main" id="{6747F91F-A8EB-80AE-B071-10EFB3F5E2AF}"/>
              </a:ext>
              <a:ext uri="{C183D7F6-B498-43B3-948B-1728B52AA6E4}">
                <adec:decorative xmlns:adec="http://schemas.microsoft.com/office/drawing/2017/decorative" val="1"/>
              </a:ext>
            </a:extLst>
          </p:cNvPr>
          <p:cNvCxnSpPr>
            <a:cxnSpLocks/>
          </p:cNvCxnSpPr>
          <p:nvPr/>
        </p:nvCxnSpPr>
        <p:spPr>
          <a:xfrm>
            <a:off x="334963" y="1646616"/>
            <a:ext cx="12994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3" name="直線コネクタ 12">
            <a:extLst>
              <a:ext uri="{FF2B5EF4-FFF2-40B4-BE49-F238E27FC236}">
                <a16:creationId xmlns:a16="http://schemas.microsoft.com/office/drawing/2014/main" id="{5FDAD3EC-417A-B994-E783-1C183C859FC4}"/>
              </a:ext>
              <a:ext uri="{C183D7F6-B498-43B3-948B-1728B52AA6E4}">
                <adec:decorative xmlns:adec="http://schemas.microsoft.com/office/drawing/2017/decorative" val="1"/>
              </a:ext>
            </a:extLst>
          </p:cNvPr>
          <p:cNvCxnSpPr>
            <a:cxnSpLocks/>
          </p:cNvCxnSpPr>
          <p:nvPr/>
        </p:nvCxnSpPr>
        <p:spPr>
          <a:xfrm>
            <a:off x="1816630" y="1646616"/>
            <a:ext cx="4982492"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4" name="直線コネクタ 13">
            <a:extLst>
              <a:ext uri="{FF2B5EF4-FFF2-40B4-BE49-F238E27FC236}">
                <a16:creationId xmlns:a16="http://schemas.microsoft.com/office/drawing/2014/main" id="{AD3C4656-B152-41B1-50D8-B3B57F1162B6}"/>
              </a:ext>
              <a:ext uri="{C183D7F6-B498-43B3-948B-1728B52AA6E4}">
                <adec:decorative xmlns:adec="http://schemas.microsoft.com/office/drawing/2017/decorative" val="1"/>
              </a:ext>
            </a:extLst>
          </p:cNvPr>
          <p:cNvCxnSpPr>
            <a:cxnSpLocks/>
          </p:cNvCxnSpPr>
          <p:nvPr/>
        </p:nvCxnSpPr>
        <p:spPr>
          <a:xfrm>
            <a:off x="6983345" y="1646616"/>
            <a:ext cx="4665591"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5" name="正方形/長方形 14">
            <a:extLst>
              <a:ext uri="{FF2B5EF4-FFF2-40B4-BE49-F238E27FC236}">
                <a16:creationId xmlns:a16="http://schemas.microsoft.com/office/drawing/2014/main" id="{1D4D1C1A-F976-D569-E467-A79CA14D258D}"/>
              </a:ext>
            </a:extLst>
          </p:cNvPr>
          <p:cNvSpPr/>
          <p:nvPr/>
        </p:nvSpPr>
        <p:spPr>
          <a:xfrm>
            <a:off x="334963" y="2665567"/>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ロジック</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ツリー</a:t>
            </a:r>
          </a:p>
        </p:txBody>
      </p:sp>
      <p:sp>
        <p:nvSpPr>
          <p:cNvPr id="16" name="テキスト ボックス 15">
            <a:extLst>
              <a:ext uri="{FF2B5EF4-FFF2-40B4-BE49-F238E27FC236}">
                <a16:creationId xmlns:a16="http://schemas.microsoft.com/office/drawing/2014/main" id="{5CCEFCF8-5BD0-9D5E-1277-A3D3F7061667}"/>
              </a:ext>
            </a:extLst>
          </p:cNvPr>
          <p:cNvSpPr txBox="1"/>
          <p:nvPr/>
        </p:nvSpPr>
        <p:spPr>
          <a:xfrm>
            <a:off x="1816630" y="2665565"/>
            <a:ext cx="4982492"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樹形図の形で物事を整理していく手法．イシューツリーとも呼ばれる．</a:t>
            </a:r>
          </a:p>
        </p:txBody>
      </p:sp>
      <p:sp>
        <p:nvSpPr>
          <p:cNvPr id="17" name="テキスト ボックス 16">
            <a:extLst>
              <a:ext uri="{FF2B5EF4-FFF2-40B4-BE49-F238E27FC236}">
                <a16:creationId xmlns:a16="http://schemas.microsoft.com/office/drawing/2014/main" id="{E9275FF6-8C4D-8518-4E20-9FC1F99D7B9E}"/>
              </a:ext>
            </a:extLst>
          </p:cNvPr>
          <p:cNvSpPr txBox="1"/>
          <p:nvPr/>
        </p:nvSpPr>
        <p:spPr>
          <a:xfrm>
            <a:off x="6983345" y="2665565"/>
            <a:ext cx="4665591"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説明する相手が期待する結論に応じ，ブレイクダウンの方向性を調整する</a:t>
            </a:r>
          </a:p>
        </p:txBody>
      </p:sp>
      <p:sp>
        <p:nvSpPr>
          <p:cNvPr id="18" name="正方形/長方形 17">
            <a:extLst>
              <a:ext uri="{FF2B5EF4-FFF2-40B4-BE49-F238E27FC236}">
                <a16:creationId xmlns:a16="http://schemas.microsoft.com/office/drawing/2014/main" id="{163CB420-E95E-4603-3530-F02AC29ACF6D}"/>
              </a:ext>
            </a:extLst>
          </p:cNvPr>
          <p:cNvSpPr/>
          <p:nvPr/>
        </p:nvSpPr>
        <p:spPr>
          <a:xfrm>
            <a:off x="334965" y="3464778"/>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KPI</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9E66AE07-C452-856D-FEBF-EC9308856938}"/>
              </a:ext>
            </a:extLst>
          </p:cNvPr>
          <p:cNvSpPr txBox="1"/>
          <p:nvPr/>
        </p:nvSpPr>
        <p:spPr>
          <a:xfrm>
            <a:off x="1816631" y="3464777"/>
            <a:ext cx="4982492"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業務の達成度などを数値で測定するための指標である．重要業績指標と訳されることもある．</a:t>
            </a:r>
          </a:p>
        </p:txBody>
      </p:sp>
      <p:sp>
        <p:nvSpPr>
          <p:cNvPr id="20" name="テキスト ボックス 19">
            <a:extLst>
              <a:ext uri="{FF2B5EF4-FFF2-40B4-BE49-F238E27FC236}">
                <a16:creationId xmlns:a16="http://schemas.microsoft.com/office/drawing/2014/main" id="{65875A0A-84E1-5830-06B2-DE118B225FCB}"/>
              </a:ext>
            </a:extLst>
          </p:cNvPr>
          <p:cNvSpPr txBox="1"/>
          <p:nvPr/>
        </p:nvSpPr>
        <p:spPr>
          <a:xfrm>
            <a:off x="6983345" y="3464773"/>
            <a:ext cx="4665591"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有用性が認められる単位でなければ意味ない．</a:t>
            </a:r>
          </a:p>
        </p:txBody>
      </p:sp>
      <p:sp>
        <p:nvSpPr>
          <p:cNvPr id="21" name="正方形/長方形 20">
            <a:extLst>
              <a:ext uri="{FF2B5EF4-FFF2-40B4-BE49-F238E27FC236}">
                <a16:creationId xmlns:a16="http://schemas.microsoft.com/office/drawing/2014/main" id="{DF1E218C-52DB-BEEB-DDEE-573C24A9AF79}"/>
              </a:ext>
            </a:extLst>
          </p:cNvPr>
          <p:cNvSpPr/>
          <p:nvPr/>
        </p:nvSpPr>
        <p:spPr>
          <a:xfrm>
            <a:off x="334965" y="4284875"/>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PDCA</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C14AB0EE-5784-2E8C-200D-61F2AD93F4AD}"/>
              </a:ext>
            </a:extLst>
          </p:cNvPr>
          <p:cNvSpPr txBox="1"/>
          <p:nvPr/>
        </p:nvSpPr>
        <p:spPr>
          <a:xfrm>
            <a:off x="1816631" y="4284874"/>
            <a:ext cx="4982492" cy="430887"/>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Plan-Do-Check-Action</a:t>
            </a:r>
            <a:r>
              <a:rPr lang="ja-JP" altLang="en-US" sz="1400" dirty="0">
                <a:latin typeface="BIZ UDPゴシック" panose="020B0400000000000000" pitchFamily="50" charset="-128"/>
                <a:ea typeface="BIZ UDPゴシック" panose="020B0400000000000000" pitchFamily="50" charset="-128"/>
              </a:rPr>
              <a:t>をスパイラルに進めることによって継続的な改善を推進する．</a:t>
            </a:r>
          </a:p>
        </p:txBody>
      </p:sp>
      <p:sp>
        <p:nvSpPr>
          <p:cNvPr id="23" name="テキスト ボックス 22">
            <a:extLst>
              <a:ext uri="{FF2B5EF4-FFF2-40B4-BE49-F238E27FC236}">
                <a16:creationId xmlns:a16="http://schemas.microsoft.com/office/drawing/2014/main" id="{AA275D11-D7CD-B15E-9A30-67E5032965F8}"/>
              </a:ext>
            </a:extLst>
          </p:cNvPr>
          <p:cNvSpPr txBox="1"/>
          <p:nvPr/>
        </p:nvSpPr>
        <p:spPr>
          <a:xfrm>
            <a:off x="6983345" y="4284872"/>
            <a:ext cx="4665591"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必ず定期的な計画の立て直しを行う．</a:t>
            </a:r>
          </a:p>
        </p:txBody>
      </p:sp>
      <p:sp>
        <p:nvSpPr>
          <p:cNvPr id="24" name="正方形/長方形 23">
            <a:extLst>
              <a:ext uri="{FF2B5EF4-FFF2-40B4-BE49-F238E27FC236}">
                <a16:creationId xmlns:a16="http://schemas.microsoft.com/office/drawing/2014/main" id="{F68E6E17-5A76-E116-03AC-B8B8896FA888}"/>
              </a:ext>
            </a:extLst>
          </p:cNvPr>
          <p:cNvSpPr/>
          <p:nvPr/>
        </p:nvSpPr>
        <p:spPr>
          <a:xfrm>
            <a:off x="334965" y="5053829"/>
            <a:ext cx="1299491" cy="62679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Top Down/</a:t>
            </a:r>
          </a:p>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Bottom up</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0C402643-14DE-D199-9275-D0C4FAEEBD8E}"/>
              </a:ext>
            </a:extLst>
          </p:cNvPr>
          <p:cNvSpPr txBox="1"/>
          <p:nvPr/>
        </p:nvSpPr>
        <p:spPr>
          <a:xfrm>
            <a:off x="1816631" y="5053826"/>
            <a:ext cx="4982492"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上位下達，下意上達の流れを表す．</a:t>
            </a:r>
          </a:p>
        </p:txBody>
      </p:sp>
      <p:sp>
        <p:nvSpPr>
          <p:cNvPr id="26" name="テキスト ボックス 25">
            <a:extLst>
              <a:ext uri="{FF2B5EF4-FFF2-40B4-BE49-F238E27FC236}">
                <a16:creationId xmlns:a16="http://schemas.microsoft.com/office/drawing/2014/main" id="{8AD2FA02-3781-299E-1F10-5E3109F0C939}"/>
              </a:ext>
            </a:extLst>
          </p:cNvPr>
          <p:cNvSpPr txBox="1"/>
          <p:nvPr/>
        </p:nvSpPr>
        <p:spPr>
          <a:xfrm>
            <a:off x="6983345" y="5053826"/>
            <a:ext cx="4665591" cy="215444"/>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どちらか片方だけではうまく働かない．</a:t>
            </a:r>
          </a:p>
        </p:txBody>
      </p:sp>
    </p:spTree>
    <p:extLst>
      <p:ext uri="{BB962C8B-B14F-4D97-AF65-F5344CB8AC3E}">
        <p14:creationId xmlns:p14="http://schemas.microsoft.com/office/powerpoint/2010/main" val="20780866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6E7561B-FDDB-75B7-5E20-83C94335BD54}"/>
              </a:ext>
            </a:extLst>
          </p:cNvPr>
          <p:cNvSpPr>
            <a:spLocks noGrp="1"/>
          </p:cNvSpPr>
          <p:nvPr>
            <p:ph type="title"/>
          </p:nvPr>
        </p:nvSpPr>
        <p:spPr/>
        <p:txBody>
          <a:bodyPr/>
          <a:lstStyle/>
          <a:p>
            <a:r>
              <a:rPr lang="ja-JP" altLang="en-US" dirty="0"/>
              <a:t>フレームワーク一覧</a:t>
            </a:r>
            <a:endParaRPr kumimoji="1" lang="ja-JP" altLang="en-US" dirty="0"/>
          </a:p>
        </p:txBody>
      </p:sp>
      <p:sp>
        <p:nvSpPr>
          <p:cNvPr id="3" name="フッター プレースホルダー 2">
            <a:extLst>
              <a:ext uri="{FF2B5EF4-FFF2-40B4-BE49-F238E27FC236}">
                <a16:creationId xmlns:a16="http://schemas.microsoft.com/office/drawing/2014/main" id="{7D271E6C-AAD1-073E-5CE0-05ED68830C56}"/>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2A1B63EA-A15C-FBF9-498F-99209C9DE9EC}"/>
              </a:ext>
            </a:extLst>
          </p:cNvPr>
          <p:cNvSpPr>
            <a:spLocks noGrp="1"/>
          </p:cNvSpPr>
          <p:nvPr>
            <p:ph type="sldNum" sz="quarter" idx="12"/>
          </p:nvPr>
        </p:nvSpPr>
        <p:spPr/>
        <p:txBody>
          <a:bodyPr/>
          <a:lstStyle/>
          <a:p>
            <a:fld id="{DCB5AA93-092B-49A1-87A7-3C88D5F38AD7}" type="slidenum">
              <a:rPr lang="ja-JP" altLang="en-US" smtClean="0"/>
              <a:pPr/>
              <a:t>8</a:t>
            </a:fld>
            <a:endParaRPr lang="ja-JP" altLang="en-US" sz="900" dirty="0"/>
          </a:p>
        </p:txBody>
      </p:sp>
      <p:sp>
        <p:nvSpPr>
          <p:cNvPr id="5" name="テキスト プレースホルダー 4">
            <a:extLst>
              <a:ext uri="{FF2B5EF4-FFF2-40B4-BE49-F238E27FC236}">
                <a16:creationId xmlns:a16="http://schemas.microsoft.com/office/drawing/2014/main" id="{0EAA10EC-8346-CD28-5A52-B3C5D31B7BE4}"/>
              </a:ext>
            </a:extLst>
          </p:cNvPr>
          <p:cNvSpPr>
            <a:spLocks noGrp="1"/>
          </p:cNvSpPr>
          <p:nvPr>
            <p:ph type="body" sz="quarter" idx="13"/>
          </p:nvPr>
        </p:nvSpPr>
        <p:spPr/>
        <p:txBody>
          <a:bodyPr/>
          <a:lstStyle/>
          <a:p>
            <a:r>
              <a:rPr lang="ja-JP" altLang="en-US" dirty="0"/>
              <a:t>目的と課題に応じた手法を選択しないと，本来の意図からはかけ離れてしまう</a:t>
            </a:r>
          </a:p>
        </p:txBody>
      </p:sp>
      <p:sp>
        <p:nvSpPr>
          <p:cNvPr id="6" name="テキスト ボックス 5">
            <a:extLst>
              <a:ext uri="{FF2B5EF4-FFF2-40B4-BE49-F238E27FC236}">
                <a16:creationId xmlns:a16="http://schemas.microsoft.com/office/drawing/2014/main" id="{4CE9CFED-1FEA-0EB7-8B13-E077FF184CE3}"/>
              </a:ext>
            </a:extLst>
          </p:cNvPr>
          <p:cNvSpPr txBox="1"/>
          <p:nvPr/>
        </p:nvSpPr>
        <p:spPr>
          <a:xfrm>
            <a:off x="4840241" y="1377272"/>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意味</a:t>
            </a:r>
          </a:p>
        </p:txBody>
      </p:sp>
      <p:sp>
        <p:nvSpPr>
          <p:cNvPr id="7" name="正方形/長方形 6">
            <a:extLst>
              <a:ext uri="{FF2B5EF4-FFF2-40B4-BE49-F238E27FC236}">
                <a16:creationId xmlns:a16="http://schemas.microsoft.com/office/drawing/2014/main" id="{08A175BF-081B-A207-5A60-5B1418B4B2ED}"/>
              </a:ext>
            </a:extLst>
          </p:cNvPr>
          <p:cNvSpPr/>
          <p:nvPr/>
        </p:nvSpPr>
        <p:spPr>
          <a:xfrm>
            <a:off x="351802" y="1620651"/>
            <a:ext cx="2194329" cy="214822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MECE</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FF181202-E48B-E530-6A77-E518DCB7010F}"/>
              </a:ext>
            </a:extLst>
          </p:cNvPr>
          <p:cNvSpPr txBox="1"/>
          <p:nvPr/>
        </p:nvSpPr>
        <p:spPr>
          <a:xfrm>
            <a:off x="3224048" y="1620652"/>
            <a:ext cx="3591462" cy="1077218"/>
          </a:xfrm>
          <a:prstGeom prst="rect">
            <a:avLst/>
          </a:prstGeom>
          <a:noFill/>
        </p:spPr>
        <p:txBody>
          <a:bodyPr wrap="square" lIns="0" tIns="0" rIns="0" bIns="0" rtlCol="0">
            <a:spAutoFit/>
          </a:bodyPr>
          <a:lstStyle/>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MECE</a:t>
            </a:r>
            <a:r>
              <a:rPr lang="ja-JP" altLang="en-US" sz="1400" dirty="0">
                <a:latin typeface="BIZ UDPゴシック" panose="020B0400000000000000" pitchFamily="50" charset="-128"/>
                <a:ea typeface="BIZ UDPゴシック" panose="020B0400000000000000" pitchFamily="50" charset="-128"/>
              </a:rPr>
              <a:t>とはダブりがなく，モレがない状態を指す言葉</a:t>
            </a:r>
            <a:endParaRPr lang="en-US" altLang="ja-JP" sz="1400" dirty="0">
              <a:latin typeface="BIZ UDPゴシック" panose="020B0400000000000000" pitchFamily="50" charset="-128"/>
              <a:ea typeface="BIZ UDPゴシック" panose="020B0400000000000000" pitchFamily="50" charset="-128"/>
            </a:endParaRPr>
          </a:p>
          <a:p>
            <a:pPr marL="361950" lvl="1"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あああ</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樹形図の形で物事を整理していく手法．イシューツリーとも呼ばれる．</a:t>
            </a:r>
          </a:p>
        </p:txBody>
      </p:sp>
      <p:cxnSp>
        <p:nvCxnSpPr>
          <p:cNvPr id="9" name="直線コネクタ 8">
            <a:extLst>
              <a:ext uri="{FF2B5EF4-FFF2-40B4-BE49-F238E27FC236}">
                <a16:creationId xmlns:a16="http://schemas.microsoft.com/office/drawing/2014/main" id="{70600862-FD9B-C5ED-90B8-3E55472A4751}"/>
              </a:ext>
              <a:ext uri="{C183D7F6-B498-43B3-948B-1728B52AA6E4}">
                <adec:decorative xmlns:adec="http://schemas.microsoft.com/office/drawing/2017/decorative" val="1"/>
              </a:ext>
            </a:extLst>
          </p:cNvPr>
          <p:cNvCxnSpPr>
            <a:cxnSpLocks/>
          </p:cNvCxnSpPr>
          <p:nvPr/>
        </p:nvCxnSpPr>
        <p:spPr>
          <a:xfrm>
            <a:off x="3224047" y="1603813"/>
            <a:ext cx="3591462"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0" name="正方形/長方形 9">
            <a:extLst>
              <a:ext uri="{FF2B5EF4-FFF2-40B4-BE49-F238E27FC236}">
                <a16:creationId xmlns:a16="http://schemas.microsoft.com/office/drawing/2014/main" id="{5746FC81-C2C9-5948-8C81-F7EBA78AC249}"/>
              </a:ext>
            </a:extLst>
          </p:cNvPr>
          <p:cNvSpPr/>
          <p:nvPr/>
        </p:nvSpPr>
        <p:spPr>
          <a:xfrm>
            <a:off x="351802" y="3938092"/>
            <a:ext cx="2194329" cy="2148223"/>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MECE</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EF82483D-91E1-32A0-FFDB-8BBEF85D5000}"/>
              </a:ext>
            </a:extLst>
          </p:cNvPr>
          <p:cNvSpPr txBox="1"/>
          <p:nvPr/>
        </p:nvSpPr>
        <p:spPr>
          <a:xfrm>
            <a:off x="7559566" y="1620652"/>
            <a:ext cx="3591462" cy="1292662"/>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必ず図に書き出してモレとダブりがあるか確認すること</a:t>
            </a:r>
          </a:p>
          <a:p>
            <a:pPr marL="361950" lvl="1"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あああ</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説明する相手が期待する結論に応じ，ブレイクダウンの方向性を調整する</a:t>
            </a:r>
          </a:p>
          <a:p>
            <a:pPr indent="-276181">
              <a:buFont typeface="Arial" panose="020B0604020202020204" pitchFamily="34" charset="0"/>
              <a:buChar char="•"/>
            </a:pPr>
            <a:endParaRPr lang="ja-JP" altLang="en-US" sz="1400" dirty="0">
              <a:latin typeface="BIZ UDPゴシック" panose="020B0400000000000000" pitchFamily="50" charset="-128"/>
              <a:ea typeface="BIZ UDPゴシック" panose="020B0400000000000000" pitchFamily="50" charset="-128"/>
            </a:endParaRPr>
          </a:p>
        </p:txBody>
      </p:sp>
      <p:cxnSp>
        <p:nvCxnSpPr>
          <p:cNvPr id="12" name="直線コネクタ 11">
            <a:extLst>
              <a:ext uri="{FF2B5EF4-FFF2-40B4-BE49-F238E27FC236}">
                <a16:creationId xmlns:a16="http://schemas.microsoft.com/office/drawing/2014/main" id="{FE9B8CC9-18B2-BC0E-7A0A-82F1DB74EE78}"/>
              </a:ext>
              <a:ext uri="{C183D7F6-B498-43B3-948B-1728B52AA6E4}">
                <adec:decorative xmlns:adec="http://schemas.microsoft.com/office/drawing/2017/decorative" val="1"/>
              </a:ext>
            </a:extLst>
          </p:cNvPr>
          <p:cNvCxnSpPr>
            <a:cxnSpLocks/>
          </p:cNvCxnSpPr>
          <p:nvPr/>
        </p:nvCxnSpPr>
        <p:spPr>
          <a:xfrm>
            <a:off x="7543800" y="1603813"/>
            <a:ext cx="3591462" cy="0"/>
          </a:xfrm>
          <a:prstGeom prst="line">
            <a:avLst/>
          </a:prstGeom>
          <a:ln w="28575">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F94ED9EA-192C-B11D-D7A5-E66F437B44F5}"/>
              </a:ext>
            </a:extLst>
          </p:cNvPr>
          <p:cNvSpPr txBox="1"/>
          <p:nvPr/>
        </p:nvSpPr>
        <p:spPr>
          <a:xfrm>
            <a:off x="9159994" y="1377272"/>
            <a:ext cx="359073"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意味</a:t>
            </a:r>
          </a:p>
        </p:txBody>
      </p:sp>
      <p:sp>
        <p:nvSpPr>
          <p:cNvPr id="14" name="テキスト ボックス 13">
            <a:extLst>
              <a:ext uri="{FF2B5EF4-FFF2-40B4-BE49-F238E27FC236}">
                <a16:creationId xmlns:a16="http://schemas.microsoft.com/office/drawing/2014/main" id="{1F757C88-304D-5B22-5D3E-88FC8748E086}"/>
              </a:ext>
            </a:extLst>
          </p:cNvPr>
          <p:cNvSpPr txBox="1"/>
          <p:nvPr/>
        </p:nvSpPr>
        <p:spPr>
          <a:xfrm>
            <a:off x="3208282" y="3938092"/>
            <a:ext cx="3591462" cy="1723549"/>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業務の達成度などを数値で測定するための指標である．重要業績指標と訳されることもある．</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Plan-Do-Check-Action</a:t>
            </a:r>
            <a:r>
              <a:rPr lang="ja-JP" altLang="en-US" sz="1400" dirty="0">
                <a:latin typeface="BIZ UDPゴシック" panose="020B0400000000000000" pitchFamily="50" charset="-128"/>
                <a:ea typeface="BIZ UDPゴシック" panose="020B0400000000000000" pitchFamily="50" charset="-128"/>
              </a:rPr>
              <a:t>をスパイラルに進めることによって継続的な改善を推進する．</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上位下達，下意上達の流れを表す</a:t>
            </a:r>
          </a:p>
          <a:p>
            <a:pPr marL="180975" indent="-180975">
              <a:buFont typeface="Arial" panose="020B0604020202020204" pitchFamily="34" charset="0"/>
              <a:buChar char="•"/>
            </a:pPr>
            <a:endParaRPr lang="ja-JP" altLang="en-US" sz="1400" dirty="0">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CD1B6BF1-CA4D-3727-8A3C-D34CE6957293}"/>
              </a:ext>
            </a:extLst>
          </p:cNvPr>
          <p:cNvSpPr txBox="1"/>
          <p:nvPr/>
        </p:nvSpPr>
        <p:spPr>
          <a:xfrm>
            <a:off x="7543800" y="3938092"/>
            <a:ext cx="3591462" cy="1077218"/>
          </a:xfrm>
          <a:prstGeom prst="rect">
            <a:avLst/>
          </a:prstGeom>
          <a:noFill/>
        </p:spPr>
        <p:txBody>
          <a:bodyPr wrap="square" lIns="0" tIns="0" rIns="0" bIns="0" rtlCol="0">
            <a:spAutoFit/>
          </a:bodyPr>
          <a:lstStyle/>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有用性が認められる単位でなければ意味ない．</a:t>
            </a:r>
            <a:endParaRPr lang="en-US" altLang="ja-JP" sz="1400" dirty="0">
              <a:latin typeface="BIZ UDPゴシック" panose="020B0400000000000000" pitchFamily="50" charset="-128"/>
              <a:ea typeface="BIZ UDPゴシック" panose="020B0400000000000000" pitchFamily="50" charset="-128"/>
            </a:endParaRP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必ず定期的な計画の立て直しを行う．</a:t>
            </a:r>
          </a:p>
          <a:p>
            <a:pPr marL="180975" indent="-180975">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どちらか片方だけではうまく働かない．</a:t>
            </a:r>
          </a:p>
          <a:p>
            <a:pPr marL="180975" indent="-180975">
              <a:buFont typeface="Arial" panose="020B0604020202020204" pitchFamily="34" charset="0"/>
              <a:buChar char="•"/>
            </a:pPr>
            <a:endParaRPr lang="ja-JP" altLang="en-US"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717463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C1234BE-1A54-3A73-5753-6AB63011BFE5}"/>
              </a:ext>
            </a:extLst>
          </p:cNvPr>
          <p:cNvSpPr>
            <a:spLocks noGrp="1"/>
          </p:cNvSpPr>
          <p:nvPr>
            <p:ph type="title"/>
          </p:nvPr>
        </p:nvSpPr>
        <p:spPr/>
        <p:txBody>
          <a:bodyPr/>
          <a:lstStyle/>
          <a:p>
            <a:r>
              <a:rPr lang="ja-JP" altLang="en-US" dirty="0"/>
              <a:t>カスタマージャーニーの作成方法</a:t>
            </a:r>
            <a:endParaRPr kumimoji="1" lang="ja-JP" altLang="en-US" dirty="0"/>
          </a:p>
        </p:txBody>
      </p:sp>
      <p:sp>
        <p:nvSpPr>
          <p:cNvPr id="3" name="フッター プレースホルダー 2">
            <a:extLst>
              <a:ext uri="{FF2B5EF4-FFF2-40B4-BE49-F238E27FC236}">
                <a16:creationId xmlns:a16="http://schemas.microsoft.com/office/drawing/2014/main" id="{CD175154-CE8F-58CB-B951-1278BEC583B5}"/>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A607547D-A664-FA5A-4C8C-5BF7DD3AA875}"/>
              </a:ext>
            </a:extLst>
          </p:cNvPr>
          <p:cNvSpPr>
            <a:spLocks noGrp="1"/>
          </p:cNvSpPr>
          <p:nvPr>
            <p:ph type="sldNum" sz="quarter" idx="12"/>
          </p:nvPr>
        </p:nvSpPr>
        <p:spPr/>
        <p:txBody>
          <a:bodyPr/>
          <a:lstStyle/>
          <a:p>
            <a:fld id="{DCB5AA93-092B-49A1-87A7-3C88D5F38AD7}" type="slidenum">
              <a:rPr lang="ja-JP" altLang="en-US" smtClean="0"/>
              <a:pPr/>
              <a:t>9</a:t>
            </a:fld>
            <a:endParaRPr lang="ja-JP" altLang="en-US" sz="900" dirty="0"/>
          </a:p>
        </p:txBody>
      </p:sp>
      <p:sp>
        <p:nvSpPr>
          <p:cNvPr id="5" name="テキスト プレースホルダー 4">
            <a:extLst>
              <a:ext uri="{FF2B5EF4-FFF2-40B4-BE49-F238E27FC236}">
                <a16:creationId xmlns:a16="http://schemas.microsoft.com/office/drawing/2014/main" id="{03174711-6CC1-D168-88E3-6EA8E75CD593}"/>
              </a:ext>
            </a:extLst>
          </p:cNvPr>
          <p:cNvSpPr>
            <a:spLocks noGrp="1"/>
          </p:cNvSpPr>
          <p:nvPr>
            <p:ph type="body" sz="quarter" idx="13"/>
          </p:nvPr>
        </p:nvSpPr>
        <p:spPr/>
        <p:txBody>
          <a:bodyPr/>
          <a:lstStyle/>
          <a:p>
            <a:endParaRPr kumimoji="1" lang="ja-JP" altLang="en-US"/>
          </a:p>
        </p:txBody>
      </p:sp>
      <p:sp>
        <p:nvSpPr>
          <p:cNvPr id="14" name="正方形/長方形 13">
            <a:extLst>
              <a:ext uri="{FF2B5EF4-FFF2-40B4-BE49-F238E27FC236}">
                <a16:creationId xmlns:a16="http://schemas.microsoft.com/office/drawing/2014/main" id="{E83F4BAB-94FC-AC9E-D65C-BE00E20EF921}"/>
              </a:ext>
            </a:extLst>
          </p:cNvPr>
          <p:cNvSpPr/>
          <p:nvPr/>
        </p:nvSpPr>
        <p:spPr>
          <a:xfrm>
            <a:off x="1560204" y="1272314"/>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ペルソナを定義</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C567A190-077B-7434-2650-27FB7A7527B2}"/>
              </a:ext>
            </a:extLst>
          </p:cNvPr>
          <p:cNvSpPr/>
          <p:nvPr/>
        </p:nvSpPr>
        <p:spPr>
          <a:xfrm>
            <a:off x="1560204" y="2268162"/>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顧客のタッチポイントを洗い出し</a:t>
            </a:r>
          </a:p>
        </p:txBody>
      </p:sp>
      <p:sp>
        <p:nvSpPr>
          <p:cNvPr id="16" name="正方形/長方形 15">
            <a:extLst>
              <a:ext uri="{FF2B5EF4-FFF2-40B4-BE49-F238E27FC236}">
                <a16:creationId xmlns:a16="http://schemas.microsoft.com/office/drawing/2014/main" id="{97629124-8441-7B18-086B-AF876B51E4DC}"/>
              </a:ext>
            </a:extLst>
          </p:cNvPr>
          <p:cNvSpPr/>
          <p:nvPr/>
        </p:nvSpPr>
        <p:spPr>
          <a:xfrm>
            <a:off x="1560204" y="3264011"/>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各タッチポイントでの顧客体験を分析</a:t>
            </a:r>
          </a:p>
        </p:txBody>
      </p:sp>
      <p:sp>
        <p:nvSpPr>
          <p:cNvPr id="17" name="正方形/長方形 16">
            <a:extLst>
              <a:ext uri="{FF2B5EF4-FFF2-40B4-BE49-F238E27FC236}">
                <a16:creationId xmlns:a16="http://schemas.microsoft.com/office/drawing/2014/main" id="{E33192E8-77BC-5994-EF9B-C8885A9ECF53}"/>
              </a:ext>
            </a:extLst>
          </p:cNvPr>
          <p:cNvSpPr/>
          <p:nvPr/>
        </p:nvSpPr>
        <p:spPr>
          <a:xfrm>
            <a:off x="1560204" y="4259860"/>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ジャーニーマップを作製</a:t>
            </a:r>
          </a:p>
        </p:txBody>
      </p:sp>
      <p:sp>
        <p:nvSpPr>
          <p:cNvPr id="20" name="正方形/長方形 19">
            <a:extLst>
              <a:ext uri="{FF2B5EF4-FFF2-40B4-BE49-F238E27FC236}">
                <a16:creationId xmlns:a16="http://schemas.microsoft.com/office/drawing/2014/main" id="{82867914-EC07-C148-0090-E0C608A03DB2}"/>
              </a:ext>
            </a:extLst>
          </p:cNvPr>
          <p:cNvSpPr/>
          <p:nvPr/>
        </p:nvSpPr>
        <p:spPr>
          <a:xfrm>
            <a:off x="1560204" y="5255707"/>
            <a:ext cx="2325996" cy="73620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改善ポイントを特定</a:t>
            </a:r>
          </a:p>
        </p:txBody>
      </p:sp>
      <p:sp>
        <p:nvSpPr>
          <p:cNvPr id="21" name="正方形/長方形 20">
            <a:extLst>
              <a:ext uri="{FF2B5EF4-FFF2-40B4-BE49-F238E27FC236}">
                <a16:creationId xmlns:a16="http://schemas.microsoft.com/office/drawing/2014/main" id="{708D80F1-9B8E-2017-332C-1028323166A5}"/>
              </a:ext>
            </a:extLst>
          </p:cNvPr>
          <p:cNvSpPr/>
          <p:nvPr/>
        </p:nvSpPr>
        <p:spPr>
          <a:xfrm>
            <a:off x="4405744" y="1272314"/>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marL="182563" indent="-182563">
              <a:buFont typeface="Arial" panose="020B0604020202020204" pitchFamily="34" charset="0"/>
              <a:buChar char="•"/>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目的：顧客像を明確にして，行動やニーズに合ったジャーニーを設計</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方法：アンケート調査やデータ分析を通じて具体的な顧客像を作成</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B0B2E429-A23C-329A-F372-DC48E7B2D42C}"/>
              </a:ext>
            </a:extLst>
          </p:cNvPr>
          <p:cNvSpPr/>
          <p:nvPr/>
        </p:nvSpPr>
        <p:spPr>
          <a:xfrm>
            <a:off x="4405744" y="2268162"/>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marL="182563" indent="-182563">
              <a:buFont typeface="Arial" panose="020B0604020202020204" pitchFamily="34" charset="0"/>
              <a:buChar char="•"/>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目的：顧客がブランドや製品とどのように接触しているかを把握</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例：</a:t>
            </a: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SNS</a:t>
            </a: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広告 → 商品ページ → カスタマーサポート → 購入</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6C75EB3A-A2EE-3CD0-872B-8D1B68487264}"/>
              </a:ext>
            </a:extLst>
          </p:cNvPr>
          <p:cNvSpPr/>
          <p:nvPr/>
        </p:nvSpPr>
        <p:spPr>
          <a:xfrm>
            <a:off x="4405744" y="3264011"/>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marL="182563" indent="-182563">
              <a:buFont typeface="Arial" panose="020B0604020202020204" pitchFamily="34" charset="0"/>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質問例：</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顧客は何を考え，感じているか？</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どのタッチポイントで課題や不満が発生しているか？</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FFB876ED-9BF1-9AB6-F6B2-92DBDDDE975D}"/>
              </a:ext>
            </a:extLst>
          </p:cNvPr>
          <p:cNvSpPr/>
          <p:nvPr/>
        </p:nvSpPr>
        <p:spPr>
          <a:xfrm>
            <a:off x="4405744" y="4259860"/>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marL="182563" indent="-182563">
              <a:buFont typeface="Arial" panose="020B0604020202020204" pitchFamily="34" charset="0"/>
              <a:buChar char="•"/>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ステップ：</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358775" indent="-176213">
              <a:buFont typeface="+mj-ea"/>
              <a:buAutoNum type="circleNumDbPlain"/>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認知 → 興味 → 検討 → 購入 → リピートの流れを図解化</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358775" indent="-176213">
              <a:buFont typeface="+mj-ea"/>
              <a:buAutoNum type="circleNumDbPlain"/>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各課題での顧客行動，感情，課題を記入</a:t>
            </a:r>
          </a:p>
        </p:txBody>
      </p:sp>
      <p:sp>
        <p:nvSpPr>
          <p:cNvPr id="25" name="正方形/長方形 24">
            <a:extLst>
              <a:ext uri="{FF2B5EF4-FFF2-40B4-BE49-F238E27FC236}">
                <a16:creationId xmlns:a16="http://schemas.microsoft.com/office/drawing/2014/main" id="{C7DDC8C5-4BBD-8071-37FD-92E36917B670}"/>
              </a:ext>
            </a:extLst>
          </p:cNvPr>
          <p:cNvSpPr/>
          <p:nvPr/>
        </p:nvSpPr>
        <p:spPr>
          <a:xfrm>
            <a:off x="4405744" y="5255707"/>
            <a:ext cx="7451291" cy="73620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方法：</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各タッチポイントでの課題をもとに優先順位をつけた改善策を検討</a:t>
            </a:r>
          </a:p>
        </p:txBody>
      </p:sp>
      <p:sp>
        <p:nvSpPr>
          <p:cNvPr id="26" name="矢印: 五方向 25">
            <a:extLst>
              <a:ext uri="{FF2B5EF4-FFF2-40B4-BE49-F238E27FC236}">
                <a16:creationId xmlns:a16="http://schemas.microsoft.com/office/drawing/2014/main" id="{D8A1EECC-FDAC-736B-4E19-1C82EAC2C05E}"/>
              </a:ext>
            </a:extLst>
          </p:cNvPr>
          <p:cNvSpPr/>
          <p:nvPr/>
        </p:nvSpPr>
        <p:spPr>
          <a:xfrm rot="5400000">
            <a:off x="348020" y="1259257"/>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1</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7" name="矢印: 五方向 26">
            <a:extLst>
              <a:ext uri="{FF2B5EF4-FFF2-40B4-BE49-F238E27FC236}">
                <a16:creationId xmlns:a16="http://schemas.microsoft.com/office/drawing/2014/main" id="{29A91773-2D11-8C88-03E2-D5D3AD19762C}"/>
              </a:ext>
            </a:extLst>
          </p:cNvPr>
          <p:cNvSpPr/>
          <p:nvPr/>
        </p:nvSpPr>
        <p:spPr>
          <a:xfrm rot="5400000">
            <a:off x="348020" y="2255106"/>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2</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8" name="矢印: 五方向 27">
            <a:extLst>
              <a:ext uri="{FF2B5EF4-FFF2-40B4-BE49-F238E27FC236}">
                <a16:creationId xmlns:a16="http://schemas.microsoft.com/office/drawing/2014/main" id="{8FA61F2E-9B81-7151-4268-FAC473392708}"/>
              </a:ext>
            </a:extLst>
          </p:cNvPr>
          <p:cNvSpPr/>
          <p:nvPr/>
        </p:nvSpPr>
        <p:spPr>
          <a:xfrm rot="5400000">
            <a:off x="348020" y="3250955"/>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3</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9" name="矢印: 五方向 28">
            <a:extLst>
              <a:ext uri="{FF2B5EF4-FFF2-40B4-BE49-F238E27FC236}">
                <a16:creationId xmlns:a16="http://schemas.microsoft.com/office/drawing/2014/main" id="{7E52E331-6758-0B1A-D29C-AE081A2B29F6}"/>
              </a:ext>
            </a:extLst>
          </p:cNvPr>
          <p:cNvSpPr/>
          <p:nvPr/>
        </p:nvSpPr>
        <p:spPr>
          <a:xfrm rot="5400000">
            <a:off x="348020" y="4246804"/>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4</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30" name="矢印: 五方向 29">
            <a:extLst>
              <a:ext uri="{FF2B5EF4-FFF2-40B4-BE49-F238E27FC236}">
                <a16:creationId xmlns:a16="http://schemas.microsoft.com/office/drawing/2014/main" id="{89B9479D-BED8-89CF-C13E-49F8D5F21324}"/>
              </a:ext>
            </a:extLst>
          </p:cNvPr>
          <p:cNvSpPr/>
          <p:nvPr/>
        </p:nvSpPr>
        <p:spPr>
          <a:xfrm rot="5400000">
            <a:off x="348020" y="5242651"/>
            <a:ext cx="736204" cy="762317"/>
          </a:xfrm>
          <a:prstGeom prst="homePlate">
            <a:avLst>
              <a:gd name="adj" fmla="val 2835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vert270" lIns="0" tIns="0" rIns="0" bIns="0" rtlCol="0" anchor="t" anchorCtr="0"/>
          <a:lstStyle/>
          <a:p>
            <a:pPr algn="ctr"/>
            <a:r>
              <a:rPr lang="ja-JP" altLang="en-US" sz="1400" dirty="0">
                <a:solidFill>
                  <a:schemeClr val="tx1"/>
                </a:solidFill>
                <a:latin typeface="BIZ UDPゴシック" panose="020B0400000000000000" pitchFamily="50" charset="-128"/>
                <a:ea typeface="BIZ UDPゴシック" panose="020B0400000000000000" pitchFamily="50" charset="-128"/>
              </a:rPr>
              <a:t>ステップ</a:t>
            </a:r>
            <a:r>
              <a:rPr lang="en-US" altLang="ja-JP" sz="1400" dirty="0">
                <a:solidFill>
                  <a:schemeClr val="tx1"/>
                </a:solidFill>
                <a:latin typeface="BIZ UDPゴシック" panose="020B0400000000000000" pitchFamily="50" charset="-128"/>
                <a:ea typeface="BIZ UDPゴシック" panose="020B0400000000000000" pitchFamily="50" charset="-128"/>
              </a:rPr>
              <a:t>5</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014150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CC0EC7-B18F-47AB-4B3E-CDDD2A65A74A}"/>
              </a:ext>
            </a:extLst>
          </p:cNvPr>
          <p:cNvSpPr>
            <a:spLocks noGrp="1"/>
          </p:cNvSpPr>
          <p:nvPr>
            <p:ph type="title"/>
          </p:nvPr>
        </p:nvSpPr>
        <p:spPr/>
        <p:txBody>
          <a:bodyPr/>
          <a:lstStyle/>
          <a:p>
            <a:r>
              <a:rPr lang="ja-JP" altLang="en-US" dirty="0"/>
              <a:t>新たなライフスタイルを構築した社会イメージ実現に向けた検討ステップ</a:t>
            </a:r>
            <a:endParaRPr kumimoji="1" lang="ja-JP" altLang="en-US" dirty="0"/>
          </a:p>
        </p:txBody>
      </p:sp>
      <p:sp>
        <p:nvSpPr>
          <p:cNvPr id="3" name="フッター プレースホルダー 2">
            <a:extLst>
              <a:ext uri="{FF2B5EF4-FFF2-40B4-BE49-F238E27FC236}">
                <a16:creationId xmlns:a16="http://schemas.microsoft.com/office/drawing/2014/main" id="{36255300-E25F-610B-D49F-08FE78FEE777}"/>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8E2A3580-0F48-E4DF-8F9C-5F961BAEC8F4}"/>
              </a:ext>
            </a:extLst>
          </p:cNvPr>
          <p:cNvSpPr>
            <a:spLocks noGrp="1"/>
          </p:cNvSpPr>
          <p:nvPr>
            <p:ph type="sldNum" sz="quarter" idx="12"/>
          </p:nvPr>
        </p:nvSpPr>
        <p:spPr/>
        <p:txBody>
          <a:bodyPr/>
          <a:lstStyle/>
          <a:p>
            <a:fld id="{DCB5AA93-092B-49A1-87A7-3C88D5F38AD7}" type="slidenum">
              <a:rPr lang="ja-JP" altLang="en-US" smtClean="0"/>
              <a:pPr/>
              <a:t>10</a:t>
            </a:fld>
            <a:endParaRPr lang="ja-JP" altLang="en-US" sz="900" dirty="0"/>
          </a:p>
        </p:txBody>
      </p:sp>
      <p:sp>
        <p:nvSpPr>
          <p:cNvPr id="5" name="テキスト プレースホルダー 4">
            <a:extLst>
              <a:ext uri="{FF2B5EF4-FFF2-40B4-BE49-F238E27FC236}">
                <a16:creationId xmlns:a16="http://schemas.microsoft.com/office/drawing/2014/main" id="{FDCE547D-D5F7-AD67-DDBF-FB5E84F9A18A}"/>
              </a:ext>
            </a:extLst>
          </p:cNvPr>
          <p:cNvSpPr>
            <a:spLocks noGrp="1"/>
          </p:cNvSpPr>
          <p:nvPr>
            <p:ph type="body"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CFBB7EF3-6408-763C-611D-2EFEC7C32016}"/>
              </a:ext>
            </a:extLst>
          </p:cNvPr>
          <p:cNvSpPr txBox="1"/>
          <p:nvPr/>
        </p:nvSpPr>
        <p:spPr>
          <a:xfrm>
            <a:off x="334963" y="1268412"/>
            <a:ext cx="2680265" cy="3019107"/>
          </a:xfrm>
          <a:prstGeom prst="rect">
            <a:avLst/>
          </a:prstGeom>
          <a:noFill/>
        </p:spPr>
        <p:txBody>
          <a:bodyPr wrap="square" lIns="0" tIns="0" rIns="0" bIns="0" rtlCol="0" anchor="t" anchorCtr="0">
            <a:noAutofit/>
          </a:bodyPr>
          <a:lstStyle/>
          <a:p>
            <a:pPr algn="l"/>
            <a:r>
              <a:rPr lang="ja-JP" altLang="en-US" u="sng" dirty="0">
                <a:latin typeface="BIZ UDPゴシック" panose="020B0400000000000000" pitchFamily="50" charset="-128"/>
                <a:ea typeface="BIZ UDPゴシック" panose="020B0400000000000000" pitchFamily="50" charset="-128"/>
              </a:rPr>
              <a:t>仮説出し</a:t>
            </a:r>
            <a:endParaRPr lang="en-US" altLang="ja-JP" u="sng" dirty="0">
              <a:latin typeface="BIZ UDPゴシック" panose="020B0400000000000000" pitchFamily="50" charset="-128"/>
              <a:ea typeface="BIZ UDPゴシック" panose="020B0400000000000000" pitchFamily="50" charset="-128"/>
            </a:endParaRPr>
          </a:p>
          <a:p>
            <a:pPr algn="l"/>
            <a:endParaRPr kumimoji="1" lang="en-US" altLang="ja-JP" u="sng"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あるべき姿の仮説と論点設定</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利活用によって実現される新たなライフスタイルの社会イメージ</a:t>
            </a:r>
            <a:endParaRPr lang="en-US" altLang="ja-JP" sz="14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成立に必要な要件と説くべき論点</a:t>
            </a:r>
          </a:p>
          <a:p>
            <a:pPr algn="l"/>
            <a:endParaRPr kumimoji="1" lang="ja-JP" altLang="en-US" u="sng"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9FD6EF6D-DD02-79FF-EE4F-44A437CC9F73}"/>
              </a:ext>
            </a:extLst>
          </p:cNvPr>
          <p:cNvSpPr txBox="1"/>
          <p:nvPr/>
        </p:nvSpPr>
        <p:spPr>
          <a:xfrm>
            <a:off x="3218517" y="1268412"/>
            <a:ext cx="2680265" cy="3019107"/>
          </a:xfrm>
          <a:prstGeom prst="rect">
            <a:avLst/>
          </a:prstGeom>
          <a:noFill/>
        </p:spPr>
        <p:txBody>
          <a:bodyPr wrap="square" lIns="0" tIns="0" rIns="0" bIns="0" rtlCol="0" anchor="t" anchorCtr="0">
            <a:noAutofit/>
          </a:bodyPr>
          <a:lstStyle/>
          <a:p>
            <a:pPr algn="l"/>
            <a:r>
              <a:rPr lang="ja-JP" altLang="en-US" u="sng" dirty="0">
                <a:latin typeface="BIZ UDPゴシック" panose="020B0400000000000000" pitchFamily="50" charset="-128"/>
                <a:ea typeface="BIZ UDPゴシック" panose="020B0400000000000000" pitchFamily="50" charset="-128"/>
              </a:rPr>
              <a:t>調査</a:t>
            </a:r>
            <a:endParaRPr lang="en-US" altLang="ja-JP" u="sng" dirty="0">
              <a:latin typeface="BIZ UDPゴシック" panose="020B0400000000000000" pitchFamily="50" charset="-128"/>
              <a:ea typeface="BIZ UDPゴシック" panose="020B0400000000000000" pitchFamily="50" charset="-128"/>
            </a:endParaRPr>
          </a:p>
          <a:p>
            <a:pPr algn="l"/>
            <a:endParaRPr kumimoji="1" lang="en-US" altLang="ja-JP" u="sng"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机上調査</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国内外の</a:t>
            </a: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ユースケース</a:t>
            </a:r>
            <a:endParaRPr lang="en-US" altLang="ja-JP" sz="1400" dirty="0">
              <a:latin typeface="BIZ UDPゴシック" panose="020B0400000000000000" pitchFamily="50" charset="-128"/>
              <a:ea typeface="BIZ UDPゴシック" panose="020B0400000000000000" pitchFamily="50" charset="-128"/>
            </a:endParaRPr>
          </a:p>
          <a:p>
            <a:pPr marL="285750" indent="-285750">
              <a:buFont typeface="Arial" panose="020B0604020202020204" pitchFamily="34" charset="0"/>
              <a:buChar char="•"/>
            </a:pPr>
            <a:endParaRPr lang="en-US" altLang="ja-JP" sz="1400" dirty="0">
              <a:latin typeface="BIZ UDPゴシック" panose="020B0400000000000000" pitchFamily="50" charset="-128"/>
              <a:ea typeface="BIZ UDPゴシック" panose="020B0400000000000000" pitchFamily="50" charset="-128"/>
            </a:endParaRPr>
          </a:p>
          <a:p>
            <a:r>
              <a:rPr lang="ja-JP" altLang="en-US" sz="1400" b="1" dirty="0">
                <a:solidFill>
                  <a:schemeClr val="accent3"/>
                </a:solidFill>
                <a:latin typeface="BIZ UDPゴシック" panose="020B0400000000000000" pitchFamily="50" charset="-128"/>
                <a:ea typeface="BIZ UDPゴシック" panose="020B0400000000000000" pitchFamily="50" charset="-128"/>
              </a:rPr>
              <a:t>アンケート・インタビュー</a:t>
            </a:r>
            <a:endParaRPr lang="en-US" altLang="ja-JP" sz="1400" b="1" dirty="0">
              <a:solidFill>
                <a:schemeClr val="accent3"/>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国内</a:t>
            </a: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事業者ヒアリング</a:t>
            </a:r>
            <a:endParaRPr lang="en-US" altLang="ja-JP" sz="14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医師アンケート</a:t>
            </a:r>
            <a:endParaRPr lang="en-US" altLang="ja-JP" sz="14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BCG</a:t>
            </a:r>
            <a:r>
              <a:rPr lang="ja-JP" altLang="en-US" sz="1400" dirty="0">
                <a:latin typeface="BIZ UDPゴシック" panose="020B0400000000000000" pitchFamily="50" charset="-128"/>
                <a:ea typeface="BIZ UDPゴシック" panose="020B0400000000000000" pitchFamily="50" charset="-128"/>
              </a:rPr>
              <a:t>エキスパートアンケート</a:t>
            </a:r>
          </a:p>
          <a:p>
            <a:pPr algn="l"/>
            <a:endParaRPr kumimoji="1" lang="ja-JP" altLang="en-US" u="sng"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5F60DAB9-A55A-97B0-C47D-2B9D774DE50C}"/>
              </a:ext>
            </a:extLst>
          </p:cNvPr>
          <p:cNvSpPr txBox="1"/>
          <p:nvPr/>
        </p:nvSpPr>
        <p:spPr>
          <a:xfrm>
            <a:off x="6293220" y="1268412"/>
            <a:ext cx="2680265" cy="3019107"/>
          </a:xfrm>
          <a:prstGeom prst="rect">
            <a:avLst/>
          </a:prstGeom>
          <a:noFill/>
        </p:spPr>
        <p:txBody>
          <a:bodyPr wrap="square" lIns="0" tIns="0" rIns="0" bIns="0" rtlCol="0" anchor="t" anchorCtr="0">
            <a:noAutofit/>
          </a:bodyPr>
          <a:lstStyle/>
          <a:p>
            <a:r>
              <a:rPr lang="ja-JP" altLang="en-US" u="sng" dirty="0">
                <a:latin typeface="BIZ UDPゴシック" panose="020B0400000000000000" pitchFamily="50" charset="-128"/>
                <a:ea typeface="BIZ UDPゴシック" panose="020B0400000000000000" pitchFamily="50" charset="-128"/>
              </a:rPr>
              <a:t>検証・分析</a:t>
            </a:r>
          </a:p>
          <a:p>
            <a:pPr algn="l"/>
            <a:endParaRPr kumimoji="1" lang="en-US" altLang="ja-JP" u="sng"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目指すべき姿</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利用者ニーズや課題を踏まえた</a:t>
            </a: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事業の将来像</a:t>
            </a:r>
            <a:endParaRPr lang="en-US" altLang="ja-JP" sz="14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endParaRPr lang="en-US" altLang="ja-JP" sz="1400"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課題抽出</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社会イメージ実現のためのドライバーと課題・阻害要因</a:t>
            </a:r>
          </a:p>
          <a:p>
            <a:endParaRPr lang="en-US" altLang="ja-JP" sz="1400"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対応施策考案</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課題・阻害要因の解消に向けた施策オプション</a:t>
            </a:r>
          </a:p>
          <a:p>
            <a:pPr algn="l"/>
            <a:endParaRPr kumimoji="1" lang="ja-JP" altLang="en-US" u="sng" dirty="0">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F530F52F-166B-9099-726B-A86860D11716}"/>
              </a:ext>
            </a:extLst>
          </p:cNvPr>
          <p:cNvSpPr txBox="1"/>
          <p:nvPr/>
        </p:nvSpPr>
        <p:spPr>
          <a:xfrm>
            <a:off x="9176774" y="1268412"/>
            <a:ext cx="2680265" cy="3019107"/>
          </a:xfrm>
          <a:prstGeom prst="rect">
            <a:avLst/>
          </a:prstGeom>
          <a:noFill/>
        </p:spPr>
        <p:txBody>
          <a:bodyPr wrap="square" lIns="0" tIns="0" rIns="0" bIns="0" rtlCol="0" anchor="t" anchorCtr="0">
            <a:noAutofit/>
          </a:bodyPr>
          <a:lstStyle/>
          <a:p>
            <a:r>
              <a:rPr lang="ja-JP" altLang="en-US" u="sng" dirty="0">
                <a:latin typeface="BIZ UDPゴシック" panose="020B0400000000000000" pitchFamily="50" charset="-128"/>
                <a:ea typeface="BIZ UDPゴシック" panose="020B0400000000000000" pitchFamily="50" charset="-128"/>
              </a:rPr>
              <a:t>実現計画</a:t>
            </a:r>
          </a:p>
          <a:p>
            <a:pPr algn="l"/>
            <a:endParaRPr kumimoji="1" lang="en-US" altLang="ja-JP" u="sng"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ロードマップ設計</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285750" indent="-285750">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施策の優先順位と実行時期</a:t>
            </a:r>
            <a:endParaRPr lang="en-US" altLang="ja-JP" sz="1400" dirty="0">
              <a:latin typeface="BIZ UDPゴシック" panose="020B0400000000000000" pitchFamily="50" charset="-128"/>
              <a:ea typeface="BIZ UDPゴシック" panose="020B0400000000000000" pitchFamily="50" charset="-128"/>
            </a:endParaRPr>
          </a:p>
          <a:p>
            <a:endParaRPr lang="en-US" altLang="ja-JP" sz="1400" dirty="0">
              <a:latin typeface="BIZ UDPゴシック" panose="020B0400000000000000" pitchFamily="50" charset="-128"/>
              <a:ea typeface="BIZ UDPゴシック" panose="020B0400000000000000" pitchFamily="50" charset="-128"/>
            </a:endParaRPr>
          </a:p>
          <a:p>
            <a:r>
              <a:rPr lang="ja-JP" altLang="en-US" sz="1400" b="1" dirty="0">
                <a:solidFill>
                  <a:srgbClr val="0070C0"/>
                </a:solidFill>
                <a:latin typeface="BIZ UDPゴシック" panose="020B0400000000000000" pitchFamily="50" charset="-128"/>
                <a:ea typeface="BIZ UDPゴシック" panose="020B0400000000000000" pitchFamily="50" charset="-128"/>
              </a:rPr>
              <a:t>社会イメージ設計</a:t>
            </a:r>
            <a:endParaRPr lang="en-US" altLang="ja-JP" sz="1400" b="1" dirty="0">
              <a:solidFill>
                <a:srgbClr val="0070C0"/>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活用浸透によって実現される新たなライフスタイルのイメージ考案</a:t>
            </a:r>
          </a:p>
          <a:p>
            <a:pPr algn="l"/>
            <a:endParaRPr kumimoji="1" lang="ja-JP" altLang="en-US" u="sng"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2438614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2A97E89-29C0-6F65-908E-C839AACEF099}"/>
              </a:ext>
            </a:extLst>
          </p:cNvPr>
          <p:cNvSpPr>
            <a:spLocks noGrp="1"/>
          </p:cNvSpPr>
          <p:nvPr>
            <p:ph type="title"/>
          </p:nvPr>
        </p:nvSpPr>
        <p:spPr/>
        <p:txBody>
          <a:bodyPr/>
          <a:lstStyle/>
          <a:p>
            <a:r>
              <a:rPr lang="ja-JP" altLang="en-US" dirty="0"/>
              <a:t>進め方の全体像</a:t>
            </a:r>
            <a:endParaRPr kumimoji="1" lang="ja-JP" altLang="en-US" dirty="0"/>
          </a:p>
        </p:txBody>
      </p:sp>
      <p:sp>
        <p:nvSpPr>
          <p:cNvPr id="3" name="フッター プレースホルダー 2">
            <a:extLst>
              <a:ext uri="{FF2B5EF4-FFF2-40B4-BE49-F238E27FC236}">
                <a16:creationId xmlns:a16="http://schemas.microsoft.com/office/drawing/2014/main" id="{7B918C80-E1B4-8C17-421B-9830FF9F95DF}"/>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8416EEC-E0EA-AA5D-CC2F-4C42621C1B37}"/>
              </a:ext>
            </a:extLst>
          </p:cNvPr>
          <p:cNvSpPr>
            <a:spLocks noGrp="1"/>
          </p:cNvSpPr>
          <p:nvPr>
            <p:ph type="sldNum" sz="quarter" idx="12"/>
          </p:nvPr>
        </p:nvSpPr>
        <p:spPr/>
        <p:txBody>
          <a:bodyPr/>
          <a:lstStyle/>
          <a:p>
            <a:fld id="{DCB5AA93-092B-49A1-87A7-3C88D5F38AD7}" type="slidenum">
              <a:rPr lang="ja-JP" altLang="en-US" smtClean="0"/>
              <a:pPr/>
              <a:t>11</a:t>
            </a:fld>
            <a:endParaRPr lang="ja-JP" altLang="en-US" sz="900" dirty="0"/>
          </a:p>
        </p:txBody>
      </p:sp>
      <p:sp>
        <p:nvSpPr>
          <p:cNvPr id="5" name="テキスト プレースホルダー 4">
            <a:extLst>
              <a:ext uri="{FF2B5EF4-FFF2-40B4-BE49-F238E27FC236}">
                <a16:creationId xmlns:a16="http://schemas.microsoft.com/office/drawing/2014/main" id="{385274D1-B849-7FDD-E723-B5E574BDE4D5}"/>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3DF1614C-B507-ED36-4DC9-333B01C89A70}"/>
              </a:ext>
            </a:extLst>
          </p:cNvPr>
          <p:cNvSpPr/>
          <p:nvPr/>
        </p:nvSpPr>
        <p:spPr>
          <a:xfrm>
            <a:off x="360000" y="1273756"/>
            <a:ext cx="442127" cy="721291"/>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期間</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C28E5213-20BF-55AA-D64D-27AB40CEF200}"/>
              </a:ext>
            </a:extLst>
          </p:cNvPr>
          <p:cNvSpPr/>
          <p:nvPr/>
        </p:nvSpPr>
        <p:spPr>
          <a:xfrm>
            <a:off x="360000" y="2093160"/>
            <a:ext cx="442127" cy="623168"/>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目的</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DB512D95-D620-520F-818A-5E613A65A6DD}"/>
              </a:ext>
            </a:extLst>
          </p:cNvPr>
          <p:cNvSpPr/>
          <p:nvPr/>
        </p:nvSpPr>
        <p:spPr>
          <a:xfrm>
            <a:off x="360000" y="2810319"/>
            <a:ext cx="442127" cy="738664"/>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意思決定</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EE18AEB5-B545-F91E-3021-931B71ED7112}"/>
              </a:ext>
            </a:extLst>
          </p:cNvPr>
          <p:cNvSpPr/>
          <p:nvPr/>
        </p:nvSpPr>
        <p:spPr>
          <a:xfrm>
            <a:off x="360000" y="3633701"/>
            <a:ext cx="442127" cy="1192211"/>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実施内容</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5A12813E-328A-1EF7-AD05-4006C7D1BB22}"/>
              </a:ext>
            </a:extLst>
          </p:cNvPr>
          <p:cNvSpPr/>
          <p:nvPr/>
        </p:nvSpPr>
        <p:spPr>
          <a:xfrm>
            <a:off x="360000" y="4910630"/>
            <a:ext cx="442127" cy="76266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成果物</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1" name="正方形/長方形 10">
            <a:extLst>
              <a:ext uri="{FF2B5EF4-FFF2-40B4-BE49-F238E27FC236}">
                <a16:creationId xmlns:a16="http://schemas.microsoft.com/office/drawing/2014/main" id="{D9F8E723-99B0-DB36-1D74-B62A5C3AC780}"/>
              </a:ext>
            </a:extLst>
          </p:cNvPr>
          <p:cNvSpPr/>
          <p:nvPr/>
        </p:nvSpPr>
        <p:spPr>
          <a:xfrm>
            <a:off x="1078549" y="1273758"/>
            <a:ext cx="2532184" cy="370668"/>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ja-JP" altLang="en-US" sz="1200" dirty="0">
                <a:solidFill>
                  <a:schemeClr val="bg1"/>
                </a:solidFill>
                <a:latin typeface="BIZ UDPゴシック" panose="020B0400000000000000" pitchFamily="50" charset="-128"/>
                <a:ea typeface="BIZ UDPゴシック" panose="020B0400000000000000" pitchFamily="50" charset="-128"/>
              </a:rPr>
              <a:t>フェーズ</a:t>
            </a:r>
            <a:r>
              <a:rPr lang="en-US" altLang="ja-JP" sz="1200" dirty="0">
                <a:solidFill>
                  <a:schemeClr val="bg1"/>
                </a:solidFill>
                <a:latin typeface="BIZ UDPゴシック" panose="020B0400000000000000" pitchFamily="50" charset="-128"/>
                <a:ea typeface="BIZ UDPゴシック" panose="020B0400000000000000" pitchFamily="50" charset="-128"/>
              </a:rPr>
              <a:t> 0</a:t>
            </a:r>
          </a:p>
          <a:p>
            <a:pPr algn="ctr"/>
            <a:r>
              <a:rPr kumimoji="1" lang="en-US" altLang="ja-JP" sz="1200" dirty="0">
                <a:solidFill>
                  <a:schemeClr val="bg1"/>
                </a:solidFill>
                <a:latin typeface="BIZ UDPゴシック" panose="020B0400000000000000" pitchFamily="50" charset="-128"/>
                <a:ea typeface="BIZ UDPゴシック" panose="020B0400000000000000" pitchFamily="50" charset="-128"/>
              </a:rPr>
              <a:t>2025/10 – 2025/12</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p:txBody>
      </p:sp>
      <p:sp>
        <p:nvSpPr>
          <p:cNvPr id="12" name="正方形/長方形 11">
            <a:extLst>
              <a:ext uri="{FF2B5EF4-FFF2-40B4-BE49-F238E27FC236}">
                <a16:creationId xmlns:a16="http://schemas.microsoft.com/office/drawing/2014/main" id="{43E99B63-4F55-919E-460E-E526CF374563}"/>
              </a:ext>
            </a:extLst>
          </p:cNvPr>
          <p:cNvSpPr/>
          <p:nvPr/>
        </p:nvSpPr>
        <p:spPr>
          <a:xfrm>
            <a:off x="1078549" y="1643533"/>
            <a:ext cx="2526944" cy="264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en-US" altLang="ja-JP" sz="1200" dirty="0">
                <a:solidFill>
                  <a:schemeClr val="tx1"/>
                </a:solidFill>
                <a:latin typeface="BIZ UDPゴシック" panose="020B0400000000000000" pitchFamily="50" charset="-128"/>
                <a:ea typeface="BIZ UDPゴシック" panose="020B0400000000000000" pitchFamily="50" charset="-128"/>
              </a:rPr>
              <a:t>3</a:t>
            </a:r>
            <a:r>
              <a:rPr kumimoji="1" lang="ja-JP" altLang="en-US" sz="1200" dirty="0">
                <a:solidFill>
                  <a:schemeClr val="tx1"/>
                </a:solidFill>
                <a:latin typeface="BIZ UDPゴシック" panose="020B0400000000000000" pitchFamily="50" charset="-128"/>
                <a:ea typeface="BIZ UDPゴシック" panose="020B0400000000000000" pitchFamily="50" charset="-128"/>
              </a:rPr>
              <a:t>か月</a:t>
            </a:r>
          </a:p>
        </p:txBody>
      </p:sp>
      <p:sp>
        <p:nvSpPr>
          <p:cNvPr id="13" name="矢印: 五方向 12">
            <a:extLst>
              <a:ext uri="{FF2B5EF4-FFF2-40B4-BE49-F238E27FC236}">
                <a16:creationId xmlns:a16="http://schemas.microsoft.com/office/drawing/2014/main" id="{28960562-F1FD-7292-656F-13B068C87D69}"/>
              </a:ext>
            </a:extLst>
          </p:cNvPr>
          <p:cNvSpPr/>
          <p:nvPr/>
        </p:nvSpPr>
        <p:spPr>
          <a:xfrm>
            <a:off x="1078549" y="2093160"/>
            <a:ext cx="2526944" cy="417068"/>
          </a:xfrm>
          <a:prstGeom prst="homePlat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マーケティング戦略・戦術の構築</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KGI</a:t>
            </a:r>
            <a:r>
              <a:rPr lang="ja-JP" altLang="en-US" sz="1200" dirty="0">
                <a:solidFill>
                  <a:schemeClr val="tx1"/>
                </a:solidFill>
                <a:latin typeface="BIZ UDPゴシック" panose="020B0400000000000000" pitchFamily="50" charset="-128"/>
                <a:ea typeface="BIZ UDPゴシック" panose="020B0400000000000000" pitchFamily="50" charset="-128"/>
              </a:rPr>
              <a:t>・</a:t>
            </a:r>
            <a:r>
              <a:rPr lang="en-US" altLang="ja-JP" sz="1200" dirty="0">
                <a:solidFill>
                  <a:schemeClr val="tx1"/>
                </a:solidFill>
                <a:latin typeface="BIZ UDPゴシック" panose="020B0400000000000000" pitchFamily="50" charset="-128"/>
                <a:ea typeface="BIZ UDPゴシック" panose="020B0400000000000000" pitchFamily="50" charset="-128"/>
              </a:rPr>
              <a:t>KPI</a:t>
            </a:r>
            <a:r>
              <a:rPr lang="ja-JP" altLang="en-US" sz="1200" dirty="0">
                <a:solidFill>
                  <a:schemeClr val="tx1"/>
                </a:solidFill>
                <a:latin typeface="BIZ UDPゴシック" panose="020B0400000000000000" pitchFamily="50" charset="-128"/>
                <a:ea typeface="BIZ UDPゴシック" panose="020B0400000000000000" pitchFamily="50" charset="-128"/>
              </a:rPr>
              <a:t>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企画設計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検証</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E4F0A48-4DB0-FC14-C166-5668A1516740}"/>
              </a:ext>
            </a:extLst>
          </p:cNvPr>
          <p:cNvSpPr txBox="1"/>
          <p:nvPr/>
        </p:nvSpPr>
        <p:spPr>
          <a:xfrm>
            <a:off x="1078549" y="2810319"/>
            <a:ext cx="2532184" cy="738664"/>
          </a:xfrm>
          <a:prstGeom prst="rect">
            <a:avLst/>
          </a:prstGeom>
          <a:noFill/>
        </p:spPr>
        <p:txBody>
          <a:bodyPr wrap="square" lIns="0" tIns="0" rIns="0" bIns="0" rtlCol="0">
            <a:spAutoFit/>
          </a:bodyPr>
          <a:lstStyle/>
          <a:p>
            <a:pPr marL="355600" indent="-355600" algn="l">
              <a:buFont typeface="Wingdings" panose="05000000000000000000" pitchFamily="2" charset="2"/>
              <a:buChar char="n"/>
              <a:tabLst>
                <a:tab pos="182563" algn="l"/>
              </a:tabLst>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182563" algn="l"/>
              </a:tabLst>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182563" algn="l"/>
              </a:tabLst>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182563" algn="l"/>
              </a:tabLst>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7CB6BE4D-5964-CDA1-DEAB-AFFF8B36C73F}"/>
              </a:ext>
            </a:extLst>
          </p:cNvPr>
          <p:cNvSpPr txBox="1"/>
          <p:nvPr/>
        </p:nvSpPr>
        <p:spPr>
          <a:xfrm>
            <a:off x="1078549" y="3633701"/>
            <a:ext cx="2532184" cy="738664"/>
          </a:xfrm>
          <a:prstGeom prst="rect">
            <a:avLst/>
          </a:prstGeom>
          <a:noFill/>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644A343B-C643-7EAB-C340-8072DF51A35B}"/>
              </a:ext>
            </a:extLst>
          </p:cNvPr>
          <p:cNvSpPr txBox="1"/>
          <p:nvPr/>
        </p:nvSpPr>
        <p:spPr>
          <a:xfrm>
            <a:off x="1078549" y="4910630"/>
            <a:ext cx="2532184" cy="738664"/>
          </a:xfrm>
          <a:prstGeom prst="rect">
            <a:avLst/>
          </a:prstGeom>
          <a:noFill/>
          <a:ln>
            <a:solidFill>
              <a:schemeClr val="bg1">
                <a:lumMod val="65000"/>
              </a:schemeClr>
            </a:solidFill>
          </a:ln>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3E831B08-ACAC-0AB4-7DF5-63C11B59A2D7}"/>
              </a:ext>
            </a:extLst>
          </p:cNvPr>
          <p:cNvSpPr/>
          <p:nvPr/>
        </p:nvSpPr>
        <p:spPr>
          <a:xfrm>
            <a:off x="3772061" y="1273758"/>
            <a:ext cx="2532184" cy="370668"/>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ja-JP" altLang="en-US" sz="1200" dirty="0">
                <a:solidFill>
                  <a:schemeClr val="bg1"/>
                </a:solidFill>
                <a:latin typeface="BIZ UDPゴシック" panose="020B0400000000000000" pitchFamily="50" charset="-128"/>
                <a:ea typeface="BIZ UDPゴシック" panose="020B0400000000000000" pitchFamily="50" charset="-128"/>
              </a:rPr>
              <a:t>フェーズ</a:t>
            </a:r>
            <a:r>
              <a:rPr lang="en-US" altLang="ja-JP" sz="1200" dirty="0">
                <a:solidFill>
                  <a:schemeClr val="bg1"/>
                </a:solidFill>
                <a:latin typeface="BIZ UDPゴシック" panose="020B0400000000000000" pitchFamily="50" charset="-128"/>
                <a:ea typeface="BIZ UDPゴシック" panose="020B0400000000000000" pitchFamily="50" charset="-128"/>
              </a:rPr>
              <a:t> 0</a:t>
            </a:r>
          </a:p>
          <a:p>
            <a:pPr algn="ctr"/>
            <a:r>
              <a:rPr kumimoji="1" lang="en-US" altLang="ja-JP" sz="1200" dirty="0">
                <a:solidFill>
                  <a:schemeClr val="bg1"/>
                </a:solidFill>
                <a:latin typeface="BIZ UDPゴシック" panose="020B0400000000000000" pitchFamily="50" charset="-128"/>
                <a:ea typeface="BIZ UDPゴシック" panose="020B0400000000000000" pitchFamily="50" charset="-128"/>
              </a:rPr>
              <a:t>2025/10 – 2025/12</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41A9190A-3FF7-7DEF-214D-0A2751688F52}"/>
              </a:ext>
            </a:extLst>
          </p:cNvPr>
          <p:cNvSpPr/>
          <p:nvPr/>
        </p:nvSpPr>
        <p:spPr>
          <a:xfrm>
            <a:off x="3772061" y="1643533"/>
            <a:ext cx="2532184" cy="264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en-US" altLang="ja-JP" sz="1200" dirty="0">
                <a:solidFill>
                  <a:schemeClr val="tx1"/>
                </a:solidFill>
                <a:latin typeface="BIZ UDPゴシック" panose="020B0400000000000000" pitchFamily="50" charset="-128"/>
                <a:ea typeface="BIZ UDPゴシック" panose="020B0400000000000000" pitchFamily="50" charset="-128"/>
              </a:rPr>
              <a:t>3</a:t>
            </a:r>
            <a:r>
              <a:rPr kumimoji="1" lang="ja-JP" altLang="en-US" sz="1200" dirty="0">
                <a:solidFill>
                  <a:schemeClr val="tx1"/>
                </a:solidFill>
                <a:latin typeface="BIZ UDPゴシック" panose="020B0400000000000000" pitchFamily="50" charset="-128"/>
                <a:ea typeface="BIZ UDPゴシック" panose="020B0400000000000000" pitchFamily="50" charset="-128"/>
              </a:rPr>
              <a:t>か月</a:t>
            </a:r>
          </a:p>
        </p:txBody>
      </p:sp>
      <p:sp>
        <p:nvSpPr>
          <p:cNvPr id="20" name="テキスト ボックス 19">
            <a:extLst>
              <a:ext uri="{FF2B5EF4-FFF2-40B4-BE49-F238E27FC236}">
                <a16:creationId xmlns:a16="http://schemas.microsoft.com/office/drawing/2014/main" id="{074BB7B2-F569-320F-2E85-3E5220768143}"/>
              </a:ext>
            </a:extLst>
          </p:cNvPr>
          <p:cNvSpPr txBox="1"/>
          <p:nvPr/>
        </p:nvSpPr>
        <p:spPr>
          <a:xfrm>
            <a:off x="3772061" y="2810319"/>
            <a:ext cx="2532184" cy="738664"/>
          </a:xfrm>
          <a:prstGeom prst="rect">
            <a:avLst/>
          </a:prstGeom>
          <a:noFill/>
        </p:spPr>
        <p:txBody>
          <a:bodyPr wrap="square" lIns="0" tIns="0" rIns="0" bIns="0" rtlCol="0">
            <a:spAutoFit/>
          </a:bodyPr>
          <a:lstStyle/>
          <a:p>
            <a:pPr marL="355600" indent="-355600" algn="l">
              <a:buFont typeface="Wingdings" panose="05000000000000000000" pitchFamily="2" charset="2"/>
              <a:buChar char="n"/>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518D473F-FD71-8D0A-F322-2C60BF2A49B4}"/>
              </a:ext>
            </a:extLst>
          </p:cNvPr>
          <p:cNvSpPr txBox="1"/>
          <p:nvPr/>
        </p:nvSpPr>
        <p:spPr>
          <a:xfrm>
            <a:off x="3772061" y="3633701"/>
            <a:ext cx="2532184" cy="738664"/>
          </a:xfrm>
          <a:prstGeom prst="rect">
            <a:avLst/>
          </a:prstGeom>
          <a:noFill/>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9E8E6643-4B97-7C2A-5379-135D3317AFDF}"/>
              </a:ext>
            </a:extLst>
          </p:cNvPr>
          <p:cNvSpPr txBox="1"/>
          <p:nvPr/>
        </p:nvSpPr>
        <p:spPr>
          <a:xfrm>
            <a:off x="3772061" y="4910630"/>
            <a:ext cx="2532184" cy="738664"/>
          </a:xfrm>
          <a:prstGeom prst="rect">
            <a:avLst/>
          </a:prstGeom>
          <a:noFill/>
          <a:ln>
            <a:solidFill>
              <a:schemeClr val="bg1">
                <a:lumMod val="65000"/>
              </a:schemeClr>
            </a:solidFill>
          </a:ln>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F387256E-03D4-5B16-67D5-17212964C210}"/>
              </a:ext>
            </a:extLst>
          </p:cNvPr>
          <p:cNvSpPr/>
          <p:nvPr/>
        </p:nvSpPr>
        <p:spPr>
          <a:xfrm>
            <a:off x="6470813" y="1273758"/>
            <a:ext cx="2532184" cy="370668"/>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ja-JP" altLang="en-US" sz="1200" dirty="0">
                <a:solidFill>
                  <a:schemeClr val="bg1"/>
                </a:solidFill>
                <a:latin typeface="BIZ UDPゴシック" panose="020B0400000000000000" pitchFamily="50" charset="-128"/>
                <a:ea typeface="BIZ UDPゴシック" panose="020B0400000000000000" pitchFamily="50" charset="-128"/>
              </a:rPr>
              <a:t>フェーズ</a:t>
            </a:r>
            <a:r>
              <a:rPr lang="en-US" altLang="ja-JP" sz="1200" dirty="0">
                <a:solidFill>
                  <a:schemeClr val="bg1"/>
                </a:solidFill>
                <a:latin typeface="BIZ UDPゴシック" panose="020B0400000000000000" pitchFamily="50" charset="-128"/>
                <a:ea typeface="BIZ UDPゴシック" panose="020B0400000000000000" pitchFamily="50" charset="-128"/>
              </a:rPr>
              <a:t> 0</a:t>
            </a:r>
          </a:p>
          <a:p>
            <a:pPr algn="ctr"/>
            <a:r>
              <a:rPr kumimoji="1" lang="en-US" altLang="ja-JP" sz="1200" dirty="0">
                <a:solidFill>
                  <a:schemeClr val="bg1"/>
                </a:solidFill>
                <a:latin typeface="BIZ UDPゴシック" panose="020B0400000000000000" pitchFamily="50" charset="-128"/>
                <a:ea typeface="BIZ UDPゴシック" panose="020B0400000000000000" pitchFamily="50" charset="-128"/>
              </a:rPr>
              <a:t>2025/10 – 2025/12</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D73DD8C0-BCC4-F611-A902-7D8543043013}"/>
              </a:ext>
            </a:extLst>
          </p:cNvPr>
          <p:cNvSpPr/>
          <p:nvPr/>
        </p:nvSpPr>
        <p:spPr>
          <a:xfrm>
            <a:off x="6470813" y="1643533"/>
            <a:ext cx="2532184" cy="22977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en-US" altLang="ja-JP" sz="1200" dirty="0">
                <a:solidFill>
                  <a:schemeClr val="tx1"/>
                </a:solidFill>
                <a:latin typeface="BIZ UDPゴシック" panose="020B0400000000000000" pitchFamily="50" charset="-128"/>
                <a:ea typeface="BIZ UDPゴシック" panose="020B0400000000000000" pitchFamily="50" charset="-128"/>
              </a:rPr>
              <a:t>3</a:t>
            </a:r>
            <a:r>
              <a:rPr kumimoji="1" lang="ja-JP" altLang="en-US" sz="1200" dirty="0">
                <a:solidFill>
                  <a:schemeClr val="tx1"/>
                </a:solidFill>
                <a:latin typeface="BIZ UDPゴシック" panose="020B0400000000000000" pitchFamily="50" charset="-128"/>
                <a:ea typeface="BIZ UDPゴシック" panose="020B0400000000000000" pitchFamily="50" charset="-128"/>
              </a:rPr>
              <a:t>か月</a:t>
            </a:r>
          </a:p>
        </p:txBody>
      </p:sp>
      <p:sp>
        <p:nvSpPr>
          <p:cNvPr id="25" name="テキスト ボックス 24">
            <a:extLst>
              <a:ext uri="{FF2B5EF4-FFF2-40B4-BE49-F238E27FC236}">
                <a16:creationId xmlns:a16="http://schemas.microsoft.com/office/drawing/2014/main" id="{B8144F28-7111-CC62-A5E4-1F6776E530C6}"/>
              </a:ext>
            </a:extLst>
          </p:cNvPr>
          <p:cNvSpPr txBox="1"/>
          <p:nvPr/>
        </p:nvSpPr>
        <p:spPr>
          <a:xfrm>
            <a:off x="6470813" y="2810319"/>
            <a:ext cx="2532184" cy="738664"/>
          </a:xfrm>
          <a:prstGeom prst="rect">
            <a:avLst/>
          </a:prstGeom>
          <a:noFill/>
        </p:spPr>
        <p:txBody>
          <a:bodyPr wrap="square" lIns="0" tIns="0" rIns="0" bIns="0" rtlCol="0">
            <a:spAutoFit/>
          </a:bodyPr>
          <a:lstStyle/>
          <a:p>
            <a:pPr marL="355600" indent="-355600" algn="l">
              <a:buFont typeface="Wingdings" panose="05000000000000000000" pitchFamily="2" charset="2"/>
              <a:buChar char="n"/>
              <a:tabLst>
                <a:tab pos="355600" algn="l"/>
              </a:tabLst>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355600" algn="l"/>
              </a:tabLst>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355600" algn="l"/>
              </a:tabLst>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tabLst>
                <a:tab pos="355600" algn="l"/>
              </a:tabLst>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ACFEFBD8-2789-EDA6-DE0C-10B40575AD90}"/>
              </a:ext>
            </a:extLst>
          </p:cNvPr>
          <p:cNvSpPr txBox="1"/>
          <p:nvPr/>
        </p:nvSpPr>
        <p:spPr>
          <a:xfrm>
            <a:off x="6470813" y="3633701"/>
            <a:ext cx="2532184" cy="738664"/>
          </a:xfrm>
          <a:prstGeom prst="rect">
            <a:avLst/>
          </a:prstGeom>
          <a:noFill/>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EC284030-702E-B48B-BF1B-9CA12B77A7A5}"/>
              </a:ext>
            </a:extLst>
          </p:cNvPr>
          <p:cNvSpPr txBox="1"/>
          <p:nvPr/>
        </p:nvSpPr>
        <p:spPr>
          <a:xfrm>
            <a:off x="6470813" y="4910630"/>
            <a:ext cx="2532184" cy="738664"/>
          </a:xfrm>
          <a:prstGeom prst="rect">
            <a:avLst/>
          </a:prstGeom>
          <a:noFill/>
          <a:ln>
            <a:solidFill>
              <a:schemeClr val="bg1">
                <a:lumMod val="65000"/>
              </a:schemeClr>
            </a:solidFill>
          </a:ln>
        </p:spPr>
        <p:txBody>
          <a:bodyPr wrap="square" lIns="0" tIns="0" rIns="0" bIns="0" rtlCol="0">
            <a:spAutoFit/>
          </a:bodyPr>
          <a:lstStyle/>
          <a:p>
            <a:pPr marL="355600" indent="-3556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5153A467-C7F3-544E-EF26-818AFE951684}"/>
              </a:ext>
            </a:extLst>
          </p:cNvPr>
          <p:cNvSpPr/>
          <p:nvPr/>
        </p:nvSpPr>
        <p:spPr>
          <a:xfrm>
            <a:off x="9164325" y="1273758"/>
            <a:ext cx="2532184" cy="370668"/>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ja-JP" altLang="en-US" sz="1200" dirty="0">
                <a:solidFill>
                  <a:schemeClr val="bg1"/>
                </a:solidFill>
                <a:latin typeface="BIZ UDPゴシック" panose="020B0400000000000000" pitchFamily="50" charset="-128"/>
                <a:ea typeface="BIZ UDPゴシック" panose="020B0400000000000000" pitchFamily="50" charset="-128"/>
              </a:rPr>
              <a:t>フェーズ</a:t>
            </a:r>
            <a:r>
              <a:rPr lang="en-US" altLang="ja-JP" sz="1200" dirty="0">
                <a:solidFill>
                  <a:schemeClr val="bg1"/>
                </a:solidFill>
                <a:latin typeface="BIZ UDPゴシック" panose="020B0400000000000000" pitchFamily="50" charset="-128"/>
                <a:ea typeface="BIZ UDPゴシック" panose="020B0400000000000000" pitchFamily="50" charset="-128"/>
              </a:rPr>
              <a:t> 0</a:t>
            </a:r>
          </a:p>
          <a:p>
            <a:pPr algn="ctr"/>
            <a:r>
              <a:rPr kumimoji="1" lang="en-US" altLang="ja-JP" sz="1200" dirty="0">
                <a:solidFill>
                  <a:schemeClr val="bg1"/>
                </a:solidFill>
                <a:latin typeface="BIZ UDPゴシック" panose="020B0400000000000000" pitchFamily="50" charset="-128"/>
                <a:ea typeface="BIZ UDPゴシック" panose="020B0400000000000000" pitchFamily="50" charset="-128"/>
              </a:rPr>
              <a:t>2025/10 – 2025/12</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C6E1EE6F-CDE8-F917-44F0-3E8C93729427}"/>
              </a:ext>
            </a:extLst>
          </p:cNvPr>
          <p:cNvSpPr/>
          <p:nvPr/>
        </p:nvSpPr>
        <p:spPr>
          <a:xfrm>
            <a:off x="9164325" y="1643533"/>
            <a:ext cx="2532184" cy="264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vert="horz" lIns="0" tIns="0" rIns="0" bIns="0" rtlCol="0" anchor="ctr"/>
          <a:lstStyle/>
          <a:p>
            <a:pPr algn="ctr"/>
            <a:r>
              <a:rPr kumimoji="1" lang="en-US" altLang="ja-JP" sz="1200" dirty="0">
                <a:solidFill>
                  <a:schemeClr val="tx1"/>
                </a:solidFill>
                <a:latin typeface="BIZ UDPゴシック" panose="020B0400000000000000" pitchFamily="50" charset="-128"/>
                <a:ea typeface="BIZ UDPゴシック" panose="020B0400000000000000" pitchFamily="50" charset="-128"/>
              </a:rPr>
              <a:t>3</a:t>
            </a:r>
            <a:r>
              <a:rPr kumimoji="1" lang="ja-JP" altLang="en-US" sz="1200" dirty="0">
                <a:solidFill>
                  <a:schemeClr val="tx1"/>
                </a:solidFill>
                <a:latin typeface="BIZ UDPゴシック" panose="020B0400000000000000" pitchFamily="50" charset="-128"/>
                <a:ea typeface="BIZ UDPゴシック" panose="020B0400000000000000" pitchFamily="50" charset="-128"/>
              </a:rPr>
              <a:t>か月</a:t>
            </a:r>
          </a:p>
        </p:txBody>
      </p:sp>
      <p:sp>
        <p:nvSpPr>
          <p:cNvPr id="31" name="テキスト ボックス 30">
            <a:extLst>
              <a:ext uri="{FF2B5EF4-FFF2-40B4-BE49-F238E27FC236}">
                <a16:creationId xmlns:a16="http://schemas.microsoft.com/office/drawing/2014/main" id="{A4F258C2-A796-B438-6332-77D2AE9F00E6}"/>
              </a:ext>
            </a:extLst>
          </p:cNvPr>
          <p:cNvSpPr txBox="1"/>
          <p:nvPr/>
        </p:nvSpPr>
        <p:spPr>
          <a:xfrm>
            <a:off x="9164325" y="2810319"/>
            <a:ext cx="2532184" cy="738664"/>
          </a:xfrm>
          <a:prstGeom prst="rect">
            <a:avLst/>
          </a:prstGeom>
          <a:noFill/>
        </p:spPr>
        <p:txBody>
          <a:bodyPr wrap="square" lIns="0" tIns="0" rIns="0" bIns="0" rtlCol="0">
            <a:spAutoFit/>
          </a:bodyPr>
          <a:lstStyle/>
          <a:p>
            <a:pPr marL="355600" indent="-355600" algn="l">
              <a:buFont typeface="Wingdings" panose="05000000000000000000" pitchFamily="2" charset="2"/>
              <a:buChar char="n"/>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55600" indent="-355600" algn="l">
              <a:buFont typeface="Wingdings" panose="05000000000000000000" pitchFamily="2" charset="2"/>
              <a:buChar char="n"/>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4279C943-B33D-2285-E0F1-4C59BCD51FDC}"/>
              </a:ext>
            </a:extLst>
          </p:cNvPr>
          <p:cNvSpPr txBox="1"/>
          <p:nvPr/>
        </p:nvSpPr>
        <p:spPr>
          <a:xfrm>
            <a:off x="9164325" y="3633701"/>
            <a:ext cx="2532184" cy="738664"/>
          </a:xfrm>
          <a:prstGeom prst="rect">
            <a:avLst/>
          </a:prstGeom>
          <a:noFill/>
        </p:spPr>
        <p:txBody>
          <a:bodyPr wrap="square" lIns="0" tIns="0" rIns="0" bIns="0" rtlCol="0">
            <a:spAutoFit/>
          </a:bodyPr>
          <a:lstStyle/>
          <a:p>
            <a:pPr marL="342900" indent="-3429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33" name="テキスト ボックス 32">
            <a:extLst>
              <a:ext uri="{FF2B5EF4-FFF2-40B4-BE49-F238E27FC236}">
                <a16:creationId xmlns:a16="http://schemas.microsoft.com/office/drawing/2014/main" id="{C79F2D63-04A3-5C43-105A-ADBFFE229A44}"/>
              </a:ext>
            </a:extLst>
          </p:cNvPr>
          <p:cNvSpPr txBox="1"/>
          <p:nvPr/>
        </p:nvSpPr>
        <p:spPr>
          <a:xfrm>
            <a:off x="9164325" y="4910630"/>
            <a:ext cx="2532184" cy="738664"/>
          </a:xfrm>
          <a:prstGeom prst="rect">
            <a:avLst/>
          </a:prstGeom>
          <a:noFill/>
          <a:ln>
            <a:solidFill>
              <a:schemeClr val="bg1">
                <a:lumMod val="65000"/>
              </a:schemeClr>
            </a:solidFill>
          </a:ln>
        </p:spPr>
        <p:txBody>
          <a:bodyPr wrap="square" lIns="0" tIns="0" rIns="0" bIns="0" rtlCol="0">
            <a:spAutoFit/>
          </a:bodyPr>
          <a:lstStyle/>
          <a:p>
            <a:pPr marL="342900" indent="-342900" algn="l">
              <a:buFont typeface="+mj-lt"/>
              <a:buAutoNum type="arabicPeriod"/>
            </a:pPr>
            <a:r>
              <a:rPr kumimoji="1" lang="ja-JP" altLang="en-US" sz="1200" dirty="0">
                <a:latin typeface="BIZ UDPゴシック" panose="020B0400000000000000" pitchFamily="50" charset="-128"/>
                <a:ea typeface="BIZ UDPゴシック" panose="020B0400000000000000" pitchFamily="50" charset="-128"/>
              </a:rPr>
              <a:t>ロードマップ</a:t>
            </a:r>
            <a:endParaRPr kumimoji="1"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施策の方向性</a:t>
            </a:r>
            <a:endParaRPr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KGI/KPI</a:t>
            </a:r>
            <a:r>
              <a:rPr kumimoji="1" lang="ja-JP" altLang="en-US" sz="1200" dirty="0">
                <a:latin typeface="BIZ UDPゴシック" panose="020B0400000000000000" pitchFamily="50" charset="-128"/>
                <a:ea typeface="BIZ UDPゴシック" panose="020B0400000000000000" pitchFamily="50" charset="-128"/>
              </a:rPr>
              <a:t>の設計・評価指標</a:t>
            </a:r>
            <a:endParaRPr kumimoji="1" lang="en-US" altLang="ja-JP" sz="1200" dirty="0">
              <a:latin typeface="BIZ UDPゴシック" panose="020B0400000000000000" pitchFamily="50" charset="-128"/>
              <a:ea typeface="BIZ UDPゴシック" panose="020B0400000000000000" pitchFamily="50" charset="-128"/>
            </a:endParaRPr>
          </a:p>
          <a:p>
            <a:pPr marL="342900" indent="-342900" algn="l">
              <a:buFont typeface="+mj-lt"/>
              <a:buAutoNum type="arabicPeriod"/>
            </a:pPr>
            <a:r>
              <a:rPr lang="ja-JP" altLang="en-US" sz="1200" dirty="0">
                <a:latin typeface="BIZ UDPゴシック" panose="020B0400000000000000" pitchFamily="50" charset="-128"/>
                <a:ea typeface="BIZ UDPゴシック" panose="020B0400000000000000" pitchFamily="50" charset="-128"/>
              </a:rPr>
              <a:t>検証項目の決定と実行</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35" name="矢印: 五方向 34">
            <a:extLst>
              <a:ext uri="{FF2B5EF4-FFF2-40B4-BE49-F238E27FC236}">
                <a16:creationId xmlns:a16="http://schemas.microsoft.com/office/drawing/2014/main" id="{8F8C2A06-638B-DDCB-0D99-3008DF763D8B}"/>
              </a:ext>
            </a:extLst>
          </p:cNvPr>
          <p:cNvSpPr/>
          <p:nvPr/>
        </p:nvSpPr>
        <p:spPr>
          <a:xfrm>
            <a:off x="3777301" y="2093160"/>
            <a:ext cx="2526944" cy="417068"/>
          </a:xfrm>
          <a:prstGeom prst="homePlat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マーケティング戦略・戦術の構築</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KGI</a:t>
            </a:r>
            <a:r>
              <a:rPr lang="ja-JP" altLang="en-US" sz="1200" dirty="0">
                <a:solidFill>
                  <a:schemeClr val="tx1"/>
                </a:solidFill>
                <a:latin typeface="BIZ UDPゴシック" panose="020B0400000000000000" pitchFamily="50" charset="-128"/>
                <a:ea typeface="BIZ UDPゴシック" panose="020B0400000000000000" pitchFamily="50" charset="-128"/>
              </a:rPr>
              <a:t>・</a:t>
            </a:r>
            <a:r>
              <a:rPr lang="en-US" altLang="ja-JP" sz="1200" dirty="0">
                <a:solidFill>
                  <a:schemeClr val="tx1"/>
                </a:solidFill>
                <a:latin typeface="BIZ UDPゴシック" panose="020B0400000000000000" pitchFamily="50" charset="-128"/>
                <a:ea typeface="BIZ UDPゴシック" panose="020B0400000000000000" pitchFamily="50" charset="-128"/>
              </a:rPr>
              <a:t>KPI</a:t>
            </a:r>
            <a:r>
              <a:rPr lang="ja-JP" altLang="en-US" sz="1200" dirty="0">
                <a:solidFill>
                  <a:schemeClr val="tx1"/>
                </a:solidFill>
                <a:latin typeface="BIZ UDPゴシック" panose="020B0400000000000000" pitchFamily="50" charset="-128"/>
                <a:ea typeface="BIZ UDPゴシック" panose="020B0400000000000000" pitchFamily="50" charset="-128"/>
              </a:rPr>
              <a:t>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企画設計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検証</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36" name="矢印: 五方向 35">
            <a:extLst>
              <a:ext uri="{FF2B5EF4-FFF2-40B4-BE49-F238E27FC236}">
                <a16:creationId xmlns:a16="http://schemas.microsoft.com/office/drawing/2014/main" id="{1FC3CF85-2BD4-C041-A793-E57B0AC83088}"/>
              </a:ext>
            </a:extLst>
          </p:cNvPr>
          <p:cNvSpPr/>
          <p:nvPr/>
        </p:nvSpPr>
        <p:spPr>
          <a:xfrm>
            <a:off x="6476053" y="2106063"/>
            <a:ext cx="2526944" cy="417068"/>
          </a:xfrm>
          <a:prstGeom prst="homePlat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マーケティング戦略・戦術の構築</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KGI</a:t>
            </a:r>
            <a:r>
              <a:rPr lang="ja-JP" altLang="en-US" sz="1200" dirty="0">
                <a:solidFill>
                  <a:schemeClr val="tx1"/>
                </a:solidFill>
                <a:latin typeface="BIZ UDPゴシック" panose="020B0400000000000000" pitchFamily="50" charset="-128"/>
                <a:ea typeface="BIZ UDPゴシック" panose="020B0400000000000000" pitchFamily="50" charset="-128"/>
              </a:rPr>
              <a:t>・</a:t>
            </a:r>
            <a:r>
              <a:rPr lang="en-US" altLang="ja-JP" sz="1200" dirty="0">
                <a:solidFill>
                  <a:schemeClr val="tx1"/>
                </a:solidFill>
                <a:latin typeface="BIZ UDPゴシック" panose="020B0400000000000000" pitchFamily="50" charset="-128"/>
                <a:ea typeface="BIZ UDPゴシック" panose="020B0400000000000000" pitchFamily="50" charset="-128"/>
              </a:rPr>
              <a:t>KPI</a:t>
            </a:r>
            <a:r>
              <a:rPr lang="ja-JP" altLang="en-US" sz="1200" dirty="0">
                <a:solidFill>
                  <a:schemeClr val="tx1"/>
                </a:solidFill>
                <a:latin typeface="BIZ UDPゴシック" panose="020B0400000000000000" pitchFamily="50" charset="-128"/>
                <a:ea typeface="BIZ UDPゴシック" panose="020B0400000000000000" pitchFamily="50" charset="-128"/>
              </a:rPr>
              <a:t>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企画設計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検証</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37" name="矢印: 五方向 36">
            <a:extLst>
              <a:ext uri="{FF2B5EF4-FFF2-40B4-BE49-F238E27FC236}">
                <a16:creationId xmlns:a16="http://schemas.microsoft.com/office/drawing/2014/main" id="{236BEDBD-B7BA-EA6E-6836-8F794FDEE96C}"/>
              </a:ext>
            </a:extLst>
          </p:cNvPr>
          <p:cNvSpPr/>
          <p:nvPr/>
        </p:nvSpPr>
        <p:spPr>
          <a:xfrm>
            <a:off x="9174805" y="2106063"/>
            <a:ext cx="2526944" cy="417068"/>
          </a:xfrm>
          <a:prstGeom prst="homePlat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マーケティング戦略・戦術の構築</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KGI</a:t>
            </a:r>
            <a:r>
              <a:rPr lang="ja-JP" altLang="en-US" sz="1200" dirty="0">
                <a:solidFill>
                  <a:schemeClr val="tx1"/>
                </a:solidFill>
                <a:latin typeface="BIZ UDPゴシック" panose="020B0400000000000000" pitchFamily="50" charset="-128"/>
                <a:ea typeface="BIZ UDPゴシック" panose="020B0400000000000000" pitchFamily="50" charset="-128"/>
              </a:rPr>
              <a:t>・</a:t>
            </a:r>
            <a:r>
              <a:rPr lang="en-US" altLang="ja-JP" sz="1200" dirty="0">
                <a:solidFill>
                  <a:schemeClr val="tx1"/>
                </a:solidFill>
                <a:latin typeface="BIZ UDPゴシック" panose="020B0400000000000000" pitchFamily="50" charset="-128"/>
                <a:ea typeface="BIZ UDPゴシック" panose="020B0400000000000000" pitchFamily="50" charset="-128"/>
              </a:rPr>
              <a:t>KPI</a:t>
            </a:r>
            <a:r>
              <a:rPr lang="ja-JP" altLang="en-US" sz="1200" dirty="0">
                <a:solidFill>
                  <a:schemeClr val="tx1"/>
                </a:solidFill>
                <a:latin typeface="BIZ UDPゴシック" panose="020B0400000000000000" pitchFamily="50" charset="-128"/>
                <a:ea typeface="BIZ UDPゴシック" panose="020B0400000000000000" pitchFamily="50" charset="-128"/>
              </a:rPr>
              <a:t>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企画設計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検証</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82268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04B986-2E88-A75A-0B25-315F0273DB6F}"/>
              </a:ext>
            </a:extLst>
          </p:cNvPr>
          <p:cNvSpPr>
            <a:spLocks noGrp="1"/>
          </p:cNvSpPr>
          <p:nvPr>
            <p:ph type="title"/>
          </p:nvPr>
        </p:nvSpPr>
        <p:spPr/>
        <p:txBody>
          <a:bodyPr/>
          <a:lstStyle/>
          <a:p>
            <a:r>
              <a:rPr lang="en-US" altLang="ja-JP" dirty="0"/>
              <a:t>IPO</a:t>
            </a:r>
            <a:endParaRPr kumimoji="1" lang="ja-JP" altLang="en-US" dirty="0"/>
          </a:p>
        </p:txBody>
      </p:sp>
      <p:sp>
        <p:nvSpPr>
          <p:cNvPr id="3" name="フッター プレースホルダー 2">
            <a:extLst>
              <a:ext uri="{FF2B5EF4-FFF2-40B4-BE49-F238E27FC236}">
                <a16:creationId xmlns:a16="http://schemas.microsoft.com/office/drawing/2014/main" id="{01142144-C273-7E30-550F-DAFD3441C85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2FC41C54-35D3-6AEC-B899-4E60A331DD25}"/>
              </a:ext>
            </a:extLst>
          </p:cNvPr>
          <p:cNvSpPr>
            <a:spLocks noGrp="1"/>
          </p:cNvSpPr>
          <p:nvPr>
            <p:ph type="sldNum" sz="quarter" idx="12"/>
          </p:nvPr>
        </p:nvSpPr>
        <p:spPr/>
        <p:txBody>
          <a:bodyPr/>
          <a:lstStyle/>
          <a:p>
            <a:fld id="{DCB5AA93-092B-49A1-87A7-3C88D5F38AD7}" type="slidenum">
              <a:rPr lang="ja-JP" altLang="en-US" smtClean="0"/>
              <a:pPr/>
              <a:t>12</a:t>
            </a:fld>
            <a:endParaRPr lang="ja-JP" altLang="en-US" sz="900" dirty="0"/>
          </a:p>
        </p:txBody>
      </p:sp>
      <p:sp>
        <p:nvSpPr>
          <p:cNvPr id="5" name="テキスト プレースホルダー 4">
            <a:extLst>
              <a:ext uri="{FF2B5EF4-FFF2-40B4-BE49-F238E27FC236}">
                <a16:creationId xmlns:a16="http://schemas.microsoft.com/office/drawing/2014/main" id="{FCAFB38D-124D-EB58-F3B0-D5CBE3B1C311}"/>
              </a:ext>
            </a:extLst>
          </p:cNvPr>
          <p:cNvSpPr>
            <a:spLocks noGrp="1"/>
          </p:cNvSpPr>
          <p:nvPr>
            <p:ph type="body" sz="quarter" idx="13"/>
          </p:nvPr>
        </p:nvSpPr>
        <p:spPr/>
        <p:txBody>
          <a:bodyPr/>
          <a:lstStyle/>
          <a:p>
            <a:endParaRPr kumimoji="1" lang="ja-JP" altLang="en-US"/>
          </a:p>
        </p:txBody>
      </p:sp>
      <p:sp>
        <p:nvSpPr>
          <p:cNvPr id="6" name="フリーフォーム: 図形 5">
            <a:extLst>
              <a:ext uri="{FF2B5EF4-FFF2-40B4-BE49-F238E27FC236}">
                <a16:creationId xmlns:a16="http://schemas.microsoft.com/office/drawing/2014/main" id="{4BAF769F-9A1C-380A-884A-385C97131959}"/>
              </a:ext>
            </a:extLst>
          </p:cNvPr>
          <p:cNvSpPr/>
          <p:nvPr/>
        </p:nvSpPr>
        <p:spPr>
          <a:xfrm>
            <a:off x="1057424" y="1260000"/>
            <a:ext cx="2610567" cy="360000"/>
          </a:xfrm>
          <a:custGeom>
            <a:avLst/>
            <a:gdLst>
              <a:gd name="connsiteX0" fmla="*/ 0 w 1766863"/>
              <a:gd name="connsiteY0" fmla="*/ 0 h 313817"/>
              <a:gd name="connsiteX1" fmla="*/ 1556422 w 1766863"/>
              <a:gd name="connsiteY1" fmla="*/ 0 h 313817"/>
              <a:gd name="connsiteX2" fmla="*/ 1766863 w 1766863"/>
              <a:gd name="connsiteY2" fmla="*/ 156909 h 313817"/>
              <a:gd name="connsiteX3" fmla="*/ 1556422 w 1766863"/>
              <a:gd name="connsiteY3" fmla="*/ 313817 h 313817"/>
              <a:gd name="connsiteX4" fmla="*/ 0 w 1766863"/>
              <a:gd name="connsiteY4" fmla="*/ 313817 h 313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6863" h="313817">
                <a:moveTo>
                  <a:pt x="0" y="0"/>
                </a:moveTo>
                <a:lnTo>
                  <a:pt x="1556422" y="0"/>
                </a:lnTo>
                <a:lnTo>
                  <a:pt x="1766863" y="156909"/>
                </a:lnTo>
                <a:lnTo>
                  <a:pt x="1556422" y="313817"/>
                </a:lnTo>
                <a:lnTo>
                  <a:pt x="0" y="313817"/>
                </a:lnTo>
                <a:close/>
              </a:path>
            </a:pathLst>
          </a:cu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要求洗い出し</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7FEA7FA4-CF4C-AB00-85EC-420E8FBE6184}"/>
              </a:ext>
            </a:extLst>
          </p:cNvPr>
          <p:cNvSpPr txBox="1"/>
          <p:nvPr/>
        </p:nvSpPr>
        <p:spPr>
          <a:xfrm>
            <a:off x="360000" y="1991375"/>
            <a:ext cx="422888" cy="1338001"/>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インプット</a:t>
            </a:r>
          </a:p>
        </p:txBody>
      </p:sp>
      <p:sp>
        <p:nvSpPr>
          <p:cNvPr id="8" name="テキスト ボックス 7">
            <a:extLst>
              <a:ext uri="{FF2B5EF4-FFF2-40B4-BE49-F238E27FC236}">
                <a16:creationId xmlns:a16="http://schemas.microsoft.com/office/drawing/2014/main" id="{37443DB7-7ABB-EECF-6846-68F95F0D7D22}"/>
              </a:ext>
            </a:extLst>
          </p:cNvPr>
          <p:cNvSpPr txBox="1"/>
          <p:nvPr/>
        </p:nvSpPr>
        <p:spPr>
          <a:xfrm>
            <a:off x="360000" y="3568113"/>
            <a:ext cx="422888" cy="1338001"/>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プロセス</a:t>
            </a:r>
          </a:p>
        </p:txBody>
      </p:sp>
      <p:sp>
        <p:nvSpPr>
          <p:cNvPr id="9" name="テキスト ボックス 8">
            <a:extLst>
              <a:ext uri="{FF2B5EF4-FFF2-40B4-BE49-F238E27FC236}">
                <a16:creationId xmlns:a16="http://schemas.microsoft.com/office/drawing/2014/main" id="{F536BA3F-1D41-B3FD-46DF-5F7FD79DC225}"/>
              </a:ext>
            </a:extLst>
          </p:cNvPr>
          <p:cNvSpPr txBox="1"/>
          <p:nvPr/>
        </p:nvSpPr>
        <p:spPr>
          <a:xfrm>
            <a:off x="360000" y="5151699"/>
            <a:ext cx="422888" cy="1338001"/>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アウトプット</a:t>
            </a:r>
          </a:p>
        </p:txBody>
      </p:sp>
      <p:sp>
        <p:nvSpPr>
          <p:cNvPr id="10" name="フリーフォーム: 図形 9">
            <a:extLst>
              <a:ext uri="{FF2B5EF4-FFF2-40B4-BE49-F238E27FC236}">
                <a16:creationId xmlns:a16="http://schemas.microsoft.com/office/drawing/2014/main" id="{43F3BD4F-B6FC-D909-27F2-947B6BDE8184}"/>
              </a:ext>
            </a:extLst>
          </p:cNvPr>
          <p:cNvSpPr/>
          <p:nvPr/>
        </p:nvSpPr>
        <p:spPr>
          <a:xfrm>
            <a:off x="3667991" y="1260000"/>
            <a:ext cx="2610567" cy="360000"/>
          </a:xfrm>
          <a:custGeom>
            <a:avLst/>
            <a:gdLst>
              <a:gd name="connsiteX0" fmla="*/ 0 w 1766863"/>
              <a:gd name="connsiteY0" fmla="*/ 0 h 313817"/>
              <a:gd name="connsiteX1" fmla="*/ 1556422 w 1766863"/>
              <a:gd name="connsiteY1" fmla="*/ 0 h 313817"/>
              <a:gd name="connsiteX2" fmla="*/ 1766863 w 1766863"/>
              <a:gd name="connsiteY2" fmla="*/ 156909 h 313817"/>
              <a:gd name="connsiteX3" fmla="*/ 1556422 w 1766863"/>
              <a:gd name="connsiteY3" fmla="*/ 313817 h 313817"/>
              <a:gd name="connsiteX4" fmla="*/ 0 w 1766863"/>
              <a:gd name="connsiteY4" fmla="*/ 313817 h 313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6863" h="313817">
                <a:moveTo>
                  <a:pt x="0" y="0"/>
                </a:moveTo>
                <a:lnTo>
                  <a:pt x="1556422" y="0"/>
                </a:lnTo>
                <a:lnTo>
                  <a:pt x="1766863" y="156909"/>
                </a:lnTo>
                <a:lnTo>
                  <a:pt x="1556422" y="313817"/>
                </a:lnTo>
                <a:lnTo>
                  <a:pt x="0" y="313817"/>
                </a:lnTo>
                <a:close/>
              </a:path>
            </a:pathLst>
          </a:cu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項目整理</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11" name="フリーフォーム: 図形 10">
            <a:extLst>
              <a:ext uri="{FF2B5EF4-FFF2-40B4-BE49-F238E27FC236}">
                <a16:creationId xmlns:a16="http://schemas.microsoft.com/office/drawing/2014/main" id="{6394E81C-E7D8-EE9C-8AB6-BEF8910C4BDF}"/>
              </a:ext>
            </a:extLst>
          </p:cNvPr>
          <p:cNvSpPr/>
          <p:nvPr/>
        </p:nvSpPr>
        <p:spPr>
          <a:xfrm>
            <a:off x="6278558" y="1260000"/>
            <a:ext cx="2610567" cy="360000"/>
          </a:xfrm>
          <a:custGeom>
            <a:avLst/>
            <a:gdLst>
              <a:gd name="connsiteX0" fmla="*/ 0 w 1766863"/>
              <a:gd name="connsiteY0" fmla="*/ 0 h 313817"/>
              <a:gd name="connsiteX1" fmla="*/ 1556422 w 1766863"/>
              <a:gd name="connsiteY1" fmla="*/ 0 h 313817"/>
              <a:gd name="connsiteX2" fmla="*/ 1766863 w 1766863"/>
              <a:gd name="connsiteY2" fmla="*/ 156909 h 313817"/>
              <a:gd name="connsiteX3" fmla="*/ 1556422 w 1766863"/>
              <a:gd name="connsiteY3" fmla="*/ 313817 h 313817"/>
              <a:gd name="connsiteX4" fmla="*/ 0 w 1766863"/>
              <a:gd name="connsiteY4" fmla="*/ 313817 h 313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6863" h="313817">
                <a:moveTo>
                  <a:pt x="0" y="0"/>
                </a:moveTo>
                <a:lnTo>
                  <a:pt x="1556422" y="0"/>
                </a:lnTo>
                <a:lnTo>
                  <a:pt x="1766863" y="156909"/>
                </a:lnTo>
                <a:lnTo>
                  <a:pt x="1556422" y="313817"/>
                </a:lnTo>
                <a:lnTo>
                  <a:pt x="0" y="313817"/>
                </a:lnTo>
                <a:close/>
              </a:path>
            </a:pathLst>
          </a:cu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サービス一覧化</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12" name="フリーフォーム: 図形 11">
            <a:extLst>
              <a:ext uri="{FF2B5EF4-FFF2-40B4-BE49-F238E27FC236}">
                <a16:creationId xmlns:a16="http://schemas.microsoft.com/office/drawing/2014/main" id="{D95F775D-5CA3-C490-5F3D-C3E24DB6AF27}"/>
              </a:ext>
            </a:extLst>
          </p:cNvPr>
          <p:cNvSpPr/>
          <p:nvPr/>
        </p:nvSpPr>
        <p:spPr>
          <a:xfrm>
            <a:off x="8889125" y="1260000"/>
            <a:ext cx="2610567" cy="360000"/>
          </a:xfrm>
          <a:custGeom>
            <a:avLst/>
            <a:gdLst>
              <a:gd name="connsiteX0" fmla="*/ 0 w 1766863"/>
              <a:gd name="connsiteY0" fmla="*/ 0 h 313817"/>
              <a:gd name="connsiteX1" fmla="*/ 1556422 w 1766863"/>
              <a:gd name="connsiteY1" fmla="*/ 0 h 313817"/>
              <a:gd name="connsiteX2" fmla="*/ 1766863 w 1766863"/>
              <a:gd name="connsiteY2" fmla="*/ 156909 h 313817"/>
              <a:gd name="connsiteX3" fmla="*/ 1556422 w 1766863"/>
              <a:gd name="connsiteY3" fmla="*/ 313817 h 313817"/>
              <a:gd name="connsiteX4" fmla="*/ 0 w 1766863"/>
              <a:gd name="connsiteY4" fmla="*/ 313817 h 3138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6863" h="313817">
                <a:moveTo>
                  <a:pt x="0" y="0"/>
                </a:moveTo>
                <a:lnTo>
                  <a:pt x="1556422" y="0"/>
                </a:lnTo>
                <a:lnTo>
                  <a:pt x="1766863" y="156909"/>
                </a:lnTo>
                <a:lnTo>
                  <a:pt x="1556422" y="313817"/>
                </a:lnTo>
                <a:lnTo>
                  <a:pt x="0" y="313817"/>
                </a:lnTo>
                <a:close/>
              </a:path>
            </a:pathLst>
          </a:cu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noAutofit/>
          </a:body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サービス選定</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7216E849-C702-ED19-C360-3496EC998CAA}"/>
              </a:ext>
            </a:extLst>
          </p:cNvPr>
          <p:cNvSpPr txBox="1"/>
          <p:nvPr/>
        </p:nvSpPr>
        <p:spPr>
          <a:xfrm>
            <a:off x="1057425" y="1991375"/>
            <a:ext cx="2396976"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過去調査の結果</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一般的な</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対象帳票</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ED61E13A-A69C-48BD-EB41-2EA7163DDDBE}"/>
              </a:ext>
            </a:extLst>
          </p:cNvPr>
          <p:cNvSpPr txBox="1"/>
          <p:nvPr/>
        </p:nvSpPr>
        <p:spPr>
          <a:xfrm>
            <a:off x="1057425" y="3563383"/>
            <a:ext cx="2396976"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過去調査における項目・</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業務・対象帳票の特徴をもとに、調査の観点・項目を整理した</a:t>
            </a:r>
          </a:p>
        </p:txBody>
      </p:sp>
      <p:sp>
        <p:nvSpPr>
          <p:cNvPr id="15" name="テキスト ボックス 14">
            <a:extLst>
              <a:ext uri="{FF2B5EF4-FFF2-40B4-BE49-F238E27FC236}">
                <a16:creationId xmlns:a16="http://schemas.microsoft.com/office/drawing/2014/main" id="{3D45640D-A91A-7B22-29F3-E6CD3C14713D}"/>
              </a:ext>
            </a:extLst>
          </p:cNvPr>
          <p:cNvSpPr txBox="1"/>
          <p:nvPr/>
        </p:nvSpPr>
        <p:spPr>
          <a:xfrm>
            <a:off x="1057425" y="5135391"/>
            <a:ext cx="2396976" cy="21544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サービス一覧</a:t>
            </a:r>
          </a:p>
        </p:txBody>
      </p:sp>
      <p:sp>
        <p:nvSpPr>
          <p:cNvPr id="16" name="テキスト ボックス 15">
            <a:extLst>
              <a:ext uri="{FF2B5EF4-FFF2-40B4-BE49-F238E27FC236}">
                <a16:creationId xmlns:a16="http://schemas.microsoft.com/office/drawing/2014/main" id="{92D678D3-868D-F5EF-B62E-D3BE673306D4}"/>
              </a:ext>
            </a:extLst>
          </p:cNvPr>
          <p:cNvSpPr txBox="1"/>
          <p:nvPr/>
        </p:nvSpPr>
        <p:spPr>
          <a:xfrm>
            <a:off x="3667991" y="1991390"/>
            <a:ext cx="2396976"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過去調査の結果</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一般的な</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対象帳票</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2EEF0FDB-6FAA-79A5-D765-01B4B5B624B8}"/>
              </a:ext>
            </a:extLst>
          </p:cNvPr>
          <p:cNvSpPr txBox="1"/>
          <p:nvPr/>
        </p:nvSpPr>
        <p:spPr>
          <a:xfrm>
            <a:off x="3667991" y="3563398"/>
            <a:ext cx="2396976"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過去調査における項目・</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業務・対象帳票の特徴をもとに、調査の観点・項目を整理した</a:t>
            </a:r>
          </a:p>
        </p:txBody>
      </p:sp>
      <p:sp>
        <p:nvSpPr>
          <p:cNvPr id="18" name="テキスト ボックス 17">
            <a:extLst>
              <a:ext uri="{FF2B5EF4-FFF2-40B4-BE49-F238E27FC236}">
                <a16:creationId xmlns:a16="http://schemas.microsoft.com/office/drawing/2014/main" id="{9C830369-2ED5-FD33-9DB5-5698D1AC3564}"/>
              </a:ext>
            </a:extLst>
          </p:cNvPr>
          <p:cNvSpPr txBox="1"/>
          <p:nvPr/>
        </p:nvSpPr>
        <p:spPr>
          <a:xfrm>
            <a:off x="3667991" y="5135406"/>
            <a:ext cx="2396976" cy="21544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サービス一覧</a:t>
            </a:r>
          </a:p>
        </p:txBody>
      </p:sp>
      <p:sp>
        <p:nvSpPr>
          <p:cNvPr id="19" name="テキスト ボックス 18">
            <a:extLst>
              <a:ext uri="{FF2B5EF4-FFF2-40B4-BE49-F238E27FC236}">
                <a16:creationId xmlns:a16="http://schemas.microsoft.com/office/drawing/2014/main" id="{22E22C42-E4C0-073D-0D1A-521B3DFC4D2A}"/>
              </a:ext>
            </a:extLst>
          </p:cNvPr>
          <p:cNvSpPr txBox="1"/>
          <p:nvPr/>
        </p:nvSpPr>
        <p:spPr>
          <a:xfrm>
            <a:off x="6278557" y="1991375"/>
            <a:ext cx="2396976"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過去調査の結果</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一般的な</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対象帳票</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91472B23-842F-D4B7-8EF9-8DC0C1BBEB2C}"/>
              </a:ext>
            </a:extLst>
          </p:cNvPr>
          <p:cNvSpPr txBox="1"/>
          <p:nvPr/>
        </p:nvSpPr>
        <p:spPr>
          <a:xfrm>
            <a:off x="6278557" y="3563383"/>
            <a:ext cx="2396976"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過去調査における項目・</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業務・対象帳票の特徴をもとに、調査の観点・項目を整理した</a:t>
            </a:r>
          </a:p>
        </p:txBody>
      </p:sp>
      <p:sp>
        <p:nvSpPr>
          <p:cNvPr id="21" name="テキスト ボックス 20">
            <a:extLst>
              <a:ext uri="{FF2B5EF4-FFF2-40B4-BE49-F238E27FC236}">
                <a16:creationId xmlns:a16="http://schemas.microsoft.com/office/drawing/2014/main" id="{05DFC043-46CF-28C9-DFCC-DC56DCD4205B}"/>
              </a:ext>
            </a:extLst>
          </p:cNvPr>
          <p:cNvSpPr txBox="1"/>
          <p:nvPr/>
        </p:nvSpPr>
        <p:spPr>
          <a:xfrm>
            <a:off x="6278557" y="5135391"/>
            <a:ext cx="2396976" cy="21544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サービス一覧</a:t>
            </a:r>
          </a:p>
        </p:txBody>
      </p:sp>
      <p:sp>
        <p:nvSpPr>
          <p:cNvPr id="22" name="テキスト ボックス 21">
            <a:extLst>
              <a:ext uri="{FF2B5EF4-FFF2-40B4-BE49-F238E27FC236}">
                <a16:creationId xmlns:a16="http://schemas.microsoft.com/office/drawing/2014/main" id="{5B79A834-6B17-AD1E-5928-201D648AC732}"/>
              </a:ext>
            </a:extLst>
          </p:cNvPr>
          <p:cNvSpPr txBox="1"/>
          <p:nvPr/>
        </p:nvSpPr>
        <p:spPr>
          <a:xfrm>
            <a:off x="8889123" y="1991375"/>
            <a:ext cx="2396976"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過去調査の結果</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一般的な</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対象帳票</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D60648CA-383B-4761-8EC7-797A6B188AC9}"/>
              </a:ext>
            </a:extLst>
          </p:cNvPr>
          <p:cNvSpPr txBox="1"/>
          <p:nvPr/>
        </p:nvSpPr>
        <p:spPr>
          <a:xfrm>
            <a:off x="8889123" y="3563383"/>
            <a:ext cx="2396976"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過去調査における項目・</a:t>
            </a:r>
            <a:r>
              <a:rPr kumimoji="1" lang="en-US" altLang="ja-JP" sz="1400" dirty="0">
                <a:latin typeface="BIZ UDPゴシック" panose="020B0400000000000000" pitchFamily="50" charset="-128"/>
                <a:ea typeface="BIZ UDPゴシック" panose="020B0400000000000000" pitchFamily="50" charset="-128"/>
              </a:rPr>
              <a:t>OCR</a:t>
            </a:r>
            <a:r>
              <a:rPr kumimoji="1" lang="ja-JP" altLang="en-US" sz="1400" dirty="0">
                <a:latin typeface="BIZ UDPゴシック" panose="020B0400000000000000" pitchFamily="50" charset="-128"/>
                <a:ea typeface="BIZ UDPゴシック" panose="020B0400000000000000" pitchFamily="50" charset="-128"/>
              </a:rPr>
              <a:t>業務・対象帳票の特徴をもとに、調査の観点・項目を整理した</a:t>
            </a:r>
          </a:p>
        </p:txBody>
      </p:sp>
      <p:sp>
        <p:nvSpPr>
          <p:cNvPr id="24" name="テキスト ボックス 23">
            <a:extLst>
              <a:ext uri="{FF2B5EF4-FFF2-40B4-BE49-F238E27FC236}">
                <a16:creationId xmlns:a16="http://schemas.microsoft.com/office/drawing/2014/main" id="{719F45F6-53F8-1A14-CD33-CEA8A6736C5D}"/>
              </a:ext>
            </a:extLst>
          </p:cNvPr>
          <p:cNvSpPr txBox="1"/>
          <p:nvPr/>
        </p:nvSpPr>
        <p:spPr>
          <a:xfrm>
            <a:off x="8889123" y="5135391"/>
            <a:ext cx="2396976" cy="21544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サービス一覧</a:t>
            </a:r>
          </a:p>
        </p:txBody>
      </p:sp>
    </p:spTree>
    <p:extLst>
      <p:ext uri="{BB962C8B-B14F-4D97-AF65-F5344CB8AC3E}">
        <p14:creationId xmlns:p14="http://schemas.microsoft.com/office/powerpoint/2010/main" val="38221060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D3612-1088-DF23-6397-E178AAFB2A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9F1A1D-B688-83E8-1C07-031808A7E396}"/>
              </a:ext>
            </a:extLst>
          </p:cNvPr>
          <p:cNvSpPr>
            <a:spLocks noGrp="1"/>
          </p:cNvSpPr>
          <p:nvPr>
            <p:ph type="ctrTitle"/>
          </p:nvPr>
        </p:nvSpPr>
        <p:spPr/>
        <p:txBody>
          <a:bodyPr/>
          <a:lstStyle/>
          <a:p>
            <a:r>
              <a:rPr lang="ja-JP" altLang="en-US" dirty="0"/>
              <a:t>一覧</a:t>
            </a:r>
            <a:endParaRPr kumimoji="1" lang="ja-JP" altLang="en-US" dirty="0"/>
          </a:p>
        </p:txBody>
      </p:sp>
      <p:sp>
        <p:nvSpPr>
          <p:cNvPr id="3" name="字幕 2">
            <a:extLst>
              <a:ext uri="{FF2B5EF4-FFF2-40B4-BE49-F238E27FC236}">
                <a16:creationId xmlns:a16="http://schemas.microsoft.com/office/drawing/2014/main" id="{B833E83D-2AD2-4FF9-7F4B-56B62848895C}"/>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661354A-B3C1-5824-CFC5-C34A31E7DC68}"/>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13</a:t>
            </a:fld>
            <a:endParaRPr lang="ja-JP" altLang="en-US"/>
          </a:p>
        </p:txBody>
      </p:sp>
      <p:sp>
        <p:nvSpPr>
          <p:cNvPr id="5" name="フッター プレースホルダー 4">
            <a:extLst>
              <a:ext uri="{FF2B5EF4-FFF2-40B4-BE49-F238E27FC236}">
                <a16:creationId xmlns:a16="http://schemas.microsoft.com/office/drawing/2014/main" id="{807F1A1B-8688-5C9E-555A-89ED30257DF6}"/>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360129222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AD5E6B-F442-80B7-19CB-675B5B19BC51}"/>
              </a:ext>
            </a:extLst>
          </p:cNvPr>
          <p:cNvSpPr>
            <a:spLocks noGrp="1"/>
          </p:cNvSpPr>
          <p:nvPr>
            <p:ph type="title"/>
          </p:nvPr>
        </p:nvSpPr>
        <p:spPr/>
        <p:txBody>
          <a:bodyPr/>
          <a:lstStyle/>
          <a:p>
            <a:r>
              <a:rPr lang="ja-JP" altLang="en-US" dirty="0"/>
              <a:t>心理的安全性を作るリーダーの具体的行動</a:t>
            </a:r>
            <a:endParaRPr kumimoji="1" lang="ja-JP" altLang="en-US" dirty="0"/>
          </a:p>
        </p:txBody>
      </p:sp>
      <p:sp>
        <p:nvSpPr>
          <p:cNvPr id="3" name="フッター プレースホルダー 2">
            <a:extLst>
              <a:ext uri="{FF2B5EF4-FFF2-40B4-BE49-F238E27FC236}">
                <a16:creationId xmlns:a16="http://schemas.microsoft.com/office/drawing/2014/main" id="{0297D8E5-C58E-CE0B-A43E-A7F35095BC5E}"/>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B1BA54C1-23CF-CA3E-905D-5ACA7001F709}"/>
              </a:ext>
            </a:extLst>
          </p:cNvPr>
          <p:cNvSpPr>
            <a:spLocks noGrp="1"/>
          </p:cNvSpPr>
          <p:nvPr>
            <p:ph type="sldNum" sz="quarter" idx="12"/>
          </p:nvPr>
        </p:nvSpPr>
        <p:spPr/>
        <p:txBody>
          <a:bodyPr/>
          <a:lstStyle/>
          <a:p>
            <a:fld id="{DCB5AA93-092B-49A1-87A7-3C88D5F38AD7}" type="slidenum">
              <a:rPr lang="ja-JP" altLang="en-US" smtClean="0"/>
              <a:pPr/>
              <a:t>14</a:t>
            </a:fld>
            <a:endParaRPr lang="ja-JP" altLang="en-US" sz="900" dirty="0"/>
          </a:p>
        </p:txBody>
      </p:sp>
      <p:sp>
        <p:nvSpPr>
          <p:cNvPr id="5" name="テキスト プレースホルダー 4">
            <a:extLst>
              <a:ext uri="{FF2B5EF4-FFF2-40B4-BE49-F238E27FC236}">
                <a16:creationId xmlns:a16="http://schemas.microsoft.com/office/drawing/2014/main" id="{880D355F-2FA1-9C73-C684-AD0F86B98393}"/>
              </a:ext>
            </a:extLst>
          </p:cNvPr>
          <p:cNvSpPr>
            <a:spLocks noGrp="1"/>
          </p:cNvSpPr>
          <p:nvPr>
            <p:ph type="body" sz="quarter" idx="13"/>
          </p:nvPr>
        </p:nvSpPr>
        <p:spPr/>
        <p:txBody>
          <a:bodyPr>
            <a:normAutofit fontScale="92500" lnSpcReduction="20000"/>
          </a:bodyPr>
          <a:lstStyle/>
          <a:p>
            <a:r>
              <a:rPr lang="ja-JP" altLang="en-US" dirty="0"/>
              <a:t>チームのためにリスクある発言や挑戦をしても、責めたりバカにしたりしない」とチームメンバーが信じられる状態のこと</a:t>
            </a:r>
          </a:p>
        </p:txBody>
      </p:sp>
      <p:sp>
        <p:nvSpPr>
          <p:cNvPr id="6" name="正方形/長方形 5">
            <a:extLst>
              <a:ext uri="{FF2B5EF4-FFF2-40B4-BE49-F238E27FC236}">
                <a16:creationId xmlns:a16="http://schemas.microsoft.com/office/drawing/2014/main" id="{E8DFF5D7-9E98-0637-7FDB-0E7B09A1EED0}"/>
              </a:ext>
            </a:extLst>
          </p:cNvPr>
          <p:cNvSpPr/>
          <p:nvPr/>
        </p:nvSpPr>
        <p:spPr>
          <a:xfrm>
            <a:off x="334964" y="1273062"/>
            <a:ext cx="2792410" cy="72936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355600" indent="-355600">
              <a:buFont typeface="+mj-ea"/>
              <a:buAutoNum type="circleNumDbPlain"/>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完璧な上司をやめる</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538163" indent="-182563"/>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 </a:t>
            </a: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弱みを開示</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D3452B8A-F3DB-8960-848F-DF8972F4F4FF}"/>
              </a:ext>
            </a:extLst>
          </p:cNvPr>
          <p:cNvSpPr/>
          <p:nvPr/>
        </p:nvSpPr>
        <p:spPr>
          <a:xfrm>
            <a:off x="334963" y="2572013"/>
            <a:ext cx="2792410" cy="72936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355600" indent="-355600">
              <a:buFont typeface="+mj-ea"/>
              <a:buAutoNum type="circleNumDbPlain" startAt="2"/>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問題を「懸念」に変えるだけ</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marL="538163" indent="-182563">
              <a:buFont typeface="BIZ UDPゴシック" panose="020B0400000000000000" pitchFamily="50" charset="-128"/>
              <a:buChar char="­"/>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発言ハードルを下げる質問</a:t>
            </a: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896DDAFB-B734-4566-DB19-95280BA726BA}"/>
              </a:ext>
            </a:extLst>
          </p:cNvPr>
          <p:cNvSpPr/>
          <p:nvPr/>
        </p:nvSpPr>
        <p:spPr>
          <a:xfrm>
            <a:off x="334963" y="3663346"/>
            <a:ext cx="2792410" cy="72936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buFont typeface="+mj-ea"/>
              <a:buAutoNum type="circleNumDbPlain" startAt="3"/>
            </a:pP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反論は</a:t>
            </a:r>
            <a:r>
              <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NG</a:t>
            </a: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「なるほど」からはじめる</a:t>
            </a:r>
          </a:p>
        </p:txBody>
      </p:sp>
      <p:sp>
        <p:nvSpPr>
          <p:cNvPr id="9" name="正方形/長方形 8">
            <a:extLst>
              <a:ext uri="{FF2B5EF4-FFF2-40B4-BE49-F238E27FC236}">
                <a16:creationId xmlns:a16="http://schemas.microsoft.com/office/drawing/2014/main" id="{E9AC9064-5020-FC45-12B4-A458C31F5D85}"/>
              </a:ext>
            </a:extLst>
          </p:cNvPr>
          <p:cNvSpPr/>
          <p:nvPr/>
        </p:nvSpPr>
        <p:spPr>
          <a:xfrm>
            <a:off x="334963" y="4829300"/>
            <a:ext cx="2792410" cy="72936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buFont typeface="+mj-ea"/>
              <a:buAutoNum type="circleNumDbPlain" startAt="4"/>
            </a:pP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失敗を責めない．挑戦を称える</a:t>
            </a:r>
            <a:endParaRPr kumimoji="1"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C6A1D449-3FA6-F39E-D6B3-5B9997A3D68D}"/>
              </a:ext>
            </a:extLst>
          </p:cNvPr>
          <p:cNvSpPr txBox="1"/>
          <p:nvPr/>
        </p:nvSpPr>
        <p:spPr>
          <a:xfrm>
            <a:off x="3426918" y="1268413"/>
            <a:ext cx="8347842" cy="738664"/>
          </a:xfrm>
          <a:prstGeom prst="rect">
            <a:avLst/>
          </a:prstGeom>
          <a:noFill/>
        </p:spPr>
        <p:txBody>
          <a:bodyPr wrap="square" lIns="0" tIns="0" rIns="0" bIns="0" rtlCol="0">
            <a:spAutoFit/>
          </a:bodyPr>
          <a:lstStyle/>
          <a:p>
            <a:pPr marL="180975" indent="-180975" algn="l">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「完璧な上司」の前では、部下は完璧な報告しかしない。ミスを隠し、問題を共有しなくなる。</a:t>
            </a:r>
            <a:endParaRPr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まずはリーダーが自ら、自分の失敗談や弱みを具体的に話すことから始める。「先週のプレゼン、あそこで言葉に詰まっちゃってさ」「○○の件、完全に俺の判断ミスだった。申し訳ない」</a:t>
            </a:r>
            <a:endParaRPr kumimoji="1"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上司が先に腹を見せることで、部下も「この人には本音を話しても大丈夫だ」という安心感を得る。</a:t>
            </a:r>
            <a:endParaRPr kumimoji="1" lang="en-US" altLang="ja-JP" sz="12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F382BE41-F82A-11BE-4A97-E087BE8FF7DD}"/>
              </a:ext>
            </a:extLst>
          </p:cNvPr>
          <p:cNvSpPr txBox="1"/>
          <p:nvPr/>
        </p:nvSpPr>
        <p:spPr>
          <a:xfrm>
            <a:off x="3426919" y="2475031"/>
            <a:ext cx="8284068" cy="923330"/>
          </a:xfrm>
          <a:prstGeom prst="rect">
            <a:avLst/>
          </a:prstGeom>
          <a:noFill/>
        </p:spPr>
        <p:txBody>
          <a:bodyPr wrap="square" lIns="0" tIns="0" rIns="0" bIns="0" rtlCol="0">
            <a:spAutoFit/>
          </a:bodyPr>
          <a:lstStyle/>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部下は上司が思う以上に「こんな些細な事、言っていいのだろうか</a:t>
            </a:r>
            <a:r>
              <a:rPr kumimoji="1" lang="en-US" altLang="ja-JP" sz="1200" dirty="0">
                <a:latin typeface="BIZ UDPゴシック" panose="020B0400000000000000" pitchFamily="50" charset="-128"/>
                <a:ea typeface="BIZ UDPゴシック" panose="020B0400000000000000" pitchFamily="50" charset="-128"/>
              </a:rPr>
              <a:t>…</a:t>
            </a:r>
            <a:r>
              <a:rPr kumimoji="1" lang="ja-JP" altLang="en-US" sz="1200" dirty="0">
                <a:latin typeface="BIZ UDPゴシック" panose="020B0400000000000000" pitchFamily="50" charset="-128"/>
                <a:ea typeface="BIZ UDPゴシック" panose="020B0400000000000000" pitchFamily="50" charset="-128"/>
              </a:rPr>
              <a:t>」と躊躇している。発言の心理的ハードルを極限まで下げることが重要</a:t>
            </a:r>
            <a:endParaRPr kumimoji="1"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NG</a:t>
            </a:r>
            <a:r>
              <a:rPr lang="ja-JP" altLang="en-US" sz="1200" dirty="0">
                <a:latin typeface="BIZ UDPゴシック" panose="020B0400000000000000" pitchFamily="50" charset="-128"/>
                <a:ea typeface="BIZ UDPゴシック" panose="020B0400000000000000" pitchFamily="50" charset="-128"/>
              </a:rPr>
              <a:t>ワード：「何か問題ある？」 → おおごとに聞こえ、報告をためらわせてしまう</a:t>
            </a:r>
            <a:endParaRPr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kumimoji="1" lang="en-US" altLang="ja-JP" sz="1200" dirty="0">
                <a:latin typeface="BIZ UDPゴシック" panose="020B0400000000000000" pitchFamily="50" charset="-128"/>
                <a:ea typeface="BIZ UDPゴシック" panose="020B0400000000000000" pitchFamily="50" charset="-128"/>
              </a:rPr>
              <a:t>OK</a:t>
            </a:r>
            <a:r>
              <a:rPr kumimoji="1" lang="ja-JP" altLang="en-US" sz="1200" dirty="0">
                <a:latin typeface="BIZ UDPゴシック" panose="020B0400000000000000" pitchFamily="50" charset="-128"/>
                <a:ea typeface="BIZ UDPゴシック" panose="020B0400000000000000" pitchFamily="50" charset="-128"/>
              </a:rPr>
              <a:t>ワード：「何か懸念ある？」「ちょっと気になってることない？」「やってて違和感ある部分とか」 → 些細なことでも話してよいというメッセージになる</a:t>
            </a:r>
          </a:p>
        </p:txBody>
      </p:sp>
      <p:sp>
        <p:nvSpPr>
          <p:cNvPr id="12" name="テキスト ボックス 11">
            <a:extLst>
              <a:ext uri="{FF2B5EF4-FFF2-40B4-BE49-F238E27FC236}">
                <a16:creationId xmlns:a16="http://schemas.microsoft.com/office/drawing/2014/main" id="{CE21D0D4-12A1-7BFF-3387-DCFE41691EB5}"/>
              </a:ext>
            </a:extLst>
          </p:cNvPr>
          <p:cNvSpPr txBox="1"/>
          <p:nvPr/>
        </p:nvSpPr>
        <p:spPr>
          <a:xfrm>
            <a:off x="3426919" y="3751030"/>
            <a:ext cx="8284068" cy="553998"/>
          </a:xfrm>
          <a:prstGeom prst="rect">
            <a:avLst/>
          </a:prstGeom>
          <a:noFill/>
        </p:spPr>
        <p:txBody>
          <a:bodyPr wrap="square" lIns="0" tIns="0" rIns="0" bIns="0" rtlCol="0">
            <a:spAutoFit/>
          </a:bodyPr>
          <a:lstStyle/>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どんな的外れに見える意見でも、頭ごなしに否定するのは最悪。「</a:t>
            </a:r>
            <a:r>
              <a:rPr lang="ja-JP" altLang="en-US" sz="1200" dirty="0">
                <a:latin typeface="BIZ UDPゴシック" panose="020B0400000000000000" pitchFamily="50" charset="-128"/>
                <a:ea typeface="BIZ UDPゴシック" panose="020B0400000000000000" pitchFamily="50" charset="-128"/>
              </a:rPr>
              <a:t>発言すると損をする」と部下に学習させてしまう</a:t>
            </a:r>
            <a:endParaRPr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鉄則は、どんな意見もまず「承認」から入ること。「なるほど、視点があるんだね。話してくれてありがとう」「面白い意見だね。もう少し詳しく教えてくれる？」自分の意見を言うのはそのあと。</a:t>
            </a:r>
          </a:p>
        </p:txBody>
      </p:sp>
      <p:sp>
        <p:nvSpPr>
          <p:cNvPr id="13" name="テキスト ボックス 12">
            <a:extLst>
              <a:ext uri="{FF2B5EF4-FFF2-40B4-BE49-F238E27FC236}">
                <a16:creationId xmlns:a16="http://schemas.microsoft.com/office/drawing/2014/main" id="{68D1CF26-30C6-97CE-26CC-C991A77E077A}"/>
              </a:ext>
            </a:extLst>
          </p:cNvPr>
          <p:cNvSpPr txBox="1"/>
          <p:nvPr/>
        </p:nvSpPr>
        <p:spPr>
          <a:xfrm>
            <a:off x="3426918" y="4732318"/>
            <a:ext cx="8284067" cy="923330"/>
          </a:xfrm>
          <a:prstGeom prst="rect">
            <a:avLst/>
          </a:prstGeom>
          <a:noFill/>
        </p:spPr>
        <p:txBody>
          <a:bodyPr wrap="square" lIns="0" tIns="0" rIns="0" bIns="0" rtlCol="0">
            <a:spAutoFit/>
          </a:bodyPr>
          <a:lstStyle/>
          <a:p>
            <a:pPr marL="180975" indent="-180975"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心理的安全性の本質は「対人関係リスク</a:t>
            </a:r>
            <a:r>
              <a:rPr kumimoji="1" lang="en-US" altLang="ja-JP" sz="1200" dirty="0">
                <a:latin typeface="BIZ UDPゴシック" panose="020B0400000000000000" pitchFamily="50" charset="-128"/>
                <a:ea typeface="BIZ UDPゴシック" panose="020B0400000000000000" pitchFamily="50" charset="-128"/>
              </a:rPr>
              <a:t>(</a:t>
            </a:r>
            <a:r>
              <a:rPr kumimoji="1" lang="ja-JP" altLang="en-US" sz="1200" dirty="0">
                <a:latin typeface="BIZ UDPゴシック" panose="020B0400000000000000" pitchFamily="50" charset="-128"/>
                <a:ea typeface="BIZ UDPゴシック" panose="020B0400000000000000" pitchFamily="50" charset="-128"/>
              </a:rPr>
              <a:t>無知だと思われる、無能だと思われるなど</a:t>
            </a:r>
            <a:r>
              <a:rPr kumimoji="1" lang="en-US" altLang="ja-JP" sz="1200" dirty="0">
                <a:latin typeface="BIZ UDPゴシック" panose="020B0400000000000000" pitchFamily="50" charset="-128"/>
                <a:ea typeface="BIZ UDPゴシック" panose="020B0400000000000000" pitchFamily="50" charset="-128"/>
              </a:rPr>
              <a:t>)</a:t>
            </a:r>
            <a:r>
              <a:rPr kumimoji="1" lang="ja-JP" altLang="en-US" sz="1200" dirty="0">
                <a:latin typeface="BIZ UDPゴシック" panose="020B0400000000000000" pitchFamily="50" charset="-128"/>
                <a:ea typeface="BIZ UDPゴシック" panose="020B0400000000000000" pitchFamily="50" charset="-128"/>
              </a:rPr>
              <a:t>を取れる」こと。つまり安心して挑戦と失敗ができる状態</a:t>
            </a:r>
            <a:endParaRPr kumimoji="1" lang="en-US" altLang="ja-JP" sz="1200" dirty="0">
              <a:latin typeface="BIZ UDPゴシック" panose="020B0400000000000000" pitchFamily="50" charset="-128"/>
              <a:ea typeface="BIZ UDPゴシック" panose="020B0400000000000000" pitchFamily="50" charset="-128"/>
            </a:endParaRPr>
          </a:p>
          <a:p>
            <a:pPr marL="180975" indent="-180975" algn="l">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部下が新しい挑戦をしたら、結果がどうであれ、まず「ナイスチャレンジ」と行動そのものを称賛する。失敗した場合は、犯人探しではなく原因究明と学びの抽出にフォーカスする。「この失敗から、ぼくたちは何を学べるかな？」「次やるとしたら、どうすればもっと上手くできそう？」この問いかけが重要</a:t>
            </a:r>
            <a:endParaRPr kumimoji="1" lang="ja-JP" altLang="en-US" sz="12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54526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9" name="図 38">
            <a:extLst>
              <a:ext uri="{FF2B5EF4-FFF2-40B4-BE49-F238E27FC236}">
                <a16:creationId xmlns:a16="http://schemas.microsoft.com/office/drawing/2014/main" id="{1CB85B55-D0BF-F72F-3B03-EFD0C4028796}"/>
              </a:ext>
            </a:extLst>
          </p:cNvPr>
          <p:cNvPicPr>
            <a:picLocks noChangeAspect="1"/>
          </p:cNvPicPr>
          <p:nvPr/>
        </p:nvPicPr>
        <p:blipFill>
          <a:blip r:embed="rId2"/>
          <a:stretch>
            <a:fillRect/>
          </a:stretch>
        </p:blipFill>
        <p:spPr>
          <a:xfrm>
            <a:off x="8200437" y="1979143"/>
            <a:ext cx="563272" cy="351207"/>
          </a:xfrm>
          <a:prstGeom prst="rect">
            <a:avLst/>
          </a:prstGeom>
        </p:spPr>
      </p:pic>
      <p:pic>
        <p:nvPicPr>
          <p:cNvPr id="37" name="図 36">
            <a:extLst>
              <a:ext uri="{FF2B5EF4-FFF2-40B4-BE49-F238E27FC236}">
                <a16:creationId xmlns:a16="http://schemas.microsoft.com/office/drawing/2014/main" id="{10DE2FF7-A7EA-24BA-7F81-6A9BEE1BF75E}"/>
              </a:ext>
            </a:extLst>
          </p:cNvPr>
          <p:cNvPicPr>
            <a:picLocks noChangeAspect="1"/>
          </p:cNvPicPr>
          <p:nvPr/>
        </p:nvPicPr>
        <p:blipFill>
          <a:blip r:embed="rId3"/>
          <a:stretch>
            <a:fillRect/>
          </a:stretch>
        </p:blipFill>
        <p:spPr>
          <a:xfrm>
            <a:off x="5449474" y="2033046"/>
            <a:ext cx="413849" cy="278022"/>
          </a:xfrm>
          <a:prstGeom prst="rect">
            <a:avLst/>
          </a:prstGeom>
        </p:spPr>
      </p:pic>
      <p:sp>
        <p:nvSpPr>
          <p:cNvPr id="2" name="タイトル 1">
            <a:extLst>
              <a:ext uri="{FF2B5EF4-FFF2-40B4-BE49-F238E27FC236}">
                <a16:creationId xmlns:a16="http://schemas.microsoft.com/office/drawing/2014/main" id="{6E6EB87E-D633-DDF0-7726-1ACACF60B8A0}"/>
              </a:ext>
            </a:extLst>
          </p:cNvPr>
          <p:cNvSpPr>
            <a:spLocks noGrp="1"/>
          </p:cNvSpPr>
          <p:nvPr>
            <p:ph type="title"/>
          </p:nvPr>
        </p:nvSpPr>
        <p:spPr/>
        <p:txBody>
          <a:bodyPr/>
          <a:lstStyle/>
          <a:p>
            <a:r>
              <a:rPr lang="ja-JP" altLang="en-US" dirty="0"/>
              <a:t>経歴紹介</a:t>
            </a:r>
            <a:endParaRPr kumimoji="1" lang="ja-JP" altLang="en-US" dirty="0"/>
          </a:p>
        </p:txBody>
      </p:sp>
      <p:sp>
        <p:nvSpPr>
          <p:cNvPr id="3" name="フッター プレースホルダー 2">
            <a:extLst>
              <a:ext uri="{FF2B5EF4-FFF2-40B4-BE49-F238E27FC236}">
                <a16:creationId xmlns:a16="http://schemas.microsoft.com/office/drawing/2014/main" id="{F37686FF-489E-86EF-A554-317354B8C9A9}"/>
              </a:ext>
            </a:extLst>
          </p:cNvPr>
          <p:cNvSpPr>
            <a:spLocks noGrp="1"/>
          </p:cNvSpPr>
          <p:nvPr>
            <p:ph type="ftr" sz="quarter" idx="11"/>
          </p:nvPr>
        </p:nvSpPr>
        <p:spPr/>
        <p:txBody>
          <a:bodyPr/>
          <a:lstStyle/>
          <a:p>
            <a:r>
              <a:rPr lang="ja-JP" altLang="en-US" dirty="0"/>
              <a:t>出所：</a:t>
            </a:r>
            <a:endParaRPr lang="ja-JP" altLang="en-US" sz="900" dirty="0"/>
          </a:p>
        </p:txBody>
      </p:sp>
      <p:sp>
        <p:nvSpPr>
          <p:cNvPr id="4" name="スライド番号プレースホルダー 3">
            <a:extLst>
              <a:ext uri="{FF2B5EF4-FFF2-40B4-BE49-F238E27FC236}">
                <a16:creationId xmlns:a16="http://schemas.microsoft.com/office/drawing/2014/main" id="{0909B018-8D27-0343-4384-C4FD2772E18A}"/>
              </a:ext>
            </a:extLst>
          </p:cNvPr>
          <p:cNvSpPr>
            <a:spLocks noGrp="1"/>
          </p:cNvSpPr>
          <p:nvPr>
            <p:ph type="sldNum" sz="quarter" idx="12"/>
          </p:nvPr>
        </p:nvSpPr>
        <p:spPr>
          <a:xfrm>
            <a:off x="11492327" y="6552000"/>
            <a:ext cx="540000" cy="216000"/>
          </a:xfrm>
        </p:spPr>
        <p:txBody>
          <a:bodyPr/>
          <a:lstStyle/>
          <a:p>
            <a:fld id="{DCB5AA93-092B-49A1-87A7-3C88D5F38AD7}" type="slidenum">
              <a:rPr lang="ja-JP" altLang="en-US" smtClean="0"/>
              <a:pPr/>
              <a:t>15</a:t>
            </a:fld>
            <a:endParaRPr lang="ja-JP" altLang="en-US" sz="900" dirty="0"/>
          </a:p>
        </p:txBody>
      </p:sp>
      <p:sp>
        <p:nvSpPr>
          <p:cNvPr id="6" name="正方形/長方形 5">
            <a:extLst>
              <a:ext uri="{FF2B5EF4-FFF2-40B4-BE49-F238E27FC236}">
                <a16:creationId xmlns:a16="http://schemas.microsoft.com/office/drawing/2014/main" id="{FC9DADE3-4C98-7A40-0821-3B9529466532}"/>
              </a:ext>
            </a:extLst>
          </p:cNvPr>
          <p:cNvSpPr/>
          <p:nvPr/>
        </p:nvSpPr>
        <p:spPr>
          <a:xfrm>
            <a:off x="334963" y="877446"/>
            <a:ext cx="1751532" cy="2160587"/>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400" dirty="0">
                <a:solidFill>
                  <a:schemeClr val="tx1"/>
                </a:solidFill>
                <a:latin typeface="BIZ UDPゴシック" panose="020B0400000000000000" pitchFamily="50" charset="-128"/>
                <a:ea typeface="BIZ UDPゴシック" panose="020B0400000000000000" pitchFamily="50" charset="-128"/>
              </a:rPr>
              <a:t>写真</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7" name="テキスト ボックス 6">
            <a:extLst>
              <a:ext uri="{FF2B5EF4-FFF2-40B4-BE49-F238E27FC236}">
                <a16:creationId xmlns:a16="http://schemas.microsoft.com/office/drawing/2014/main" id="{8FB5FB7C-E88F-9798-129E-F57301216631}"/>
              </a:ext>
            </a:extLst>
          </p:cNvPr>
          <p:cNvSpPr txBox="1"/>
          <p:nvPr/>
        </p:nvSpPr>
        <p:spPr>
          <a:xfrm>
            <a:off x="334963" y="3038033"/>
            <a:ext cx="1738464" cy="751328"/>
          </a:xfrm>
          <a:prstGeom prst="rect">
            <a:avLst/>
          </a:prstGeom>
          <a:noFill/>
        </p:spPr>
        <p:txBody>
          <a:bodyPr wrap="none" lIns="0" tIns="0" rIns="0" bIns="0" rtlCol="0" anchor="t" anchorCtr="0">
            <a:noAutofit/>
          </a:bodyPr>
          <a:lstStyle/>
          <a:p>
            <a:pPr marL="87312" algn="ctr">
              <a:lnSpc>
                <a:spcPct val="150000"/>
              </a:lnSpc>
            </a:pPr>
            <a:r>
              <a:rPr lang="ja-JP" altLang="en-US" sz="1400" dirty="0">
                <a:latin typeface="BIZ UDPゴシック" panose="020B0400000000000000" pitchFamily="50" charset="-128"/>
                <a:ea typeface="BIZ UDPゴシック" panose="020B0400000000000000" pitchFamily="50" charset="-128"/>
              </a:rPr>
              <a:t>営業本部 営業一課</a:t>
            </a:r>
            <a:endParaRPr lang="en-US" altLang="ja-JP" sz="1400" dirty="0">
              <a:latin typeface="BIZ UDPゴシック" panose="020B0400000000000000" pitchFamily="50" charset="-128"/>
              <a:ea typeface="BIZ UDPゴシック" panose="020B0400000000000000" pitchFamily="50" charset="-128"/>
            </a:endParaRPr>
          </a:p>
          <a:p>
            <a:pPr marL="87312" algn="ctr">
              <a:lnSpc>
                <a:spcPct val="150000"/>
              </a:lnSpc>
            </a:pPr>
            <a:r>
              <a:rPr lang="ja-JP" altLang="en-US" sz="1400" dirty="0">
                <a:latin typeface="BIZ UDPゴシック" panose="020B0400000000000000" pitchFamily="50" charset="-128"/>
                <a:ea typeface="BIZ UDPゴシック" panose="020B0400000000000000" pitchFamily="50" charset="-128"/>
              </a:rPr>
              <a:t>磯野 カツオ</a:t>
            </a:r>
            <a:endParaRPr lang="en-US" altLang="ja-JP" sz="1400" dirty="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54E65D3F-5D86-A960-0A52-C27A467D618B}"/>
              </a:ext>
            </a:extLst>
          </p:cNvPr>
          <p:cNvSpPr txBox="1"/>
          <p:nvPr/>
        </p:nvSpPr>
        <p:spPr>
          <a:xfrm>
            <a:off x="334963" y="4061890"/>
            <a:ext cx="1751532" cy="2427810"/>
          </a:xfrm>
          <a:prstGeom prst="rect">
            <a:avLst/>
          </a:prstGeom>
          <a:noFill/>
        </p:spPr>
        <p:txBody>
          <a:bodyPr wrap="none" lIns="0" tIns="0" rIns="0" bIns="0" rtlCol="0" anchor="t" anchorCtr="0">
            <a:noAutofit/>
          </a:bodyPr>
          <a:lstStyle/>
          <a:p>
            <a:pPr marL="87312" algn="ctr">
              <a:lnSpc>
                <a:spcPct val="150000"/>
              </a:lnSpc>
            </a:pPr>
            <a:r>
              <a:rPr lang="ja-JP" altLang="en-US" sz="1400" dirty="0">
                <a:latin typeface="BIZ UDPゴシック" panose="020B0400000000000000" pitchFamily="50" charset="-128"/>
                <a:ea typeface="BIZ UDPゴシック" panose="020B0400000000000000" pitchFamily="50" charset="-128"/>
              </a:rPr>
              <a:t>組込みエンジニア</a:t>
            </a:r>
            <a:endParaRPr kumimoji="1" lang="en-US" altLang="ja-JP" sz="1400" dirty="0">
              <a:latin typeface="BIZ UDPゴシック" panose="020B0400000000000000" pitchFamily="50" charset="-128"/>
              <a:ea typeface="BIZ UDPゴシック" panose="020B0400000000000000" pitchFamily="50" charset="-128"/>
            </a:endParaRPr>
          </a:p>
          <a:p>
            <a:pPr marL="87312" algn="ctr">
              <a:lnSpc>
                <a:spcPct val="150000"/>
              </a:lnSpc>
            </a:pPr>
            <a:r>
              <a:rPr lang="ja-JP" altLang="en-US" sz="1400" dirty="0">
                <a:latin typeface="BIZ UDPゴシック" panose="020B0400000000000000" pitchFamily="50" charset="-128"/>
                <a:ea typeface="BIZ UDPゴシック" panose="020B0400000000000000" pitchFamily="50" charset="-128"/>
              </a:rPr>
              <a:t>神奈川</a:t>
            </a:r>
            <a:r>
              <a:rPr kumimoji="1" lang="ja-JP" altLang="en-US" sz="1400" dirty="0">
                <a:latin typeface="BIZ UDPゴシック" panose="020B0400000000000000" pitchFamily="50" charset="-128"/>
                <a:ea typeface="BIZ UDPゴシック" panose="020B0400000000000000" pitchFamily="50" charset="-128"/>
              </a:rPr>
              <a:t>県 横浜市</a:t>
            </a:r>
            <a:endParaRPr kumimoji="1" lang="en-US" altLang="ja-JP" sz="1400" dirty="0">
              <a:latin typeface="BIZ UDPゴシック" panose="020B0400000000000000" pitchFamily="50" charset="-128"/>
              <a:ea typeface="BIZ UDPゴシック" panose="020B0400000000000000" pitchFamily="50" charset="-128"/>
            </a:endParaRPr>
          </a:p>
          <a:p>
            <a:pPr marL="87312" algn="ctr">
              <a:lnSpc>
                <a:spcPct val="150000"/>
              </a:lnSpc>
            </a:pPr>
            <a:r>
              <a:rPr lang="en-US" altLang="ja-JP" sz="1400" dirty="0">
                <a:latin typeface="BIZ UDPゴシック" panose="020B0400000000000000" pitchFamily="50" charset="-128"/>
                <a:ea typeface="BIZ UDPゴシック" panose="020B0400000000000000" pitchFamily="50" charset="-128"/>
              </a:rPr>
              <a:t>40</a:t>
            </a:r>
            <a:r>
              <a:rPr lang="ja-JP" altLang="en-US" sz="1400" dirty="0">
                <a:latin typeface="BIZ UDPゴシック" panose="020B0400000000000000" pitchFamily="50" charset="-128"/>
                <a:ea typeface="BIZ UDPゴシック" panose="020B0400000000000000" pitchFamily="50" charset="-128"/>
              </a:rPr>
              <a:t>歳</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1423209B-574C-ABE0-F2CC-7ECAB40FCDF8}"/>
              </a:ext>
            </a:extLst>
          </p:cNvPr>
          <p:cNvSpPr/>
          <p:nvPr/>
        </p:nvSpPr>
        <p:spPr>
          <a:xfrm>
            <a:off x="2423459" y="4061890"/>
            <a:ext cx="432000" cy="2438269"/>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r>
              <a:rPr kumimoji="1" lang="ja-JP" altLang="en-US" sz="1400" dirty="0">
                <a:solidFill>
                  <a:srgbClr val="002060"/>
                </a:solidFill>
                <a:latin typeface="BIZ UDPゴシック" panose="020B0400000000000000" pitchFamily="50" charset="-128"/>
                <a:ea typeface="BIZ UDPゴシック" panose="020B0400000000000000" pitchFamily="50" charset="-128"/>
              </a:rPr>
              <a:t>基本</a:t>
            </a: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r>
              <a:rPr kumimoji="1" lang="ja-JP" altLang="en-US" sz="1400" dirty="0">
                <a:solidFill>
                  <a:srgbClr val="002060"/>
                </a:solidFill>
                <a:latin typeface="BIZ UDPゴシック" panose="020B0400000000000000" pitchFamily="50" charset="-128"/>
                <a:ea typeface="BIZ UDPゴシック" panose="020B0400000000000000" pitchFamily="50" charset="-128"/>
              </a:rPr>
              <a:t>情報</a:t>
            </a:r>
          </a:p>
        </p:txBody>
      </p:sp>
      <p:sp>
        <p:nvSpPr>
          <p:cNvPr id="11" name="正方形/長方形 10">
            <a:extLst>
              <a:ext uri="{FF2B5EF4-FFF2-40B4-BE49-F238E27FC236}">
                <a16:creationId xmlns:a16="http://schemas.microsoft.com/office/drawing/2014/main" id="{E6F1CB45-71F1-9B61-7BA7-4D45733989E0}"/>
              </a:ext>
            </a:extLst>
          </p:cNvPr>
          <p:cNvSpPr/>
          <p:nvPr/>
        </p:nvSpPr>
        <p:spPr>
          <a:xfrm>
            <a:off x="2423459" y="886486"/>
            <a:ext cx="432000" cy="2752469"/>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kumimoji="1"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endParaRPr lang="en-US" altLang="ja-JP" sz="1400" dirty="0">
              <a:solidFill>
                <a:srgbClr val="002060"/>
              </a:solidFill>
              <a:latin typeface="BIZ UDPゴシック" panose="020B0400000000000000" pitchFamily="50" charset="-128"/>
              <a:ea typeface="BIZ UDPゴシック" panose="020B0400000000000000" pitchFamily="50" charset="-128"/>
            </a:endParaRPr>
          </a:p>
          <a:p>
            <a:pPr algn="ctr"/>
            <a:r>
              <a:rPr kumimoji="1" lang="ja-JP" altLang="en-US" sz="1400" dirty="0">
                <a:solidFill>
                  <a:srgbClr val="002060"/>
                </a:solidFill>
                <a:latin typeface="BIZ UDPゴシック" panose="020B0400000000000000" pitchFamily="50" charset="-128"/>
                <a:ea typeface="BIZ UDPゴシック" panose="020B0400000000000000" pitchFamily="50" charset="-128"/>
              </a:rPr>
              <a:t>経歴</a:t>
            </a:r>
          </a:p>
        </p:txBody>
      </p:sp>
      <p:cxnSp>
        <p:nvCxnSpPr>
          <p:cNvPr id="22" name="直線コネクタ 21">
            <a:extLst>
              <a:ext uri="{FF2B5EF4-FFF2-40B4-BE49-F238E27FC236}">
                <a16:creationId xmlns:a16="http://schemas.microsoft.com/office/drawing/2014/main" id="{59C1D379-1C62-2269-2C6E-17CE3CFE7242}"/>
              </a:ext>
            </a:extLst>
          </p:cNvPr>
          <p:cNvCxnSpPr>
            <a:cxnSpLocks/>
          </p:cNvCxnSpPr>
          <p:nvPr/>
        </p:nvCxnSpPr>
        <p:spPr>
          <a:xfrm>
            <a:off x="3192398" y="1259342"/>
            <a:ext cx="8658430" cy="11397"/>
          </a:xfrm>
          <a:prstGeom prst="line">
            <a:avLst/>
          </a:prstGeom>
          <a:ln w="3175">
            <a:solidFill>
              <a:schemeClr val="accent1">
                <a:lumMod val="75000"/>
              </a:schemeClr>
            </a:solidFill>
          </a:ln>
        </p:spPr>
        <p:style>
          <a:lnRef idx="2">
            <a:schemeClr val="accent1"/>
          </a:lnRef>
          <a:fillRef idx="0">
            <a:schemeClr val="accent1"/>
          </a:fillRef>
          <a:effectRef idx="1">
            <a:schemeClr val="accent1"/>
          </a:effectRef>
          <a:fontRef idx="minor">
            <a:schemeClr val="tx1"/>
          </a:fontRef>
        </p:style>
      </p:cxnSp>
      <p:sp>
        <p:nvSpPr>
          <p:cNvPr id="25" name="テキスト ボックス 24">
            <a:extLst>
              <a:ext uri="{FF2B5EF4-FFF2-40B4-BE49-F238E27FC236}">
                <a16:creationId xmlns:a16="http://schemas.microsoft.com/office/drawing/2014/main" id="{0433D545-4FA3-4F02-2A65-76D44D7F9B1A}"/>
              </a:ext>
            </a:extLst>
          </p:cNvPr>
          <p:cNvSpPr txBox="1"/>
          <p:nvPr/>
        </p:nvSpPr>
        <p:spPr>
          <a:xfrm>
            <a:off x="3413051" y="1414338"/>
            <a:ext cx="2503562" cy="2224618"/>
          </a:xfrm>
          <a:prstGeom prst="rect">
            <a:avLst/>
          </a:prstGeom>
          <a:noFill/>
          <a:ln w="6350">
            <a:noFill/>
            <a:prstDash val="sysDot"/>
          </a:ln>
        </p:spPr>
        <p:txBody>
          <a:bodyPr wrap="none" lIns="0" tIns="0" rIns="0" bIns="0" rtlCol="0" anchor="t" anchorCtr="0">
            <a:noAutofit/>
          </a:bodyPr>
          <a:lstStyle/>
          <a:p>
            <a:pPr marL="87312" algn="l">
              <a:lnSpc>
                <a:spcPct val="150000"/>
              </a:lnSpc>
            </a:pPr>
            <a:r>
              <a:rPr kumimoji="1" lang="ja-JP" altLang="en-US" sz="1400" b="1" dirty="0">
                <a:solidFill>
                  <a:srgbClr val="002060"/>
                </a:solidFill>
                <a:latin typeface="BIZ UDPゴシック" panose="020B0400000000000000" pitchFamily="50" charset="-128"/>
                <a:ea typeface="BIZ UDPゴシック" panose="020B0400000000000000" pitchFamily="50" charset="-128"/>
              </a:rPr>
              <a:t>半導体メーカー</a:t>
            </a:r>
            <a:endParaRPr kumimoji="1" lang="en-US" altLang="ja-JP" sz="1400" b="1" dirty="0">
              <a:solidFill>
                <a:srgbClr val="002060"/>
              </a:solidFill>
              <a:latin typeface="BIZ UDPゴシック" panose="020B0400000000000000" pitchFamily="50" charset="-128"/>
              <a:ea typeface="BIZ UDPゴシック" panose="020B0400000000000000" pitchFamily="50" charset="-128"/>
            </a:endParaRPr>
          </a:p>
          <a:p>
            <a:pPr marL="269875" indent="-184150" algn="l">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3</a:t>
            </a:r>
            <a:r>
              <a:rPr lang="ja-JP" altLang="en-US" sz="1400" dirty="0">
                <a:latin typeface="BIZ UDPゴシック" panose="020B0400000000000000" pitchFamily="50" charset="-128"/>
                <a:ea typeface="BIZ UDPゴシック" panose="020B0400000000000000" pitchFamily="50" charset="-128"/>
              </a:rPr>
              <a:t>次元</a:t>
            </a:r>
            <a:r>
              <a:rPr lang="en-US" altLang="ja-JP" sz="1400" dirty="0">
                <a:latin typeface="BIZ UDPゴシック" panose="020B0400000000000000" pitchFamily="50" charset="-128"/>
                <a:ea typeface="BIZ UDPゴシック" panose="020B0400000000000000" pitchFamily="50" charset="-128"/>
              </a:rPr>
              <a:t>NAND</a:t>
            </a:r>
            <a:r>
              <a:rPr lang="ja-JP" altLang="en-US" sz="1400" dirty="0">
                <a:latin typeface="BIZ UDPゴシック" panose="020B0400000000000000" pitchFamily="50" charset="-128"/>
                <a:ea typeface="BIZ UDPゴシック" panose="020B0400000000000000" pitchFamily="50" charset="-128"/>
              </a:rPr>
              <a:t> </a:t>
            </a:r>
            <a:r>
              <a:rPr lang="en-US" altLang="ja-JP" sz="1400" dirty="0">
                <a:latin typeface="BIZ UDPゴシック" panose="020B0400000000000000" pitchFamily="50" charset="-128"/>
                <a:ea typeface="BIZ UDPゴシック" panose="020B0400000000000000" pitchFamily="50" charset="-128"/>
              </a:rPr>
              <a:t>SSD</a:t>
            </a:r>
            <a:r>
              <a:rPr lang="ja-JP" altLang="en-US" sz="1400" dirty="0">
                <a:latin typeface="BIZ UDPゴシック" panose="020B0400000000000000" pitchFamily="50" charset="-128"/>
                <a:ea typeface="BIZ UDPゴシック" panose="020B0400000000000000" pitchFamily="50" charset="-128"/>
              </a:rPr>
              <a:t>開発</a:t>
            </a:r>
            <a:endParaRPr lang="en-US" altLang="ja-JP" sz="1400" dirty="0">
              <a:latin typeface="BIZ UDPゴシック" panose="020B0400000000000000" pitchFamily="50" charset="-128"/>
              <a:ea typeface="BIZ UDPゴシック" panose="020B0400000000000000" pitchFamily="50" charset="-128"/>
            </a:endParaRPr>
          </a:p>
          <a:p>
            <a:pPr marL="555625" lvl="1" indent="-285750">
              <a:lnSpc>
                <a:spcPct val="150000"/>
              </a:lnSpc>
              <a:buFont typeface="BIZ UDPゴシック" panose="020B0400000000000000" pitchFamily="50" charset="-128"/>
              <a:buChar char="•"/>
            </a:pPr>
            <a:endParaRPr lang="en-US" altLang="ja-JP" sz="1400" dirty="0">
              <a:latin typeface="BIZ UDPゴシック" panose="020B0400000000000000" pitchFamily="50" charset="-128"/>
              <a:ea typeface="BIZ UDPゴシック" panose="020B0400000000000000" pitchFamily="50" charset="-128"/>
            </a:endParaRPr>
          </a:p>
          <a:p>
            <a:pPr marL="285750" indent="-192088">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PL, </a:t>
            </a:r>
            <a:r>
              <a:rPr lang="ja-JP" altLang="en-US" sz="1400" dirty="0">
                <a:latin typeface="BIZ UDPゴシック" panose="020B0400000000000000" pitchFamily="50" charset="-128"/>
                <a:ea typeface="BIZ UDPゴシック" panose="020B0400000000000000" pitchFamily="50" charset="-128"/>
              </a:rPr>
              <a:t>アーキテクト</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ガーベッジコレクション</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誤り訂正、暗号器、熱管理</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超高速転送 </a:t>
            </a:r>
            <a:r>
              <a:rPr lang="en-US" altLang="ja-JP" sz="1400" dirty="0">
                <a:latin typeface="BIZ UDPゴシック" panose="020B0400000000000000" pitchFamily="50" charset="-128"/>
                <a:ea typeface="BIZ UDPゴシック" panose="020B0400000000000000" pitchFamily="50" charset="-128"/>
              </a:rPr>
              <a:t>(6GB/sec)</a:t>
            </a:r>
          </a:p>
          <a:p>
            <a:pPr marL="87312" algn="l">
              <a:lnSpc>
                <a:spcPct val="150000"/>
              </a:lnSpc>
            </a:pPr>
            <a:endParaRPr kumimoji="1" lang="ja-JP" altLang="en-US" sz="1400" dirty="0">
              <a:latin typeface="BIZ UDPゴシック" panose="020B0400000000000000" pitchFamily="50" charset="-128"/>
              <a:ea typeface="BIZ UDPゴシック" panose="020B0400000000000000" pitchFamily="50" charset="-128"/>
            </a:endParaRPr>
          </a:p>
        </p:txBody>
      </p:sp>
      <p:sp>
        <p:nvSpPr>
          <p:cNvPr id="19" name="楕円 18">
            <a:extLst>
              <a:ext uri="{FF2B5EF4-FFF2-40B4-BE49-F238E27FC236}">
                <a16:creationId xmlns:a16="http://schemas.microsoft.com/office/drawing/2014/main" id="{FBEA77CB-57FC-8AFC-8B9D-6ABA5C6269AC}"/>
              </a:ext>
            </a:extLst>
          </p:cNvPr>
          <p:cNvSpPr/>
          <p:nvPr/>
        </p:nvSpPr>
        <p:spPr>
          <a:xfrm>
            <a:off x="3358786" y="1208622"/>
            <a:ext cx="108530" cy="106151"/>
          </a:xfrm>
          <a:prstGeom prst="ellipse">
            <a:avLst/>
          </a:prstGeom>
          <a:solidFill>
            <a:schemeClr val="bg1"/>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4F33DF8A-BBAF-A175-DE38-115D3A9AA029}"/>
              </a:ext>
            </a:extLst>
          </p:cNvPr>
          <p:cNvSpPr txBox="1"/>
          <p:nvPr/>
        </p:nvSpPr>
        <p:spPr>
          <a:xfrm>
            <a:off x="3065855" y="948802"/>
            <a:ext cx="694392" cy="252884"/>
          </a:xfrm>
          <a:prstGeom prst="rect">
            <a:avLst/>
          </a:prstGeom>
          <a:noFill/>
        </p:spPr>
        <p:txBody>
          <a:bodyPr wrap="none" lIns="0" tIns="0" rIns="0" bIns="0" rtlCol="0" anchor="t" anchorCtr="0">
            <a:noAutofit/>
          </a:bodyPr>
          <a:lstStyle/>
          <a:p>
            <a:pPr marL="87312" algn="l"/>
            <a:r>
              <a:rPr kumimoji="1" lang="en-US" altLang="ja-JP" sz="1400" b="1" dirty="0">
                <a:solidFill>
                  <a:srgbClr val="002060"/>
                </a:solidFill>
                <a:latin typeface="BIZ UDPゴシック" panose="020B0400000000000000" pitchFamily="50" charset="-128"/>
                <a:ea typeface="BIZ UDPゴシック" panose="020B0400000000000000" pitchFamily="50" charset="-128"/>
              </a:rPr>
              <a:t>2014</a:t>
            </a:r>
            <a:endParaRPr kumimoji="1" lang="ja-JP" altLang="en-US" sz="1400" b="1" dirty="0">
              <a:solidFill>
                <a:srgbClr val="002060"/>
              </a:solidFill>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BAF60161-3C7A-9026-334F-9F8CF3E7DA01}"/>
              </a:ext>
            </a:extLst>
          </p:cNvPr>
          <p:cNvSpPr txBox="1"/>
          <p:nvPr/>
        </p:nvSpPr>
        <p:spPr>
          <a:xfrm>
            <a:off x="6279837" y="1421272"/>
            <a:ext cx="2540029" cy="2217683"/>
          </a:xfrm>
          <a:prstGeom prst="rect">
            <a:avLst/>
          </a:prstGeom>
          <a:noFill/>
          <a:ln>
            <a:noFill/>
            <a:prstDash val="sysDot"/>
          </a:ln>
        </p:spPr>
        <p:txBody>
          <a:bodyPr wrap="none" lIns="0" tIns="0" rIns="0" bIns="0" rtlCol="0" anchor="t" anchorCtr="0">
            <a:noAutofit/>
          </a:bodyPr>
          <a:lstStyle/>
          <a:p>
            <a:pPr marL="87312" algn="l">
              <a:lnSpc>
                <a:spcPct val="150000"/>
              </a:lnSpc>
            </a:pPr>
            <a:r>
              <a:rPr kumimoji="1" lang="ja-JP" altLang="en-US" sz="1400" b="1" dirty="0">
                <a:solidFill>
                  <a:srgbClr val="002060"/>
                </a:solidFill>
                <a:latin typeface="BIZ UDPゴシック" panose="020B0400000000000000" pitchFamily="50" charset="-128"/>
                <a:ea typeface="BIZ UDPゴシック" panose="020B0400000000000000" pitchFamily="50" charset="-128"/>
              </a:rPr>
              <a:t>電子部品メーカー</a:t>
            </a:r>
            <a:endParaRPr kumimoji="1" lang="en-US" altLang="ja-JP" sz="1400" b="1" dirty="0">
              <a:solidFill>
                <a:srgbClr val="002060"/>
              </a:solidFill>
              <a:latin typeface="BIZ UDPゴシック" panose="020B0400000000000000" pitchFamily="50" charset="-128"/>
              <a:ea typeface="BIZ UDPゴシック" panose="020B0400000000000000" pitchFamily="50" charset="-128"/>
            </a:endParaRPr>
          </a:p>
          <a:p>
            <a:pPr marL="269875" indent="-184150" algn="l">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エッジ</a:t>
            </a:r>
            <a:r>
              <a:rPr lang="en-US" altLang="ja-JP" sz="1400" dirty="0">
                <a:latin typeface="BIZ UDPゴシック" panose="020B0400000000000000" pitchFamily="50" charset="-128"/>
                <a:ea typeface="BIZ UDPゴシック" panose="020B0400000000000000" pitchFamily="50" charset="-128"/>
              </a:rPr>
              <a:t>AI</a:t>
            </a:r>
            <a:r>
              <a:rPr lang="ja-JP" altLang="en-US" sz="1400" dirty="0">
                <a:latin typeface="BIZ UDPゴシック" panose="020B0400000000000000" pitchFamily="50" charset="-128"/>
                <a:ea typeface="BIZ UDPゴシック" panose="020B0400000000000000" pitchFamily="50" charset="-128"/>
              </a:rPr>
              <a:t>搭載センサー開発</a:t>
            </a:r>
            <a:endParaRPr lang="en-US" altLang="ja-JP" sz="1400" dirty="0">
              <a:latin typeface="BIZ UDPゴシック" panose="020B0400000000000000" pitchFamily="50" charset="-128"/>
              <a:ea typeface="BIZ UDPゴシック" panose="020B0400000000000000" pitchFamily="50" charset="-128"/>
            </a:endParaRPr>
          </a:p>
          <a:p>
            <a:pPr marL="269875" lvl="1">
              <a:lnSpc>
                <a:spcPct val="150000"/>
              </a:lnSpc>
            </a:pPr>
            <a:endParaRPr lang="en-US" altLang="ja-JP" sz="1400" dirty="0">
              <a:latin typeface="BIZ UDPゴシック" panose="020B0400000000000000" pitchFamily="50" charset="-128"/>
              <a:ea typeface="BIZ UDPゴシック" panose="020B0400000000000000" pitchFamily="50" charset="-128"/>
            </a:endParaRPr>
          </a:p>
          <a:p>
            <a:pPr marL="285750" indent="-192088">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PM, PL, </a:t>
            </a:r>
            <a:r>
              <a:rPr lang="ja-JP" altLang="en-US" sz="1400" dirty="0">
                <a:latin typeface="BIZ UDPゴシック" panose="020B0400000000000000" pitchFamily="50" charset="-128"/>
                <a:ea typeface="BIZ UDPゴシック" panose="020B0400000000000000" pitchFamily="50" charset="-128"/>
              </a:rPr>
              <a:t>アーキテクト</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en-US" altLang="ja-JP" sz="1400" dirty="0">
                <a:latin typeface="BIZ UDPゴシック" panose="020B0400000000000000" pitchFamily="50" charset="-128"/>
                <a:ea typeface="BIZ UDPゴシック" panose="020B0400000000000000" pitchFamily="50" charset="-128"/>
              </a:rPr>
              <a:t>MEMS</a:t>
            </a:r>
            <a:r>
              <a:rPr lang="ja-JP" altLang="en-US" sz="1400" dirty="0">
                <a:latin typeface="BIZ UDPゴシック" panose="020B0400000000000000" pitchFamily="50" charset="-128"/>
                <a:ea typeface="BIZ UDPゴシック" panose="020B0400000000000000" pitchFamily="50" charset="-128"/>
              </a:rPr>
              <a:t>、</a:t>
            </a:r>
            <a:r>
              <a:rPr lang="en-US" altLang="ja-JP" sz="1400" dirty="0">
                <a:latin typeface="BIZ UDPゴシック" panose="020B0400000000000000" pitchFamily="50" charset="-128"/>
                <a:ea typeface="BIZ UDPゴシック" panose="020B0400000000000000" pitchFamily="50" charset="-128"/>
              </a:rPr>
              <a:t>ToF</a:t>
            </a:r>
            <a:r>
              <a:rPr lang="ja-JP" altLang="en-US" sz="1400" dirty="0">
                <a:latin typeface="BIZ UDPゴシック" panose="020B0400000000000000" pitchFamily="50" charset="-128"/>
                <a:ea typeface="BIZ UDPゴシック" panose="020B0400000000000000" pitchFamily="50" charset="-128"/>
              </a:rPr>
              <a:t>センサー</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無線プロトコル、</a:t>
            </a:r>
            <a:r>
              <a:rPr lang="en-US" altLang="ja-JP" sz="1400" dirty="0">
                <a:latin typeface="BIZ UDPゴシック" panose="020B0400000000000000" pitchFamily="50" charset="-128"/>
                <a:ea typeface="BIZ UDPゴシック" panose="020B0400000000000000" pitchFamily="50" charset="-128"/>
              </a:rPr>
              <a:t>FOTA</a:t>
            </a: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超省電力、</a:t>
            </a:r>
            <a:r>
              <a:rPr lang="en-US" altLang="ja-JP" sz="1400" dirty="0">
                <a:latin typeface="BIZ UDPゴシック" panose="020B0400000000000000" pitchFamily="50" charset="-128"/>
                <a:ea typeface="BIZ UDPゴシック" panose="020B0400000000000000" pitchFamily="50" charset="-128"/>
              </a:rPr>
              <a:t>Secure Boot</a:t>
            </a:r>
          </a:p>
          <a:p>
            <a:pPr marL="87312" algn="l">
              <a:lnSpc>
                <a:spcPct val="150000"/>
              </a:lnSpc>
            </a:pPr>
            <a:endParaRPr kumimoji="1" lang="ja-JP" altLang="en-US" sz="1400" dirty="0">
              <a:latin typeface="BIZ UDPゴシック" panose="020B0400000000000000" pitchFamily="50" charset="-128"/>
              <a:ea typeface="BIZ UDPゴシック" panose="020B0400000000000000" pitchFamily="50" charset="-128"/>
            </a:endParaRPr>
          </a:p>
        </p:txBody>
      </p:sp>
      <p:sp>
        <p:nvSpPr>
          <p:cNvPr id="28" name="楕円 27">
            <a:extLst>
              <a:ext uri="{FF2B5EF4-FFF2-40B4-BE49-F238E27FC236}">
                <a16:creationId xmlns:a16="http://schemas.microsoft.com/office/drawing/2014/main" id="{A8B0CF68-E29B-27BB-C4BC-D30A49CCFB53}"/>
              </a:ext>
            </a:extLst>
          </p:cNvPr>
          <p:cNvSpPr/>
          <p:nvPr/>
        </p:nvSpPr>
        <p:spPr>
          <a:xfrm>
            <a:off x="6066895" y="1208622"/>
            <a:ext cx="108530" cy="106151"/>
          </a:xfrm>
          <a:prstGeom prst="ellipse">
            <a:avLst/>
          </a:prstGeom>
          <a:solidFill>
            <a:schemeClr val="bg1"/>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066C3F9E-E598-24BC-EEE6-7E9EE3E8E579}"/>
              </a:ext>
            </a:extLst>
          </p:cNvPr>
          <p:cNvSpPr txBox="1"/>
          <p:nvPr/>
        </p:nvSpPr>
        <p:spPr>
          <a:xfrm>
            <a:off x="5773964" y="955738"/>
            <a:ext cx="694392" cy="252884"/>
          </a:xfrm>
          <a:prstGeom prst="rect">
            <a:avLst/>
          </a:prstGeom>
          <a:noFill/>
        </p:spPr>
        <p:txBody>
          <a:bodyPr wrap="none" lIns="0" tIns="0" rIns="0" bIns="0" rtlCol="0" anchor="t" anchorCtr="0">
            <a:noAutofit/>
          </a:bodyPr>
          <a:lstStyle/>
          <a:p>
            <a:pPr marL="87312" algn="l"/>
            <a:r>
              <a:rPr kumimoji="1" lang="en-US" altLang="ja-JP" sz="1400" b="1" dirty="0">
                <a:solidFill>
                  <a:srgbClr val="002060"/>
                </a:solidFill>
                <a:latin typeface="BIZ UDPゴシック" panose="020B0400000000000000" pitchFamily="50" charset="-128"/>
                <a:ea typeface="BIZ UDPゴシック" panose="020B0400000000000000" pitchFamily="50" charset="-128"/>
              </a:rPr>
              <a:t>2019</a:t>
            </a:r>
            <a:endParaRPr kumimoji="1" lang="ja-JP" altLang="en-US" sz="1400" b="1" dirty="0">
              <a:solidFill>
                <a:srgbClr val="002060"/>
              </a:solidFill>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4D8A3740-E709-3EB8-DE6D-AC97D9E699C6}"/>
              </a:ext>
            </a:extLst>
          </p:cNvPr>
          <p:cNvSpPr txBox="1"/>
          <p:nvPr/>
        </p:nvSpPr>
        <p:spPr>
          <a:xfrm>
            <a:off x="9147789" y="1431749"/>
            <a:ext cx="2623033" cy="2207207"/>
          </a:xfrm>
          <a:prstGeom prst="rect">
            <a:avLst/>
          </a:prstGeom>
          <a:noFill/>
          <a:ln>
            <a:noFill/>
            <a:prstDash val="sysDot"/>
          </a:ln>
        </p:spPr>
        <p:txBody>
          <a:bodyPr wrap="square" lIns="0" tIns="0" rIns="0" bIns="0" rtlCol="0" anchor="t" anchorCtr="0">
            <a:spAutoFit/>
          </a:bodyPr>
          <a:lstStyle/>
          <a:p>
            <a:pPr marL="87312" algn="l">
              <a:lnSpc>
                <a:spcPct val="150000"/>
              </a:lnSpc>
            </a:pPr>
            <a:r>
              <a:rPr lang="ja-JP" altLang="en-US" sz="1400" b="1" dirty="0">
                <a:solidFill>
                  <a:srgbClr val="002060"/>
                </a:solidFill>
                <a:latin typeface="BIZ UDPゴシック" panose="020B0400000000000000" pitchFamily="50" charset="-128"/>
                <a:ea typeface="BIZ UDPゴシック" panose="020B0400000000000000" pitchFamily="50" charset="-128"/>
              </a:rPr>
              <a:t>某社</a:t>
            </a:r>
            <a:endParaRPr kumimoji="1" lang="en-US" altLang="ja-JP" sz="1400" b="1" dirty="0">
              <a:solidFill>
                <a:srgbClr val="002060"/>
              </a:solidFill>
              <a:latin typeface="BIZ UDPゴシック" panose="020B0400000000000000" pitchFamily="50" charset="-128"/>
              <a:ea typeface="BIZ UDPゴシック" panose="020B0400000000000000" pitchFamily="50" charset="-128"/>
            </a:endParaRPr>
          </a:p>
          <a:p>
            <a:pPr marL="268288" indent="-179388" algn="l">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E&amp;E</a:t>
            </a:r>
            <a:r>
              <a:rPr lang="ja-JP" altLang="en-US" sz="1400" dirty="0">
                <a:latin typeface="BIZ UDPゴシック" panose="020B0400000000000000" pitchFamily="50" charset="-128"/>
                <a:ea typeface="BIZ UDPゴシック" panose="020B0400000000000000" pitchFamily="50" charset="-128"/>
              </a:rPr>
              <a:t>アーキ領域</a:t>
            </a:r>
            <a:endParaRPr lang="en-US" altLang="ja-JP" sz="1400" dirty="0">
              <a:latin typeface="BIZ UDPゴシック" panose="020B0400000000000000" pitchFamily="50" charset="-128"/>
              <a:ea typeface="BIZ UDPゴシック" panose="020B0400000000000000" pitchFamily="50" charset="-128"/>
            </a:endParaRPr>
          </a:p>
          <a:p>
            <a:pPr marL="285750" indent="-192088">
              <a:lnSpc>
                <a:spcPct val="150000"/>
              </a:lnSpc>
              <a:buFont typeface="Arial" panose="020B0604020202020204" pitchFamily="34" charset="0"/>
              <a:buChar char="•"/>
            </a:pPr>
            <a:endParaRPr lang="en-US" altLang="ja-JP" sz="1400" dirty="0">
              <a:latin typeface="BIZ UDPゴシック" panose="020B0400000000000000" pitchFamily="50" charset="-128"/>
              <a:ea typeface="BIZ UDPゴシック" panose="020B0400000000000000" pitchFamily="50" charset="-128"/>
            </a:endParaRPr>
          </a:p>
          <a:p>
            <a:pPr marL="285750" indent="-192088">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中長期的なテーマ</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組織設計、制度設計</a:t>
            </a:r>
            <a:endParaRPr lang="en-US" altLang="ja-JP" sz="1400" dirty="0">
              <a:latin typeface="BIZ UDPゴシック" panose="020B0400000000000000" pitchFamily="50" charset="-128"/>
              <a:ea typeface="BIZ UDPゴシック" panose="020B0400000000000000" pitchFamily="50" charset="-128"/>
            </a:endParaRPr>
          </a:p>
          <a:p>
            <a:pPr marL="446088" lvl="1" indent="-176213">
              <a:lnSpc>
                <a:spcPct val="150000"/>
              </a:lnSpc>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エンジニア経験を活かした開発支援</a:t>
            </a:r>
            <a:endParaRPr lang="en-US" altLang="ja-JP" sz="1400" dirty="0">
              <a:latin typeface="BIZ UDPゴシック" panose="020B0400000000000000" pitchFamily="50" charset="-128"/>
              <a:ea typeface="BIZ UDPゴシック" panose="020B0400000000000000" pitchFamily="50" charset="-128"/>
            </a:endParaRPr>
          </a:p>
        </p:txBody>
      </p:sp>
      <p:sp>
        <p:nvSpPr>
          <p:cNvPr id="31" name="楕円 30">
            <a:extLst>
              <a:ext uri="{FF2B5EF4-FFF2-40B4-BE49-F238E27FC236}">
                <a16:creationId xmlns:a16="http://schemas.microsoft.com/office/drawing/2014/main" id="{67086906-4498-B6FE-064C-8206E87CCA73}"/>
              </a:ext>
            </a:extLst>
          </p:cNvPr>
          <p:cNvSpPr/>
          <p:nvPr/>
        </p:nvSpPr>
        <p:spPr>
          <a:xfrm>
            <a:off x="8775004" y="1208622"/>
            <a:ext cx="108530" cy="106151"/>
          </a:xfrm>
          <a:prstGeom prst="ellipse">
            <a:avLst/>
          </a:prstGeom>
          <a:solidFill>
            <a:schemeClr val="bg1"/>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277D9BCA-D5CB-1315-62D9-B1298549933D}"/>
              </a:ext>
            </a:extLst>
          </p:cNvPr>
          <p:cNvSpPr txBox="1"/>
          <p:nvPr/>
        </p:nvSpPr>
        <p:spPr>
          <a:xfrm>
            <a:off x="8482073" y="966214"/>
            <a:ext cx="694392" cy="252884"/>
          </a:xfrm>
          <a:prstGeom prst="rect">
            <a:avLst/>
          </a:prstGeom>
          <a:noFill/>
        </p:spPr>
        <p:txBody>
          <a:bodyPr wrap="none" lIns="0" tIns="0" rIns="0" bIns="0" rtlCol="0" anchor="t" anchorCtr="0">
            <a:noAutofit/>
          </a:bodyPr>
          <a:lstStyle/>
          <a:p>
            <a:pPr marL="87312" algn="l"/>
            <a:r>
              <a:rPr kumimoji="1" lang="en-US" altLang="ja-JP" sz="1400" b="1" dirty="0">
                <a:solidFill>
                  <a:srgbClr val="002060"/>
                </a:solidFill>
                <a:latin typeface="BIZ UDPゴシック" panose="020B0400000000000000" pitchFamily="50" charset="-128"/>
                <a:ea typeface="BIZ UDPゴシック" panose="020B0400000000000000" pitchFamily="50" charset="-128"/>
              </a:rPr>
              <a:t>2025</a:t>
            </a:r>
            <a:endParaRPr kumimoji="1" lang="ja-JP" altLang="en-US" sz="1400" b="1" dirty="0">
              <a:solidFill>
                <a:srgbClr val="002060"/>
              </a:solidFill>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333228C1-1E35-1517-EB53-6A73E937D3CB}"/>
              </a:ext>
            </a:extLst>
          </p:cNvPr>
          <p:cNvSpPr/>
          <p:nvPr/>
        </p:nvSpPr>
        <p:spPr>
          <a:xfrm>
            <a:off x="3413051" y="4061890"/>
            <a:ext cx="3960000" cy="43200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ソフトエンジニアとしての</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bg1"/>
                </a:solidFill>
              </a:rPr>
              <a:t>ツール嗜好</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6E2D01F8-DCAE-A2F3-D2EE-921E60FBF299}"/>
              </a:ext>
            </a:extLst>
          </p:cNvPr>
          <p:cNvSpPr txBox="1"/>
          <p:nvPr/>
        </p:nvSpPr>
        <p:spPr>
          <a:xfrm>
            <a:off x="3413051" y="4677435"/>
            <a:ext cx="4140000" cy="1691020"/>
          </a:xfrm>
          <a:prstGeom prst="rect">
            <a:avLst/>
          </a:prstGeom>
          <a:noFill/>
        </p:spPr>
        <p:txBody>
          <a:bodyPr wrap="none" lIns="0" tIns="0" rIns="0" bIns="0" rtlCol="0" anchor="t" anchorCtr="0">
            <a:noAutofit/>
          </a:bodyPr>
          <a:lstStyle/>
          <a:p>
            <a:pPr marL="371475" indent="-285750" defTabSz="717550">
              <a:lnSpc>
                <a:spcPct val="150000"/>
              </a:lnSpc>
              <a:buFont typeface="Arial" panose="020B0604020202020204" pitchFamily="34" charset="0"/>
              <a:buChar char="•"/>
              <a:tabLst>
                <a:tab pos="1612900" algn="l"/>
              </a:tabLst>
            </a:pPr>
            <a:r>
              <a:rPr kumimoji="1" lang="ja-JP" altLang="en-US" sz="1400" dirty="0">
                <a:latin typeface="BIZ UDPゴシック" panose="020B0400000000000000" pitchFamily="50" charset="-128"/>
                <a:ea typeface="BIZ UDPゴシック" panose="020B0400000000000000" pitchFamily="50" charset="-128"/>
              </a:rPr>
              <a:t>エディタ</a:t>
            </a:r>
            <a:r>
              <a:rPr kumimoji="1" lang="en-US" altLang="ja-JP" sz="1400" dirty="0">
                <a:latin typeface="BIZ UDPゴシック" panose="020B0400000000000000" pitchFamily="50" charset="-128"/>
                <a:ea typeface="BIZ UDPゴシック" panose="020B0400000000000000" pitchFamily="50" charset="-128"/>
              </a:rPr>
              <a:t>	Vim, </a:t>
            </a:r>
            <a:r>
              <a:rPr lang="en-US" altLang="ja-JP" sz="1400" dirty="0" err="1">
                <a:latin typeface="BIZ UDPゴシック" panose="020B0400000000000000" pitchFamily="50" charset="-128"/>
                <a:ea typeface="BIZ UDPゴシック" panose="020B0400000000000000" pitchFamily="50" charset="-128"/>
              </a:rPr>
              <a:t>N</a:t>
            </a:r>
            <a:r>
              <a:rPr kumimoji="1" lang="en-US" altLang="ja-JP" sz="1400" dirty="0" err="1">
                <a:latin typeface="BIZ UDPゴシック" panose="020B0400000000000000" pitchFamily="50" charset="-128"/>
                <a:ea typeface="BIZ UDPゴシック" panose="020B0400000000000000" pitchFamily="50" charset="-128"/>
              </a:rPr>
              <a:t>eovim</a:t>
            </a:r>
            <a:r>
              <a:rPr kumimoji="1" lang="en-US" altLang="ja-JP" sz="1400" dirty="0">
                <a:latin typeface="BIZ UDPゴシック" panose="020B0400000000000000" pitchFamily="50" charset="-128"/>
                <a:ea typeface="BIZ UDPゴシック" panose="020B0400000000000000" pitchFamily="50" charset="-128"/>
              </a:rPr>
              <a:t>, obsidian</a:t>
            </a:r>
          </a:p>
          <a:p>
            <a:pPr marL="371475" indent="-285750" defTabSz="655638">
              <a:lnSpc>
                <a:spcPct val="150000"/>
              </a:lnSpc>
              <a:buFont typeface="Arial" panose="020B0604020202020204" pitchFamily="34" charset="0"/>
              <a:buChar char="•"/>
              <a:tabLst>
                <a:tab pos="717550" algn="l"/>
                <a:tab pos="1255713" algn="l"/>
                <a:tab pos="1612900" algn="l"/>
                <a:tab pos="1881188" algn="l"/>
              </a:tabLst>
            </a:pPr>
            <a:r>
              <a:rPr lang="ja-JP" altLang="en-US" sz="1400" dirty="0">
                <a:latin typeface="BIZ UDPゴシック" panose="020B0400000000000000" pitchFamily="50" charset="-128"/>
                <a:ea typeface="BIZ UDPゴシック" panose="020B0400000000000000" pitchFamily="50" charset="-128"/>
              </a:rPr>
              <a:t>シェル</a:t>
            </a:r>
            <a:r>
              <a:rPr lang="en-US" altLang="ja-JP" sz="1400" dirty="0">
                <a:latin typeface="BIZ UDPゴシック" panose="020B0400000000000000" pitchFamily="50" charset="-128"/>
                <a:ea typeface="BIZ UDPゴシック" panose="020B0400000000000000" pitchFamily="50" charset="-128"/>
              </a:rPr>
              <a:t>		</a:t>
            </a:r>
            <a:r>
              <a:rPr lang="en-US" altLang="ja-JP" sz="1400" dirty="0" err="1">
                <a:latin typeface="BIZ UDPゴシック" panose="020B0400000000000000" pitchFamily="50" charset="-128"/>
                <a:ea typeface="BIZ UDPゴシック" panose="020B0400000000000000" pitchFamily="50" charset="-128"/>
              </a:rPr>
              <a:t>zsh</a:t>
            </a:r>
            <a:r>
              <a:rPr lang="en-US" altLang="ja-JP" sz="1400" dirty="0">
                <a:latin typeface="BIZ UDPゴシック" panose="020B0400000000000000" pitchFamily="50" charset="-128"/>
                <a:ea typeface="BIZ UDPゴシック" panose="020B0400000000000000" pitchFamily="50" charset="-128"/>
              </a:rPr>
              <a:t>, </a:t>
            </a:r>
            <a:r>
              <a:rPr lang="en-US" altLang="ja-JP" sz="1400" dirty="0" err="1">
                <a:latin typeface="BIZ UDPゴシック" panose="020B0400000000000000" pitchFamily="50" charset="-128"/>
                <a:ea typeface="BIZ UDPゴシック" panose="020B0400000000000000" pitchFamily="50" charset="-128"/>
              </a:rPr>
              <a:t>Powershell</a:t>
            </a:r>
            <a:endParaRPr lang="en-US" altLang="ja-JP" sz="1400" dirty="0">
              <a:latin typeface="BIZ UDPゴシック" panose="020B0400000000000000" pitchFamily="50" charset="-128"/>
              <a:ea typeface="BIZ UDPゴシック" panose="020B0400000000000000" pitchFamily="50" charset="-128"/>
            </a:endParaRPr>
          </a:p>
          <a:p>
            <a:pPr marL="371475" indent="-285750" defTabSz="717550">
              <a:lnSpc>
                <a:spcPct val="150000"/>
              </a:lnSpc>
              <a:buFont typeface="Arial" panose="020B0604020202020204" pitchFamily="34" charset="0"/>
              <a:buChar char="•"/>
              <a:tabLst>
                <a:tab pos="717550" algn="l"/>
                <a:tab pos="1612900" algn="l"/>
              </a:tabLst>
            </a:pPr>
            <a:r>
              <a:rPr lang="ja-JP" altLang="en-US" sz="1400" dirty="0">
                <a:latin typeface="BIZ UDPゴシック" panose="020B0400000000000000" pitchFamily="50" charset="-128"/>
                <a:ea typeface="BIZ UDPゴシック" panose="020B0400000000000000" pitchFamily="50" charset="-128"/>
              </a:rPr>
              <a:t>ターミナル</a:t>
            </a:r>
            <a:r>
              <a:rPr lang="en-US" altLang="ja-JP" sz="1400" dirty="0">
                <a:latin typeface="BIZ UDPゴシック" panose="020B0400000000000000" pitchFamily="50" charset="-128"/>
                <a:ea typeface="BIZ UDPゴシック" panose="020B0400000000000000" pitchFamily="50" charset="-128"/>
              </a:rPr>
              <a:t>	</a:t>
            </a:r>
            <a:r>
              <a:rPr lang="en-US" altLang="ja-JP" sz="1400" dirty="0" err="1">
                <a:latin typeface="BIZ UDPゴシック" panose="020B0400000000000000" pitchFamily="50" charset="-128"/>
                <a:ea typeface="BIZ UDPゴシック" panose="020B0400000000000000" pitchFamily="50" charset="-128"/>
              </a:rPr>
              <a:t>Alacritty</a:t>
            </a:r>
            <a:r>
              <a:rPr lang="en-US" altLang="ja-JP" sz="1400" dirty="0">
                <a:latin typeface="BIZ UDPゴシック" panose="020B0400000000000000" pitchFamily="50" charset="-128"/>
                <a:ea typeface="BIZ UDPゴシック" panose="020B0400000000000000" pitchFamily="50" charset="-128"/>
              </a:rPr>
              <a:t>, win terminal</a:t>
            </a:r>
          </a:p>
          <a:p>
            <a:pPr marL="371475" indent="-285750" defTabSz="538163">
              <a:lnSpc>
                <a:spcPct val="150000"/>
              </a:lnSpc>
              <a:buFont typeface="Arial" panose="020B0604020202020204" pitchFamily="34" charset="0"/>
              <a:buChar char="•"/>
              <a:tabLst>
                <a:tab pos="717550" algn="l"/>
                <a:tab pos="1435100" algn="l"/>
              </a:tabLst>
            </a:pPr>
            <a:r>
              <a:rPr lang="ja-JP" altLang="en-US" sz="1400" dirty="0">
                <a:latin typeface="BIZ UDPゴシック" panose="020B0400000000000000" pitchFamily="50" charset="-128"/>
                <a:ea typeface="BIZ UDPゴシック" panose="020B0400000000000000" pitchFamily="50" charset="-128"/>
              </a:rPr>
              <a:t>言語</a:t>
            </a:r>
            <a:r>
              <a:rPr kumimoji="1" lang="en-US" altLang="ja-JP" sz="1400" dirty="0">
                <a:latin typeface="BIZ UDPゴシック" panose="020B0400000000000000" pitchFamily="50" charset="-128"/>
                <a:ea typeface="BIZ UDPゴシック" panose="020B0400000000000000" pitchFamily="50" charset="-128"/>
              </a:rPr>
              <a:t>		C</a:t>
            </a:r>
            <a:r>
              <a:rPr kumimoji="1" lang="ja-JP" altLang="en-US" sz="1400" dirty="0">
                <a:latin typeface="BIZ UDPゴシック" panose="020B0400000000000000" pitchFamily="50" charset="-128"/>
                <a:ea typeface="BIZ UDPゴシック" panose="020B0400000000000000" pitchFamily="50" charset="-128"/>
              </a:rPr>
              <a:t> </a:t>
            </a:r>
            <a:r>
              <a:rPr kumimoji="1" lang="en-US" altLang="ja-JP" sz="1400" dirty="0">
                <a:latin typeface="BIZ UDPゴシック" panose="020B0400000000000000" pitchFamily="50" charset="-128"/>
                <a:ea typeface="BIZ UDPゴシック" panose="020B0400000000000000" pitchFamily="50" charset="-128"/>
              </a:rPr>
              <a:t>,C++,</a:t>
            </a:r>
            <a:r>
              <a:rPr kumimoji="1" lang="ja-JP" altLang="en-US" sz="1400" dirty="0">
                <a:latin typeface="BIZ UDPゴシック" panose="020B0400000000000000" pitchFamily="50" charset="-128"/>
                <a:ea typeface="BIZ UDPゴシック" panose="020B0400000000000000" pitchFamily="50" charset="-128"/>
              </a:rPr>
              <a:t> </a:t>
            </a:r>
            <a:r>
              <a:rPr kumimoji="1" lang="en-US" altLang="ja-JP" sz="1400" dirty="0">
                <a:latin typeface="BIZ UDPゴシック" panose="020B0400000000000000" pitchFamily="50" charset="-128"/>
                <a:ea typeface="BIZ UDPゴシック" panose="020B0400000000000000" pitchFamily="50" charset="-128"/>
              </a:rPr>
              <a:t>Python,</a:t>
            </a:r>
            <a:r>
              <a:rPr kumimoji="1" lang="ja-JP" altLang="en-US" sz="1400" dirty="0">
                <a:latin typeface="BIZ UDPゴシック" panose="020B0400000000000000" pitchFamily="50" charset="-128"/>
                <a:ea typeface="BIZ UDPゴシック" panose="020B0400000000000000" pitchFamily="50" charset="-128"/>
              </a:rPr>
              <a:t> </a:t>
            </a:r>
            <a:r>
              <a:rPr kumimoji="1" lang="en-US" altLang="ja-JP" sz="1400" dirty="0">
                <a:latin typeface="BIZ UDPゴシック" panose="020B0400000000000000" pitchFamily="50" charset="-128"/>
                <a:ea typeface="BIZ UDPゴシック" panose="020B0400000000000000" pitchFamily="50" charset="-128"/>
              </a:rPr>
              <a:t>Rust</a:t>
            </a:r>
          </a:p>
          <a:p>
            <a:pPr marL="371475" indent="-285750" defTabSz="538163">
              <a:lnSpc>
                <a:spcPct val="150000"/>
              </a:lnSpc>
              <a:buFont typeface="Arial" panose="020B0604020202020204" pitchFamily="34" charset="0"/>
              <a:buChar char="•"/>
              <a:tabLst>
                <a:tab pos="717550" algn="l"/>
                <a:tab pos="1435100" algn="l"/>
              </a:tabLst>
            </a:pPr>
            <a:r>
              <a:rPr lang="ja-JP" altLang="en-US" sz="1400" dirty="0">
                <a:latin typeface="BIZ UDPゴシック" panose="020B0400000000000000" pitchFamily="50" charset="-128"/>
                <a:ea typeface="BIZ UDPゴシック" panose="020B0400000000000000" pitchFamily="50" charset="-128"/>
              </a:rPr>
              <a:t>回路</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計装アンプ、電源系、</a:t>
            </a:r>
            <a:r>
              <a:rPr lang="en-US" altLang="ja-JP" sz="1400" dirty="0">
                <a:latin typeface="BIZ UDPゴシック" panose="020B0400000000000000" pitchFamily="50" charset="-128"/>
                <a:ea typeface="BIZ UDPゴシック" panose="020B0400000000000000" pitchFamily="50" charset="-128"/>
              </a:rPr>
              <a:t>FPGA</a:t>
            </a:r>
          </a:p>
        </p:txBody>
      </p:sp>
      <p:sp>
        <p:nvSpPr>
          <p:cNvPr id="52" name="正方形/長方形 51">
            <a:extLst>
              <a:ext uri="{FF2B5EF4-FFF2-40B4-BE49-F238E27FC236}">
                <a16:creationId xmlns:a16="http://schemas.microsoft.com/office/drawing/2014/main" id="{00D7CF26-5205-53EE-52B7-4000124D57A2}"/>
              </a:ext>
            </a:extLst>
          </p:cNvPr>
          <p:cNvSpPr/>
          <p:nvPr/>
        </p:nvSpPr>
        <p:spPr>
          <a:xfrm>
            <a:off x="7897038" y="4061890"/>
            <a:ext cx="3960000" cy="43200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特に成長を実感した</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bg1"/>
                </a:solidFill>
                <a:latin typeface="BIZ UDPゴシック" panose="020B0400000000000000" pitchFamily="50" charset="-128"/>
                <a:ea typeface="BIZ UDPゴシック" panose="020B0400000000000000" pitchFamily="50" charset="-128"/>
              </a:rPr>
              <a:t>業務</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54" name="テキスト ボックス 53">
            <a:extLst>
              <a:ext uri="{FF2B5EF4-FFF2-40B4-BE49-F238E27FC236}">
                <a16:creationId xmlns:a16="http://schemas.microsoft.com/office/drawing/2014/main" id="{29D7446C-866B-7883-1B81-0B1E1C64DA67}"/>
              </a:ext>
            </a:extLst>
          </p:cNvPr>
          <p:cNvSpPr txBox="1"/>
          <p:nvPr/>
        </p:nvSpPr>
        <p:spPr>
          <a:xfrm>
            <a:off x="7897039" y="4654004"/>
            <a:ext cx="3959999" cy="1560877"/>
          </a:xfrm>
          <a:prstGeom prst="rect">
            <a:avLst/>
          </a:prstGeom>
          <a:noFill/>
        </p:spPr>
        <p:txBody>
          <a:bodyPr wrap="square" lIns="0" tIns="0" rIns="0" bIns="0" rtlCol="0" anchor="t" anchorCtr="0">
            <a:spAutoFit/>
          </a:bodyPr>
          <a:lstStyle/>
          <a:p>
            <a:pPr marL="266700" indent="-180975" defTabSz="669925">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発生まで丸</a:t>
            </a:r>
            <a:r>
              <a:rPr lang="en-US" altLang="ja-JP" sz="1400" dirty="0">
                <a:latin typeface="BIZ UDPゴシック" panose="020B0400000000000000" pitchFamily="50" charset="-128"/>
                <a:ea typeface="BIZ UDPゴシック" panose="020B0400000000000000" pitchFamily="50" charset="-128"/>
              </a:rPr>
              <a:t>30</a:t>
            </a:r>
            <a:r>
              <a:rPr lang="ja-JP" altLang="en-US" sz="1400" dirty="0">
                <a:latin typeface="BIZ UDPゴシック" panose="020B0400000000000000" pitchFamily="50" charset="-128"/>
                <a:ea typeface="BIZ UDPゴシック" panose="020B0400000000000000" pitchFamily="50" charset="-128"/>
              </a:rPr>
              <a:t>日掛かる不具合調査</a:t>
            </a:r>
            <a:endParaRPr lang="en-US" altLang="ja-JP" sz="1400" dirty="0">
              <a:latin typeface="BIZ UDPゴシック" panose="020B0400000000000000" pitchFamily="50" charset="-128"/>
              <a:ea typeface="BIZ UDPゴシック" panose="020B0400000000000000" pitchFamily="50" charset="-128"/>
            </a:endParaRPr>
          </a:p>
          <a:p>
            <a:pPr marL="266700" indent="-180975" defTabSz="669925">
              <a:lnSpc>
                <a:spcPct val="150000"/>
              </a:lnSpc>
              <a:buFont typeface="Arial" panose="020B0604020202020204" pitchFamily="34" charset="0"/>
              <a:buChar char="•"/>
            </a:pPr>
            <a:r>
              <a:rPr lang="en-US" altLang="ja-JP" sz="1400" dirty="0">
                <a:latin typeface="BIZ UDPゴシック" panose="020B0400000000000000" pitchFamily="50" charset="-128"/>
                <a:ea typeface="BIZ UDPゴシック" panose="020B0400000000000000" pitchFamily="50" charset="-128"/>
              </a:rPr>
              <a:t>SoC</a:t>
            </a:r>
            <a:r>
              <a:rPr lang="ja-JP" altLang="en-US" sz="1400" dirty="0">
                <a:latin typeface="BIZ UDPゴシック" panose="020B0400000000000000" pitchFamily="50" charset="-128"/>
                <a:ea typeface="BIZ UDPゴシック" panose="020B0400000000000000" pitchFamily="50" charset="-128"/>
              </a:rPr>
              <a:t>やカスタムマイコンの設計</a:t>
            </a:r>
            <a:endParaRPr lang="en-US" altLang="ja-JP" sz="1400" dirty="0">
              <a:latin typeface="BIZ UDPゴシック" panose="020B0400000000000000" pitchFamily="50" charset="-128"/>
              <a:ea typeface="BIZ UDPゴシック" panose="020B0400000000000000" pitchFamily="50" charset="-128"/>
            </a:endParaRPr>
          </a:p>
          <a:p>
            <a:pPr marL="266700" indent="-180975" defTabSz="669925">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国内外の展示会・</a:t>
            </a:r>
            <a:r>
              <a:rPr lang="en-US" altLang="ja-JP" sz="1400" dirty="0">
                <a:latin typeface="BIZ UDPゴシック" panose="020B0400000000000000" pitchFamily="50" charset="-128"/>
                <a:ea typeface="BIZ UDPゴシック" panose="020B0400000000000000" pitchFamily="50" charset="-128"/>
              </a:rPr>
              <a:t>PoC</a:t>
            </a:r>
            <a:r>
              <a:rPr lang="ja-JP" altLang="en-US" sz="1400" dirty="0">
                <a:latin typeface="BIZ UDPゴシック" panose="020B0400000000000000" pitchFamily="50" charset="-128"/>
                <a:ea typeface="BIZ UDPゴシック" panose="020B0400000000000000" pitchFamily="50" charset="-128"/>
              </a:rPr>
              <a:t>作成</a:t>
            </a:r>
            <a:endParaRPr lang="en-US" altLang="ja-JP" sz="1400" dirty="0">
              <a:latin typeface="BIZ UDPゴシック" panose="020B0400000000000000" pitchFamily="50" charset="-128"/>
              <a:ea typeface="BIZ UDPゴシック" panose="020B0400000000000000" pitchFamily="50" charset="-128"/>
            </a:endParaRPr>
          </a:p>
          <a:p>
            <a:pPr marL="266700" indent="-180975" defTabSz="669925">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米国ローカライズ設計部門への</a:t>
            </a:r>
            <a:r>
              <a:rPr lang="en-US" altLang="ja-JP" sz="1400" dirty="0">
                <a:latin typeface="BIZ UDPゴシック" panose="020B0400000000000000" pitchFamily="50" charset="-128"/>
                <a:ea typeface="BIZ UDPゴシック" panose="020B0400000000000000" pitchFamily="50" charset="-128"/>
              </a:rPr>
              <a:t>T.T.</a:t>
            </a:r>
          </a:p>
          <a:p>
            <a:pPr marL="266700" indent="-180975" defTabSz="669925">
              <a:lnSpc>
                <a:spcPct val="150000"/>
              </a:lnSpc>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机をガンガン蹴っている怒り人との協業</a:t>
            </a:r>
            <a:endParaRPr lang="en-US" altLang="ja-JP" sz="1400" dirty="0">
              <a:latin typeface="BIZ UDPゴシック" panose="020B0400000000000000" pitchFamily="50" charset="-128"/>
              <a:ea typeface="BIZ UDPゴシック" panose="020B0400000000000000" pitchFamily="50" charset="-128"/>
            </a:endParaRPr>
          </a:p>
        </p:txBody>
      </p:sp>
      <p:pic>
        <p:nvPicPr>
          <p:cNvPr id="15" name="グラフィックス 14" descr="クリップボード 枠線">
            <a:extLst>
              <a:ext uri="{FF2B5EF4-FFF2-40B4-BE49-F238E27FC236}">
                <a16:creationId xmlns:a16="http://schemas.microsoft.com/office/drawing/2014/main" id="{5C61A042-E890-9261-9AFD-67A50ADA8F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459837" y="4581932"/>
            <a:ext cx="412511" cy="412511"/>
          </a:xfrm>
          <a:prstGeom prst="rect">
            <a:avLst/>
          </a:prstGeom>
        </p:spPr>
      </p:pic>
      <p:pic>
        <p:nvPicPr>
          <p:cNvPr id="17" name="グラフィックス 16" descr="将来 枠線">
            <a:extLst>
              <a:ext uri="{FF2B5EF4-FFF2-40B4-BE49-F238E27FC236}">
                <a16:creationId xmlns:a16="http://schemas.microsoft.com/office/drawing/2014/main" id="{79A4EB13-7931-3A9B-7F00-237A65F2229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459837" y="1350913"/>
            <a:ext cx="412511" cy="412511"/>
          </a:xfrm>
          <a:prstGeom prst="rect">
            <a:avLst/>
          </a:prstGeom>
        </p:spPr>
      </p:pic>
    </p:spTree>
    <p:extLst>
      <p:ext uri="{BB962C8B-B14F-4D97-AF65-F5344CB8AC3E}">
        <p14:creationId xmlns:p14="http://schemas.microsoft.com/office/powerpoint/2010/main" val="16166664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F4120-69D4-E2BD-01DE-7BF3DB85ED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40DEE42-F32B-2CB9-07A4-D1DEA133982C}"/>
              </a:ext>
            </a:extLst>
          </p:cNvPr>
          <p:cNvSpPr>
            <a:spLocks noGrp="1"/>
          </p:cNvSpPr>
          <p:nvPr>
            <p:ph type="ctrTitle"/>
          </p:nvPr>
        </p:nvSpPr>
        <p:spPr/>
        <p:txBody>
          <a:bodyPr/>
          <a:lstStyle/>
          <a:p>
            <a:r>
              <a:rPr lang="ja-JP" altLang="en-US" dirty="0"/>
              <a:t>背景目的</a:t>
            </a:r>
            <a:endParaRPr kumimoji="1" lang="ja-JP" altLang="en-US" dirty="0"/>
          </a:p>
        </p:txBody>
      </p:sp>
      <p:sp>
        <p:nvSpPr>
          <p:cNvPr id="3" name="字幕 2">
            <a:extLst>
              <a:ext uri="{FF2B5EF4-FFF2-40B4-BE49-F238E27FC236}">
                <a16:creationId xmlns:a16="http://schemas.microsoft.com/office/drawing/2014/main" id="{4C8A9912-A245-6C03-01A4-B39A20BB9693}"/>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C608D11-AB5E-B4A7-892F-180EC5E862DD}"/>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16</a:t>
            </a:fld>
            <a:endParaRPr lang="ja-JP" altLang="en-US"/>
          </a:p>
        </p:txBody>
      </p:sp>
      <p:sp>
        <p:nvSpPr>
          <p:cNvPr id="5" name="フッター プレースホルダー 4">
            <a:extLst>
              <a:ext uri="{FF2B5EF4-FFF2-40B4-BE49-F238E27FC236}">
                <a16:creationId xmlns:a16="http://schemas.microsoft.com/office/drawing/2014/main" id="{C97F4403-2A6F-9870-3C3F-66C354D2F2E1}"/>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16573460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35E099-A581-0F29-AD89-CDC0D41C34EC}"/>
              </a:ext>
            </a:extLst>
          </p:cNvPr>
          <p:cNvSpPr>
            <a:spLocks noGrp="1"/>
          </p:cNvSpPr>
          <p:nvPr>
            <p:ph type="title"/>
          </p:nvPr>
        </p:nvSpPr>
        <p:spPr/>
        <p:txBody>
          <a:bodyPr/>
          <a:lstStyle/>
          <a:p>
            <a:r>
              <a:rPr kumimoji="1" lang="ja-JP" altLang="en-US" dirty="0"/>
              <a:t>背景</a:t>
            </a:r>
            <a:r>
              <a:rPr kumimoji="1" lang="en-US" altLang="ja-JP" dirty="0"/>
              <a:t>/</a:t>
            </a:r>
            <a:r>
              <a:rPr kumimoji="1" lang="ja-JP" altLang="en-US" dirty="0"/>
              <a:t>目的</a:t>
            </a:r>
          </a:p>
        </p:txBody>
      </p:sp>
      <p:sp>
        <p:nvSpPr>
          <p:cNvPr id="3" name="フッター プレースホルダー 2">
            <a:extLst>
              <a:ext uri="{FF2B5EF4-FFF2-40B4-BE49-F238E27FC236}">
                <a16:creationId xmlns:a16="http://schemas.microsoft.com/office/drawing/2014/main" id="{B46BF406-616E-FA6B-BFCA-90E9D6CA0DA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FDCA35E-5410-C1C9-A927-1CECA83EA57D}"/>
              </a:ext>
            </a:extLst>
          </p:cNvPr>
          <p:cNvSpPr>
            <a:spLocks noGrp="1"/>
          </p:cNvSpPr>
          <p:nvPr>
            <p:ph type="sldNum" sz="quarter" idx="12"/>
          </p:nvPr>
        </p:nvSpPr>
        <p:spPr/>
        <p:txBody>
          <a:bodyPr/>
          <a:lstStyle/>
          <a:p>
            <a:fld id="{DCB5AA93-092B-49A1-87A7-3C88D5F38AD7}" type="slidenum">
              <a:rPr lang="ja-JP" altLang="en-US" smtClean="0"/>
              <a:pPr/>
              <a:t>17</a:t>
            </a:fld>
            <a:endParaRPr lang="ja-JP" altLang="en-US" sz="900" dirty="0"/>
          </a:p>
        </p:txBody>
      </p:sp>
      <p:sp>
        <p:nvSpPr>
          <p:cNvPr id="5" name="テキスト プレースホルダー 4">
            <a:extLst>
              <a:ext uri="{FF2B5EF4-FFF2-40B4-BE49-F238E27FC236}">
                <a16:creationId xmlns:a16="http://schemas.microsoft.com/office/drawing/2014/main" id="{9544D340-135F-3D39-7068-7AD2C67932EC}"/>
              </a:ext>
            </a:extLst>
          </p:cNvPr>
          <p:cNvSpPr>
            <a:spLocks noGrp="1"/>
          </p:cNvSpPr>
          <p:nvPr>
            <p:ph type="body" sz="quarter" idx="13"/>
          </p:nvPr>
        </p:nvSpPr>
        <p:spPr/>
        <p:txBody>
          <a:bodyPr/>
          <a:lstStyle/>
          <a:p>
            <a:r>
              <a:rPr lang="ja-JP" altLang="en-US" dirty="0"/>
              <a:t>浜通り地域の産業集積状況の把握を目的に、福島県の産業実態調査を実施した</a:t>
            </a:r>
            <a:endParaRPr kumimoji="1" lang="ja-JP" altLang="en-US" dirty="0"/>
          </a:p>
        </p:txBody>
      </p:sp>
      <p:sp>
        <p:nvSpPr>
          <p:cNvPr id="6" name="テキスト ボックス 5">
            <a:extLst>
              <a:ext uri="{FF2B5EF4-FFF2-40B4-BE49-F238E27FC236}">
                <a16:creationId xmlns:a16="http://schemas.microsoft.com/office/drawing/2014/main" id="{9D400A6D-4EEB-8EDD-224F-1B153CFBA0CC}"/>
              </a:ext>
            </a:extLst>
          </p:cNvPr>
          <p:cNvSpPr txBox="1"/>
          <p:nvPr/>
        </p:nvSpPr>
        <p:spPr>
          <a:xfrm>
            <a:off x="334963" y="1268415"/>
            <a:ext cx="5581649" cy="3608386"/>
          </a:xfrm>
          <a:prstGeom prst="rect">
            <a:avLst/>
          </a:prstGeom>
          <a:noFill/>
          <a:ln w="19050">
            <a:noFill/>
          </a:ln>
        </p:spPr>
        <p:txBody>
          <a:bodyPr wrap="square" lIns="0" tIns="0" rIns="0" bIns="0" rtlCol="0" anchor="t" anchorCtr="0">
            <a:noAutofit/>
          </a:bodyPr>
          <a:lstStyle/>
          <a:p>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背景</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marL="182563" indent="-182563" algn="l" defTabSz="1260475">
              <a:buFont typeface="BIZ UDPゴシック" panose="020B0400000000000000" pitchFamily="50" charset="-128"/>
              <a:buChar char="•"/>
              <a:tabLst>
                <a:tab pos="1076325" algn="l"/>
              </a:tabLst>
            </a:pPr>
            <a:r>
              <a:rPr lang="ja-JP" altLang="en-US" sz="1400" dirty="0">
                <a:latin typeface="BIZ UDPゴシック" panose="020B0400000000000000" pitchFamily="50" charset="-128"/>
                <a:ea typeface="BIZ UDPゴシック" panose="020B0400000000000000" pitchFamily="50" charset="-128"/>
              </a:rPr>
              <a:t>デジタル時代において、データは付加価値の源泉であり、企業活動にとって、データの流通・活用により、その価値を引き出すことの重要性が増している。</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BIZ UDPゴシック" panose="020B0400000000000000" pitchFamily="50" charset="-128"/>
              <a:buChar char="•"/>
            </a:pP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データの流通や越境移転を促進するための手段として、企業認証制度が存在する。</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BIZ UDPゴシック" panose="020B0400000000000000" pitchFamily="50" charset="-128"/>
              <a:buChar char="•"/>
            </a:pP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BIZ UDPゴシック" panose="020B0400000000000000" pitchFamily="50" charset="-128"/>
              <a:buChar char="•"/>
            </a:pPr>
            <a:r>
              <a:rPr lang="en-US" altLang="ja-JP" sz="1400" dirty="0">
                <a:latin typeface="BIZ UDPゴシック" panose="020B0400000000000000" pitchFamily="50" charset="-128"/>
                <a:ea typeface="BIZ UDPゴシック" panose="020B0400000000000000" pitchFamily="50" charset="-128"/>
              </a:rPr>
              <a:t>APEC</a:t>
            </a:r>
            <a:r>
              <a:rPr lang="ja-JP" altLang="en-US" sz="1400" dirty="0">
                <a:latin typeface="BIZ UDPゴシック" panose="020B0400000000000000" pitchFamily="50" charset="-128"/>
                <a:ea typeface="BIZ UDPゴシック" panose="020B0400000000000000" pitchFamily="50" charset="-128"/>
              </a:rPr>
              <a:t>において企業等の越境個人データの保護に関するプライバシー原則への適合性を認証するシステムである</a:t>
            </a:r>
            <a:r>
              <a:rPr lang="en-US" altLang="ja-JP" sz="1400" dirty="0">
                <a:latin typeface="BIZ UDPゴシック" panose="020B0400000000000000" pitchFamily="50" charset="-128"/>
                <a:ea typeface="BIZ UDPゴシック" panose="020B0400000000000000" pitchFamily="50" charset="-128"/>
              </a:rPr>
              <a:t>CBPR</a:t>
            </a:r>
            <a:r>
              <a:rPr lang="ja-JP" altLang="en-US" sz="1400" dirty="0">
                <a:latin typeface="BIZ UDPゴシック" panose="020B0400000000000000" pitchFamily="50" charset="-128"/>
                <a:ea typeface="BIZ UDPゴシック" panose="020B0400000000000000" pitchFamily="50" charset="-128"/>
              </a:rPr>
              <a:t>は、</a:t>
            </a:r>
            <a:r>
              <a:rPr lang="en-US" altLang="ja-JP" sz="1400" dirty="0">
                <a:latin typeface="BIZ UDPゴシック" panose="020B0400000000000000" pitchFamily="50" charset="-128"/>
                <a:ea typeface="BIZ UDPゴシック" panose="020B0400000000000000" pitchFamily="50" charset="-128"/>
              </a:rPr>
              <a:t>2022</a:t>
            </a:r>
            <a:r>
              <a:rPr lang="ja-JP" altLang="en-US" sz="1400" dirty="0">
                <a:latin typeface="BIZ UDPゴシック" panose="020B0400000000000000" pitchFamily="50" charset="-128"/>
                <a:ea typeface="BIZ UDPゴシック" panose="020B0400000000000000" pitchFamily="50" charset="-128"/>
              </a:rPr>
              <a:t>年</a:t>
            </a:r>
            <a:r>
              <a:rPr lang="en-US" altLang="ja-JP" sz="1400" dirty="0">
                <a:latin typeface="BIZ UDPゴシック" panose="020B0400000000000000" pitchFamily="50" charset="-128"/>
                <a:ea typeface="BIZ UDPゴシック" panose="020B0400000000000000" pitchFamily="50" charset="-128"/>
              </a:rPr>
              <a:t>4</a:t>
            </a:r>
            <a:r>
              <a:rPr lang="ja-JP" altLang="en-US" sz="1400" dirty="0">
                <a:latin typeface="BIZ UDPゴシック" panose="020B0400000000000000" pitchFamily="50" charset="-128"/>
                <a:ea typeface="BIZ UDPゴシック" panose="020B0400000000000000" pitchFamily="50" charset="-128"/>
              </a:rPr>
              <a:t>月 </a:t>
            </a:r>
            <a:r>
              <a:rPr lang="en-US" altLang="ja-JP" sz="1400" dirty="0">
                <a:latin typeface="BIZ UDPゴシック" panose="020B0400000000000000" pitchFamily="50" charset="-128"/>
                <a:ea typeface="BIZ UDPゴシック" panose="020B0400000000000000" pitchFamily="50" charset="-128"/>
              </a:rPr>
              <a:t>APEC</a:t>
            </a:r>
            <a:r>
              <a:rPr lang="ja-JP" altLang="en-US" sz="1400" dirty="0">
                <a:latin typeface="BIZ UDPゴシック" panose="020B0400000000000000" pitchFamily="50" charset="-128"/>
                <a:ea typeface="BIZ UDPゴシック" panose="020B0400000000000000" pitchFamily="50" charset="-128"/>
              </a:rPr>
              <a:t>の枠にとらわれないより視野の広い国家間での自由なデータ流通圏を構築するための独立した新フォーラムとして立ち上げられることが宣言された。</a:t>
            </a:r>
            <a:endParaRPr kumimoji="1" lang="en-US" altLang="ja-JP" sz="14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57F344B4-6399-14F6-C313-2355E7DB3D7B}"/>
              </a:ext>
            </a:extLst>
          </p:cNvPr>
          <p:cNvCxnSpPr>
            <a:cxnSpLocks/>
          </p:cNvCxnSpPr>
          <p:nvPr/>
        </p:nvCxnSpPr>
        <p:spPr>
          <a:xfrm flipV="1">
            <a:off x="6096000" y="1268414"/>
            <a:ext cx="0" cy="5232139"/>
          </a:xfrm>
          <a:prstGeom prst="line">
            <a:avLst/>
          </a:prstGeom>
          <a:ln>
            <a:solidFill>
              <a:schemeClr val="bg1">
                <a:lumMod val="75000"/>
              </a:schemeClr>
            </a:solidFill>
            <a:prstDash val="sysDot"/>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8BF81229-CD1D-3F92-E5B4-F7BCDD7067F5}"/>
              </a:ext>
            </a:extLst>
          </p:cNvPr>
          <p:cNvSpPr txBox="1"/>
          <p:nvPr/>
        </p:nvSpPr>
        <p:spPr>
          <a:xfrm>
            <a:off x="6275388" y="1268414"/>
            <a:ext cx="5581650" cy="3608386"/>
          </a:xfrm>
          <a:prstGeom prst="rect">
            <a:avLst/>
          </a:prstGeom>
          <a:noFill/>
          <a:ln w="19050">
            <a:noFill/>
          </a:ln>
        </p:spPr>
        <p:txBody>
          <a:bodyPr wrap="square" lIns="0" tIns="0" rIns="0" bIns="0" rtlCol="0" anchor="t" anchorCtr="0">
            <a:noAutofit/>
          </a:bodyPr>
          <a:lstStyle/>
          <a:p>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目的</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本事業では、この新しいフォーラムが効果的なデータプライバシーの保護や各国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地域におけるデータ保護関連の規律の相互運用性の促進を実現できるものとして構築されていくための設計の前提となる情報の収集・分析を行うべく、各国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各地域で検討・導入されているデータの越境移転に関する認証制度等の内容を詳細に調査する</a:t>
            </a:r>
            <a:endParaRPr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422691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E09F5C9-4AE5-6B21-98B4-A73A096F98E5}"/>
              </a:ext>
            </a:extLst>
          </p:cNvPr>
          <p:cNvSpPr>
            <a:spLocks noGrp="1"/>
          </p:cNvSpPr>
          <p:nvPr>
            <p:ph type="title"/>
          </p:nvPr>
        </p:nvSpPr>
        <p:spPr/>
        <p:txBody>
          <a:bodyPr>
            <a:normAutofit/>
          </a:bodyPr>
          <a:lstStyle/>
          <a:p>
            <a:r>
              <a:rPr lang="ja-JP" altLang="en-US" dirty="0"/>
              <a:t>本事業の背景</a:t>
            </a:r>
            <a:r>
              <a:rPr lang="en-US" altLang="ja-JP" dirty="0"/>
              <a:t>/</a:t>
            </a:r>
            <a:r>
              <a:rPr lang="ja-JP" altLang="en-US" dirty="0"/>
              <a:t>目的 と 基本方針</a:t>
            </a:r>
            <a:endParaRPr kumimoji="1" lang="ja-JP" altLang="en-US" dirty="0"/>
          </a:p>
        </p:txBody>
      </p:sp>
      <p:sp>
        <p:nvSpPr>
          <p:cNvPr id="3" name="フッター プレースホルダー 2">
            <a:extLst>
              <a:ext uri="{FF2B5EF4-FFF2-40B4-BE49-F238E27FC236}">
                <a16:creationId xmlns:a16="http://schemas.microsoft.com/office/drawing/2014/main" id="{72E1369B-3821-20C4-AEA6-C9397B1E10B4}"/>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F7504E9C-BB93-9DA9-2B7F-0F0F761BB2CA}"/>
              </a:ext>
            </a:extLst>
          </p:cNvPr>
          <p:cNvSpPr>
            <a:spLocks noGrp="1"/>
          </p:cNvSpPr>
          <p:nvPr>
            <p:ph type="sldNum" sz="quarter" idx="12"/>
          </p:nvPr>
        </p:nvSpPr>
        <p:spPr/>
        <p:txBody>
          <a:bodyPr/>
          <a:lstStyle/>
          <a:p>
            <a:fld id="{DCB5AA93-092B-49A1-87A7-3C88D5F38AD7}" type="slidenum">
              <a:rPr lang="ja-JP" altLang="en-US" smtClean="0"/>
              <a:pPr/>
              <a:t>18</a:t>
            </a:fld>
            <a:endParaRPr lang="ja-JP" altLang="en-US" sz="900" dirty="0"/>
          </a:p>
        </p:txBody>
      </p:sp>
      <p:sp>
        <p:nvSpPr>
          <p:cNvPr id="5" name="テキスト プレースホルダー 4">
            <a:extLst>
              <a:ext uri="{FF2B5EF4-FFF2-40B4-BE49-F238E27FC236}">
                <a16:creationId xmlns:a16="http://schemas.microsoft.com/office/drawing/2014/main" id="{C0F588DB-47C9-F1D9-A597-1A5B4184935C}"/>
              </a:ext>
            </a:extLst>
          </p:cNvPr>
          <p:cNvSpPr>
            <a:spLocks noGrp="1"/>
          </p:cNvSpPr>
          <p:nvPr>
            <p:ph type="body" sz="quarter" idx="13"/>
          </p:nvPr>
        </p:nvSpPr>
        <p:spPr/>
        <p:txBody>
          <a:bodyPr/>
          <a:lstStyle/>
          <a:p>
            <a:endParaRPr kumimoji="1" lang="ja-JP" altLang="en-US" dirty="0"/>
          </a:p>
        </p:txBody>
      </p:sp>
      <p:sp>
        <p:nvSpPr>
          <p:cNvPr id="7" name="テキスト ボックス 6">
            <a:extLst>
              <a:ext uri="{FF2B5EF4-FFF2-40B4-BE49-F238E27FC236}">
                <a16:creationId xmlns:a16="http://schemas.microsoft.com/office/drawing/2014/main" id="{EF420EBC-2323-0CD2-6EBB-116365AE598A}"/>
              </a:ext>
            </a:extLst>
          </p:cNvPr>
          <p:cNvSpPr txBox="1"/>
          <p:nvPr/>
        </p:nvSpPr>
        <p:spPr>
          <a:xfrm>
            <a:off x="334963" y="1268414"/>
            <a:ext cx="5581649" cy="2520950"/>
          </a:xfrm>
          <a:prstGeom prst="rect">
            <a:avLst/>
          </a:prstGeom>
          <a:noFill/>
          <a:ln w="19050">
            <a:noFill/>
          </a:ln>
        </p:spPr>
        <p:txBody>
          <a:bodyPr wrap="square" lIns="0" tIns="0" rIns="0" bIns="0" rtlCol="0" anchor="t" anchorCtr="0">
            <a:noAutofit/>
          </a:bodyPr>
          <a:lstStyle/>
          <a:p>
            <a:pPr algn="l"/>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本事業の背景：</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デジタル時代において、データは付加価値の源泉であり、企業活動にとって、データの流通・活用により、その価値を引き出すことの重要性が増している。</a:t>
            </a:r>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データの流通や越境移転を促進するための手段として、企業認証制度が存在する。</a:t>
            </a:r>
            <a:r>
              <a:rPr lang="en-US" altLang="ja-JP" sz="1400" dirty="0">
                <a:latin typeface="BIZ UDPゴシック" panose="020B0400000000000000" pitchFamily="50" charset="-128"/>
                <a:ea typeface="BIZ UDPゴシック" panose="020B0400000000000000" pitchFamily="50" charset="-128"/>
              </a:rPr>
              <a:t>APEC</a:t>
            </a:r>
            <a:r>
              <a:rPr lang="ja-JP" altLang="en-US" sz="1400" dirty="0">
                <a:latin typeface="BIZ UDPゴシック" panose="020B0400000000000000" pitchFamily="50" charset="-128"/>
                <a:ea typeface="BIZ UDPゴシック" panose="020B0400000000000000" pitchFamily="50" charset="-128"/>
              </a:rPr>
              <a:t>において企業等の越境個人データの保護に関するプライバシー原則への適合性を認証するシステムである</a:t>
            </a:r>
            <a:r>
              <a:rPr lang="en-US" altLang="ja-JP" sz="1400" dirty="0">
                <a:latin typeface="BIZ UDPゴシック" panose="020B0400000000000000" pitchFamily="50" charset="-128"/>
                <a:ea typeface="BIZ UDPゴシック" panose="020B0400000000000000" pitchFamily="50" charset="-128"/>
              </a:rPr>
              <a:t>CBPR</a:t>
            </a:r>
            <a:r>
              <a:rPr lang="ja-JP" altLang="en-US" sz="1400" dirty="0">
                <a:latin typeface="BIZ UDPゴシック" panose="020B0400000000000000" pitchFamily="50" charset="-128"/>
                <a:ea typeface="BIZ UDPゴシック" panose="020B0400000000000000" pitchFamily="50" charset="-128"/>
              </a:rPr>
              <a:t>は、</a:t>
            </a:r>
            <a:r>
              <a:rPr lang="en-US" altLang="ja-JP" sz="1400" dirty="0">
                <a:latin typeface="BIZ UDPゴシック" panose="020B0400000000000000" pitchFamily="50" charset="-128"/>
                <a:ea typeface="BIZ UDPゴシック" panose="020B0400000000000000" pitchFamily="50" charset="-128"/>
              </a:rPr>
              <a:t>2022</a:t>
            </a:r>
            <a:r>
              <a:rPr lang="ja-JP" altLang="en-US" sz="1400" dirty="0">
                <a:latin typeface="BIZ UDPゴシック" panose="020B0400000000000000" pitchFamily="50" charset="-128"/>
                <a:ea typeface="BIZ UDPゴシック" panose="020B0400000000000000" pitchFamily="50" charset="-128"/>
              </a:rPr>
              <a:t>年</a:t>
            </a:r>
            <a:r>
              <a:rPr lang="en-US" altLang="ja-JP" sz="1400" dirty="0">
                <a:latin typeface="BIZ UDPゴシック" panose="020B0400000000000000" pitchFamily="50" charset="-128"/>
                <a:ea typeface="BIZ UDPゴシック" panose="020B0400000000000000" pitchFamily="50" charset="-128"/>
              </a:rPr>
              <a:t>4</a:t>
            </a:r>
            <a:r>
              <a:rPr lang="ja-JP" altLang="en-US" sz="1400" dirty="0">
                <a:latin typeface="BIZ UDPゴシック" panose="020B0400000000000000" pitchFamily="50" charset="-128"/>
                <a:ea typeface="BIZ UDPゴシック" panose="020B0400000000000000" pitchFamily="50" charset="-128"/>
              </a:rPr>
              <a:t>月 </a:t>
            </a:r>
            <a:r>
              <a:rPr lang="en-US" altLang="ja-JP" sz="1400" dirty="0">
                <a:latin typeface="BIZ UDPゴシック" panose="020B0400000000000000" pitchFamily="50" charset="-128"/>
                <a:ea typeface="BIZ UDPゴシック" panose="020B0400000000000000" pitchFamily="50" charset="-128"/>
              </a:rPr>
              <a:t>APEC</a:t>
            </a:r>
            <a:r>
              <a:rPr lang="ja-JP" altLang="en-US" sz="1400" dirty="0">
                <a:latin typeface="BIZ UDPゴシック" panose="020B0400000000000000" pitchFamily="50" charset="-128"/>
                <a:ea typeface="BIZ UDPゴシック" panose="020B0400000000000000" pitchFamily="50" charset="-128"/>
              </a:rPr>
              <a:t>の枠にとらわれないより視野の広い国家間での自由なデータ流通圏を構築するための独立した新フォーラムとして立ち上げられることが宣言された。</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69787ED-802E-8CF0-C415-C6197C945BE4}"/>
              </a:ext>
            </a:extLst>
          </p:cNvPr>
          <p:cNvSpPr txBox="1"/>
          <p:nvPr/>
        </p:nvSpPr>
        <p:spPr>
          <a:xfrm>
            <a:off x="334963" y="3968747"/>
            <a:ext cx="5581649" cy="1715455"/>
          </a:xfrm>
          <a:prstGeom prst="rect">
            <a:avLst/>
          </a:prstGeom>
          <a:noFill/>
          <a:ln w="19050">
            <a:noFill/>
          </a:ln>
        </p:spPr>
        <p:txBody>
          <a:bodyPr wrap="square" lIns="0" tIns="0" rIns="0" bIns="0" rtlCol="0" anchor="t" anchorCtr="0">
            <a:noAutofit/>
          </a:bodyPr>
          <a:lstStyle/>
          <a:p>
            <a:pPr algn="l"/>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本事業の目的：</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本事業では、この新しいフォーラムが効果的なデータプライバシーの保護や各国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地域におけるデータ保護関連の規律の相互運用性の促進を実現できるものとして構築されていくための設計の前提となる情報の収集・分析を行うべく、各国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各地域で検討・導入されているデータの越境移転に関する認証制度等の内容を詳細に調査する</a:t>
            </a:r>
            <a:endParaRPr lang="en-US" altLang="ja-JP" sz="14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BDC57C12-9C11-63F3-E712-4FE6952C0352}"/>
              </a:ext>
            </a:extLst>
          </p:cNvPr>
          <p:cNvSpPr txBox="1"/>
          <p:nvPr/>
        </p:nvSpPr>
        <p:spPr>
          <a:xfrm>
            <a:off x="6275388" y="1268415"/>
            <a:ext cx="5581649" cy="2700332"/>
          </a:xfrm>
          <a:prstGeom prst="rect">
            <a:avLst/>
          </a:prstGeom>
          <a:noFill/>
          <a:ln w="19050">
            <a:noFill/>
          </a:ln>
        </p:spPr>
        <p:txBody>
          <a:bodyPr wrap="square" lIns="0" tIns="0" rIns="0" bIns="0" rtlCol="0" anchor="t" anchorCtr="0">
            <a:noAutofit/>
          </a:bodyPr>
          <a:lstStyle/>
          <a:p>
            <a:pPr algn="l"/>
            <a:r>
              <a:rPr lang="ja-JP" altLang="en-US" sz="1400" b="1" dirty="0">
                <a:solidFill>
                  <a:schemeClr val="tx2">
                    <a:lumMod val="75000"/>
                    <a:lumOff val="25000"/>
                  </a:schemeClr>
                </a:solidFill>
                <a:latin typeface="BIZ UDPゴシック" panose="020B0400000000000000" pitchFamily="50" charset="-128"/>
                <a:ea typeface="BIZ UDPゴシック" panose="020B0400000000000000" pitchFamily="50" charset="-128"/>
              </a:rPr>
              <a:t>昨年度までの検討を踏まえて、以下を実施する</a:t>
            </a:r>
            <a:endParaRPr lang="en-US" altLang="ja-JP" sz="1400" b="1" dirty="0">
              <a:solidFill>
                <a:schemeClr val="tx2">
                  <a:lumMod val="75000"/>
                  <a:lumOff val="25000"/>
                </a:schemeClr>
              </a:solidFill>
              <a:latin typeface="BIZ UDPゴシック" panose="020B0400000000000000" pitchFamily="50" charset="-128"/>
              <a:ea typeface="BIZ UDPゴシック" panose="020B0400000000000000" pitchFamily="50" charset="-128"/>
            </a:endParaRPr>
          </a:p>
          <a:p>
            <a:pPr algn="l"/>
            <a:endParaRPr lang="en-US" altLang="ja-JP" sz="1400" b="1"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266700" algn="l"/>
              </a:tabLst>
            </a:pPr>
            <a:r>
              <a:rPr lang="ja-JP" altLang="en-US" sz="1400" dirty="0">
                <a:latin typeface="BIZ UDPゴシック" panose="020B0400000000000000" pitchFamily="50" charset="-128"/>
                <a:ea typeface="BIZ UDPゴシック" panose="020B0400000000000000" pitchFamily="50" charset="-128"/>
              </a:rPr>
              <a:t>各国</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地域での検討、導入されているデータの越境移転に関する規制</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ツールの概念整理</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266700" algn="l"/>
              </a:tabLst>
            </a:pPr>
            <a:r>
              <a:rPr lang="ja-JP" altLang="en-US" sz="1400" dirty="0">
                <a:latin typeface="BIZ UDPゴシック" panose="020B0400000000000000" pitchFamily="50" charset="-128"/>
                <a:ea typeface="BIZ UDPゴシック" panose="020B0400000000000000" pitchFamily="50" charset="-128"/>
              </a:rPr>
              <a:t>規制</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ツールの内容の詳細な整理・分析</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266700" algn="l"/>
              </a:tabLst>
            </a:pPr>
            <a:r>
              <a:rPr lang="ja-JP" altLang="en-US" sz="1400" dirty="0">
                <a:latin typeface="BIZ UDPゴシック" panose="020B0400000000000000" pitchFamily="50" charset="-128"/>
                <a:ea typeface="BIZ UDPゴシック" panose="020B0400000000000000" pitchFamily="50" charset="-128"/>
              </a:rPr>
              <a:t>国内外の事業者インタビューを通じた既存ツールの課題、越境移転に関する事業者ニーズの洗い出し</a:t>
            </a:r>
            <a:endParaRPr lang="en-US" altLang="ja-JP" sz="1400" dirty="0">
              <a:latin typeface="BIZ UDPゴシック" panose="020B0400000000000000" pitchFamily="50" charset="-128"/>
              <a:ea typeface="BIZ UDPゴシック" panose="020B0400000000000000" pitchFamily="50" charset="-128"/>
            </a:endParaRPr>
          </a:p>
        </p:txBody>
      </p:sp>
      <p:cxnSp>
        <p:nvCxnSpPr>
          <p:cNvPr id="13" name="直線コネクタ 12">
            <a:extLst>
              <a:ext uri="{FF2B5EF4-FFF2-40B4-BE49-F238E27FC236}">
                <a16:creationId xmlns:a16="http://schemas.microsoft.com/office/drawing/2014/main" id="{26660BC3-EF13-FF29-A027-D130FC30FE40}"/>
              </a:ext>
            </a:extLst>
          </p:cNvPr>
          <p:cNvCxnSpPr>
            <a:cxnSpLocks/>
          </p:cNvCxnSpPr>
          <p:nvPr/>
        </p:nvCxnSpPr>
        <p:spPr>
          <a:xfrm flipV="1">
            <a:off x="6096000" y="1268414"/>
            <a:ext cx="0" cy="5232139"/>
          </a:xfrm>
          <a:prstGeom prst="line">
            <a:avLst/>
          </a:prstGeom>
          <a:ln>
            <a:solidFill>
              <a:schemeClr val="bg1">
                <a:lumMod val="75000"/>
              </a:schemeClr>
            </a:solidFill>
            <a:prstDash val="sysDot"/>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511468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1E20CB-3002-6357-4E11-2E806C095719}"/>
              </a:ext>
            </a:extLst>
          </p:cNvPr>
          <p:cNvSpPr>
            <a:spLocks noGrp="1"/>
          </p:cNvSpPr>
          <p:nvPr>
            <p:ph type="title"/>
          </p:nvPr>
        </p:nvSpPr>
        <p:spPr/>
        <p:txBody>
          <a:bodyPr/>
          <a:lstStyle/>
          <a:p>
            <a:r>
              <a:rPr kumimoji="1" lang="ja-JP" altLang="en-US" dirty="0"/>
              <a:t>背景・プロジェクト目的</a:t>
            </a:r>
          </a:p>
        </p:txBody>
      </p:sp>
      <p:sp>
        <p:nvSpPr>
          <p:cNvPr id="3" name="フッター プレースホルダー 2">
            <a:extLst>
              <a:ext uri="{FF2B5EF4-FFF2-40B4-BE49-F238E27FC236}">
                <a16:creationId xmlns:a16="http://schemas.microsoft.com/office/drawing/2014/main" id="{E85BD320-F657-5049-EE5E-48A3592BFF89}"/>
              </a:ext>
            </a:extLst>
          </p:cNvPr>
          <p:cNvSpPr>
            <a:spLocks noGrp="1"/>
          </p:cNvSpPr>
          <p:nvPr>
            <p:ph type="ftr" sz="quarter" idx="11"/>
          </p:nvPr>
        </p:nvSpPr>
        <p:spPr/>
        <p:txBody>
          <a:bodyPr/>
          <a:lstStyle/>
          <a:p>
            <a:r>
              <a:rPr lang="ja-JP" altLang="en-US"/>
              <a:t>出所：</a:t>
            </a:r>
            <a:endParaRPr lang="ja-JP" altLang="en-US" dirty="0"/>
          </a:p>
        </p:txBody>
      </p:sp>
      <p:sp>
        <p:nvSpPr>
          <p:cNvPr id="4" name="スライド番号プレースホルダー 3">
            <a:extLst>
              <a:ext uri="{FF2B5EF4-FFF2-40B4-BE49-F238E27FC236}">
                <a16:creationId xmlns:a16="http://schemas.microsoft.com/office/drawing/2014/main" id="{71AC5BA5-D234-FED3-D4CF-56994C2462C0}"/>
              </a:ext>
            </a:extLst>
          </p:cNvPr>
          <p:cNvSpPr>
            <a:spLocks noGrp="1"/>
          </p:cNvSpPr>
          <p:nvPr>
            <p:ph type="sldNum" sz="quarter" idx="12"/>
          </p:nvPr>
        </p:nvSpPr>
        <p:spPr/>
        <p:txBody>
          <a:bodyPr/>
          <a:lstStyle/>
          <a:p>
            <a:fld id="{DCB5AA93-092B-49A1-87A7-3C88D5F38AD7}" type="slidenum">
              <a:rPr lang="ja-JP" altLang="en-US" smtClean="0"/>
              <a:pPr/>
              <a:t>19</a:t>
            </a:fld>
            <a:endParaRPr lang="ja-JP" altLang="en-US"/>
          </a:p>
        </p:txBody>
      </p:sp>
      <p:sp>
        <p:nvSpPr>
          <p:cNvPr id="5" name="テキスト プレースホルダー 4">
            <a:extLst>
              <a:ext uri="{FF2B5EF4-FFF2-40B4-BE49-F238E27FC236}">
                <a16:creationId xmlns:a16="http://schemas.microsoft.com/office/drawing/2014/main" id="{4651F455-8C30-3A62-6EDC-F6EBEAA6A48A}"/>
              </a:ext>
            </a:extLst>
          </p:cNvPr>
          <p:cNvSpPr>
            <a:spLocks noGrp="1"/>
          </p:cNvSpPr>
          <p:nvPr>
            <p:ph type="body" sz="quarter" idx="4294967295"/>
          </p:nvPr>
        </p:nvSpPr>
        <p:spPr>
          <a:xfrm>
            <a:off x="0" y="540327"/>
            <a:ext cx="12186000" cy="540000"/>
          </a:xfrm>
        </p:spPr>
        <p:txBody>
          <a:bodyPr>
            <a:noAutofit/>
          </a:bodyPr>
          <a:lstStyle/>
          <a:p>
            <a:pPr marL="0" indent="0">
              <a:buNone/>
            </a:pPr>
            <a:r>
              <a:rPr kumimoji="1" lang="ja-JP" altLang="en-US" sz="1800" dirty="0"/>
              <a:t>世界的に</a:t>
            </a:r>
            <a:r>
              <a:rPr kumimoji="1" lang="en-US" altLang="ja-JP" sz="1800" dirty="0"/>
              <a:t>SC</a:t>
            </a:r>
            <a:r>
              <a:rPr kumimoji="1" lang="ja-JP" altLang="en-US" sz="1800" dirty="0"/>
              <a:t>全体での</a:t>
            </a:r>
            <a:r>
              <a:rPr kumimoji="1" lang="en-US" altLang="ja-JP" sz="1800" dirty="0"/>
              <a:t>CN</a:t>
            </a:r>
            <a:r>
              <a:rPr kumimoji="1" lang="ja-JP" altLang="en-US" sz="1800" dirty="0"/>
              <a:t>対応が求められる中、中堅・中小企業の</a:t>
            </a:r>
            <a:r>
              <a:rPr kumimoji="1" lang="en-US" altLang="ja-JP" sz="1800" dirty="0"/>
              <a:t>CN</a:t>
            </a:r>
            <a:r>
              <a:rPr kumimoji="1" lang="ja-JP" altLang="en-US" sz="1800" dirty="0"/>
              <a:t>対応が不十分な実態がある。中部地域における産業界の</a:t>
            </a:r>
            <a:r>
              <a:rPr kumimoji="1" lang="en-US" altLang="ja-JP" sz="1800" dirty="0"/>
              <a:t>CN</a:t>
            </a:r>
            <a:r>
              <a:rPr kumimoji="1" lang="ja-JP" altLang="en-US" sz="1800" dirty="0"/>
              <a:t>対応上の課題と支援ニーズを明らかにし、行政として効果的な支援策の検討を行う</a:t>
            </a:r>
          </a:p>
        </p:txBody>
      </p:sp>
      <p:sp>
        <p:nvSpPr>
          <p:cNvPr id="6" name="正方形/長方形 5">
            <a:extLst>
              <a:ext uri="{FF2B5EF4-FFF2-40B4-BE49-F238E27FC236}">
                <a16:creationId xmlns:a16="http://schemas.microsoft.com/office/drawing/2014/main" id="{85791A37-CDEB-A5AB-206F-9A9249503999}"/>
              </a:ext>
            </a:extLst>
          </p:cNvPr>
          <p:cNvSpPr/>
          <p:nvPr/>
        </p:nvSpPr>
        <p:spPr>
          <a:xfrm>
            <a:off x="334963" y="1276394"/>
            <a:ext cx="8275641" cy="36512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400" dirty="0">
                <a:solidFill>
                  <a:schemeClr val="tx1"/>
                </a:solidFill>
                <a:latin typeface="BIZ UDPゴシック" panose="020B0400000000000000" pitchFamily="50" charset="-128"/>
                <a:ea typeface="BIZ UDPゴシック" panose="020B0400000000000000" pitchFamily="50" charset="-128"/>
              </a:rPr>
              <a:t>背景</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08BA7081-7BB5-0520-7B6C-1C32C569179A}"/>
              </a:ext>
            </a:extLst>
          </p:cNvPr>
          <p:cNvSpPr/>
          <p:nvPr/>
        </p:nvSpPr>
        <p:spPr>
          <a:xfrm>
            <a:off x="334964" y="1989461"/>
            <a:ext cx="1161328" cy="1090122"/>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世界的潮流</a:t>
            </a:r>
          </a:p>
        </p:txBody>
      </p:sp>
      <p:sp>
        <p:nvSpPr>
          <p:cNvPr id="8" name="正方形/長方形 7">
            <a:extLst>
              <a:ext uri="{FF2B5EF4-FFF2-40B4-BE49-F238E27FC236}">
                <a16:creationId xmlns:a16="http://schemas.microsoft.com/office/drawing/2014/main" id="{87350A37-AA8E-4D0C-D4B8-9E0BAE304C05}"/>
              </a:ext>
            </a:extLst>
          </p:cNvPr>
          <p:cNvSpPr/>
          <p:nvPr/>
        </p:nvSpPr>
        <p:spPr>
          <a:xfrm>
            <a:off x="334963" y="3439696"/>
            <a:ext cx="1161328" cy="306085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中部地域の</a:t>
            </a:r>
            <a:endParaRPr kumimoji="1" lang="en-US" altLang="ja-JP" sz="14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400" dirty="0">
                <a:solidFill>
                  <a:schemeClr val="tx1"/>
                </a:solidFill>
                <a:latin typeface="BIZ UDPゴシック" panose="020B0400000000000000" pitchFamily="50" charset="-128"/>
                <a:ea typeface="BIZ UDPゴシック" panose="020B0400000000000000" pitchFamily="50" charset="-128"/>
              </a:rPr>
              <a:t>情勢</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899116F3-D330-305E-8A00-2017356AEDD2}"/>
              </a:ext>
            </a:extLst>
          </p:cNvPr>
          <p:cNvSpPr txBox="1"/>
          <p:nvPr/>
        </p:nvSpPr>
        <p:spPr>
          <a:xfrm>
            <a:off x="1496292" y="1989460"/>
            <a:ext cx="3396722"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サプライチェーン全体での脱炭素化への動きが加速しており、国内外の大企業において、</a:t>
            </a:r>
            <a:r>
              <a:rPr kumimoji="1" lang="en-US" altLang="ja-JP" sz="1400" dirty="0">
                <a:latin typeface="BIZ UDPゴシック" panose="020B0400000000000000" pitchFamily="50" charset="-128"/>
                <a:ea typeface="BIZ UDPゴシック" panose="020B0400000000000000" pitchFamily="50" charset="-128"/>
              </a:rPr>
              <a:t>CN</a:t>
            </a:r>
            <a:r>
              <a:rPr kumimoji="1" lang="ja-JP" altLang="en-US" sz="1400" dirty="0">
                <a:latin typeface="BIZ UDPゴシック" panose="020B0400000000000000" pitchFamily="50" charset="-128"/>
                <a:ea typeface="BIZ UDPゴシック" panose="020B0400000000000000" pitchFamily="50" charset="-128"/>
              </a:rPr>
              <a:t>を宣言する企業が増加している</a:t>
            </a:r>
          </a:p>
        </p:txBody>
      </p:sp>
      <p:sp>
        <p:nvSpPr>
          <p:cNvPr id="10" name="テキスト ボックス 9">
            <a:extLst>
              <a:ext uri="{FF2B5EF4-FFF2-40B4-BE49-F238E27FC236}">
                <a16:creationId xmlns:a16="http://schemas.microsoft.com/office/drawing/2014/main" id="{256A90A8-4F03-615C-8016-FE336AAE21B0}"/>
              </a:ext>
            </a:extLst>
          </p:cNvPr>
          <p:cNvSpPr txBox="1"/>
          <p:nvPr/>
        </p:nvSpPr>
        <p:spPr>
          <a:xfrm>
            <a:off x="1496292" y="3439696"/>
            <a:ext cx="3396722" cy="3050004"/>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中部地域の基幹産業である自動車産業においても、先行する大企業ではサプライチェーン全体の</a:t>
            </a:r>
            <a:r>
              <a:rPr kumimoji="1" lang="en-US" altLang="ja-JP" sz="1400" dirty="0">
                <a:latin typeface="BIZ UDPゴシック" panose="020B0400000000000000" pitchFamily="50" charset="-128"/>
                <a:ea typeface="BIZ UDPゴシック" panose="020B0400000000000000" pitchFamily="50" charset="-128"/>
              </a:rPr>
              <a:t>CN</a:t>
            </a:r>
            <a:r>
              <a:rPr kumimoji="1" lang="ja-JP" altLang="en-US" sz="1400" dirty="0">
                <a:latin typeface="BIZ UDPゴシック" panose="020B0400000000000000" pitchFamily="50" charset="-128"/>
                <a:ea typeface="BIZ UDPゴシック" panose="020B0400000000000000" pitchFamily="50" charset="-128"/>
              </a:rPr>
              <a:t>に向けた取り組みが進められており、直接取引を行う主要部品メーカーに対して、</a:t>
            </a:r>
            <a:r>
              <a:rPr kumimoji="1" lang="en-US" altLang="ja-JP" sz="1400" dirty="0">
                <a:latin typeface="BIZ UDPゴシック" panose="020B0400000000000000" pitchFamily="50" charset="-128"/>
                <a:ea typeface="BIZ UDPゴシック" panose="020B0400000000000000" pitchFamily="50" charset="-128"/>
              </a:rPr>
              <a:t>CO2</a:t>
            </a:r>
            <a:r>
              <a:rPr kumimoji="1" lang="ja-JP" altLang="en-US" sz="1400" dirty="0">
                <a:latin typeface="BIZ UDPゴシック" panose="020B0400000000000000" pitchFamily="50" charset="-128"/>
                <a:ea typeface="BIZ UDPゴシック" panose="020B0400000000000000" pitchFamily="50" charset="-128"/>
              </a:rPr>
              <a:t>排出量を前年比で一定の排出削減を要請する動きがみられている</a:t>
            </a:r>
            <a:endParaRPr kumimoji="1" lang="en-US" altLang="ja-JP" sz="1400" dirty="0">
              <a:latin typeface="BIZ UDPゴシック" panose="020B0400000000000000" pitchFamily="50" charset="-128"/>
              <a:ea typeface="BIZ UDPゴシック" panose="020B0400000000000000" pitchFamily="50" charset="-128"/>
            </a:endParaRPr>
          </a:p>
          <a:p>
            <a:pPr marL="285750" indent="-285750" algn="l">
              <a:buFont typeface="Arial" panose="020B0604020202020204" pitchFamily="34" charset="0"/>
              <a:buChar char="•"/>
            </a:pP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今後は大企業のみならず、中堅・中小サプライヤーにおいても、</a:t>
            </a:r>
            <a:r>
              <a:rPr kumimoji="1" lang="en-US" altLang="ja-JP" sz="1400" dirty="0">
                <a:latin typeface="BIZ UDPゴシック" panose="020B0400000000000000" pitchFamily="50" charset="-128"/>
                <a:ea typeface="BIZ UDPゴシック" panose="020B0400000000000000" pitchFamily="50" charset="-128"/>
              </a:rPr>
              <a:t>CN</a:t>
            </a:r>
            <a:r>
              <a:rPr kumimoji="1" lang="ja-JP" altLang="en-US" sz="1400" dirty="0">
                <a:latin typeface="BIZ UDPゴシック" panose="020B0400000000000000" pitchFamily="50" charset="-128"/>
                <a:ea typeface="BIZ UDPゴシック" panose="020B0400000000000000" pitchFamily="50" charset="-128"/>
              </a:rPr>
              <a:t>対応の動きが広がっていくことが考えられ、サプライチェーン全体での</a:t>
            </a:r>
            <a:r>
              <a:rPr kumimoji="1" lang="en-US" altLang="ja-JP" sz="1400" dirty="0">
                <a:latin typeface="BIZ UDPゴシック" panose="020B0400000000000000" pitchFamily="50" charset="-128"/>
                <a:ea typeface="BIZ UDPゴシック" panose="020B0400000000000000" pitchFamily="50" charset="-128"/>
              </a:rPr>
              <a:t>Co2</a:t>
            </a:r>
            <a:r>
              <a:rPr kumimoji="1" lang="ja-JP" altLang="en-US" sz="1400" dirty="0">
                <a:latin typeface="BIZ UDPゴシック" panose="020B0400000000000000" pitchFamily="50" charset="-128"/>
                <a:ea typeface="BIZ UDPゴシック" panose="020B0400000000000000" pitchFamily="50" charset="-128"/>
              </a:rPr>
              <a:t>排出量の見える化から捻出削減に係る対応を実施していく必要がある</a:t>
            </a:r>
          </a:p>
        </p:txBody>
      </p:sp>
      <p:sp>
        <p:nvSpPr>
          <p:cNvPr id="13" name="正方形/長方形 12">
            <a:extLst>
              <a:ext uri="{FF2B5EF4-FFF2-40B4-BE49-F238E27FC236}">
                <a16:creationId xmlns:a16="http://schemas.microsoft.com/office/drawing/2014/main" id="{BCEFB6E5-EB98-D53E-4BF6-1BC54BAD5A7C}"/>
              </a:ext>
            </a:extLst>
          </p:cNvPr>
          <p:cNvSpPr/>
          <p:nvPr/>
        </p:nvSpPr>
        <p:spPr>
          <a:xfrm>
            <a:off x="5569528" y="1989460"/>
            <a:ext cx="3041076" cy="36512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bg1"/>
                </a:solidFill>
                <a:latin typeface="BIZ UDPゴシック" panose="020B0400000000000000" pitchFamily="50" charset="-128"/>
                <a:ea typeface="BIZ UDPゴシック" panose="020B0400000000000000" pitchFamily="50" charset="-128"/>
              </a:rPr>
              <a:t>ステークホルダーの情勢</a:t>
            </a:r>
          </a:p>
        </p:txBody>
      </p:sp>
      <p:sp>
        <p:nvSpPr>
          <p:cNvPr id="14" name="テキスト ボックス 13">
            <a:extLst>
              <a:ext uri="{FF2B5EF4-FFF2-40B4-BE49-F238E27FC236}">
                <a16:creationId xmlns:a16="http://schemas.microsoft.com/office/drawing/2014/main" id="{56C4B524-50C4-0994-B0CB-E3219A97CF87}"/>
              </a:ext>
            </a:extLst>
          </p:cNvPr>
          <p:cNvSpPr txBox="1"/>
          <p:nvPr/>
        </p:nvSpPr>
        <p:spPr>
          <a:xfrm>
            <a:off x="5569528" y="2635791"/>
            <a:ext cx="3041076" cy="2369880"/>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tabLst>
                <a:tab pos="182563" algn="l"/>
              </a:tabLst>
            </a:pPr>
            <a:r>
              <a:rPr lang="ja-JP" altLang="en-US" sz="1400" dirty="0">
                <a:latin typeface="BIZ UDPゴシック" panose="020B0400000000000000" pitchFamily="50" charset="-128"/>
                <a:ea typeface="BIZ UDPゴシック" panose="020B0400000000000000" pitchFamily="50" charset="-128"/>
              </a:rPr>
              <a:t>中堅・中小企業においては、</a:t>
            </a:r>
            <a:r>
              <a:rPr lang="en-US" altLang="ja-JP" sz="1400" dirty="0">
                <a:latin typeface="BIZ UDPゴシック" panose="020B0400000000000000" pitchFamily="50" charset="-128"/>
                <a:ea typeface="BIZ UDPゴシック" panose="020B0400000000000000" pitchFamily="50" charset="-128"/>
              </a:rPr>
              <a:t>CN</a:t>
            </a:r>
            <a:r>
              <a:rPr lang="ja-JP" altLang="en-US" sz="1400" dirty="0">
                <a:latin typeface="BIZ UDPゴシック" panose="020B0400000000000000" pitchFamily="50" charset="-128"/>
                <a:ea typeface="BIZ UDPゴシック" panose="020B0400000000000000" pitchFamily="50" charset="-128"/>
              </a:rPr>
              <a:t>に対して関心は高まっているものの、知識面・体制面が不十分なこともあり、具体的な対応などには手が付けられていない企業が多い</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182563" algn="l"/>
              </a:tabLst>
            </a:pP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tabLst>
                <a:tab pos="182563" algn="l"/>
              </a:tabLst>
            </a:pPr>
            <a:r>
              <a:rPr lang="ja-JP" altLang="en-US" sz="1400" dirty="0">
                <a:latin typeface="BIZ UDPゴシック" panose="020B0400000000000000" pitchFamily="50" charset="-128"/>
                <a:ea typeface="BIZ UDPゴシック" panose="020B0400000000000000" pitchFamily="50" charset="-128"/>
              </a:rPr>
              <a:t>支援体制も確立されていないのが実情となっており、</a:t>
            </a:r>
            <a:r>
              <a:rPr lang="en-US" altLang="ja-JP" sz="1400" dirty="0">
                <a:latin typeface="BIZ UDPゴシック" panose="020B0400000000000000" pitchFamily="50" charset="-128"/>
                <a:ea typeface="BIZ UDPゴシック" panose="020B0400000000000000" pitchFamily="50" charset="-128"/>
              </a:rPr>
              <a:t>2030</a:t>
            </a:r>
            <a:r>
              <a:rPr lang="ja-JP" altLang="en-US" sz="1400" dirty="0">
                <a:latin typeface="BIZ UDPゴシック" panose="020B0400000000000000" pitchFamily="50" charset="-128"/>
                <a:ea typeface="BIZ UDPゴシック" panose="020B0400000000000000" pitchFamily="50" charset="-128"/>
              </a:rPr>
              <a:t>年</a:t>
            </a:r>
            <a:r>
              <a:rPr lang="en-US" altLang="ja-JP" sz="1400" dirty="0">
                <a:latin typeface="BIZ UDPゴシック" panose="020B0400000000000000" pitchFamily="50" charset="-128"/>
                <a:ea typeface="BIZ UDPゴシック" panose="020B0400000000000000" pitchFamily="50" charset="-128"/>
              </a:rPr>
              <a:t>2050</a:t>
            </a:r>
            <a:r>
              <a:rPr lang="ja-JP" altLang="en-US" sz="1400" dirty="0">
                <a:latin typeface="BIZ UDPゴシック" panose="020B0400000000000000" pitchFamily="50" charset="-128"/>
                <a:ea typeface="BIZ UDPゴシック" panose="020B0400000000000000" pitchFamily="50" charset="-128"/>
              </a:rPr>
              <a:t>年の排出量の削減目標を達成していくためには中堅・中小奇病の</a:t>
            </a:r>
            <a:r>
              <a:rPr lang="en-US" altLang="ja-JP" sz="1400" dirty="0">
                <a:latin typeface="BIZ UDPゴシック" panose="020B0400000000000000" pitchFamily="50" charset="-128"/>
                <a:ea typeface="BIZ UDPゴシック" panose="020B0400000000000000" pitchFamily="50" charset="-128"/>
              </a:rPr>
              <a:t>CN</a:t>
            </a:r>
            <a:r>
              <a:rPr lang="ja-JP" altLang="en-US" sz="1400" dirty="0">
                <a:latin typeface="BIZ UDPゴシック" panose="020B0400000000000000" pitchFamily="50" charset="-128"/>
                <a:ea typeface="BIZ UDPゴシック" panose="020B0400000000000000" pitchFamily="50" charset="-128"/>
              </a:rPr>
              <a:t>に向けた取り組みの加速が必要</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B6BE059-C325-ABED-CD49-0189863830A2}"/>
              </a:ext>
            </a:extLst>
          </p:cNvPr>
          <p:cNvSpPr/>
          <p:nvPr/>
        </p:nvSpPr>
        <p:spPr>
          <a:xfrm>
            <a:off x="9168937" y="1276394"/>
            <a:ext cx="2688100" cy="36512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bg1"/>
                </a:solidFill>
                <a:latin typeface="BIZ UDPゴシック" panose="020B0400000000000000" pitchFamily="50" charset="-128"/>
                <a:ea typeface="BIZ UDPゴシック" panose="020B0400000000000000" pitchFamily="50" charset="-128"/>
              </a:rPr>
              <a:t>目的</a:t>
            </a:r>
          </a:p>
        </p:txBody>
      </p:sp>
      <p:sp>
        <p:nvSpPr>
          <p:cNvPr id="16" name="テキスト ボックス 15">
            <a:extLst>
              <a:ext uri="{FF2B5EF4-FFF2-40B4-BE49-F238E27FC236}">
                <a16:creationId xmlns:a16="http://schemas.microsoft.com/office/drawing/2014/main" id="{E3AEA35E-E440-CBAF-D244-EB0FE99F35AC}"/>
              </a:ext>
            </a:extLst>
          </p:cNvPr>
          <p:cNvSpPr txBox="1"/>
          <p:nvPr/>
        </p:nvSpPr>
        <p:spPr>
          <a:xfrm>
            <a:off x="9168937" y="1989459"/>
            <a:ext cx="2688099" cy="1292662"/>
          </a:xfrm>
          <a:prstGeom prst="rect">
            <a:avLst/>
          </a:prstGeom>
          <a:noFill/>
        </p:spPr>
        <p:txBody>
          <a:bodyPr wrap="square" lIns="0" tIns="0" rIns="0" bIns="0" rtlCol="0" anchor="t" anchorCtr="0">
            <a:spAutoFit/>
          </a:bodyPr>
          <a:lstStyle/>
          <a:p>
            <a:pPr algn="l"/>
            <a:r>
              <a:rPr lang="ja-JP" altLang="en-US" sz="1400" dirty="0">
                <a:latin typeface="BIZ UDPゴシック" panose="020B0400000000000000" pitchFamily="50" charset="-128"/>
                <a:ea typeface="BIZ UDPゴシック" panose="020B0400000000000000" pitchFamily="50" charset="-128"/>
              </a:rPr>
              <a:t>中部地域の産業界での</a:t>
            </a:r>
            <a:r>
              <a:rPr lang="en-US" altLang="ja-JP" sz="1400" dirty="0">
                <a:latin typeface="BIZ UDPゴシック" panose="020B0400000000000000" pitchFamily="50" charset="-128"/>
                <a:ea typeface="BIZ UDPゴシック" panose="020B0400000000000000" pitchFamily="50" charset="-128"/>
              </a:rPr>
              <a:t>CN</a:t>
            </a:r>
            <a:r>
              <a:rPr lang="ja-JP" altLang="en-US" sz="1400" dirty="0">
                <a:latin typeface="BIZ UDPゴシック" panose="020B0400000000000000" pitchFamily="50" charset="-128"/>
                <a:ea typeface="BIZ UDPゴシック" panose="020B0400000000000000" pitchFamily="50" charset="-128"/>
              </a:rPr>
              <a:t>対応に係る現状と課題等を把握・整理したうえで、地域企業の</a:t>
            </a:r>
            <a:r>
              <a:rPr lang="en-US" altLang="ja-JP" sz="1400" dirty="0">
                <a:latin typeface="BIZ UDPゴシック" panose="020B0400000000000000" pitchFamily="50" charset="-128"/>
                <a:ea typeface="BIZ UDPゴシック" panose="020B0400000000000000" pitchFamily="50" charset="-128"/>
              </a:rPr>
              <a:t>CN</a:t>
            </a:r>
            <a:r>
              <a:rPr lang="ja-JP" altLang="en-US" sz="1400" dirty="0">
                <a:latin typeface="BIZ UDPゴシック" panose="020B0400000000000000" pitchFamily="50" charset="-128"/>
                <a:ea typeface="BIZ UDPゴシック" panose="020B0400000000000000" pitchFamily="50" charset="-128"/>
              </a:rPr>
              <a:t>対応をよりすすめるための具体的な支援モデルの作り上げや支援施策の検討を行う</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7" name="二等辺三角形 16">
            <a:extLst>
              <a:ext uri="{FF2B5EF4-FFF2-40B4-BE49-F238E27FC236}">
                <a16:creationId xmlns:a16="http://schemas.microsoft.com/office/drawing/2014/main" id="{868C591C-A435-B95A-B1E5-AB00C39D016A}"/>
              </a:ext>
            </a:extLst>
          </p:cNvPr>
          <p:cNvSpPr/>
          <p:nvPr/>
        </p:nvSpPr>
        <p:spPr>
          <a:xfrm rot="5400000">
            <a:off x="5043353" y="2031905"/>
            <a:ext cx="375836" cy="290944"/>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8" name="二等辺三角形 17">
            <a:extLst>
              <a:ext uri="{FF2B5EF4-FFF2-40B4-BE49-F238E27FC236}">
                <a16:creationId xmlns:a16="http://schemas.microsoft.com/office/drawing/2014/main" id="{05D64119-850D-8F46-BBC0-101C4DA65B93}"/>
              </a:ext>
            </a:extLst>
          </p:cNvPr>
          <p:cNvSpPr/>
          <p:nvPr/>
        </p:nvSpPr>
        <p:spPr>
          <a:xfrm rot="5400000">
            <a:off x="8701852" y="2031905"/>
            <a:ext cx="375836" cy="290944"/>
          </a:xfrm>
          <a:prstGeom prst="triangl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32495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6F336-4415-CFEE-D979-2F4885B0380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522F73-E32C-132A-6795-155A0EC0E928}"/>
              </a:ext>
            </a:extLst>
          </p:cNvPr>
          <p:cNvSpPr>
            <a:spLocks noGrp="1"/>
          </p:cNvSpPr>
          <p:nvPr>
            <p:ph type="ctrTitle"/>
          </p:nvPr>
        </p:nvSpPr>
        <p:spPr/>
        <p:txBody>
          <a:bodyPr/>
          <a:lstStyle/>
          <a:p>
            <a:r>
              <a:rPr lang="ja-JP" altLang="en-US" dirty="0"/>
              <a:t>全体像</a:t>
            </a:r>
            <a:endParaRPr kumimoji="1" lang="ja-JP" altLang="en-US" dirty="0"/>
          </a:p>
        </p:txBody>
      </p:sp>
      <p:sp>
        <p:nvSpPr>
          <p:cNvPr id="3" name="字幕 2">
            <a:extLst>
              <a:ext uri="{FF2B5EF4-FFF2-40B4-BE49-F238E27FC236}">
                <a16:creationId xmlns:a16="http://schemas.microsoft.com/office/drawing/2014/main" id="{C8E2AB14-8496-56E1-2C10-4E049D576F7A}"/>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090B051-54E1-4409-DEDF-8EC1E95E4F31}"/>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20</a:t>
            </a:fld>
            <a:endParaRPr lang="ja-JP" altLang="en-US"/>
          </a:p>
        </p:txBody>
      </p:sp>
      <p:sp>
        <p:nvSpPr>
          <p:cNvPr id="5" name="フッター プレースホルダー 4">
            <a:extLst>
              <a:ext uri="{FF2B5EF4-FFF2-40B4-BE49-F238E27FC236}">
                <a16:creationId xmlns:a16="http://schemas.microsoft.com/office/drawing/2014/main" id="{4CED788D-1610-CE74-DA13-3C28807F2B02}"/>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8297721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049129-7D04-91C1-B8A0-D233067252BC}"/>
              </a:ext>
            </a:extLst>
          </p:cNvPr>
          <p:cNvSpPr>
            <a:spLocks noGrp="1"/>
          </p:cNvSpPr>
          <p:nvPr>
            <p:ph type="title"/>
          </p:nvPr>
        </p:nvSpPr>
        <p:spPr/>
        <p:txBody>
          <a:bodyPr/>
          <a:lstStyle/>
          <a:p>
            <a:r>
              <a:rPr lang="ja-JP" altLang="en-US" dirty="0"/>
              <a:t>本事業における調査・検討内容の全体像</a:t>
            </a:r>
            <a:endParaRPr kumimoji="1" lang="ja-JP" altLang="en-US" dirty="0"/>
          </a:p>
        </p:txBody>
      </p:sp>
      <p:sp>
        <p:nvSpPr>
          <p:cNvPr id="3" name="フッター プレースホルダー 2">
            <a:extLst>
              <a:ext uri="{FF2B5EF4-FFF2-40B4-BE49-F238E27FC236}">
                <a16:creationId xmlns:a16="http://schemas.microsoft.com/office/drawing/2014/main" id="{9D3096B4-B880-8676-156E-09FDC6B11CA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2F42918-1A6B-EF0D-0CE2-A4632A82B890}"/>
              </a:ext>
            </a:extLst>
          </p:cNvPr>
          <p:cNvSpPr>
            <a:spLocks noGrp="1"/>
          </p:cNvSpPr>
          <p:nvPr>
            <p:ph type="sldNum" sz="quarter" idx="12"/>
          </p:nvPr>
        </p:nvSpPr>
        <p:spPr/>
        <p:txBody>
          <a:bodyPr/>
          <a:lstStyle/>
          <a:p>
            <a:fld id="{DCB5AA93-092B-49A1-87A7-3C88D5F38AD7}" type="slidenum">
              <a:rPr lang="ja-JP" altLang="en-US" smtClean="0"/>
              <a:pPr/>
              <a:t>21</a:t>
            </a:fld>
            <a:endParaRPr lang="ja-JP" altLang="en-US" sz="900" dirty="0"/>
          </a:p>
        </p:txBody>
      </p:sp>
      <p:sp>
        <p:nvSpPr>
          <p:cNvPr id="5" name="テキスト プレースホルダー 4">
            <a:extLst>
              <a:ext uri="{FF2B5EF4-FFF2-40B4-BE49-F238E27FC236}">
                <a16:creationId xmlns:a16="http://schemas.microsoft.com/office/drawing/2014/main" id="{F3C4531A-0FC2-C53C-60E4-E767DDE7E308}"/>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6AC2F99C-D432-7B44-F018-D34BE054CCDB}"/>
              </a:ext>
            </a:extLst>
          </p:cNvPr>
          <p:cNvSpPr/>
          <p:nvPr/>
        </p:nvSpPr>
        <p:spPr>
          <a:xfrm>
            <a:off x="334962" y="1268412"/>
            <a:ext cx="2641918" cy="4076671"/>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en-US" altLang="ja-JP" sz="1400" dirty="0">
                <a:solidFill>
                  <a:schemeClr val="tx1"/>
                </a:solidFill>
                <a:latin typeface="BIZ UDPゴシック" panose="020B0400000000000000" pitchFamily="50" charset="-128"/>
                <a:ea typeface="BIZ UDPゴシック" panose="020B0400000000000000" pitchFamily="50" charset="-128"/>
              </a:rPr>
              <a:t>A. </a:t>
            </a:r>
            <a:r>
              <a:rPr kumimoji="1" lang="ja-JP" altLang="en-US" sz="1400" dirty="0">
                <a:solidFill>
                  <a:schemeClr val="tx1"/>
                </a:solidFill>
                <a:latin typeface="BIZ UDPゴシック" panose="020B0400000000000000" pitchFamily="50" charset="-128"/>
                <a:ea typeface="BIZ UDPゴシック" panose="020B0400000000000000" pitchFamily="50" charset="-128"/>
              </a:rPr>
              <a:t>国内ペロブスカイト導入量</a:t>
            </a:r>
            <a:r>
              <a:rPr kumimoji="1" lang="en-US" altLang="ja-JP" sz="1400" dirty="0">
                <a:solidFill>
                  <a:schemeClr val="tx1"/>
                </a:solidFill>
                <a:latin typeface="BIZ UDPゴシック" panose="020B0400000000000000" pitchFamily="50" charset="-128"/>
                <a:ea typeface="BIZ UDPゴシック" panose="020B0400000000000000" pitchFamily="50" charset="-128"/>
              </a:rPr>
              <a:t>/</a:t>
            </a:r>
            <a:r>
              <a:rPr kumimoji="1" lang="ja-JP" altLang="en-US" sz="1400" dirty="0">
                <a:solidFill>
                  <a:schemeClr val="tx1"/>
                </a:solidFill>
                <a:latin typeface="BIZ UDPゴシック" panose="020B0400000000000000" pitchFamily="50" charset="-128"/>
                <a:ea typeface="BIZ UDPゴシック" panose="020B0400000000000000" pitchFamily="50" charset="-128"/>
              </a:rPr>
              <a:t>コスト分析</a:t>
            </a:r>
          </a:p>
        </p:txBody>
      </p:sp>
      <p:sp>
        <p:nvSpPr>
          <p:cNvPr id="7" name="正方形/長方形 6">
            <a:extLst>
              <a:ext uri="{FF2B5EF4-FFF2-40B4-BE49-F238E27FC236}">
                <a16:creationId xmlns:a16="http://schemas.microsoft.com/office/drawing/2014/main" id="{1CED97B6-FEE4-8825-030D-368349ADBA66}"/>
              </a:ext>
            </a:extLst>
          </p:cNvPr>
          <p:cNvSpPr/>
          <p:nvPr/>
        </p:nvSpPr>
        <p:spPr>
          <a:xfrm>
            <a:off x="431999" y="2050166"/>
            <a:ext cx="1135202" cy="82296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国内導入需要</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ポテンシャル分析</a:t>
            </a:r>
          </a:p>
        </p:txBody>
      </p:sp>
      <p:sp>
        <p:nvSpPr>
          <p:cNvPr id="8" name="正方形/長方形 7">
            <a:extLst>
              <a:ext uri="{FF2B5EF4-FFF2-40B4-BE49-F238E27FC236}">
                <a16:creationId xmlns:a16="http://schemas.microsoft.com/office/drawing/2014/main" id="{12E84C5A-00A1-4E40-41D9-D3461A99D582}"/>
              </a:ext>
            </a:extLst>
          </p:cNvPr>
          <p:cNvSpPr/>
          <p:nvPr/>
        </p:nvSpPr>
        <p:spPr>
          <a:xfrm>
            <a:off x="1722318" y="2050166"/>
            <a:ext cx="1135202" cy="82296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導入拡大による生産コスト</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200" dirty="0">
                <a:solidFill>
                  <a:schemeClr val="tx1"/>
                </a:solidFill>
                <a:latin typeface="BIZ UDPゴシック" panose="020B0400000000000000" pitchFamily="50" charset="-128"/>
                <a:ea typeface="BIZ UDPゴシック" panose="020B0400000000000000" pitchFamily="50" charset="-128"/>
              </a:rPr>
              <a:t>低減効果分析</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9" name="正方形/長方形 8">
            <a:extLst>
              <a:ext uri="{FF2B5EF4-FFF2-40B4-BE49-F238E27FC236}">
                <a16:creationId xmlns:a16="http://schemas.microsoft.com/office/drawing/2014/main" id="{21E1D699-0200-2BAE-9D2D-D06BF91996E8}"/>
              </a:ext>
            </a:extLst>
          </p:cNvPr>
          <p:cNvSpPr/>
          <p:nvPr/>
        </p:nvSpPr>
        <p:spPr>
          <a:xfrm>
            <a:off x="431999" y="3491115"/>
            <a:ext cx="2425521"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国内導入量拡大方針</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量産・コスト低減施策</a:t>
            </a:r>
            <a:r>
              <a:rPr lang="en-US" altLang="ja-JP" sz="1200" dirty="0">
                <a:solidFill>
                  <a:schemeClr val="tx1"/>
                </a:solidFill>
                <a:latin typeface="BIZ UDPゴシック" panose="020B0400000000000000" pitchFamily="50" charset="-128"/>
                <a:ea typeface="BIZ UDPゴシック" panose="020B0400000000000000" pitchFamily="50" charset="-128"/>
              </a:rPr>
              <a:t>)</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A968A784-70F5-FFED-2B71-98DB7F0874BA}"/>
              </a:ext>
            </a:extLst>
          </p:cNvPr>
          <p:cNvSpPr/>
          <p:nvPr/>
        </p:nvSpPr>
        <p:spPr>
          <a:xfrm>
            <a:off x="3647041" y="1268412"/>
            <a:ext cx="2641918" cy="4076671"/>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en-US" altLang="ja-JP" sz="1400" dirty="0">
                <a:solidFill>
                  <a:schemeClr val="tx1"/>
                </a:solidFill>
                <a:latin typeface="BIZ UDPゴシック" panose="020B0400000000000000" pitchFamily="50" charset="-128"/>
                <a:ea typeface="BIZ UDPゴシック" panose="020B0400000000000000" pitchFamily="50" charset="-128"/>
              </a:rPr>
              <a:t>B</a:t>
            </a:r>
            <a:r>
              <a:rPr kumimoji="1" lang="en-US" altLang="ja-JP" sz="1400" dirty="0">
                <a:solidFill>
                  <a:schemeClr val="tx1"/>
                </a:solidFill>
                <a:latin typeface="BIZ UDPゴシック" panose="020B0400000000000000" pitchFamily="50" charset="-128"/>
                <a:ea typeface="BIZ UDPゴシック" panose="020B0400000000000000" pitchFamily="50" charset="-128"/>
              </a:rPr>
              <a:t>. </a:t>
            </a:r>
            <a:r>
              <a:rPr kumimoji="1" lang="ja-JP" altLang="en-US" sz="1400" dirty="0">
                <a:solidFill>
                  <a:schemeClr val="tx1"/>
                </a:solidFill>
                <a:latin typeface="BIZ UDPゴシック" panose="020B0400000000000000" pitchFamily="50" charset="-128"/>
                <a:ea typeface="BIZ UDPゴシック" panose="020B0400000000000000" pitchFamily="50" charset="-128"/>
              </a:rPr>
              <a:t>海外ペロブスカイト動向分析</a:t>
            </a:r>
          </a:p>
        </p:txBody>
      </p:sp>
      <p:sp>
        <p:nvSpPr>
          <p:cNvPr id="13" name="正方形/長方形 12">
            <a:extLst>
              <a:ext uri="{FF2B5EF4-FFF2-40B4-BE49-F238E27FC236}">
                <a16:creationId xmlns:a16="http://schemas.microsoft.com/office/drawing/2014/main" id="{B7F0EF20-711E-AD2A-1678-355688FF302B}"/>
              </a:ext>
            </a:extLst>
          </p:cNvPr>
          <p:cNvSpPr/>
          <p:nvPr/>
        </p:nvSpPr>
        <p:spPr>
          <a:xfrm>
            <a:off x="3744079" y="3491115"/>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海外市場獲得方針</a:t>
            </a:r>
          </a:p>
        </p:txBody>
      </p:sp>
      <p:sp>
        <p:nvSpPr>
          <p:cNvPr id="14" name="正方形/長方形 13">
            <a:extLst>
              <a:ext uri="{FF2B5EF4-FFF2-40B4-BE49-F238E27FC236}">
                <a16:creationId xmlns:a16="http://schemas.microsoft.com/office/drawing/2014/main" id="{EB78F12E-A8D9-2F97-6C75-0E5B64806A59}"/>
              </a:ext>
            </a:extLst>
          </p:cNvPr>
          <p:cNvSpPr/>
          <p:nvPr/>
        </p:nvSpPr>
        <p:spPr>
          <a:xfrm>
            <a:off x="3761600" y="2762964"/>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海外導入需要・</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200" dirty="0">
                <a:solidFill>
                  <a:schemeClr val="tx1"/>
                </a:solidFill>
                <a:latin typeface="BIZ UDPゴシック" panose="020B0400000000000000" pitchFamily="50" charset="-128"/>
                <a:ea typeface="BIZ UDPゴシック" panose="020B0400000000000000" pitchFamily="50" charset="-128"/>
              </a:rPr>
              <a:t>ポテンシャル分析</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BC8253C8-BE31-B51F-88BB-09B76617E98F}"/>
              </a:ext>
            </a:extLst>
          </p:cNvPr>
          <p:cNvSpPr/>
          <p:nvPr/>
        </p:nvSpPr>
        <p:spPr>
          <a:xfrm>
            <a:off x="3761600" y="2033861"/>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海外ペロブスカイト</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200" dirty="0">
                <a:solidFill>
                  <a:schemeClr val="tx1"/>
                </a:solidFill>
                <a:latin typeface="BIZ UDPゴシック" panose="020B0400000000000000" pitchFamily="50" charset="-128"/>
                <a:ea typeface="BIZ UDPゴシック" panose="020B0400000000000000" pitchFamily="50" charset="-128"/>
              </a:rPr>
              <a:t>企業・政策調査</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6" name="正方形/長方形 15">
            <a:extLst>
              <a:ext uri="{FF2B5EF4-FFF2-40B4-BE49-F238E27FC236}">
                <a16:creationId xmlns:a16="http://schemas.microsoft.com/office/drawing/2014/main" id="{1CE9C9BC-B8AC-252F-E9B6-D33E619B7434}"/>
              </a:ext>
            </a:extLst>
          </p:cNvPr>
          <p:cNvSpPr/>
          <p:nvPr/>
        </p:nvSpPr>
        <p:spPr>
          <a:xfrm>
            <a:off x="6959120" y="1268412"/>
            <a:ext cx="2641918" cy="4076671"/>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en-US" altLang="ja-JP" sz="1400" dirty="0">
                <a:solidFill>
                  <a:schemeClr val="tx1"/>
                </a:solidFill>
                <a:latin typeface="BIZ UDPゴシック" panose="020B0400000000000000" pitchFamily="50" charset="-128"/>
                <a:ea typeface="BIZ UDPゴシック" panose="020B0400000000000000" pitchFamily="50" charset="-128"/>
              </a:rPr>
              <a:t>C</a:t>
            </a:r>
            <a:r>
              <a:rPr kumimoji="1" lang="en-US" altLang="ja-JP" sz="1400" dirty="0">
                <a:solidFill>
                  <a:schemeClr val="tx1"/>
                </a:solidFill>
                <a:latin typeface="BIZ UDPゴシック" panose="020B0400000000000000" pitchFamily="50" charset="-128"/>
                <a:ea typeface="BIZ UDPゴシック" panose="020B0400000000000000" pitchFamily="50" charset="-128"/>
              </a:rPr>
              <a:t>. </a:t>
            </a:r>
            <a:r>
              <a:rPr kumimoji="1" lang="ja-JP" altLang="en-US" sz="1400" dirty="0">
                <a:solidFill>
                  <a:schemeClr val="tx1"/>
                </a:solidFill>
                <a:latin typeface="BIZ UDPゴシック" panose="020B0400000000000000" pitchFamily="50" charset="-128"/>
                <a:ea typeface="BIZ UDPゴシック" panose="020B0400000000000000" pitchFamily="50" charset="-128"/>
              </a:rPr>
              <a:t>国内バリューチェーン分析</a:t>
            </a:r>
          </a:p>
        </p:txBody>
      </p:sp>
      <p:sp>
        <p:nvSpPr>
          <p:cNvPr id="17" name="正方形/長方形 16">
            <a:extLst>
              <a:ext uri="{FF2B5EF4-FFF2-40B4-BE49-F238E27FC236}">
                <a16:creationId xmlns:a16="http://schemas.microsoft.com/office/drawing/2014/main" id="{43E110CB-8F46-E807-01AF-8E08700EDEF2}"/>
              </a:ext>
            </a:extLst>
          </p:cNvPr>
          <p:cNvSpPr/>
          <p:nvPr/>
        </p:nvSpPr>
        <p:spPr>
          <a:xfrm>
            <a:off x="7056158" y="3491115"/>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設置</a:t>
            </a:r>
            <a:r>
              <a:rPr kumimoji="1" lang="en-US" altLang="ja-JP" sz="1200" dirty="0">
                <a:solidFill>
                  <a:schemeClr val="tx1"/>
                </a:solidFill>
                <a:latin typeface="BIZ UDPゴシック" panose="020B0400000000000000" pitchFamily="50" charset="-128"/>
                <a:ea typeface="BIZ UDPゴシック" panose="020B0400000000000000" pitchFamily="50" charset="-128"/>
              </a:rPr>
              <a:t>/</a:t>
            </a:r>
            <a:r>
              <a:rPr kumimoji="1" lang="ja-JP" altLang="en-US" sz="1200" dirty="0">
                <a:solidFill>
                  <a:schemeClr val="tx1"/>
                </a:solidFill>
                <a:latin typeface="BIZ UDPゴシック" panose="020B0400000000000000" pitchFamily="50" charset="-128"/>
                <a:ea typeface="BIZ UDPゴシック" panose="020B0400000000000000" pitchFamily="50" charset="-128"/>
              </a:rPr>
              <a:t>工事方法・</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ja-JP" altLang="en-US" sz="1200" dirty="0">
                <a:solidFill>
                  <a:schemeClr val="tx1"/>
                </a:solidFill>
                <a:latin typeface="BIZ UDPゴシック" panose="020B0400000000000000" pitchFamily="50" charset="-128"/>
                <a:ea typeface="BIZ UDPゴシック" panose="020B0400000000000000" pitchFamily="50" charset="-128"/>
              </a:rPr>
              <a:t>コストの現状・課題分析</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8" name="正方形/長方形 17">
            <a:extLst>
              <a:ext uri="{FF2B5EF4-FFF2-40B4-BE49-F238E27FC236}">
                <a16:creationId xmlns:a16="http://schemas.microsoft.com/office/drawing/2014/main" id="{F0DF2E5F-6D45-61C7-D154-EB79102A8D45}"/>
              </a:ext>
            </a:extLst>
          </p:cNvPr>
          <p:cNvSpPr/>
          <p:nvPr/>
        </p:nvSpPr>
        <p:spPr>
          <a:xfrm>
            <a:off x="7073679" y="2762964"/>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製造方法・装置の</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現状・課題分析</a:t>
            </a:r>
          </a:p>
        </p:txBody>
      </p:sp>
      <p:sp>
        <p:nvSpPr>
          <p:cNvPr id="19" name="正方形/長方形 18">
            <a:extLst>
              <a:ext uri="{FF2B5EF4-FFF2-40B4-BE49-F238E27FC236}">
                <a16:creationId xmlns:a16="http://schemas.microsoft.com/office/drawing/2014/main" id="{FBA8F94F-7A30-2F12-6A03-6FCF2FC7506C}"/>
              </a:ext>
            </a:extLst>
          </p:cNvPr>
          <p:cNvSpPr/>
          <p:nvPr/>
        </p:nvSpPr>
        <p:spPr>
          <a:xfrm>
            <a:off x="7073679" y="2033861"/>
            <a:ext cx="2405202" cy="540000"/>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部素材の</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現状・課題分析</a:t>
            </a:r>
          </a:p>
        </p:txBody>
      </p:sp>
      <p:cxnSp>
        <p:nvCxnSpPr>
          <p:cNvPr id="21" name="直線矢印コネクタ 20">
            <a:extLst>
              <a:ext uri="{FF2B5EF4-FFF2-40B4-BE49-F238E27FC236}">
                <a16:creationId xmlns:a16="http://schemas.microsoft.com/office/drawing/2014/main" id="{2767644F-3910-222C-46AE-6EFF940FA292}"/>
              </a:ext>
            </a:extLst>
          </p:cNvPr>
          <p:cNvCxnSpPr>
            <a:cxnSpLocks/>
            <a:stCxn id="8" idx="2"/>
          </p:cNvCxnSpPr>
          <p:nvPr/>
        </p:nvCxnSpPr>
        <p:spPr>
          <a:xfrm>
            <a:off x="2289919" y="2873126"/>
            <a:ext cx="0" cy="555874"/>
          </a:xfrm>
          <a:prstGeom prst="straightConnector1">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9AFDC190-B402-2474-A70D-DE8406ABBCD7}"/>
              </a:ext>
            </a:extLst>
          </p:cNvPr>
          <p:cNvCxnSpPr>
            <a:cxnSpLocks/>
            <a:stCxn id="7" idx="2"/>
          </p:cNvCxnSpPr>
          <p:nvPr/>
        </p:nvCxnSpPr>
        <p:spPr>
          <a:xfrm>
            <a:off x="999600" y="2873126"/>
            <a:ext cx="0" cy="542262"/>
          </a:xfrm>
          <a:prstGeom prst="straightConnector1">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9" name="コネクタ: カギ線 28">
            <a:extLst>
              <a:ext uri="{FF2B5EF4-FFF2-40B4-BE49-F238E27FC236}">
                <a16:creationId xmlns:a16="http://schemas.microsoft.com/office/drawing/2014/main" id="{1F768740-0DBE-9D2B-AAE7-8627832A1E3D}"/>
              </a:ext>
            </a:extLst>
          </p:cNvPr>
          <p:cNvCxnSpPr>
            <a:cxnSpLocks/>
            <a:stCxn id="15" idx="1"/>
            <a:endCxn id="9" idx="3"/>
          </p:cNvCxnSpPr>
          <p:nvPr/>
        </p:nvCxnSpPr>
        <p:spPr>
          <a:xfrm rot="10800000" flipV="1">
            <a:off x="2857520" y="2303861"/>
            <a:ext cx="904080" cy="1457254"/>
          </a:xfrm>
          <a:prstGeom prst="bentConnector3">
            <a:avLst>
              <a:gd name="adj1" fmla="val 50000"/>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2" name="直線矢印コネクタ 31">
            <a:extLst>
              <a:ext uri="{FF2B5EF4-FFF2-40B4-BE49-F238E27FC236}">
                <a16:creationId xmlns:a16="http://schemas.microsoft.com/office/drawing/2014/main" id="{43352BF5-0BA9-BDBB-0CE2-792A1421A565}"/>
              </a:ext>
            </a:extLst>
          </p:cNvPr>
          <p:cNvCxnSpPr>
            <a:cxnSpLocks/>
            <a:stCxn id="14" idx="1"/>
          </p:cNvCxnSpPr>
          <p:nvPr/>
        </p:nvCxnSpPr>
        <p:spPr>
          <a:xfrm flipH="1">
            <a:off x="3310128" y="3032964"/>
            <a:ext cx="451472" cy="0"/>
          </a:xfrm>
          <a:prstGeom prst="straightConnector1">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A0D1B7CA-A193-3E71-B6D1-8316222AB80B}"/>
              </a:ext>
            </a:extLst>
          </p:cNvPr>
          <p:cNvCxnSpPr>
            <a:cxnSpLocks/>
            <a:stCxn id="14" idx="2"/>
            <a:endCxn id="13" idx="0"/>
          </p:cNvCxnSpPr>
          <p:nvPr/>
        </p:nvCxnSpPr>
        <p:spPr>
          <a:xfrm flipH="1">
            <a:off x="4946680" y="3302964"/>
            <a:ext cx="17521" cy="188151"/>
          </a:xfrm>
          <a:prstGeom prst="straightConnector1">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39" name="正方形/長方形 38">
            <a:extLst>
              <a:ext uri="{FF2B5EF4-FFF2-40B4-BE49-F238E27FC236}">
                <a16:creationId xmlns:a16="http://schemas.microsoft.com/office/drawing/2014/main" id="{68680FD7-C7FD-A754-DA43-718712856660}"/>
              </a:ext>
            </a:extLst>
          </p:cNvPr>
          <p:cNvSpPr/>
          <p:nvPr/>
        </p:nvSpPr>
        <p:spPr>
          <a:xfrm>
            <a:off x="331962" y="5963072"/>
            <a:ext cx="11522076" cy="540000"/>
          </a:xfrm>
          <a:prstGeom prst="rect">
            <a:avLst/>
          </a:prstGeom>
          <a:solidFill>
            <a:schemeClr val="accent2">
              <a:lumMod val="7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政府検討ゴール：</a:t>
            </a:r>
          </a:p>
        </p:txBody>
      </p:sp>
      <p:sp>
        <p:nvSpPr>
          <p:cNvPr id="40" name="正方形/長方形 39">
            <a:extLst>
              <a:ext uri="{FF2B5EF4-FFF2-40B4-BE49-F238E27FC236}">
                <a16:creationId xmlns:a16="http://schemas.microsoft.com/office/drawing/2014/main" id="{D076A121-6CF7-EC53-8B41-205B77C990BC}"/>
              </a:ext>
            </a:extLst>
          </p:cNvPr>
          <p:cNvSpPr/>
          <p:nvPr/>
        </p:nvSpPr>
        <p:spPr>
          <a:xfrm>
            <a:off x="10050086" y="1268412"/>
            <a:ext cx="1806951" cy="407667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400" dirty="0">
                <a:solidFill>
                  <a:schemeClr val="tx1"/>
                </a:solidFill>
                <a:latin typeface="BIZ UDPゴシック" panose="020B0400000000000000" pitchFamily="50" charset="-128"/>
                <a:ea typeface="BIZ UDPゴシック" panose="020B0400000000000000" pitchFamily="50" charset="-128"/>
              </a:rPr>
              <a:t>政府官民協議会の</a:t>
            </a:r>
            <a:endParaRPr lang="en-US" altLang="ja-JP" sz="14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400" dirty="0">
                <a:solidFill>
                  <a:schemeClr val="tx1"/>
                </a:solidFill>
                <a:latin typeface="BIZ UDPゴシック" panose="020B0400000000000000" pitchFamily="50" charset="-128"/>
                <a:ea typeface="BIZ UDPゴシック" panose="020B0400000000000000" pitchFamily="50" charset="-128"/>
              </a:rPr>
              <a:t>検討トピック</a:t>
            </a:r>
          </a:p>
        </p:txBody>
      </p:sp>
      <p:sp>
        <p:nvSpPr>
          <p:cNvPr id="41" name="正方形/長方形 40">
            <a:extLst>
              <a:ext uri="{FF2B5EF4-FFF2-40B4-BE49-F238E27FC236}">
                <a16:creationId xmlns:a16="http://schemas.microsoft.com/office/drawing/2014/main" id="{80CA0D68-04F6-5917-C43C-547C25007431}"/>
              </a:ext>
            </a:extLst>
          </p:cNvPr>
          <p:cNvSpPr/>
          <p:nvPr/>
        </p:nvSpPr>
        <p:spPr>
          <a:xfrm>
            <a:off x="10141527" y="2033861"/>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ペロブスカイトメーカーの開発状況</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42" name="正方形/長方形 41">
            <a:extLst>
              <a:ext uri="{FF2B5EF4-FFF2-40B4-BE49-F238E27FC236}">
                <a16:creationId xmlns:a16="http://schemas.microsoft.com/office/drawing/2014/main" id="{F5D71936-7917-F0C8-1D00-42FD6AEEBEAA}"/>
              </a:ext>
            </a:extLst>
          </p:cNvPr>
          <p:cNvSpPr/>
          <p:nvPr/>
        </p:nvSpPr>
        <p:spPr>
          <a:xfrm>
            <a:off x="10141527" y="2762964"/>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施工上の課題</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B2361D25-6060-E319-092C-5A631A1E591D}"/>
              </a:ext>
            </a:extLst>
          </p:cNvPr>
          <p:cNvSpPr/>
          <p:nvPr/>
        </p:nvSpPr>
        <p:spPr>
          <a:xfrm>
            <a:off x="10141527" y="3448961"/>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需要家から見たペロブスカイト導入可能性</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EA67F274-784A-D210-AF70-6E4128894541}"/>
              </a:ext>
            </a:extLst>
          </p:cNvPr>
          <p:cNvSpPr/>
          <p:nvPr/>
        </p:nvSpPr>
        <p:spPr>
          <a:xfrm>
            <a:off x="10141527" y="4115878"/>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経済安全保障</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45" name="正方形/長方形 44">
            <a:extLst>
              <a:ext uri="{FF2B5EF4-FFF2-40B4-BE49-F238E27FC236}">
                <a16:creationId xmlns:a16="http://schemas.microsoft.com/office/drawing/2014/main" id="{12ADDD24-5B8E-3C9E-B1C4-D4B19C1377B8}"/>
              </a:ext>
            </a:extLst>
          </p:cNvPr>
          <p:cNvSpPr/>
          <p:nvPr/>
        </p:nvSpPr>
        <p:spPr>
          <a:xfrm>
            <a:off x="10141527" y="4743848"/>
            <a:ext cx="1618474" cy="540000"/>
          </a:xfrm>
          <a:prstGeom prst="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標準化</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リサイクル</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cxnSp>
        <p:nvCxnSpPr>
          <p:cNvPr id="46" name="コネクタ: カギ線 45">
            <a:extLst>
              <a:ext uri="{FF2B5EF4-FFF2-40B4-BE49-F238E27FC236}">
                <a16:creationId xmlns:a16="http://schemas.microsoft.com/office/drawing/2014/main" id="{B18EF709-9811-AF99-D420-07FDD845FDA2}"/>
              </a:ext>
            </a:extLst>
          </p:cNvPr>
          <p:cNvCxnSpPr>
            <a:cxnSpLocks/>
            <a:stCxn id="40" idx="2"/>
            <a:endCxn id="39" idx="0"/>
          </p:cNvCxnSpPr>
          <p:nvPr/>
        </p:nvCxnSpPr>
        <p:spPr>
          <a:xfrm rot="5400000">
            <a:off x="8214287" y="3223796"/>
            <a:ext cx="617989" cy="4860562"/>
          </a:xfrm>
          <a:prstGeom prst="bentConnector3">
            <a:avLst>
              <a:gd name="adj1" fmla="val 50000"/>
            </a:avLst>
          </a:prstGeom>
          <a:ln w="254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0" name="正方形/長方形 49">
            <a:extLst>
              <a:ext uri="{FF2B5EF4-FFF2-40B4-BE49-F238E27FC236}">
                <a16:creationId xmlns:a16="http://schemas.microsoft.com/office/drawing/2014/main" id="{F58ADD6D-62E8-223E-3576-54D0232833D7}"/>
              </a:ext>
            </a:extLst>
          </p:cNvPr>
          <p:cNvSpPr/>
          <p:nvPr/>
        </p:nvSpPr>
        <p:spPr>
          <a:xfrm>
            <a:off x="2245566" y="6010031"/>
            <a:ext cx="2405202" cy="452464"/>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国内ペロブスカイト生産</a:t>
            </a:r>
            <a:r>
              <a:rPr kumimoji="1" lang="en-US" altLang="ja-JP" sz="1200" dirty="0">
                <a:solidFill>
                  <a:schemeClr val="tx1"/>
                </a:solidFill>
                <a:latin typeface="BIZ UDPゴシック" panose="020B0400000000000000" pitchFamily="50" charset="-128"/>
                <a:ea typeface="BIZ UDPゴシック" panose="020B0400000000000000" pitchFamily="50" charset="-128"/>
              </a:rPr>
              <a:t>/</a:t>
            </a:r>
            <a:r>
              <a:rPr kumimoji="1" lang="ja-JP" altLang="en-US" sz="1200" dirty="0">
                <a:solidFill>
                  <a:schemeClr val="tx1"/>
                </a:solidFill>
                <a:latin typeface="BIZ UDPゴシック" panose="020B0400000000000000" pitchFamily="50" charset="-128"/>
                <a:ea typeface="BIZ UDPゴシック" panose="020B0400000000000000" pitchFamily="50" charset="-128"/>
              </a:rPr>
              <a:t>導入目標</a:t>
            </a:r>
            <a:endParaRPr kumimoji="1"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導入量 </a:t>
            </a:r>
            <a:r>
              <a:rPr lang="en-US" altLang="ja-JP" sz="1200" dirty="0">
                <a:solidFill>
                  <a:schemeClr val="tx1"/>
                </a:solidFill>
                <a:latin typeface="BIZ UDPゴシック" panose="020B0400000000000000" pitchFamily="50" charset="-128"/>
                <a:ea typeface="BIZ UDPゴシック" panose="020B0400000000000000" pitchFamily="50" charset="-128"/>
              </a:rPr>
              <a:t>[GW]</a:t>
            </a:r>
            <a:r>
              <a:rPr lang="ja-JP" altLang="en-US" sz="1200" dirty="0">
                <a:solidFill>
                  <a:schemeClr val="tx1"/>
                </a:solidFill>
                <a:latin typeface="BIZ UDPゴシック" panose="020B0400000000000000" pitchFamily="50" charset="-128"/>
                <a:ea typeface="BIZ UDPゴシック" panose="020B0400000000000000" pitchFamily="50" charset="-128"/>
              </a:rPr>
              <a:t>、コスト</a:t>
            </a:r>
            <a:r>
              <a:rPr lang="en-US" altLang="ja-JP" sz="1200" dirty="0">
                <a:solidFill>
                  <a:schemeClr val="tx1"/>
                </a:solidFill>
                <a:latin typeface="BIZ UDPゴシック" panose="020B0400000000000000" pitchFamily="50" charset="-128"/>
                <a:ea typeface="BIZ UDPゴシック" panose="020B0400000000000000" pitchFamily="50" charset="-128"/>
              </a:rPr>
              <a:t>[</a:t>
            </a:r>
            <a:r>
              <a:rPr lang="ja-JP" altLang="en-US" sz="1200" dirty="0">
                <a:solidFill>
                  <a:schemeClr val="tx1"/>
                </a:solidFill>
                <a:latin typeface="BIZ UDPゴシック" panose="020B0400000000000000" pitchFamily="50" charset="-128"/>
                <a:ea typeface="BIZ UDPゴシック" panose="020B0400000000000000" pitchFamily="50" charset="-128"/>
              </a:rPr>
              <a:t>円</a:t>
            </a:r>
            <a:r>
              <a:rPr lang="en-US" altLang="ja-JP" sz="1200" dirty="0">
                <a:solidFill>
                  <a:schemeClr val="tx1"/>
                </a:solidFill>
                <a:latin typeface="BIZ UDPゴシック" panose="020B0400000000000000" pitchFamily="50" charset="-128"/>
                <a:ea typeface="BIZ UDPゴシック" panose="020B0400000000000000" pitchFamily="50" charset="-128"/>
              </a:rPr>
              <a:t>/kWh]</a:t>
            </a:r>
            <a:endParaRPr kumimoji="1"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02C56A8-CD05-8216-7022-13E0A7136876}"/>
              </a:ext>
            </a:extLst>
          </p:cNvPr>
          <p:cNvSpPr/>
          <p:nvPr/>
        </p:nvSpPr>
        <p:spPr>
          <a:xfrm>
            <a:off x="5610607" y="6011791"/>
            <a:ext cx="2405202" cy="452464"/>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r>
              <a:rPr lang="ja-JP" altLang="en-US" sz="1200" dirty="0">
                <a:solidFill>
                  <a:schemeClr val="tx1"/>
                </a:solidFill>
                <a:latin typeface="BIZ UDPゴシック" panose="020B0400000000000000" pitchFamily="50" charset="-128"/>
                <a:ea typeface="BIZ UDPゴシック" panose="020B0400000000000000" pitchFamily="50" charset="-128"/>
              </a:rPr>
              <a:t>導入拡大および産業競争力強化に</a:t>
            </a:r>
            <a:endParaRPr lang="en-US" altLang="ja-JP" sz="1200" dirty="0">
              <a:solidFill>
                <a:schemeClr val="tx1"/>
              </a:solidFill>
              <a:latin typeface="BIZ UDPゴシック" panose="020B0400000000000000" pitchFamily="50" charset="-128"/>
              <a:ea typeface="BIZ UDPゴシック" panose="020B0400000000000000" pitchFamily="50" charset="-128"/>
            </a:endParaRPr>
          </a:p>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向けた戦略</a:t>
            </a:r>
          </a:p>
        </p:txBody>
      </p:sp>
    </p:spTree>
    <p:extLst>
      <p:ext uri="{BB962C8B-B14F-4D97-AF65-F5344CB8AC3E}">
        <p14:creationId xmlns:p14="http://schemas.microsoft.com/office/powerpoint/2010/main" val="7888797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E1C33-C935-3515-FB6A-28E7974BFB3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459C75F-21F2-4011-C243-C29DBF23BE86}"/>
              </a:ext>
            </a:extLst>
          </p:cNvPr>
          <p:cNvSpPr>
            <a:spLocks noGrp="1"/>
          </p:cNvSpPr>
          <p:nvPr>
            <p:ph type="ctrTitle"/>
          </p:nvPr>
        </p:nvSpPr>
        <p:spPr/>
        <p:txBody>
          <a:bodyPr/>
          <a:lstStyle/>
          <a:p>
            <a:r>
              <a:rPr lang="ja-JP" altLang="en-US" dirty="0"/>
              <a:t>プロマネ</a:t>
            </a:r>
            <a:endParaRPr kumimoji="1" lang="ja-JP" altLang="en-US" dirty="0"/>
          </a:p>
        </p:txBody>
      </p:sp>
      <p:sp>
        <p:nvSpPr>
          <p:cNvPr id="3" name="字幕 2">
            <a:extLst>
              <a:ext uri="{FF2B5EF4-FFF2-40B4-BE49-F238E27FC236}">
                <a16:creationId xmlns:a16="http://schemas.microsoft.com/office/drawing/2014/main" id="{E4204677-607A-045F-FC46-B82F5EDFCBA6}"/>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20889D8-0CF5-1557-E889-1B1EFF6FD0D2}"/>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22</a:t>
            </a:fld>
            <a:endParaRPr lang="ja-JP" altLang="en-US"/>
          </a:p>
        </p:txBody>
      </p:sp>
      <p:sp>
        <p:nvSpPr>
          <p:cNvPr id="5" name="フッター プレースホルダー 4">
            <a:extLst>
              <a:ext uri="{FF2B5EF4-FFF2-40B4-BE49-F238E27FC236}">
                <a16:creationId xmlns:a16="http://schemas.microsoft.com/office/drawing/2014/main" id="{29237B2A-483F-AA1D-8860-568D2809C29F}"/>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1424659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41C4CA-4530-A81C-9416-454A4271E91B}"/>
              </a:ext>
            </a:extLst>
          </p:cNvPr>
          <p:cNvSpPr>
            <a:spLocks noGrp="1"/>
          </p:cNvSpPr>
          <p:nvPr>
            <p:ph type="title"/>
          </p:nvPr>
        </p:nvSpPr>
        <p:spPr/>
        <p:txBody>
          <a:bodyPr/>
          <a:lstStyle/>
          <a:p>
            <a:r>
              <a:rPr lang="ja-JP" altLang="en-US" dirty="0"/>
              <a:t>プロジェクト憲章</a:t>
            </a:r>
            <a:endParaRPr kumimoji="1" lang="ja-JP" altLang="en-US" dirty="0"/>
          </a:p>
        </p:txBody>
      </p:sp>
      <p:sp>
        <p:nvSpPr>
          <p:cNvPr id="3" name="フッター プレースホルダー 2">
            <a:extLst>
              <a:ext uri="{FF2B5EF4-FFF2-40B4-BE49-F238E27FC236}">
                <a16:creationId xmlns:a16="http://schemas.microsoft.com/office/drawing/2014/main" id="{9CE83C83-A789-FE69-21F2-8D604CA9F14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9B44839B-DF17-CE2A-AA5C-4BB36D1EF91A}"/>
              </a:ext>
            </a:extLst>
          </p:cNvPr>
          <p:cNvSpPr>
            <a:spLocks noGrp="1"/>
          </p:cNvSpPr>
          <p:nvPr>
            <p:ph type="sldNum" sz="quarter" idx="12"/>
          </p:nvPr>
        </p:nvSpPr>
        <p:spPr/>
        <p:txBody>
          <a:bodyPr/>
          <a:lstStyle/>
          <a:p>
            <a:fld id="{DCB5AA93-092B-49A1-87A7-3C88D5F38AD7}" type="slidenum">
              <a:rPr lang="ja-JP" altLang="en-US" smtClean="0"/>
              <a:pPr/>
              <a:t>23</a:t>
            </a:fld>
            <a:endParaRPr lang="ja-JP" altLang="en-US" sz="900" dirty="0"/>
          </a:p>
        </p:txBody>
      </p:sp>
      <p:sp>
        <p:nvSpPr>
          <p:cNvPr id="5" name="テキスト プレースホルダー 4">
            <a:extLst>
              <a:ext uri="{FF2B5EF4-FFF2-40B4-BE49-F238E27FC236}">
                <a16:creationId xmlns:a16="http://schemas.microsoft.com/office/drawing/2014/main" id="{535DC4D9-7218-5267-ACB9-4D3C6CF1CAB6}"/>
              </a:ext>
            </a:extLst>
          </p:cNvPr>
          <p:cNvSpPr>
            <a:spLocks noGrp="1"/>
          </p:cNvSpPr>
          <p:nvPr>
            <p:ph type="body"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71AA584C-ABFC-2E80-5153-205429E7013D}"/>
              </a:ext>
            </a:extLst>
          </p:cNvPr>
          <p:cNvSpPr txBox="1"/>
          <p:nvPr/>
        </p:nvSpPr>
        <p:spPr>
          <a:xfrm>
            <a:off x="334800" y="1080327"/>
            <a:ext cx="5758232"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名前</a:t>
            </a:r>
            <a:r>
              <a:rPr lang="ja-JP" altLang="en-US" sz="1200" dirty="0">
                <a:latin typeface="BIZ UDPゴシック" panose="020B0400000000000000" pitchFamily="50" charset="-128"/>
                <a:ea typeface="BIZ UDPゴシック" panose="020B0400000000000000" pitchFamily="50" charset="-128"/>
              </a:rPr>
              <a:t>：</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CEE4E87D-51CF-37E5-6C62-BDBB5FAF7129}"/>
              </a:ext>
            </a:extLst>
          </p:cNvPr>
          <p:cNvSpPr txBox="1"/>
          <p:nvPr/>
        </p:nvSpPr>
        <p:spPr>
          <a:xfrm>
            <a:off x="334963" y="1260000"/>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背景</a:t>
            </a:r>
            <a:r>
              <a:rPr lang="en-US" altLang="ja-JP" sz="1200" b="1" dirty="0">
                <a:latin typeface="BIZ UDPゴシック" panose="020B0400000000000000" pitchFamily="50" charset="-128"/>
                <a:ea typeface="BIZ UDPゴシック" panose="020B0400000000000000" pitchFamily="50" charset="-128"/>
              </a:rPr>
              <a:t>/</a:t>
            </a:r>
            <a:r>
              <a:rPr lang="ja-JP" altLang="en-US" sz="1200" b="1" dirty="0">
                <a:latin typeface="BIZ UDPゴシック" panose="020B0400000000000000" pitchFamily="50" charset="-128"/>
                <a:ea typeface="BIZ UDPゴシック" panose="020B0400000000000000" pitchFamily="50" charset="-128"/>
              </a:rPr>
              <a:t>目的</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F282FBF-5CF7-0323-0DF4-7764D451B835}"/>
              </a:ext>
            </a:extLst>
          </p:cNvPr>
          <p:cNvSpPr txBox="1"/>
          <p:nvPr/>
        </p:nvSpPr>
        <p:spPr>
          <a:xfrm>
            <a:off x="334963" y="1440000"/>
            <a:ext cx="5761037" cy="126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dirty="0">
                <a:latin typeface="BIZ UDPゴシック" panose="020B0400000000000000" pitchFamily="50" charset="-128"/>
                <a:ea typeface="BIZ UDPゴシック" panose="020B0400000000000000" pitchFamily="50" charset="-128"/>
              </a:rPr>
              <a:t>本プロジェクトでは、</a:t>
            </a:r>
            <a:endParaRPr lang="en-US" altLang="ja-JP" sz="1200" dirty="0">
              <a:latin typeface="BIZ UDPゴシック" panose="020B0400000000000000" pitchFamily="50" charset="-128"/>
              <a:ea typeface="BIZ UDPゴシック" panose="020B0400000000000000" pitchFamily="50" charset="-128"/>
            </a:endParaRPr>
          </a:p>
          <a:p>
            <a:pPr indent="92075" algn="l"/>
            <a:r>
              <a:rPr kumimoji="1" lang="ja-JP" altLang="en-US" sz="1200" dirty="0">
                <a:latin typeface="BIZ UDPゴシック" panose="020B0400000000000000" pitchFamily="50" charset="-128"/>
                <a:ea typeface="BIZ UDPゴシック" panose="020B0400000000000000" pitchFamily="50" charset="-128"/>
              </a:rPr>
              <a:t>あ</a:t>
            </a:r>
            <a:endParaRPr kumimoji="1" lang="en-US" altLang="ja-JP" sz="1200" dirty="0">
              <a:latin typeface="BIZ UDPゴシック" panose="020B0400000000000000" pitchFamily="50" charset="-128"/>
              <a:ea typeface="BIZ UDPゴシック" panose="020B0400000000000000" pitchFamily="50" charset="-128"/>
            </a:endParaRPr>
          </a:p>
          <a:p>
            <a:pPr indent="92075" algn="l"/>
            <a:r>
              <a:rPr lang="ja-JP" altLang="en-US" sz="1200" dirty="0">
                <a:latin typeface="BIZ UDPゴシック" panose="020B0400000000000000" pitchFamily="50" charset="-128"/>
                <a:ea typeface="BIZ UDPゴシック" panose="020B0400000000000000" pitchFamily="50" charset="-128"/>
              </a:rPr>
              <a:t>あ</a:t>
            </a:r>
            <a:endParaRPr lang="en-US" altLang="ja-JP" sz="1200" dirty="0">
              <a:latin typeface="BIZ UDPゴシック" panose="020B0400000000000000" pitchFamily="50" charset="-128"/>
              <a:ea typeface="BIZ UDPゴシック" panose="020B0400000000000000" pitchFamily="50" charset="-128"/>
            </a:endParaRPr>
          </a:p>
          <a:p>
            <a:pPr indent="92075" algn="l"/>
            <a:r>
              <a:rPr kumimoji="1" lang="ja-JP" altLang="en-US" sz="1200" dirty="0">
                <a:latin typeface="BIZ UDPゴシック" panose="020B0400000000000000" pitchFamily="50" charset="-128"/>
                <a:ea typeface="BIZ UDPゴシック" panose="020B0400000000000000" pitchFamily="50" charset="-128"/>
              </a:rPr>
              <a:t>あ</a:t>
            </a:r>
            <a:endParaRPr kumimoji="1" lang="en-US" altLang="ja-JP" sz="1200" dirty="0">
              <a:latin typeface="BIZ UDPゴシック" panose="020B0400000000000000" pitchFamily="50" charset="-128"/>
              <a:ea typeface="BIZ UDPゴシック" panose="020B0400000000000000" pitchFamily="50" charset="-128"/>
            </a:endParaRPr>
          </a:p>
          <a:p>
            <a:pPr indent="92075" algn="l"/>
            <a:r>
              <a:rPr lang="ja-JP" altLang="en-US" sz="1200" dirty="0">
                <a:latin typeface="BIZ UDPゴシック" panose="020B0400000000000000" pitchFamily="50" charset="-128"/>
                <a:ea typeface="BIZ UDPゴシック" panose="020B0400000000000000" pitchFamily="50" charset="-128"/>
              </a:rPr>
              <a:t>あ</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93674582-59AE-AECD-8FF2-C6BBC0A1EE31}"/>
              </a:ext>
            </a:extLst>
          </p:cNvPr>
          <p:cNvSpPr txBox="1"/>
          <p:nvPr/>
        </p:nvSpPr>
        <p:spPr>
          <a:xfrm>
            <a:off x="334963" y="2700000"/>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kumimoji="1" lang="ja-JP" altLang="en-US" sz="1200" b="1" dirty="0">
                <a:latin typeface="BIZ UDPゴシック" panose="020B0400000000000000" pitchFamily="50" charset="-128"/>
                <a:ea typeface="BIZ UDPゴシック" panose="020B0400000000000000" pitchFamily="50" charset="-128"/>
              </a:rPr>
              <a:t>成果物</a:t>
            </a:r>
          </a:p>
        </p:txBody>
      </p:sp>
      <p:sp>
        <p:nvSpPr>
          <p:cNvPr id="14" name="テキスト ボックス 13">
            <a:extLst>
              <a:ext uri="{FF2B5EF4-FFF2-40B4-BE49-F238E27FC236}">
                <a16:creationId xmlns:a16="http://schemas.microsoft.com/office/drawing/2014/main" id="{897AFA27-8C31-E79B-0987-158E97ECAF9E}"/>
              </a:ext>
            </a:extLst>
          </p:cNvPr>
          <p:cNvSpPr txBox="1"/>
          <p:nvPr/>
        </p:nvSpPr>
        <p:spPr>
          <a:xfrm>
            <a:off x="334963" y="2879998"/>
            <a:ext cx="5761037" cy="1088751"/>
          </a:xfrm>
          <a:prstGeom prst="rect">
            <a:avLst/>
          </a:prstGeom>
          <a:noFill/>
          <a:ln>
            <a:solidFill>
              <a:schemeClr val="bg1">
                <a:lumMod val="65000"/>
              </a:schemeClr>
            </a:solidFill>
          </a:ln>
        </p:spPr>
        <p:txBody>
          <a:bodyPr wrap="square" lIns="0" tIns="0" rIns="0" bIns="0" rtlCol="0" anchor="ctr" anchorCtr="0">
            <a:noAutofit/>
          </a:bodyPr>
          <a:lstStyle/>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A</a:t>
            </a:r>
          </a:p>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B</a:t>
            </a:r>
          </a:p>
          <a:p>
            <a:pPr marL="342900" indent="-250825" algn="l">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endParaRPr kumimoji="1" lang="en-US" altLang="ja-JP" sz="1200" dirty="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9C400477-CBA2-7007-501F-B8819FB7FCC8}"/>
              </a:ext>
            </a:extLst>
          </p:cNvPr>
          <p:cNvSpPr txBox="1"/>
          <p:nvPr/>
        </p:nvSpPr>
        <p:spPr>
          <a:xfrm>
            <a:off x="334963" y="3966097"/>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kumimoji="1" lang="ja-JP" altLang="en-US" sz="1200" b="1" dirty="0">
                <a:latin typeface="BIZ UDPゴシック" panose="020B0400000000000000" pitchFamily="50" charset="-128"/>
                <a:ea typeface="BIZ UDPゴシック" panose="020B0400000000000000" pitchFamily="50" charset="-128"/>
              </a:rPr>
              <a:t>マイルストーン</a:t>
            </a:r>
          </a:p>
        </p:txBody>
      </p:sp>
      <p:sp>
        <p:nvSpPr>
          <p:cNvPr id="21" name="テキスト ボックス 20">
            <a:extLst>
              <a:ext uri="{FF2B5EF4-FFF2-40B4-BE49-F238E27FC236}">
                <a16:creationId xmlns:a16="http://schemas.microsoft.com/office/drawing/2014/main" id="{8298F95D-16CB-F61D-8127-AF16CB857AC7}"/>
              </a:ext>
            </a:extLst>
          </p:cNvPr>
          <p:cNvSpPr txBox="1"/>
          <p:nvPr/>
        </p:nvSpPr>
        <p:spPr>
          <a:xfrm>
            <a:off x="334963" y="4146096"/>
            <a:ext cx="5761037" cy="900000"/>
          </a:xfrm>
          <a:prstGeom prst="rect">
            <a:avLst/>
          </a:prstGeom>
          <a:noFill/>
          <a:ln>
            <a:solidFill>
              <a:schemeClr val="bg1">
                <a:lumMod val="65000"/>
              </a:schemeClr>
            </a:solidFill>
          </a:ln>
        </p:spPr>
        <p:txBody>
          <a:bodyPr wrap="square" lIns="0" tIns="0" rIns="0" bIns="0" rtlCol="0" anchor="ctr" anchorCtr="0">
            <a:noAutofit/>
          </a:bodyPr>
          <a:lstStyle/>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A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B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C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p:txBody>
      </p:sp>
      <p:sp>
        <p:nvSpPr>
          <p:cNvPr id="23" name="テキスト ボックス 22">
            <a:extLst>
              <a:ext uri="{FF2B5EF4-FFF2-40B4-BE49-F238E27FC236}">
                <a16:creationId xmlns:a16="http://schemas.microsoft.com/office/drawing/2014/main" id="{61C7CDFF-75D5-D619-BD4F-F8CBC3ADDBCE}"/>
              </a:ext>
            </a:extLst>
          </p:cNvPr>
          <p:cNvSpPr txBox="1"/>
          <p:nvPr/>
        </p:nvSpPr>
        <p:spPr>
          <a:xfrm>
            <a:off x="334963" y="5046097"/>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kumimoji="1" lang="ja-JP" altLang="en-US" sz="1200" b="1" dirty="0">
                <a:latin typeface="BIZ UDPゴシック" panose="020B0400000000000000" pitchFamily="50" charset="-128"/>
                <a:ea typeface="BIZ UDPゴシック" panose="020B0400000000000000" pitchFamily="50" charset="-128"/>
              </a:rPr>
              <a:t>前提</a:t>
            </a:r>
            <a:r>
              <a:rPr kumimoji="1" lang="en-US" altLang="ja-JP" sz="1200" b="1" dirty="0">
                <a:latin typeface="BIZ UDPゴシック" panose="020B0400000000000000" pitchFamily="50" charset="-128"/>
                <a:ea typeface="BIZ UDPゴシック" panose="020B0400000000000000" pitchFamily="50" charset="-128"/>
              </a:rPr>
              <a:t>/</a:t>
            </a:r>
            <a:r>
              <a:rPr kumimoji="1" lang="ja-JP" altLang="en-US" sz="1200" b="1" dirty="0">
                <a:latin typeface="BIZ UDPゴシック" panose="020B0400000000000000" pitchFamily="50" charset="-128"/>
                <a:ea typeface="BIZ UDPゴシック" panose="020B0400000000000000" pitchFamily="50" charset="-128"/>
              </a:rPr>
              <a:t>制約</a:t>
            </a:r>
          </a:p>
        </p:txBody>
      </p:sp>
      <p:sp>
        <p:nvSpPr>
          <p:cNvPr id="25" name="テキスト ボックス 24">
            <a:extLst>
              <a:ext uri="{FF2B5EF4-FFF2-40B4-BE49-F238E27FC236}">
                <a16:creationId xmlns:a16="http://schemas.microsoft.com/office/drawing/2014/main" id="{35094318-575E-35CC-5422-3A7D4D860415}"/>
              </a:ext>
            </a:extLst>
          </p:cNvPr>
          <p:cNvSpPr txBox="1"/>
          <p:nvPr/>
        </p:nvSpPr>
        <p:spPr>
          <a:xfrm>
            <a:off x="334963" y="5226096"/>
            <a:ext cx="5761037" cy="1260000"/>
          </a:xfrm>
          <a:prstGeom prst="rect">
            <a:avLst/>
          </a:prstGeom>
          <a:noFill/>
          <a:ln>
            <a:solidFill>
              <a:schemeClr val="bg1">
                <a:lumMod val="65000"/>
              </a:schemeClr>
            </a:solidFill>
          </a:ln>
        </p:spPr>
        <p:txBody>
          <a:bodyPr wrap="square" lIns="0" tIns="0" rIns="0" bIns="0" rtlCol="0" anchor="ctr" anchorCtr="0">
            <a:noAutofit/>
          </a:bodyPr>
          <a:lstStyle/>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A</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B</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p>
        </p:txBody>
      </p:sp>
      <p:sp>
        <p:nvSpPr>
          <p:cNvPr id="28" name="テキスト ボックス 27">
            <a:extLst>
              <a:ext uri="{FF2B5EF4-FFF2-40B4-BE49-F238E27FC236}">
                <a16:creationId xmlns:a16="http://schemas.microsoft.com/office/drawing/2014/main" id="{A3A94F37-F55B-9591-9152-17095DAB4299}"/>
              </a:ext>
            </a:extLst>
          </p:cNvPr>
          <p:cNvSpPr txBox="1"/>
          <p:nvPr/>
        </p:nvSpPr>
        <p:spPr>
          <a:xfrm>
            <a:off x="6081058" y="1080327"/>
            <a:ext cx="5758232"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責任者</a:t>
            </a:r>
            <a:r>
              <a:rPr lang="ja-JP" altLang="en-US" sz="1200" dirty="0">
                <a:latin typeface="BIZ UDPゴシック" panose="020B0400000000000000" pitchFamily="50" charset="-128"/>
                <a:ea typeface="BIZ UDPゴシック" panose="020B0400000000000000" pitchFamily="50" charset="-128"/>
              </a:rPr>
              <a:t>：</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C9B129E5-01ED-A0F5-4932-A1FE216CEED2}"/>
              </a:ext>
            </a:extLst>
          </p:cNvPr>
          <p:cNvSpPr txBox="1"/>
          <p:nvPr/>
        </p:nvSpPr>
        <p:spPr>
          <a:xfrm>
            <a:off x="6081221" y="1260000"/>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kumimoji="1" lang="ja-JP" altLang="en-US" sz="1200" b="1" dirty="0">
                <a:latin typeface="BIZ UDPゴシック" panose="020B0400000000000000" pitchFamily="50" charset="-128"/>
                <a:ea typeface="BIZ UDPゴシック" panose="020B0400000000000000" pitchFamily="50" charset="-128"/>
              </a:rPr>
              <a:t>目標</a:t>
            </a:r>
          </a:p>
        </p:txBody>
      </p:sp>
      <p:sp>
        <p:nvSpPr>
          <p:cNvPr id="30" name="テキスト ボックス 29">
            <a:extLst>
              <a:ext uri="{FF2B5EF4-FFF2-40B4-BE49-F238E27FC236}">
                <a16:creationId xmlns:a16="http://schemas.microsoft.com/office/drawing/2014/main" id="{B0AD40B8-0281-DB8A-C5E0-4A099063B023}"/>
              </a:ext>
            </a:extLst>
          </p:cNvPr>
          <p:cNvSpPr txBox="1"/>
          <p:nvPr/>
        </p:nvSpPr>
        <p:spPr>
          <a:xfrm>
            <a:off x="6081221" y="1440000"/>
            <a:ext cx="5761037" cy="1260000"/>
          </a:xfrm>
          <a:prstGeom prst="rect">
            <a:avLst/>
          </a:prstGeom>
          <a:noFill/>
          <a:ln>
            <a:solidFill>
              <a:schemeClr val="bg1">
                <a:lumMod val="65000"/>
              </a:schemeClr>
            </a:solidFill>
          </a:ln>
        </p:spPr>
        <p:txBody>
          <a:bodyPr wrap="square" lIns="0" tIns="0" rIns="0" bIns="0" rtlCol="0" anchor="ctr" anchorCtr="0">
            <a:noAutofit/>
          </a:bodyPr>
          <a:lstStyle/>
          <a:p>
            <a:pPr marL="171450" indent="-171450" algn="l">
              <a:lnSpc>
                <a:spcPct val="15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完了時期：</a:t>
            </a:r>
            <a:endParaRPr lang="en-US" altLang="ja-JP" sz="1200" dirty="0">
              <a:latin typeface="BIZ UDPゴシック" panose="020B0400000000000000" pitchFamily="50" charset="-128"/>
              <a:ea typeface="BIZ UDPゴシック" panose="020B0400000000000000" pitchFamily="50" charset="-128"/>
            </a:endParaRPr>
          </a:p>
          <a:p>
            <a:pPr marL="171450" indent="-171450" algn="l">
              <a:lnSpc>
                <a:spcPct val="15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品質目標：</a:t>
            </a:r>
            <a:endParaRPr lang="en-US" altLang="ja-JP" sz="1200" dirty="0">
              <a:latin typeface="BIZ UDPゴシック" panose="020B0400000000000000" pitchFamily="50" charset="-128"/>
              <a:ea typeface="BIZ UDPゴシック" panose="020B0400000000000000" pitchFamily="50" charset="-128"/>
            </a:endParaRPr>
          </a:p>
          <a:p>
            <a:pPr marL="171450" indent="-171450" algn="l">
              <a:lnSpc>
                <a:spcPct val="150000"/>
              </a:lnSpc>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評価指標：</a:t>
            </a:r>
            <a:endParaRPr lang="en-US" altLang="ja-JP" sz="1200" dirty="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1A0FC2F4-3AF7-13E3-39A1-7C02FF56C278}"/>
              </a:ext>
            </a:extLst>
          </p:cNvPr>
          <p:cNvSpPr txBox="1"/>
          <p:nvPr/>
        </p:nvSpPr>
        <p:spPr>
          <a:xfrm>
            <a:off x="6081221" y="2700000"/>
            <a:ext cx="2880000"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en-US" altLang="ja-JP" sz="1200" b="1" dirty="0">
                <a:latin typeface="BIZ UDPゴシック" panose="020B0400000000000000" pitchFamily="50" charset="-128"/>
                <a:ea typeface="BIZ UDPゴシック" panose="020B0400000000000000" pitchFamily="50" charset="-128"/>
              </a:rPr>
              <a:t>Scope</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FB138777-5569-A0F0-5882-355BDFD46878}"/>
              </a:ext>
            </a:extLst>
          </p:cNvPr>
          <p:cNvSpPr txBox="1"/>
          <p:nvPr/>
        </p:nvSpPr>
        <p:spPr>
          <a:xfrm>
            <a:off x="6081221" y="2879998"/>
            <a:ext cx="2880000" cy="1088751"/>
          </a:xfrm>
          <a:prstGeom prst="rect">
            <a:avLst/>
          </a:prstGeom>
          <a:noFill/>
          <a:ln>
            <a:solidFill>
              <a:schemeClr val="bg1">
                <a:lumMod val="65000"/>
              </a:schemeClr>
            </a:solidFill>
          </a:ln>
        </p:spPr>
        <p:txBody>
          <a:bodyPr wrap="square" lIns="0" tIns="0" rIns="0" bIns="0" rtlCol="0" anchor="ctr" anchorCtr="0">
            <a:noAutofit/>
          </a:bodyPr>
          <a:lstStyle/>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A</a:t>
            </a:r>
          </a:p>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B</a:t>
            </a:r>
          </a:p>
          <a:p>
            <a:pPr marL="342900" indent="-250825" algn="l">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endParaRPr kumimoji="1" lang="en-US" altLang="ja-JP" sz="1200" dirty="0">
              <a:latin typeface="BIZ UDPゴシック" panose="020B0400000000000000" pitchFamily="50" charset="-128"/>
              <a:ea typeface="BIZ UDPゴシック" panose="020B0400000000000000" pitchFamily="50" charset="-128"/>
            </a:endParaRPr>
          </a:p>
        </p:txBody>
      </p:sp>
      <p:sp>
        <p:nvSpPr>
          <p:cNvPr id="33" name="テキスト ボックス 32">
            <a:extLst>
              <a:ext uri="{FF2B5EF4-FFF2-40B4-BE49-F238E27FC236}">
                <a16:creationId xmlns:a16="http://schemas.microsoft.com/office/drawing/2014/main" id="{18D0717D-68A2-F4F0-3E09-33853B2BA334}"/>
              </a:ext>
            </a:extLst>
          </p:cNvPr>
          <p:cNvSpPr txBox="1"/>
          <p:nvPr/>
        </p:nvSpPr>
        <p:spPr>
          <a:xfrm>
            <a:off x="6081221" y="3966097"/>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重点リスク</a:t>
            </a:r>
            <a:r>
              <a:rPr lang="en-US" altLang="ja-JP" sz="1200" b="1" dirty="0">
                <a:latin typeface="BIZ UDPゴシック" panose="020B0400000000000000" pitchFamily="50" charset="-128"/>
                <a:ea typeface="BIZ UDPゴシック" panose="020B0400000000000000" pitchFamily="50" charset="-128"/>
              </a:rPr>
              <a:t>/</a:t>
            </a:r>
            <a:r>
              <a:rPr lang="ja-JP" altLang="en-US" sz="1200" b="1" dirty="0">
                <a:latin typeface="BIZ UDPゴシック" panose="020B0400000000000000" pitchFamily="50" charset="-128"/>
                <a:ea typeface="BIZ UDPゴシック" panose="020B0400000000000000" pitchFamily="50" charset="-128"/>
              </a:rPr>
              <a:t>問題</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5FD1A18D-C6F8-B325-7378-F4F6E069495F}"/>
              </a:ext>
            </a:extLst>
          </p:cNvPr>
          <p:cNvSpPr txBox="1"/>
          <p:nvPr/>
        </p:nvSpPr>
        <p:spPr>
          <a:xfrm>
            <a:off x="6081221" y="4146096"/>
            <a:ext cx="5761037" cy="900000"/>
          </a:xfrm>
          <a:prstGeom prst="rect">
            <a:avLst/>
          </a:prstGeom>
          <a:noFill/>
          <a:ln>
            <a:solidFill>
              <a:schemeClr val="bg1">
                <a:lumMod val="65000"/>
              </a:schemeClr>
            </a:solidFill>
          </a:ln>
        </p:spPr>
        <p:txBody>
          <a:bodyPr wrap="square" lIns="0" tIns="0" rIns="0" bIns="0" rtlCol="0" anchor="ctr" anchorCtr="0">
            <a:noAutofit/>
          </a:bodyPr>
          <a:lstStyle/>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A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B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C (</a:t>
            </a:r>
            <a:r>
              <a:rPr lang="ja-JP" altLang="en-US" sz="1200" dirty="0">
                <a:latin typeface="BIZ UDPゴシック" panose="020B0400000000000000" pitchFamily="50" charset="-128"/>
                <a:ea typeface="BIZ UDPゴシック" panose="020B0400000000000000" pitchFamily="50" charset="-128"/>
              </a:rPr>
              <a:t>完了時期</a:t>
            </a:r>
            <a:r>
              <a:rPr lang="en-US" altLang="ja-JP" sz="1200" dirty="0">
                <a:latin typeface="BIZ UDPゴシック" panose="020B0400000000000000" pitchFamily="50" charset="-128"/>
                <a:ea typeface="BIZ UDPゴシック" panose="020B0400000000000000" pitchFamily="50" charset="-128"/>
              </a:rPr>
              <a:t>: )</a:t>
            </a:r>
          </a:p>
        </p:txBody>
      </p:sp>
      <p:sp>
        <p:nvSpPr>
          <p:cNvPr id="35" name="テキスト ボックス 34">
            <a:extLst>
              <a:ext uri="{FF2B5EF4-FFF2-40B4-BE49-F238E27FC236}">
                <a16:creationId xmlns:a16="http://schemas.microsoft.com/office/drawing/2014/main" id="{2C96F04B-B66F-6CED-B909-59E8475EE9B2}"/>
              </a:ext>
            </a:extLst>
          </p:cNvPr>
          <p:cNvSpPr txBox="1"/>
          <p:nvPr/>
        </p:nvSpPr>
        <p:spPr>
          <a:xfrm>
            <a:off x="6081221" y="5046097"/>
            <a:ext cx="5761037"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ja-JP" altLang="en-US" sz="1200" b="1" dirty="0">
                <a:latin typeface="BIZ UDPゴシック" panose="020B0400000000000000" pitchFamily="50" charset="-128"/>
                <a:ea typeface="BIZ UDPゴシック" panose="020B0400000000000000" pitchFamily="50" charset="-128"/>
              </a:rPr>
              <a:t>役割</a:t>
            </a:r>
            <a:r>
              <a:rPr lang="en-US" altLang="ja-JP" sz="1200" b="1" dirty="0">
                <a:latin typeface="BIZ UDPゴシック" panose="020B0400000000000000" pitchFamily="50" charset="-128"/>
                <a:ea typeface="BIZ UDPゴシック" panose="020B0400000000000000" pitchFamily="50" charset="-128"/>
              </a:rPr>
              <a:t>/</a:t>
            </a:r>
            <a:r>
              <a:rPr lang="ja-JP" altLang="en-US" sz="1200" b="1" dirty="0">
                <a:latin typeface="BIZ UDPゴシック" panose="020B0400000000000000" pitchFamily="50" charset="-128"/>
                <a:ea typeface="BIZ UDPゴシック" panose="020B0400000000000000" pitchFamily="50" charset="-128"/>
              </a:rPr>
              <a:t>責務</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D6A29DC4-835A-8A84-F7B1-3030BBC69F63}"/>
              </a:ext>
            </a:extLst>
          </p:cNvPr>
          <p:cNvSpPr txBox="1"/>
          <p:nvPr/>
        </p:nvSpPr>
        <p:spPr>
          <a:xfrm>
            <a:off x="6081221" y="5226096"/>
            <a:ext cx="5761037" cy="1260000"/>
          </a:xfrm>
          <a:prstGeom prst="rect">
            <a:avLst/>
          </a:prstGeom>
          <a:noFill/>
          <a:ln>
            <a:solidFill>
              <a:schemeClr val="bg1">
                <a:lumMod val="65000"/>
              </a:schemeClr>
            </a:solidFill>
          </a:ln>
        </p:spPr>
        <p:txBody>
          <a:bodyPr wrap="square" lIns="0" tIns="0" rIns="0" bIns="0" rtlCol="0" anchor="ctr" anchorCtr="0">
            <a:noAutofit/>
          </a:bodyPr>
          <a:lstStyle/>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A</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B</a:t>
            </a:r>
          </a:p>
          <a:p>
            <a:pPr marL="342900" indent="-250825">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p>
        </p:txBody>
      </p:sp>
      <p:sp>
        <p:nvSpPr>
          <p:cNvPr id="37" name="テキスト ボックス 36">
            <a:extLst>
              <a:ext uri="{FF2B5EF4-FFF2-40B4-BE49-F238E27FC236}">
                <a16:creationId xmlns:a16="http://schemas.microsoft.com/office/drawing/2014/main" id="{E7ABDE2D-3D81-4C37-57DC-E24D37BBBE06}"/>
              </a:ext>
            </a:extLst>
          </p:cNvPr>
          <p:cNvSpPr txBox="1"/>
          <p:nvPr/>
        </p:nvSpPr>
        <p:spPr>
          <a:xfrm>
            <a:off x="8958534" y="2700000"/>
            <a:ext cx="2880000" cy="180000"/>
          </a:xfrm>
          <a:prstGeom prst="rect">
            <a:avLst/>
          </a:prstGeom>
          <a:noFill/>
          <a:ln>
            <a:solidFill>
              <a:schemeClr val="bg1">
                <a:lumMod val="65000"/>
              </a:schemeClr>
            </a:solidFill>
          </a:ln>
        </p:spPr>
        <p:txBody>
          <a:bodyPr wrap="square" lIns="0" tIns="0" rIns="0" bIns="0" rtlCol="0" anchor="ctr" anchorCtr="0">
            <a:noAutofit/>
          </a:bodyPr>
          <a:lstStyle/>
          <a:p>
            <a:pPr indent="92075" algn="l"/>
            <a:r>
              <a:rPr lang="en-US" altLang="ja-JP" sz="1200" b="1" dirty="0">
                <a:latin typeface="BIZ UDPゴシック" panose="020B0400000000000000" pitchFamily="50" charset="-128"/>
                <a:ea typeface="BIZ UDPゴシック" panose="020B0400000000000000" pitchFamily="50" charset="-128"/>
              </a:rPr>
              <a:t>Out of Scope</a:t>
            </a:r>
            <a:endParaRPr kumimoji="1" lang="ja-JP" altLang="en-US" sz="1200" b="1" dirty="0">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81B75877-DA24-7258-6A75-CFEB82A49D1E}"/>
              </a:ext>
            </a:extLst>
          </p:cNvPr>
          <p:cNvSpPr txBox="1"/>
          <p:nvPr/>
        </p:nvSpPr>
        <p:spPr>
          <a:xfrm>
            <a:off x="8958534" y="2879998"/>
            <a:ext cx="2880000" cy="1088751"/>
          </a:xfrm>
          <a:prstGeom prst="rect">
            <a:avLst/>
          </a:prstGeom>
          <a:noFill/>
          <a:ln>
            <a:solidFill>
              <a:schemeClr val="bg1">
                <a:lumMod val="65000"/>
              </a:schemeClr>
            </a:solidFill>
          </a:ln>
        </p:spPr>
        <p:txBody>
          <a:bodyPr wrap="square" lIns="0" tIns="0" rIns="0" bIns="0" rtlCol="0" anchor="ctr" anchorCtr="0">
            <a:noAutofit/>
          </a:bodyPr>
          <a:lstStyle/>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A</a:t>
            </a:r>
          </a:p>
          <a:p>
            <a:pPr marL="342900" indent="-250825" algn="l">
              <a:buFont typeface="+mj-lt"/>
              <a:buAutoNum type="arabicPeriod"/>
            </a:pPr>
            <a:r>
              <a:rPr kumimoji="1" lang="en-US" altLang="ja-JP" sz="1200" dirty="0">
                <a:latin typeface="BIZ UDPゴシック" panose="020B0400000000000000" pitchFamily="50" charset="-128"/>
                <a:ea typeface="BIZ UDPゴシック" panose="020B0400000000000000" pitchFamily="50" charset="-128"/>
              </a:rPr>
              <a:t>B</a:t>
            </a:r>
          </a:p>
          <a:p>
            <a:pPr marL="342900" indent="-250825" algn="l">
              <a:buFont typeface="+mj-lt"/>
              <a:buAutoNum type="arabicPeriod"/>
            </a:pPr>
            <a:r>
              <a:rPr lang="en-US" altLang="ja-JP" sz="1200" dirty="0">
                <a:latin typeface="BIZ UDPゴシック" panose="020B0400000000000000" pitchFamily="50" charset="-128"/>
                <a:ea typeface="BIZ UDPゴシック" panose="020B0400000000000000" pitchFamily="50" charset="-128"/>
              </a:rPr>
              <a:t>C</a:t>
            </a:r>
            <a:endParaRPr kumimoji="1" lang="en-US" altLang="ja-JP" sz="12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011240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275B44B-4016-54D0-790D-BA5F87DBBB79}"/>
              </a:ext>
            </a:extLst>
          </p:cNvPr>
          <p:cNvSpPr>
            <a:spLocks noGrp="1"/>
          </p:cNvSpPr>
          <p:nvPr>
            <p:ph type="title"/>
          </p:nvPr>
        </p:nvSpPr>
        <p:spPr/>
        <p:txBody>
          <a:bodyPr/>
          <a:lstStyle/>
          <a:p>
            <a:r>
              <a:rPr lang="ja-JP" altLang="en-US" dirty="0"/>
              <a:t>体制</a:t>
            </a:r>
            <a:endParaRPr kumimoji="1" lang="ja-JP" altLang="en-US" dirty="0"/>
          </a:p>
        </p:txBody>
      </p:sp>
      <p:sp>
        <p:nvSpPr>
          <p:cNvPr id="3" name="フッター プレースホルダー 2">
            <a:extLst>
              <a:ext uri="{FF2B5EF4-FFF2-40B4-BE49-F238E27FC236}">
                <a16:creationId xmlns:a16="http://schemas.microsoft.com/office/drawing/2014/main" id="{47FB845D-CF92-E09B-1137-7C4D36747032}"/>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4B9E2219-DF1B-9B2E-055D-CAC23A17AB92}"/>
              </a:ext>
            </a:extLst>
          </p:cNvPr>
          <p:cNvSpPr>
            <a:spLocks noGrp="1"/>
          </p:cNvSpPr>
          <p:nvPr>
            <p:ph type="sldNum" sz="quarter" idx="12"/>
          </p:nvPr>
        </p:nvSpPr>
        <p:spPr/>
        <p:txBody>
          <a:bodyPr/>
          <a:lstStyle/>
          <a:p>
            <a:fld id="{DCB5AA93-092B-49A1-87A7-3C88D5F38AD7}" type="slidenum">
              <a:rPr lang="ja-JP" altLang="en-US" smtClean="0"/>
              <a:pPr/>
              <a:t>24</a:t>
            </a:fld>
            <a:endParaRPr lang="ja-JP" altLang="en-US" sz="900" dirty="0"/>
          </a:p>
        </p:txBody>
      </p:sp>
      <p:sp>
        <p:nvSpPr>
          <p:cNvPr id="5" name="テキスト プレースホルダー 4">
            <a:extLst>
              <a:ext uri="{FF2B5EF4-FFF2-40B4-BE49-F238E27FC236}">
                <a16:creationId xmlns:a16="http://schemas.microsoft.com/office/drawing/2014/main" id="{11C317E7-64B1-3868-76A7-7B4C6823CA46}"/>
              </a:ext>
            </a:extLst>
          </p:cNvPr>
          <p:cNvSpPr>
            <a:spLocks noGrp="1"/>
          </p:cNvSpPr>
          <p:nvPr>
            <p:ph type="body" sz="quarter" idx="13"/>
          </p:nvPr>
        </p:nvSpPr>
        <p:spPr/>
        <p:txBody>
          <a:bodyPr/>
          <a:lstStyle/>
          <a:p>
            <a:endParaRPr kumimoji="1" lang="ja-JP" altLang="en-US" dirty="0"/>
          </a:p>
        </p:txBody>
      </p:sp>
      <p:sp>
        <p:nvSpPr>
          <p:cNvPr id="6" name="正方形/長方形 5">
            <a:extLst>
              <a:ext uri="{FF2B5EF4-FFF2-40B4-BE49-F238E27FC236}">
                <a16:creationId xmlns:a16="http://schemas.microsoft.com/office/drawing/2014/main" id="{65FDC65C-C156-5915-BE29-73F2C0E04025}"/>
              </a:ext>
            </a:extLst>
          </p:cNvPr>
          <p:cNvSpPr/>
          <p:nvPr/>
        </p:nvSpPr>
        <p:spPr>
          <a:xfrm>
            <a:off x="1613697" y="4991278"/>
            <a:ext cx="2758354" cy="1498419"/>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lgn="l">
              <a:buFont typeface="+mj-ea"/>
              <a:buAutoNum type="circleNumDbPlain"/>
            </a:pP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7" name="正方形/長方形 6">
            <a:extLst>
              <a:ext uri="{FF2B5EF4-FFF2-40B4-BE49-F238E27FC236}">
                <a16:creationId xmlns:a16="http://schemas.microsoft.com/office/drawing/2014/main" id="{5214C083-1B76-78F4-4F9E-55DE38AF6577}"/>
              </a:ext>
            </a:extLst>
          </p:cNvPr>
          <p:cNvSpPr/>
          <p:nvPr/>
        </p:nvSpPr>
        <p:spPr>
          <a:xfrm>
            <a:off x="4372050" y="1482732"/>
            <a:ext cx="7484988" cy="500696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lgn="l">
              <a:buFont typeface="+mj-ea"/>
              <a:buAutoNum type="circleNumDbPlain"/>
            </a:pP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CFFC6C86-422B-A44B-941A-495F526AF66D}"/>
              </a:ext>
            </a:extLst>
          </p:cNvPr>
          <p:cNvSpPr/>
          <p:nvPr/>
        </p:nvSpPr>
        <p:spPr>
          <a:xfrm>
            <a:off x="1613696" y="1482733"/>
            <a:ext cx="2430194" cy="3220135"/>
          </a:xfrm>
          <a:prstGeom prst="rect">
            <a:avLst/>
          </a:prstGeom>
          <a:solidFill>
            <a:schemeClr val="accent6">
              <a:lumMod val="20000"/>
              <a:lumOff val="8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marL="268288" indent="-268288" algn="l">
              <a:buFont typeface="+mj-ea"/>
              <a:buAutoNum type="circleNumDbPlain"/>
            </a:pPr>
            <a:endPar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CD47DBB5-4975-C57F-85E5-28EDF76D3FF1}"/>
              </a:ext>
            </a:extLst>
          </p:cNvPr>
          <p:cNvSpPr txBox="1"/>
          <p:nvPr/>
        </p:nvSpPr>
        <p:spPr>
          <a:xfrm>
            <a:off x="360000" y="2048501"/>
            <a:ext cx="825547" cy="184666"/>
          </a:xfrm>
          <a:prstGeom prst="rect">
            <a:avLst/>
          </a:prstGeom>
          <a:noFill/>
        </p:spPr>
        <p:txBody>
          <a:bodyPr wrap="square" lIns="0" tIns="0" rIns="0" bIns="0" rtlCol="0">
            <a:noAutofit/>
          </a:bodyPr>
          <a:lstStyle/>
          <a:p>
            <a:r>
              <a:rPr lang="ja-JP" altLang="en-US" sz="1200" dirty="0">
                <a:latin typeface="BIZ UDPゴシック" panose="020B0400000000000000" pitchFamily="50" charset="-128"/>
                <a:ea typeface="BIZ UDPゴシック" panose="020B0400000000000000" pitchFamily="50" charset="-128"/>
              </a:rPr>
              <a:t>マネジメント</a:t>
            </a:r>
          </a:p>
        </p:txBody>
      </p:sp>
      <p:sp>
        <p:nvSpPr>
          <p:cNvPr id="10" name="テキスト ボックス 9">
            <a:extLst>
              <a:ext uri="{FF2B5EF4-FFF2-40B4-BE49-F238E27FC236}">
                <a16:creationId xmlns:a16="http://schemas.microsoft.com/office/drawing/2014/main" id="{66F92B3F-EFD5-8FE9-0FEB-01AE792BA4AA}"/>
              </a:ext>
            </a:extLst>
          </p:cNvPr>
          <p:cNvSpPr txBox="1"/>
          <p:nvPr/>
        </p:nvSpPr>
        <p:spPr>
          <a:xfrm>
            <a:off x="360000" y="3305133"/>
            <a:ext cx="573875" cy="184666"/>
          </a:xfrm>
          <a:prstGeom prst="rect">
            <a:avLst/>
          </a:prstGeom>
          <a:noFill/>
        </p:spPr>
        <p:txBody>
          <a:bodyPr wrap="square" lIns="0" tIns="0" rIns="0" bIns="0" rtlCol="0">
            <a:noAutofit/>
          </a:bodyPr>
          <a:lstStyle/>
          <a:p>
            <a:r>
              <a:rPr lang="ja-JP" altLang="en-US" sz="1200" dirty="0">
                <a:latin typeface="BIZ UDPゴシック" panose="020B0400000000000000" pitchFamily="50" charset="-128"/>
                <a:ea typeface="BIZ UDPゴシック" panose="020B0400000000000000" pitchFamily="50" charset="-128"/>
              </a:rPr>
              <a:t>リーダー</a:t>
            </a:r>
          </a:p>
        </p:txBody>
      </p:sp>
      <p:sp>
        <p:nvSpPr>
          <p:cNvPr id="11" name="テキスト ボックス 10">
            <a:extLst>
              <a:ext uri="{FF2B5EF4-FFF2-40B4-BE49-F238E27FC236}">
                <a16:creationId xmlns:a16="http://schemas.microsoft.com/office/drawing/2014/main" id="{3F916119-A1C6-4FE3-D17B-AD809E371C8F}"/>
              </a:ext>
            </a:extLst>
          </p:cNvPr>
          <p:cNvSpPr txBox="1"/>
          <p:nvPr/>
        </p:nvSpPr>
        <p:spPr>
          <a:xfrm>
            <a:off x="360000" y="5002050"/>
            <a:ext cx="307777" cy="184666"/>
          </a:xfrm>
          <a:prstGeom prst="rect">
            <a:avLst/>
          </a:prstGeom>
          <a:noFill/>
        </p:spPr>
        <p:txBody>
          <a:bodyPr wrap="square" lIns="0" tIns="0" rIns="0" bIns="0" rtlCol="0">
            <a:noAutofit/>
          </a:bodyPr>
          <a:lstStyle/>
          <a:p>
            <a:r>
              <a:rPr lang="ja-JP" altLang="en-US" sz="1200" dirty="0">
                <a:latin typeface="BIZ UDPゴシック" panose="020B0400000000000000" pitchFamily="50" charset="-128"/>
                <a:ea typeface="BIZ UDPゴシック" panose="020B0400000000000000" pitchFamily="50" charset="-128"/>
              </a:rPr>
              <a:t>実行</a:t>
            </a:r>
          </a:p>
        </p:txBody>
      </p:sp>
      <p:cxnSp>
        <p:nvCxnSpPr>
          <p:cNvPr id="12" name="コネクタ: カギ線 11">
            <a:extLst>
              <a:ext uri="{FF2B5EF4-FFF2-40B4-BE49-F238E27FC236}">
                <a16:creationId xmlns:a16="http://schemas.microsoft.com/office/drawing/2014/main" id="{07DD33FF-1D3C-B44A-F05A-102929C8DE37}"/>
              </a:ext>
            </a:extLst>
          </p:cNvPr>
          <p:cNvCxnSpPr>
            <a:cxnSpLocks/>
            <a:stCxn id="30" idx="2"/>
            <a:endCxn id="35" idx="0"/>
          </p:cNvCxnSpPr>
          <p:nvPr/>
        </p:nvCxnSpPr>
        <p:spPr>
          <a:xfrm rot="16200000" flipH="1">
            <a:off x="6599736" y="3189582"/>
            <a:ext cx="1064894" cy="2818735"/>
          </a:xfrm>
          <a:prstGeom prst="bentConnector3">
            <a:avLst>
              <a:gd name="adj1" fmla="val 50000"/>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3" name="テキスト ボックス 12">
            <a:extLst>
              <a:ext uri="{FF2B5EF4-FFF2-40B4-BE49-F238E27FC236}">
                <a16:creationId xmlns:a16="http://schemas.microsoft.com/office/drawing/2014/main" id="{18EBCF0D-DB54-AF09-526E-2F90849CA702}"/>
              </a:ext>
            </a:extLst>
          </p:cNvPr>
          <p:cNvSpPr txBox="1"/>
          <p:nvPr/>
        </p:nvSpPr>
        <p:spPr>
          <a:xfrm>
            <a:off x="1717590" y="1586499"/>
            <a:ext cx="474489"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顧客</a:t>
            </a:r>
            <a:r>
              <a:rPr lang="en-US" altLang="ja-JP" sz="1400" dirty="0">
                <a:latin typeface="BIZ UDPゴシック" panose="020B0400000000000000" pitchFamily="50" charset="-128"/>
                <a:ea typeface="BIZ UDPゴシック" panose="020B0400000000000000" pitchFamily="50" charset="-128"/>
              </a:rPr>
              <a:t>: </a:t>
            </a:r>
            <a:endParaRPr lang="ja-JP" altLang="en-US" sz="14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5E34398-D13E-CDC0-7528-BBF7D2C957D1}"/>
              </a:ext>
            </a:extLst>
          </p:cNvPr>
          <p:cNvSpPr txBox="1"/>
          <p:nvPr/>
        </p:nvSpPr>
        <p:spPr>
          <a:xfrm>
            <a:off x="4432010" y="1586499"/>
            <a:ext cx="3491340" cy="215444"/>
          </a:xfrm>
          <a:prstGeom prst="rect">
            <a:avLst/>
          </a:prstGeom>
          <a:noFill/>
        </p:spPr>
        <p:txBody>
          <a:bodyPr wrap="none" lIns="0" tIns="0" rIns="0" bIns="0" rtlCol="0">
            <a:spAutoFit/>
          </a:bodyPr>
          <a:lstStyle/>
          <a:p>
            <a:r>
              <a:rPr lang="ja-JP" altLang="en-US" sz="1400" dirty="0">
                <a:latin typeface="BIZ UDPゴシック" panose="020B0400000000000000" pitchFamily="50" charset="-128"/>
                <a:ea typeface="BIZ UDPゴシック" panose="020B0400000000000000" pitchFamily="50" charset="-128"/>
              </a:rPr>
              <a:t>弊社</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委託業務の遂行責任 および 報告責務</a:t>
            </a:r>
          </a:p>
        </p:txBody>
      </p:sp>
      <p:sp>
        <p:nvSpPr>
          <p:cNvPr id="15" name="テキスト ボックス 14">
            <a:extLst>
              <a:ext uri="{FF2B5EF4-FFF2-40B4-BE49-F238E27FC236}">
                <a16:creationId xmlns:a16="http://schemas.microsoft.com/office/drawing/2014/main" id="{476729B1-CD46-BD07-6036-5FFAD1E0CB14}"/>
              </a:ext>
            </a:extLst>
          </p:cNvPr>
          <p:cNvSpPr txBox="1"/>
          <p:nvPr/>
        </p:nvSpPr>
        <p:spPr>
          <a:xfrm>
            <a:off x="4680476" y="2140834"/>
            <a:ext cx="2077406" cy="215444"/>
          </a:xfrm>
          <a:prstGeom prst="rect">
            <a:avLst/>
          </a:prstGeom>
          <a:solidFill>
            <a:schemeClr val="tx2">
              <a:lumMod val="75000"/>
              <a:lumOff val="25000"/>
              <a:alpha val="40000"/>
            </a:schemeClr>
          </a:solidFill>
          <a:ln w="28575">
            <a:noFill/>
          </a:ln>
        </p:spPr>
        <p:txBody>
          <a:bodyPr wrap="square" lIns="0" tIns="0" rIns="0" bIns="0" rtlCol="0">
            <a:spAutoFit/>
          </a:bodyPr>
          <a:lstStyle/>
          <a:p>
            <a:pPr algn="ctr"/>
            <a:r>
              <a:rPr kumimoji="1" lang="ja-JP" altLang="en-US" sz="1400" dirty="0">
                <a:latin typeface="BIZ UDPゴシック" panose="020B0400000000000000" pitchFamily="50" charset="-128"/>
                <a:ea typeface="BIZ UDPゴシック" panose="020B0400000000000000" pitchFamily="50" charset="-128"/>
              </a:rPr>
              <a:t>プロジェクトオーナー</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F375E58F-1CC0-4C00-D121-4891900BB82E}"/>
              </a:ext>
            </a:extLst>
          </p:cNvPr>
          <p:cNvSpPr txBox="1"/>
          <p:nvPr/>
        </p:nvSpPr>
        <p:spPr>
          <a:xfrm>
            <a:off x="4680476" y="2355551"/>
            <a:ext cx="2077406" cy="215444"/>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C</a:t>
            </a:r>
            <a:r>
              <a:rPr lang="ja-JP" altLang="en-US" sz="1400" dirty="0">
                <a:latin typeface="BIZ UDPゴシック" panose="020B0400000000000000" pitchFamily="50" charset="-128"/>
                <a:ea typeface="BIZ UDPゴシック" panose="020B0400000000000000" pitchFamily="50" charset="-128"/>
              </a:rPr>
              <a:t>部長</a:t>
            </a:r>
            <a:endParaRPr lang="en-US" altLang="ja-JP" sz="1400"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EFEEB9C2-B968-627D-A211-7A14A8B8D175}"/>
              </a:ext>
            </a:extLst>
          </p:cNvPr>
          <p:cNvSpPr txBox="1"/>
          <p:nvPr/>
        </p:nvSpPr>
        <p:spPr>
          <a:xfrm>
            <a:off x="3471911" y="2637816"/>
            <a:ext cx="1107676" cy="369332"/>
          </a:xfrm>
          <a:prstGeom prst="rect">
            <a:avLst/>
          </a:prstGeom>
          <a:noFill/>
        </p:spPr>
        <p:txBody>
          <a:bodyPr wrap="non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PJ</a:t>
            </a:r>
            <a:r>
              <a:rPr lang="ja-JP" altLang="en-US" sz="1200" dirty="0">
                <a:latin typeface="BIZ UDPゴシック" panose="020B0400000000000000" pitchFamily="50" charset="-128"/>
                <a:ea typeface="BIZ UDPゴシック" panose="020B0400000000000000" pitchFamily="50" charset="-128"/>
              </a:rPr>
              <a:t>進行に関わる</a:t>
            </a:r>
            <a:endParaRPr lang="en-US" altLang="ja-JP" sz="1200" dirty="0">
              <a:latin typeface="BIZ UDPゴシック" panose="020B0400000000000000" pitchFamily="50" charset="-128"/>
              <a:ea typeface="BIZ UDPゴシック" panose="020B0400000000000000" pitchFamily="50" charset="-128"/>
            </a:endParaRPr>
          </a:p>
          <a:p>
            <a:r>
              <a:rPr lang="ja-JP" altLang="en-US" sz="1200" dirty="0">
                <a:latin typeface="BIZ UDPゴシック" panose="020B0400000000000000" pitchFamily="50" charset="-128"/>
                <a:ea typeface="BIZ UDPゴシック" panose="020B0400000000000000" pitchFamily="50" charset="-128"/>
              </a:rPr>
              <a:t>意思決定</a:t>
            </a:r>
          </a:p>
        </p:txBody>
      </p:sp>
      <p:sp>
        <p:nvSpPr>
          <p:cNvPr id="18" name="テキスト ボックス 17">
            <a:extLst>
              <a:ext uri="{FF2B5EF4-FFF2-40B4-BE49-F238E27FC236}">
                <a16:creationId xmlns:a16="http://schemas.microsoft.com/office/drawing/2014/main" id="{7B7424F4-37AE-F31E-C2D7-C934DE3FCA43}"/>
              </a:ext>
            </a:extLst>
          </p:cNvPr>
          <p:cNvSpPr txBox="1"/>
          <p:nvPr/>
        </p:nvSpPr>
        <p:spPr>
          <a:xfrm>
            <a:off x="6130347" y="4082322"/>
            <a:ext cx="1274388" cy="369332"/>
          </a:xfrm>
          <a:prstGeom prst="rect">
            <a:avLst/>
          </a:prstGeom>
          <a:noFill/>
        </p:spPr>
        <p:txBody>
          <a:bodyPr wrap="non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PJ</a:t>
            </a:r>
            <a:r>
              <a:rPr lang="ja-JP" altLang="en-US" sz="1200" dirty="0">
                <a:latin typeface="BIZ UDPゴシック" panose="020B0400000000000000" pitchFamily="50" charset="-128"/>
                <a:ea typeface="BIZ UDPゴシック" panose="020B0400000000000000" pitchFamily="50" charset="-128"/>
              </a:rPr>
              <a:t>計画の進行管理</a:t>
            </a:r>
            <a:endParaRPr lang="en-US" altLang="ja-JP" sz="1200" dirty="0">
              <a:latin typeface="BIZ UDPゴシック" panose="020B0400000000000000" pitchFamily="50" charset="-128"/>
              <a:ea typeface="BIZ UDPゴシック" panose="020B0400000000000000" pitchFamily="50" charset="-128"/>
            </a:endParaRPr>
          </a:p>
          <a:p>
            <a:r>
              <a:rPr lang="en-US" altLang="ja-JP" sz="1200" dirty="0">
                <a:latin typeface="BIZ UDPゴシック" panose="020B0400000000000000" pitchFamily="50" charset="-128"/>
                <a:ea typeface="BIZ UDPゴシック" panose="020B0400000000000000" pitchFamily="50" charset="-128"/>
              </a:rPr>
              <a:t>PJ</a:t>
            </a:r>
            <a:r>
              <a:rPr lang="ja-JP" altLang="en-US" sz="1200" dirty="0">
                <a:latin typeface="BIZ UDPゴシック" panose="020B0400000000000000" pitchFamily="50" charset="-128"/>
                <a:ea typeface="BIZ UDPゴシック" panose="020B0400000000000000" pitchFamily="50" charset="-128"/>
              </a:rPr>
              <a:t>進捗報告の責任</a:t>
            </a:r>
          </a:p>
        </p:txBody>
      </p:sp>
      <p:sp>
        <p:nvSpPr>
          <p:cNvPr id="19" name="テキスト ボックス 18">
            <a:extLst>
              <a:ext uri="{FF2B5EF4-FFF2-40B4-BE49-F238E27FC236}">
                <a16:creationId xmlns:a16="http://schemas.microsoft.com/office/drawing/2014/main" id="{600671F9-C31A-A466-00B9-5B2FB45E6C3D}"/>
              </a:ext>
            </a:extLst>
          </p:cNvPr>
          <p:cNvSpPr txBox="1"/>
          <p:nvPr/>
        </p:nvSpPr>
        <p:spPr>
          <a:xfrm>
            <a:off x="6130347" y="2602658"/>
            <a:ext cx="1461939"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契約・予算の執行責任</a:t>
            </a:r>
            <a:endParaRPr lang="en-US" altLang="ja-JP" sz="1200" dirty="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F17F8485-6DE6-C606-7FB8-6D9A3E8B76FA}"/>
              </a:ext>
            </a:extLst>
          </p:cNvPr>
          <p:cNvSpPr txBox="1"/>
          <p:nvPr/>
        </p:nvSpPr>
        <p:spPr>
          <a:xfrm>
            <a:off x="10223239" y="2791087"/>
            <a:ext cx="1077218"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人員確保の責任</a:t>
            </a:r>
            <a:endParaRPr lang="en-US" altLang="ja-JP" sz="1200" dirty="0">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3C95F60C-A818-598A-212D-73DF7579008E}"/>
              </a:ext>
            </a:extLst>
          </p:cNvPr>
          <p:cNvSpPr txBox="1"/>
          <p:nvPr/>
        </p:nvSpPr>
        <p:spPr>
          <a:xfrm>
            <a:off x="10181749" y="4397956"/>
            <a:ext cx="1538883" cy="369332"/>
          </a:xfrm>
          <a:prstGeom prst="rect">
            <a:avLst/>
          </a:prstGeom>
          <a:noFill/>
        </p:spPr>
        <p:txBody>
          <a:bodyPr wrap="none" lIns="0" tIns="0" rIns="0" bIns="0" rtlCol="0">
            <a:spAutoFit/>
          </a:bodyPr>
          <a:lstStyle/>
          <a:p>
            <a:r>
              <a:rPr lang="ja-JP" altLang="en-US" sz="1200" dirty="0">
                <a:latin typeface="メイリオ" panose="020B0604030504040204" pitchFamily="50" charset="-128"/>
                <a:ea typeface="メイリオ" panose="020B0604030504040204" pitchFamily="50" charset="-128"/>
              </a:rPr>
              <a:t>リーダーと現場の整合</a:t>
            </a:r>
            <a:endParaRPr lang="en-US" altLang="ja-JP" sz="1200" dirty="0">
              <a:latin typeface="メイリオ" panose="020B0604030504040204" pitchFamily="50" charset="-128"/>
              <a:ea typeface="メイリオ" panose="020B0604030504040204" pitchFamily="50" charset="-128"/>
            </a:endParaRPr>
          </a:p>
          <a:p>
            <a:r>
              <a:rPr lang="ja-JP" altLang="en-US" sz="1200" dirty="0">
                <a:latin typeface="メイリオ" panose="020B0604030504040204" pitchFamily="50" charset="-128"/>
                <a:ea typeface="メイリオ" panose="020B0604030504040204" pitchFamily="50" charset="-128"/>
              </a:rPr>
              <a:t>ギャップ解消</a:t>
            </a:r>
            <a:endParaRPr lang="en-US" altLang="ja-JP" sz="1200" dirty="0">
              <a:latin typeface="メイリオ" panose="020B0604030504040204" pitchFamily="50" charset="-128"/>
              <a:ea typeface="メイリオ" panose="020B0604030504040204" pitchFamily="50" charset="-128"/>
            </a:endParaRPr>
          </a:p>
        </p:txBody>
      </p:sp>
      <p:sp>
        <p:nvSpPr>
          <p:cNvPr id="22" name="テキスト ボックス 21">
            <a:extLst>
              <a:ext uri="{FF2B5EF4-FFF2-40B4-BE49-F238E27FC236}">
                <a16:creationId xmlns:a16="http://schemas.microsoft.com/office/drawing/2014/main" id="{5EE889FB-6A61-45E4-366A-8D3384D19BA1}"/>
              </a:ext>
            </a:extLst>
          </p:cNvPr>
          <p:cNvSpPr txBox="1"/>
          <p:nvPr/>
        </p:nvSpPr>
        <p:spPr>
          <a:xfrm>
            <a:off x="2627635" y="5831956"/>
            <a:ext cx="769441" cy="369332"/>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設計判断</a:t>
            </a:r>
            <a:endParaRPr lang="en-US" altLang="ja-JP" sz="1200" dirty="0">
              <a:latin typeface="BIZ UDPゴシック" panose="020B0400000000000000" pitchFamily="50" charset="-128"/>
              <a:ea typeface="BIZ UDPゴシック" panose="020B0400000000000000" pitchFamily="50" charset="-128"/>
            </a:endParaRPr>
          </a:p>
          <a:p>
            <a:r>
              <a:rPr lang="ja-JP" altLang="en-US" sz="1200" dirty="0">
                <a:latin typeface="BIZ UDPゴシック" panose="020B0400000000000000" pitchFamily="50" charset="-128"/>
                <a:ea typeface="BIZ UDPゴシック" panose="020B0400000000000000" pitchFamily="50" charset="-128"/>
              </a:rPr>
              <a:t>実現可能性</a:t>
            </a:r>
            <a:endParaRPr lang="en-US" altLang="ja-JP" sz="1200"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79BA1F63-98AE-AD4C-C155-A56AE4DDFE09}"/>
              </a:ext>
            </a:extLst>
          </p:cNvPr>
          <p:cNvSpPr txBox="1"/>
          <p:nvPr/>
        </p:nvSpPr>
        <p:spPr>
          <a:xfrm>
            <a:off x="5385989" y="5831956"/>
            <a:ext cx="615553" cy="369332"/>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効率改善</a:t>
            </a:r>
            <a:endParaRPr lang="en-US" altLang="ja-JP" sz="1200" dirty="0">
              <a:latin typeface="BIZ UDPゴシック" panose="020B0400000000000000" pitchFamily="50" charset="-128"/>
              <a:ea typeface="BIZ UDPゴシック" panose="020B0400000000000000" pitchFamily="50" charset="-128"/>
            </a:endParaRPr>
          </a:p>
          <a:p>
            <a:r>
              <a:rPr lang="ja-JP" altLang="en-US" sz="1200" dirty="0">
                <a:latin typeface="BIZ UDPゴシック" panose="020B0400000000000000" pitchFamily="50" charset="-128"/>
                <a:ea typeface="BIZ UDPゴシック" panose="020B0400000000000000" pitchFamily="50" charset="-128"/>
              </a:rPr>
              <a:t>品質担保</a:t>
            </a:r>
            <a:endParaRPr lang="en-US" altLang="ja-JP" sz="1200"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74B91E90-083B-EDCE-A1BC-9D2C7949BD2E}"/>
              </a:ext>
            </a:extLst>
          </p:cNvPr>
          <p:cNvSpPr txBox="1"/>
          <p:nvPr/>
        </p:nvSpPr>
        <p:spPr>
          <a:xfrm>
            <a:off x="7960330" y="5831956"/>
            <a:ext cx="1384995" cy="369332"/>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業務要件の意思決定</a:t>
            </a:r>
            <a:endParaRPr lang="en-US" altLang="ja-JP" sz="1200" dirty="0">
              <a:latin typeface="BIZ UDPゴシック" panose="020B0400000000000000" pitchFamily="50" charset="-128"/>
              <a:ea typeface="BIZ UDPゴシック" panose="020B0400000000000000" pitchFamily="50" charset="-128"/>
            </a:endParaRPr>
          </a:p>
          <a:p>
            <a:r>
              <a:rPr lang="ja-JP" altLang="en-US" sz="1200" dirty="0">
                <a:latin typeface="BIZ UDPゴシック" panose="020B0400000000000000" pitchFamily="50" charset="-128"/>
                <a:ea typeface="BIZ UDPゴシック" panose="020B0400000000000000" pitchFamily="50" charset="-128"/>
              </a:rPr>
              <a:t>要望窓口</a:t>
            </a:r>
            <a:endParaRPr lang="en-US" altLang="ja-JP" sz="1200" dirty="0">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B119DF04-1C2A-675E-0788-83C8722561D8}"/>
              </a:ext>
            </a:extLst>
          </p:cNvPr>
          <p:cNvSpPr txBox="1"/>
          <p:nvPr/>
        </p:nvSpPr>
        <p:spPr>
          <a:xfrm>
            <a:off x="9143046" y="2140834"/>
            <a:ext cx="2077406" cy="215444"/>
          </a:xfrm>
          <a:prstGeom prst="rect">
            <a:avLst/>
          </a:prstGeom>
          <a:solidFill>
            <a:schemeClr val="tx2">
              <a:lumMod val="75000"/>
              <a:lumOff val="25000"/>
              <a:alpha val="40000"/>
            </a:schemeClr>
          </a:solidFill>
          <a:ln w="28575">
            <a:noFill/>
          </a:ln>
        </p:spPr>
        <p:txBody>
          <a:bodyPr wrap="square" lIns="0" tIns="0" rIns="0" bIns="0" rtlCol="0">
            <a:spAutoFit/>
          </a:bodyPr>
          <a:lstStyle/>
          <a:p>
            <a:pPr algn="ctr"/>
            <a:r>
              <a:rPr kumimoji="1" lang="ja-JP" altLang="en-US" sz="1400" dirty="0">
                <a:latin typeface="BIZ UDPゴシック" panose="020B0400000000000000" pitchFamily="50" charset="-128"/>
                <a:ea typeface="BIZ UDPゴシック" panose="020B0400000000000000" pitchFamily="50" charset="-128"/>
              </a:rPr>
              <a:t>社内サポート</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260C31E1-0008-B660-DD2E-4D475D1AFC83}"/>
              </a:ext>
            </a:extLst>
          </p:cNvPr>
          <p:cNvSpPr txBox="1"/>
          <p:nvPr/>
        </p:nvSpPr>
        <p:spPr>
          <a:xfrm>
            <a:off x="9143046" y="2355551"/>
            <a:ext cx="2077406" cy="430887"/>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D</a:t>
            </a:r>
            <a:r>
              <a:rPr lang="ja-JP" altLang="en-US" sz="1400" dirty="0">
                <a:latin typeface="BIZ UDPゴシック" panose="020B0400000000000000" pitchFamily="50" charset="-128"/>
                <a:ea typeface="BIZ UDPゴシック" panose="020B0400000000000000" pitchFamily="50" charset="-128"/>
              </a:rPr>
              <a:t> 部長</a:t>
            </a:r>
            <a:endParaRPr lang="en-US" altLang="ja-JP" sz="1400" dirty="0">
              <a:latin typeface="BIZ UDPゴシック" panose="020B0400000000000000" pitchFamily="50" charset="-128"/>
              <a:ea typeface="BIZ UDPゴシック" panose="020B0400000000000000" pitchFamily="50" charset="-128"/>
            </a:endParaRPr>
          </a:p>
          <a:p>
            <a:pPr algn="ctr"/>
            <a:r>
              <a:rPr lang="en-US" altLang="ja-JP" sz="1400" dirty="0">
                <a:latin typeface="BIZ UDPゴシック" panose="020B0400000000000000" pitchFamily="50" charset="-128"/>
                <a:ea typeface="BIZ UDPゴシック" panose="020B0400000000000000" pitchFamily="50" charset="-128"/>
              </a:rPr>
              <a:t>E</a:t>
            </a:r>
            <a:r>
              <a:rPr lang="ja-JP" altLang="en-US" sz="1400" dirty="0">
                <a:latin typeface="BIZ UDPゴシック" panose="020B0400000000000000" pitchFamily="50" charset="-128"/>
                <a:ea typeface="BIZ UDPゴシック" panose="020B0400000000000000" pitchFamily="50" charset="-128"/>
              </a:rPr>
              <a:t> 課長</a:t>
            </a:r>
            <a:endParaRPr lang="en-US" altLang="ja-JP" sz="1400" dirty="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8E46C3DF-8679-E5FA-137E-EF52ADB528F7}"/>
              </a:ext>
            </a:extLst>
          </p:cNvPr>
          <p:cNvSpPr txBox="1"/>
          <p:nvPr/>
        </p:nvSpPr>
        <p:spPr>
          <a:xfrm>
            <a:off x="9143046" y="3637099"/>
            <a:ext cx="2077406" cy="215444"/>
          </a:xfrm>
          <a:prstGeom prst="rect">
            <a:avLst/>
          </a:prstGeom>
          <a:solidFill>
            <a:schemeClr val="tx2">
              <a:lumMod val="75000"/>
              <a:lumOff val="25000"/>
              <a:alpha val="40000"/>
            </a:schemeClr>
          </a:solidFill>
          <a:ln w="28575">
            <a:noFill/>
          </a:ln>
        </p:spPr>
        <p:txBody>
          <a:bodyPr wrap="square" lIns="0" tIns="0" rIns="0" bIns="0" rtlCol="0">
            <a:spAutoFit/>
          </a:bodyPr>
          <a:lstStyle/>
          <a:p>
            <a:pPr algn="ctr"/>
            <a:r>
              <a:rPr kumimoji="1" lang="ja-JP" altLang="en-US" sz="1400" dirty="0">
                <a:latin typeface="BIZ UDPゴシック" panose="020B0400000000000000" pitchFamily="50" charset="-128"/>
                <a:ea typeface="BIZ UDPゴシック" panose="020B0400000000000000" pitchFamily="50" charset="-128"/>
              </a:rPr>
              <a:t>マネジメント補佐</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4820771F-0D43-A7D8-3EEF-4545B7C0704A}"/>
              </a:ext>
            </a:extLst>
          </p:cNvPr>
          <p:cNvSpPr txBox="1"/>
          <p:nvPr/>
        </p:nvSpPr>
        <p:spPr>
          <a:xfrm>
            <a:off x="9143046" y="3851816"/>
            <a:ext cx="2077406" cy="430887"/>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G</a:t>
            </a:r>
            <a:r>
              <a:rPr lang="ja-JP" altLang="en-US" sz="1400" dirty="0">
                <a:latin typeface="BIZ UDPゴシック" panose="020B0400000000000000" pitchFamily="50" charset="-128"/>
                <a:ea typeface="BIZ UDPゴシック" panose="020B0400000000000000" pitchFamily="50" charset="-128"/>
              </a:rPr>
              <a:t>さん</a:t>
            </a:r>
            <a:endParaRPr lang="en-US" altLang="ja-JP" sz="1400" dirty="0">
              <a:latin typeface="BIZ UDPゴシック" panose="020B0400000000000000" pitchFamily="50" charset="-128"/>
              <a:ea typeface="BIZ UDPゴシック" panose="020B0400000000000000" pitchFamily="50" charset="-128"/>
            </a:endParaRPr>
          </a:p>
          <a:p>
            <a:pPr algn="ctr"/>
            <a:r>
              <a:rPr lang="en-US" altLang="ja-JP" sz="1400" dirty="0">
                <a:latin typeface="BIZ UDPゴシック" panose="020B0400000000000000" pitchFamily="50" charset="-128"/>
                <a:ea typeface="BIZ UDPゴシック" panose="020B0400000000000000" pitchFamily="50" charset="-128"/>
              </a:rPr>
              <a:t>H</a:t>
            </a:r>
            <a:r>
              <a:rPr lang="ja-JP" altLang="en-US" sz="1400" dirty="0">
                <a:latin typeface="BIZ UDPゴシック" panose="020B0400000000000000" pitchFamily="50" charset="-128"/>
                <a:ea typeface="BIZ UDPゴシック" panose="020B0400000000000000" pitchFamily="50" charset="-128"/>
              </a:rPr>
              <a:t>さん</a:t>
            </a:r>
            <a:endParaRPr lang="en-US" altLang="ja-JP" sz="1400" dirty="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42FAF023-FB09-9FDF-16A0-4D933F83607B}"/>
              </a:ext>
            </a:extLst>
          </p:cNvPr>
          <p:cNvSpPr txBox="1"/>
          <p:nvPr/>
        </p:nvSpPr>
        <p:spPr>
          <a:xfrm>
            <a:off x="4684113" y="3636342"/>
            <a:ext cx="2077406" cy="215444"/>
          </a:xfrm>
          <a:prstGeom prst="rect">
            <a:avLst/>
          </a:prstGeom>
          <a:solidFill>
            <a:schemeClr val="tx2">
              <a:lumMod val="75000"/>
              <a:lumOff val="25000"/>
              <a:alpha val="40000"/>
            </a:schemeClr>
          </a:solidFill>
          <a:ln w="28575">
            <a:noFill/>
          </a:ln>
        </p:spPr>
        <p:txBody>
          <a:bodyPr wrap="square" lIns="0" tIns="0" rIns="0" bIns="0" rtlCol="0">
            <a:spAutoFit/>
          </a:bodyPr>
          <a:lstStyle/>
          <a:p>
            <a:pPr algn="ctr"/>
            <a:r>
              <a:rPr kumimoji="1" lang="ja-JP" altLang="en-US" sz="1400" dirty="0">
                <a:latin typeface="BIZ UDPゴシック" panose="020B0400000000000000" pitchFamily="50" charset="-128"/>
                <a:ea typeface="BIZ UDPゴシック" panose="020B0400000000000000" pitchFamily="50" charset="-128"/>
              </a:rPr>
              <a:t>プロジェクトマネージャー</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077A3CBB-431B-619D-0915-AF04DE086900}"/>
              </a:ext>
            </a:extLst>
          </p:cNvPr>
          <p:cNvSpPr txBox="1"/>
          <p:nvPr/>
        </p:nvSpPr>
        <p:spPr>
          <a:xfrm>
            <a:off x="4684113" y="3851059"/>
            <a:ext cx="2077406" cy="215444"/>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F</a:t>
            </a:r>
            <a:r>
              <a:rPr lang="ja-JP" altLang="en-US" sz="1400" dirty="0">
                <a:latin typeface="BIZ UDPゴシック" panose="020B0400000000000000" pitchFamily="50" charset="-128"/>
                <a:ea typeface="BIZ UDPゴシック" panose="020B0400000000000000" pitchFamily="50" charset="-128"/>
              </a:rPr>
              <a:t>さん</a:t>
            </a:r>
            <a:endParaRPr lang="en-US" altLang="ja-JP" sz="1400" dirty="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791F4DFE-E3D6-318C-D947-D68BC438B072}"/>
              </a:ext>
            </a:extLst>
          </p:cNvPr>
          <p:cNvSpPr txBox="1"/>
          <p:nvPr/>
        </p:nvSpPr>
        <p:spPr>
          <a:xfrm>
            <a:off x="4679828" y="5131397"/>
            <a:ext cx="2077406" cy="215444"/>
          </a:xfrm>
          <a:prstGeom prst="rect">
            <a:avLst/>
          </a:prstGeom>
          <a:solidFill>
            <a:schemeClr val="tx2">
              <a:lumMod val="75000"/>
              <a:lumOff val="25000"/>
              <a:alpha val="40000"/>
            </a:schemeClr>
          </a:solidFill>
          <a:ln w="28575">
            <a:noFill/>
          </a:ln>
        </p:spPr>
        <p:txBody>
          <a:bodyPr wrap="square" lIns="0" tIns="0" rIns="0" bIns="0" rtlCol="0">
            <a:spAutoFit/>
          </a:bodyPr>
          <a:lstStyle/>
          <a:p>
            <a:pPr algn="ctr"/>
            <a:r>
              <a:rPr kumimoji="1" lang="ja-JP" altLang="en-US" sz="1400" dirty="0">
                <a:latin typeface="BIZ UDPゴシック" panose="020B0400000000000000" pitchFamily="50" charset="-128"/>
                <a:ea typeface="BIZ UDPゴシック" panose="020B0400000000000000" pitchFamily="50" charset="-128"/>
              </a:rPr>
              <a:t>開発チーム</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32" name="テキスト ボックス 31">
            <a:extLst>
              <a:ext uri="{FF2B5EF4-FFF2-40B4-BE49-F238E27FC236}">
                <a16:creationId xmlns:a16="http://schemas.microsoft.com/office/drawing/2014/main" id="{98E339BD-18E6-A408-F669-501C3A46E4F8}"/>
              </a:ext>
            </a:extLst>
          </p:cNvPr>
          <p:cNvSpPr txBox="1"/>
          <p:nvPr/>
        </p:nvSpPr>
        <p:spPr>
          <a:xfrm>
            <a:off x="4679828" y="5346114"/>
            <a:ext cx="2077406" cy="215444"/>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F</a:t>
            </a:r>
            <a:r>
              <a:rPr lang="ja-JP" altLang="en-US" sz="1400" dirty="0">
                <a:latin typeface="BIZ UDPゴシック" panose="020B0400000000000000" pitchFamily="50" charset="-128"/>
                <a:ea typeface="BIZ UDPゴシック" panose="020B0400000000000000" pitchFamily="50" charset="-128"/>
              </a:rPr>
              <a:t>さん</a:t>
            </a:r>
            <a:endParaRPr lang="en-US" altLang="ja-JP" sz="1400" dirty="0">
              <a:latin typeface="BIZ UDPゴシック" panose="020B0400000000000000" pitchFamily="50" charset="-128"/>
              <a:ea typeface="BIZ UDPゴシック" panose="020B0400000000000000" pitchFamily="50" charset="-128"/>
            </a:endParaRPr>
          </a:p>
        </p:txBody>
      </p:sp>
      <p:sp>
        <p:nvSpPr>
          <p:cNvPr id="33" name="テキスト ボックス 32">
            <a:extLst>
              <a:ext uri="{FF2B5EF4-FFF2-40B4-BE49-F238E27FC236}">
                <a16:creationId xmlns:a16="http://schemas.microsoft.com/office/drawing/2014/main" id="{87B558CE-914D-F151-BEAC-B342D055CC3B}"/>
              </a:ext>
            </a:extLst>
          </p:cNvPr>
          <p:cNvSpPr txBox="1"/>
          <p:nvPr/>
        </p:nvSpPr>
        <p:spPr>
          <a:xfrm>
            <a:off x="2244899" y="5131397"/>
            <a:ext cx="2077406" cy="215444"/>
          </a:xfrm>
          <a:prstGeom prst="rect">
            <a:avLst/>
          </a:prstGeom>
          <a:solidFill>
            <a:schemeClr val="tx2">
              <a:lumMod val="75000"/>
              <a:lumOff val="25000"/>
              <a:alpha val="40000"/>
            </a:schemeClr>
          </a:solidFill>
          <a:ln w="28575">
            <a:noFill/>
          </a:ln>
        </p:spPr>
        <p:txBody>
          <a:bodyPr wrap="square" lIns="0" tIns="0" rIns="0" bIns="0" rtlCol="0">
            <a:spAutoFit/>
          </a:bodyPr>
          <a:lstStyle/>
          <a:p>
            <a:pPr algn="ctr"/>
            <a:r>
              <a:rPr kumimoji="1" lang="ja-JP" altLang="en-US" sz="1400" dirty="0">
                <a:latin typeface="BIZ UDPゴシック" panose="020B0400000000000000" pitchFamily="50" charset="-128"/>
                <a:ea typeface="BIZ UDPゴシック" panose="020B0400000000000000" pitchFamily="50" charset="-128"/>
              </a:rPr>
              <a:t>テスト</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ツールチーム</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9B9EA90C-21D1-12C4-CD3A-4BFD04AF1474}"/>
              </a:ext>
            </a:extLst>
          </p:cNvPr>
          <p:cNvSpPr txBox="1"/>
          <p:nvPr/>
        </p:nvSpPr>
        <p:spPr>
          <a:xfrm>
            <a:off x="2244899" y="5346114"/>
            <a:ext cx="2077406" cy="215444"/>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F</a:t>
            </a:r>
            <a:r>
              <a:rPr lang="ja-JP" altLang="en-US" sz="1400" dirty="0">
                <a:latin typeface="BIZ UDPゴシック" panose="020B0400000000000000" pitchFamily="50" charset="-128"/>
                <a:ea typeface="BIZ UDPゴシック" panose="020B0400000000000000" pitchFamily="50" charset="-128"/>
              </a:rPr>
              <a:t>さん</a:t>
            </a:r>
            <a:endParaRPr lang="en-US" altLang="ja-JP" sz="1400" dirty="0">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582528FC-B991-192B-0076-26D7927B7C4D}"/>
              </a:ext>
            </a:extLst>
          </p:cNvPr>
          <p:cNvSpPr txBox="1"/>
          <p:nvPr/>
        </p:nvSpPr>
        <p:spPr>
          <a:xfrm>
            <a:off x="7502848" y="5131397"/>
            <a:ext cx="2077406" cy="215444"/>
          </a:xfrm>
          <a:prstGeom prst="rect">
            <a:avLst/>
          </a:prstGeom>
          <a:solidFill>
            <a:schemeClr val="tx2">
              <a:lumMod val="75000"/>
              <a:lumOff val="25000"/>
              <a:alpha val="40000"/>
            </a:schemeClr>
          </a:solidFill>
          <a:ln w="28575">
            <a:noFill/>
          </a:ln>
        </p:spPr>
        <p:txBody>
          <a:bodyPr wrap="square" lIns="0" tIns="0" rIns="0" bIns="0" rtlCol="0">
            <a:spAutoFit/>
          </a:bodyPr>
          <a:lstStyle/>
          <a:p>
            <a:pPr algn="ctr"/>
            <a:r>
              <a:rPr kumimoji="1" lang="ja-JP" altLang="en-US" sz="1400" dirty="0">
                <a:latin typeface="BIZ UDPゴシック" panose="020B0400000000000000" pitchFamily="50" charset="-128"/>
                <a:ea typeface="BIZ UDPゴシック" panose="020B0400000000000000" pitchFamily="50" charset="-128"/>
              </a:rPr>
              <a:t>運用チーム</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E74BC785-8D8B-9337-6BEB-62246056C595}"/>
              </a:ext>
            </a:extLst>
          </p:cNvPr>
          <p:cNvSpPr txBox="1"/>
          <p:nvPr/>
        </p:nvSpPr>
        <p:spPr>
          <a:xfrm>
            <a:off x="7502848" y="5346114"/>
            <a:ext cx="2077406" cy="215444"/>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F</a:t>
            </a:r>
            <a:r>
              <a:rPr lang="ja-JP" altLang="en-US" sz="1400" dirty="0">
                <a:latin typeface="BIZ UDPゴシック" panose="020B0400000000000000" pitchFamily="50" charset="-128"/>
                <a:ea typeface="BIZ UDPゴシック" panose="020B0400000000000000" pitchFamily="50" charset="-128"/>
              </a:rPr>
              <a:t>さん</a:t>
            </a:r>
            <a:endParaRPr lang="en-US" altLang="ja-JP" sz="1400" dirty="0">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FB95BF55-6D69-EE65-443E-D0F6B077F009}"/>
              </a:ext>
            </a:extLst>
          </p:cNvPr>
          <p:cNvSpPr txBox="1"/>
          <p:nvPr/>
        </p:nvSpPr>
        <p:spPr>
          <a:xfrm>
            <a:off x="1895003" y="2154752"/>
            <a:ext cx="1558947" cy="215444"/>
          </a:xfrm>
          <a:prstGeom prst="rect">
            <a:avLst/>
          </a:prstGeom>
          <a:solidFill>
            <a:schemeClr val="accent6">
              <a:lumMod val="75000"/>
              <a:alpha val="40000"/>
            </a:schemeClr>
          </a:solidFill>
          <a:ln w="28575">
            <a:noFill/>
          </a:ln>
        </p:spPr>
        <p:txBody>
          <a:bodyPr wrap="square" lIns="0" tIns="0" rIns="0" bIns="0" rtlCol="0">
            <a:spAutoFit/>
          </a:bodyPr>
          <a:lstStyle/>
          <a:p>
            <a:pPr algn="ctr"/>
            <a:r>
              <a:rPr kumimoji="1" lang="ja-JP" altLang="en-US" sz="1400" dirty="0">
                <a:latin typeface="BIZ UDPゴシック" panose="020B0400000000000000" pitchFamily="50" charset="-128"/>
                <a:ea typeface="BIZ UDPゴシック" panose="020B0400000000000000" pitchFamily="50" charset="-128"/>
              </a:rPr>
              <a:t>ステコミ</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29EE986F-2F70-769D-31F4-3732324B9675}"/>
              </a:ext>
            </a:extLst>
          </p:cNvPr>
          <p:cNvSpPr txBox="1"/>
          <p:nvPr/>
        </p:nvSpPr>
        <p:spPr>
          <a:xfrm>
            <a:off x="1895003" y="2369469"/>
            <a:ext cx="1558947" cy="430887"/>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A</a:t>
            </a:r>
            <a:r>
              <a:rPr lang="ja-JP" altLang="en-US" sz="1400" dirty="0">
                <a:latin typeface="BIZ UDPゴシック" panose="020B0400000000000000" pitchFamily="50" charset="-128"/>
                <a:ea typeface="BIZ UDPゴシック" panose="020B0400000000000000" pitchFamily="50" charset="-128"/>
              </a:rPr>
              <a:t>部長</a:t>
            </a:r>
            <a:endParaRPr lang="en-US" altLang="ja-JP" sz="1400" dirty="0">
              <a:latin typeface="BIZ UDPゴシック" panose="020B0400000000000000" pitchFamily="50" charset="-128"/>
              <a:ea typeface="BIZ UDPゴシック" panose="020B0400000000000000" pitchFamily="50" charset="-128"/>
            </a:endParaRPr>
          </a:p>
          <a:p>
            <a:pPr algn="ctr"/>
            <a:r>
              <a:rPr lang="en-US" altLang="ja-JP" sz="1400" dirty="0">
                <a:latin typeface="BIZ UDPゴシック" panose="020B0400000000000000" pitchFamily="50" charset="-128"/>
                <a:ea typeface="BIZ UDPゴシック" panose="020B0400000000000000" pitchFamily="50" charset="-128"/>
              </a:rPr>
              <a:t>B</a:t>
            </a:r>
            <a:r>
              <a:rPr lang="ja-JP" altLang="en-US" sz="1400" dirty="0">
                <a:latin typeface="BIZ UDPゴシック" panose="020B0400000000000000" pitchFamily="50" charset="-128"/>
                <a:ea typeface="BIZ UDPゴシック" panose="020B0400000000000000" pitchFamily="50" charset="-128"/>
              </a:rPr>
              <a:t>係長</a:t>
            </a:r>
            <a:endParaRPr lang="en-US" altLang="ja-JP" sz="1400" dirty="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87D0C5E9-B754-F3C8-7A3F-45575F3BCEB8}"/>
              </a:ext>
            </a:extLst>
          </p:cNvPr>
          <p:cNvSpPr txBox="1"/>
          <p:nvPr/>
        </p:nvSpPr>
        <p:spPr>
          <a:xfrm>
            <a:off x="1895003" y="3458777"/>
            <a:ext cx="1558947" cy="215444"/>
          </a:xfrm>
          <a:prstGeom prst="rect">
            <a:avLst/>
          </a:prstGeom>
          <a:solidFill>
            <a:schemeClr val="accent6">
              <a:lumMod val="75000"/>
              <a:alpha val="40000"/>
            </a:schemeClr>
          </a:solidFill>
          <a:ln w="28575">
            <a:noFill/>
          </a:ln>
        </p:spPr>
        <p:txBody>
          <a:bodyPr wrap="square" lIns="0" tIns="0" rIns="0" bIns="0" rtlCol="0">
            <a:spAutoFit/>
          </a:bodyPr>
          <a:lstStyle/>
          <a:p>
            <a:pPr algn="ctr"/>
            <a:r>
              <a:rPr kumimoji="1" lang="en-US" altLang="ja-JP" sz="1400" dirty="0" err="1">
                <a:latin typeface="BIZ UDPゴシック" panose="020B0400000000000000" pitchFamily="50" charset="-128"/>
                <a:ea typeface="BIZ UDPゴシック" panose="020B0400000000000000" pitchFamily="50" charset="-128"/>
              </a:rPr>
              <a:t>hoge</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BEA60EAB-A69F-92CC-B8A6-C444B8CAB847}"/>
              </a:ext>
            </a:extLst>
          </p:cNvPr>
          <p:cNvSpPr txBox="1"/>
          <p:nvPr/>
        </p:nvSpPr>
        <p:spPr>
          <a:xfrm>
            <a:off x="1895003" y="3673494"/>
            <a:ext cx="1558947" cy="215444"/>
          </a:xfrm>
          <a:prstGeom prst="rect">
            <a:avLst/>
          </a:prstGeom>
          <a:solidFill>
            <a:schemeClr val="bg1"/>
          </a:solidFill>
          <a:ln w="28575">
            <a:noFill/>
          </a:ln>
        </p:spPr>
        <p:txBody>
          <a:bodyPr wrap="square" lIns="0" tIns="0" rIns="0" bIns="0" rtlCol="0" anchor="t" anchorCtr="0">
            <a:spAutoFit/>
          </a:bodyPr>
          <a:lstStyle/>
          <a:p>
            <a:pPr algn="ctr"/>
            <a:r>
              <a:rPr lang="en-US" altLang="ja-JP" sz="1400" dirty="0">
                <a:latin typeface="BIZ UDPゴシック" panose="020B0400000000000000" pitchFamily="50" charset="-128"/>
                <a:ea typeface="BIZ UDPゴシック" panose="020B0400000000000000" pitchFamily="50" charset="-128"/>
              </a:rPr>
              <a:t>C</a:t>
            </a:r>
            <a:r>
              <a:rPr lang="ja-JP" altLang="en-US" sz="1400" dirty="0">
                <a:latin typeface="BIZ UDPゴシック" panose="020B0400000000000000" pitchFamily="50" charset="-128"/>
                <a:ea typeface="BIZ UDPゴシック" panose="020B0400000000000000" pitchFamily="50" charset="-128"/>
              </a:rPr>
              <a:t>係長</a:t>
            </a:r>
            <a:endParaRPr lang="en-US" altLang="ja-JP" sz="1400" dirty="0">
              <a:latin typeface="BIZ UDPゴシック" panose="020B0400000000000000" pitchFamily="50" charset="-128"/>
              <a:ea typeface="BIZ UDPゴシック" panose="020B0400000000000000" pitchFamily="50" charset="-128"/>
            </a:endParaRPr>
          </a:p>
        </p:txBody>
      </p:sp>
      <p:cxnSp>
        <p:nvCxnSpPr>
          <p:cNvPr id="41" name="直線コネクタ 40">
            <a:extLst>
              <a:ext uri="{FF2B5EF4-FFF2-40B4-BE49-F238E27FC236}">
                <a16:creationId xmlns:a16="http://schemas.microsoft.com/office/drawing/2014/main" id="{3CD5DFF4-1EA4-1E2A-166E-C8FAFE2D48E1}"/>
              </a:ext>
            </a:extLst>
          </p:cNvPr>
          <p:cNvCxnSpPr>
            <a:cxnSpLocks/>
          </p:cNvCxnSpPr>
          <p:nvPr/>
        </p:nvCxnSpPr>
        <p:spPr>
          <a:xfrm>
            <a:off x="360000" y="2029902"/>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E36EDE93-BCB7-6D78-1468-F59F499A7C8D}"/>
              </a:ext>
            </a:extLst>
          </p:cNvPr>
          <p:cNvCxnSpPr>
            <a:cxnSpLocks/>
          </p:cNvCxnSpPr>
          <p:nvPr/>
        </p:nvCxnSpPr>
        <p:spPr>
          <a:xfrm>
            <a:off x="360000" y="3275985"/>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5AF18E6-9699-A746-D66C-A2EF9E51174F}"/>
              </a:ext>
            </a:extLst>
          </p:cNvPr>
          <p:cNvCxnSpPr>
            <a:cxnSpLocks/>
          </p:cNvCxnSpPr>
          <p:nvPr/>
        </p:nvCxnSpPr>
        <p:spPr>
          <a:xfrm>
            <a:off x="360000" y="4991278"/>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7699002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77B9DD-14C1-7C8F-8438-1E4E1ACDB65F}"/>
              </a:ext>
            </a:extLst>
          </p:cNvPr>
          <p:cNvSpPr>
            <a:spLocks noGrp="1"/>
          </p:cNvSpPr>
          <p:nvPr>
            <p:ph type="title"/>
          </p:nvPr>
        </p:nvSpPr>
        <p:spPr/>
        <p:txBody>
          <a:bodyPr/>
          <a:lstStyle/>
          <a:p>
            <a:r>
              <a:rPr lang="ja-JP" altLang="en-US" dirty="0"/>
              <a:t>コミュニケーションルール</a:t>
            </a:r>
            <a:endParaRPr kumimoji="1" lang="ja-JP" altLang="en-US" dirty="0"/>
          </a:p>
        </p:txBody>
      </p:sp>
      <p:sp>
        <p:nvSpPr>
          <p:cNvPr id="3" name="フッター プレースホルダー 2">
            <a:extLst>
              <a:ext uri="{FF2B5EF4-FFF2-40B4-BE49-F238E27FC236}">
                <a16:creationId xmlns:a16="http://schemas.microsoft.com/office/drawing/2014/main" id="{EA52D248-7E06-7683-183E-C345CB1ACB4D}"/>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BBBF15D8-B9D5-EEAB-81BC-D9052DB26281}"/>
              </a:ext>
            </a:extLst>
          </p:cNvPr>
          <p:cNvSpPr>
            <a:spLocks noGrp="1"/>
          </p:cNvSpPr>
          <p:nvPr>
            <p:ph type="sldNum" sz="quarter" idx="12"/>
          </p:nvPr>
        </p:nvSpPr>
        <p:spPr/>
        <p:txBody>
          <a:bodyPr/>
          <a:lstStyle/>
          <a:p>
            <a:fld id="{DCB5AA93-092B-49A1-87A7-3C88D5F38AD7}" type="slidenum">
              <a:rPr lang="ja-JP" altLang="en-US" smtClean="0"/>
              <a:pPr/>
              <a:t>25</a:t>
            </a:fld>
            <a:endParaRPr lang="ja-JP" altLang="en-US" sz="900" dirty="0"/>
          </a:p>
        </p:txBody>
      </p:sp>
      <p:sp>
        <p:nvSpPr>
          <p:cNvPr id="5" name="テキスト プレースホルダー 4">
            <a:extLst>
              <a:ext uri="{FF2B5EF4-FFF2-40B4-BE49-F238E27FC236}">
                <a16:creationId xmlns:a16="http://schemas.microsoft.com/office/drawing/2014/main" id="{4C8CA596-9BCA-9BD7-3D73-5C31F5135E1D}"/>
              </a:ext>
            </a:extLst>
          </p:cNvPr>
          <p:cNvSpPr>
            <a:spLocks noGrp="1"/>
          </p:cNvSpPr>
          <p:nvPr>
            <p:ph type="body" sz="quarter" idx="13"/>
          </p:nvPr>
        </p:nvSpPr>
        <p:spPr/>
        <p:txBody>
          <a:bodyPr/>
          <a:lstStyle/>
          <a:p>
            <a:endParaRPr kumimoji="1" lang="ja-JP" altLang="en-US"/>
          </a:p>
        </p:txBody>
      </p:sp>
      <p:graphicFrame>
        <p:nvGraphicFramePr>
          <p:cNvPr id="6" name="表 5">
            <a:extLst>
              <a:ext uri="{FF2B5EF4-FFF2-40B4-BE49-F238E27FC236}">
                <a16:creationId xmlns:a16="http://schemas.microsoft.com/office/drawing/2014/main" id="{A4D1A672-AFDC-C733-5E51-BE09CA5249E3}"/>
              </a:ext>
            </a:extLst>
          </p:cNvPr>
          <p:cNvGraphicFramePr>
            <a:graphicFrameLocks noGrp="1"/>
          </p:cNvGraphicFramePr>
          <p:nvPr>
            <p:extLst>
              <p:ext uri="{D42A27DB-BD31-4B8C-83A1-F6EECF244321}">
                <p14:modId xmlns:p14="http://schemas.microsoft.com/office/powerpoint/2010/main" val="2603555702"/>
              </p:ext>
            </p:extLst>
          </p:nvPr>
        </p:nvGraphicFramePr>
        <p:xfrm>
          <a:off x="334963" y="1268413"/>
          <a:ext cx="11522074" cy="3941688"/>
        </p:xfrm>
        <a:graphic>
          <a:graphicData uri="http://schemas.openxmlformats.org/drawingml/2006/table">
            <a:tbl>
              <a:tblPr firstRow="1" bandRow="1">
                <a:tableStyleId>{5C22544A-7EE6-4342-B048-85BDC9FD1C3A}</a:tableStyleId>
              </a:tblPr>
              <a:tblGrid>
                <a:gridCol w="428718">
                  <a:extLst>
                    <a:ext uri="{9D8B030D-6E8A-4147-A177-3AD203B41FA5}">
                      <a16:colId xmlns:a16="http://schemas.microsoft.com/office/drawing/2014/main" val="279041293"/>
                    </a:ext>
                  </a:extLst>
                </a:gridCol>
                <a:gridCol w="1717568">
                  <a:extLst>
                    <a:ext uri="{9D8B030D-6E8A-4147-A177-3AD203B41FA5}">
                      <a16:colId xmlns:a16="http://schemas.microsoft.com/office/drawing/2014/main" val="1769139613"/>
                    </a:ext>
                  </a:extLst>
                </a:gridCol>
                <a:gridCol w="2104862">
                  <a:extLst>
                    <a:ext uri="{9D8B030D-6E8A-4147-A177-3AD203B41FA5}">
                      <a16:colId xmlns:a16="http://schemas.microsoft.com/office/drawing/2014/main" val="2390303899"/>
                    </a:ext>
                  </a:extLst>
                </a:gridCol>
                <a:gridCol w="1742826">
                  <a:extLst>
                    <a:ext uri="{9D8B030D-6E8A-4147-A177-3AD203B41FA5}">
                      <a16:colId xmlns:a16="http://schemas.microsoft.com/office/drawing/2014/main" val="4223384442"/>
                    </a:ext>
                  </a:extLst>
                </a:gridCol>
                <a:gridCol w="2201363">
                  <a:extLst>
                    <a:ext uri="{9D8B030D-6E8A-4147-A177-3AD203B41FA5}">
                      <a16:colId xmlns:a16="http://schemas.microsoft.com/office/drawing/2014/main" val="1379525383"/>
                    </a:ext>
                  </a:extLst>
                </a:gridCol>
                <a:gridCol w="1639067">
                  <a:extLst>
                    <a:ext uri="{9D8B030D-6E8A-4147-A177-3AD203B41FA5}">
                      <a16:colId xmlns:a16="http://schemas.microsoft.com/office/drawing/2014/main" val="411652451"/>
                    </a:ext>
                  </a:extLst>
                </a:gridCol>
                <a:gridCol w="1687670">
                  <a:extLst>
                    <a:ext uri="{9D8B030D-6E8A-4147-A177-3AD203B41FA5}">
                      <a16:colId xmlns:a16="http://schemas.microsoft.com/office/drawing/2014/main" val="3439538324"/>
                    </a:ext>
                  </a:extLst>
                </a:gridCol>
              </a:tblGrid>
              <a:tr h="324924">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会議体名</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主な議題</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日時</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参加者</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必要資料</a:t>
                      </a:r>
                      <a:r>
                        <a:rPr kumimoji="1" lang="en-US" altLang="ja-JP" sz="1200" dirty="0">
                          <a:solidFill>
                            <a:schemeClr val="bg1"/>
                          </a:solidFill>
                          <a:latin typeface="BIZ UDPゴシック" panose="020B0400000000000000" pitchFamily="50" charset="-128"/>
                          <a:ea typeface="BIZ UDPゴシック" panose="020B0400000000000000" pitchFamily="50" charset="-128"/>
                        </a:rPr>
                        <a:t>/</a:t>
                      </a:r>
                      <a:r>
                        <a:rPr kumimoji="1" lang="ja-JP" altLang="en-US" sz="1200" dirty="0">
                          <a:solidFill>
                            <a:schemeClr val="bg1"/>
                          </a:solidFill>
                          <a:latin typeface="BIZ UDPゴシック" panose="020B0400000000000000" pitchFamily="50" charset="-128"/>
                          <a:ea typeface="BIZ UDPゴシック" panose="020B0400000000000000" pitchFamily="50" charset="-128"/>
                        </a:rPr>
                        <a:t>進行役</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成果物</a:t>
                      </a:r>
                    </a:p>
                  </a:txBody>
                  <a:tcPr>
                    <a:solidFill>
                      <a:schemeClr val="tx2">
                        <a:lumMod val="75000"/>
                        <a:lumOff val="25000"/>
                      </a:schemeClr>
                    </a:solidFill>
                  </a:tcPr>
                </a:tc>
                <a:extLst>
                  <a:ext uri="{0D108BD9-81ED-4DB2-BD59-A6C34878D82A}">
                    <a16:rowId xmlns:a16="http://schemas.microsoft.com/office/drawing/2014/main" val="1515397185"/>
                  </a:ext>
                </a:extLst>
              </a:tr>
              <a:tr h="438891">
                <a:tc>
                  <a:txBody>
                    <a:bodyPr/>
                    <a:lstStyle/>
                    <a:p>
                      <a:r>
                        <a:rPr kumimoji="1" lang="en-US" altLang="ja-JP" sz="1200" dirty="0">
                          <a:latin typeface="BIZ UDPゴシック" panose="020B0400000000000000" pitchFamily="50" charset="-128"/>
                          <a:ea typeface="BIZ UDPゴシック" panose="020B0400000000000000" pitchFamily="50" charset="-128"/>
                        </a:rPr>
                        <a:t>1</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プロジェクトキックオフ</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メンバーに対する計画の共有</a:t>
                      </a:r>
                    </a:p>
                  </a:txBody>
                  <a:tcPr>
                    <a:solidFill>
                      <a:schemeClr val="bg1">
                        <a:lumMod val="95000"/>
                      </a:schemeClr>
                    </a:solidFill>
                  </a:tcPr>
                </a:tc>
                <a:tc>
                  <a:txBody>
                    <a:bodyPr/>
                    <a:lstStyle/>
                    <a:p>
                      <a:r>
                        <a:rPr kumimoji="1" lang="en-US" altLang="ja-JP" sz="1200" dirty="0">
                          <a:latin typeface="BIZ UDPゴシック" panose="020B0400000000000000" pitchFamily="50" charset="-128"/>
                          <a:ea typeface="BIZ UDPゴシック" panose="020B0400000000000000" pitchFamily="50" charset="-128"/>
                        </a:rPr>
                        <a:t>2025/10/xx 1.0h</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Ｈｈ</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計画書</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議事録</a:t>
                      </a:r>
                    </a:p>
                  </a:txBody>
                  <a:tcPr>
                    <a:solidFill>
                      <a:schemeClr val="bg1">
                        <a:lumMod val="95000"/>
                      </a:schemeClr>
                    </a:solidFill>
                  </a:tcPr>
                </a:tc>
                <a:extLst>
                  <a:ext uri="{0D108BD9-81ED-4DB2-BD59-A6C34878D82A}">
                    <a16:rowId xmlns:a16="http://schemas.microsoft.com/office/drawing/2014/main" val="1031105590"/>
                  </a:ext>
                </a:extLst>
              </a:tr>
              <a:tr h="614447">
                <a:tc>
                  <a:txBody>
                    <a:bodyPr/>
                    <a:lstStyle/>
                    <a:p>
                      <a:r>
                        <a:rPr kumimoji="1" lang="en-US" altLang="ja-JP" sz="1200" dirty="0">
                          <a:latin typeface="BIZ UDPゴシック" panose="020B0400000000000000" pitchFamily="50" charset="-128"/>
                          <a:ea typeface="BIZ UDPゴシック" panose="020B0400000000000000" pitchFamily="50" charset="-128"/>
                        </a:rPr>
                        <a:t>2</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ステコミ</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進行状況の報告</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月初 </a:t>
                      </a:r>
                      <a:r>
                        <a:rPr kumimoji="1" lang="en-US" altLang="ja-JP" sz="1200" dirty="0">
                          <a:latin typeface="BIZ UDPゴシック" panose="020B0400000000000000" pitchFamily="50" charset="-128"/>
                          <a:ea typeface="BIZ UDPゴシック" panose="020B0400000000000000" pitchFamily="50" charset="-128"/>
                        </a:rPr>
                        <a:t>1.0h</a:t>
                      </a:r>
                    </a:p>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顧客 </a:t>
                      </a:r>
                      <a:r>
                        <a:rPr kumimoji="1" lang="en-US" altLang="ja-JP" sz="1200" dirty="0">
                          <a:latin typeface="BIZ UDPゴシック" panose="020B0400000000000000" pitchFamily="50" charset="-128"/>
                          <a:ea typeface="BIZ UDPゴシック" panose="020B0400000000000000" pitchFamily="50" charset="-128"/>
                        </a:rPr>
                        <a:t>A</a:t>
                      </a:r>
                      <a:r>
                        <a:rPr kumimoji="1" lang="ja-JP" altLang="en-US" sz="1200" dirty="0">
                          <a:latin typeface="BIZ UDPゴシック" panose="020B0400000000000000" pitchFamily="50" charset="-128"/>
                          <a:ea typeface="BIZ UDPゴシック" panose="020B0400000000000000" pitchFamily="50" charset="-128"/>
                        </a:rPr>
                        <a:t>部長</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プロジェクトオーナー</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プロジェクトリーダー</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スケジュール表</a:t>
                      </a:r>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議事録</a:t>
                      </a:r>
                    </a:p>
                  </a:txBody>
                  <a:tcPr>
                    <a:solidFill>
                      <a:schemeClr val="bg1">
                        <a:lumMod val="95000"/>
                      </a:schemeClr>
                    </a:solidFill>
                  </a:tcPr>
                </a:tc>
                <a:extLst>
                  <a:ext uri="{0D108BD9-81ED-4DB2-BD59-A6C34878D82A}">
                    <a16:rowId xmlns:a16="http://schemas.microsoft.com/office/drawing/2014/main" val="2247178784"/>
                  </a:ext>
                </a:extLst>
              </a:tr>
              <a:tr h="438891">
                <a:tc>
                  <a:txBody>
                    <a:bodyPr/>
                    <a:lstStyle/>
                    <a:p>
                      <a:r>
                        <a:rPr kumimoji="1" lang="en-US" altLang="ja-JP" sz="1200" dirty="0">
                          <a:latin typeface="BIZ UDPゴシック" panose="020B0400000000000000" pitchFamily="50" charset="-128"/>
                          <a:ea typeface="BIZ UDPゴシック" panose="020B0400000000000000" pitchFamily="50" charset="-128"/>
                        </a:rPr>
                        <a:t>3</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顧客定例</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毎週 </a:t>
                      </a:r>
                      <a:r>
                        <a:rPr kumimoji="1" lang="en-US" altLang="ja-JP" sz="1200" dirty="0">
                          <a:latin typeface="BIZ UDPゴシック" panose="020B0400000000000000" pitchFamily="50" charset="-128"/>
                          <a:ea typeface="BIZ UDPゴシック" panose="020B0400000000000000" pitchFamily="50" charset="-128"/>
                        </a:rPr>
                        <a:t>x</a:t>
                      </a:r>
                      <a:r>
                        <a:rPr kumimoji="1" lang="ja-JP" altLang="en-US" sz="1200" dirty="0">
                          <a:latin typeface="BIZ UDPゴシック" panose="020B0400000000000000" pitchFamily="50" charset="-128"/>
                          <a:ea typeface="BIZ UDPゴシック" panose="020B0400000000000000" pitchFamily="50" charset="-128"/>
                        </a:rPr>
                        <a:t>曜日 </a:t>
                      </a:r>
                      <a:r>
                        <a:rPr kumimoji="1" lang="en-US" altLang="ja-JP" sz="1200" dirty="0">
                          <a:latin typeface="BIZ UDPゴシック" panose="020B0400000000000000" pitchFamily="50" charset="-128"/>
                          <a:ea typeface="BIZ UDPゴシック" panose="020B0400000000000000" pitchFamily="50" charset="-128"/>
                        </a:rPr>
                        <a:t>1.0h</a:t>
                      </a:r>
                    </a:p>
                    <a:p>
                      <a:r>
                        <a:rPr kumimoji="1" lang="en-US" altLang="ja-JP" sz="1200" dirty="0">
                          <a:latin typeface="BIZ UDPゴシック" panose="020B0400000000000000" pitchFamily="50" charset="-128"/>
                          <a:ea typeface="BIZ UDPゴシック" panose="020B0400000000000000" pitchFamily="50" charset="-128"/>
                        </a:rPr>
                        <a:t>xx:00</a:t>
                      </a:r>
                      <a:r>
                        <a:rPr kumimoji="1" lang="ja-JP" altLang="en-US" sz="1200" dirty="0">
                          <a:latin typeface="BIZ UDPゴシック" panose="020B0400000000000000" pitchFamily="50" charset="-128"/>
                          <a:ea typeface="BIZ UDPゴシック" panose="020B0400000000000000" pitchFamily="50" charset="-128"/>
                        </a:rPr>
                        <a:t>～</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顧客 </a:t>
                      </a:r>
                      <a:r>
                        <a:rPr kumimoji="1" lang="en-US" altLang="ja-JP" sz="1200" dirty="0">
                          <a:latin typeface="BIZ UDPゴシック" panose="020B0400000000000000" pitchFamily="50" charset="-128"/>
                          <a:ea typeface="BIZ UDPゴシック" panose="020B0400000000000000" pitchFamily="50" charset="-128"/>
                        </a:rPr>
                        <a:t>B</a:t>
                      </a:r>
                      <a:r>
                        <a:rPr kumimoji="1" lang="ja-JP" altLang="en-US" sz="1200" dirty="0">
                          <a:latin typeface="BIZ UDPゴシック" panose="020B0400000000000000" pitchFamily="50" charset="-128"/>
                          <a:ea typeface="BIZ UDPゴシック" panose="020B0400000000000000" pitchFamily="50" charset="-128"/>
                        </a:rPr>
                        <a:t>課長</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プロジェクトリーダー</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ガントチャート</a:t>
                      </a:r>
                      <a:endParaRPr kumimoji="1" lang="en-US" altLang="ja-JP" sz="1200" dirty="0">
                        <a:latin typeface="BIZ UDPゴシック" panose="020B0400000000000000" pitchFamily="50" charset="-128"/>
                        <a:ea typeface="BIZ UDPゴシック" panose="020B0400000000000000" pitchFamily="50" charset="-128"/>
                      </a:endParaRPr>
                    </a:p>
                    <a:p>
                      <a:r>
                        <a:rPr kumimoji="1" lang="en-US" altLang="ja-JP" sz="1200" dirty="0">
                          <a:latin typeface="BIZ UDPゴシック" panose="020B0400000000000000" pitchFamily="50" charset="-128"/>
                          <a:ea typeface="BIZ UDPゴシック" panose="020B0400000000000000" pitchFamily="50" charset="-128"/>
                        </a:rPr>
                        <a:t>JIRA </a:t>
                      </a:r>
                      <a:r>
                        <a:rPr kumimoji="1" lang="ja-JP" altLang="en-US" sz="1200" dirty="0">
                          <a:latin typeface="BIZ UDPゴシック" panose="020B0400000000000000" pitchFamily="50" charset="-128"/>
                          <a:ea typeface="BIZ UDPゴシック" panose="020B0400000000000000" pitchFamily="50" charset="-128"/>
                        </a:rPr>
                        <a:t>チケット</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3489119852"/>
                  </a:ext>
                </a:extLst>
              </a:tr>
              <a:tr h="614447">
                <a:tc>
                  <a:txBody>
                    <a:bodyPr/>
                    <a:lstStyle/>
                    <a:p>
                      <a:r>
                        <a:rPr kumimoji="1" lang="en-US" altLang="ja-JP" sz="1200" dirty="0">
                          <a:latin typeface="BIZ UDPゴシック" panose="020B0400000000000000" pitchFamily="50" charset="-128"/>
                          <a:ea typeface="BIZ UDPゴシック" panose="020B0400000000000000" pitchFamily="50" charset="-128"/>
                        </a:rPr>
                        <a:t>4</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プロジェクト定例</a:t>
                      </a: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毎週 </a:t>
                      </a:r>
                      <a:r>
                        <a:rPr kumimoji="1" lang="en-US" altLang="ja-JP" sz="1200" dirty="0">
                          <a:latin typeface="BIZ UDPゴシック" panose="020B0400000000000000" pitchFamily="50" charset="-128"/>
                          <a:ea typeface="BIZ UDPゴシック" panose="020B0400000000000000" pitchFamily="50" charset="-128"/>
                        </a:rPr>
                        <a:t>x</a:t>
                      </a:r>
                      <a:r>
                        <a:rPr kumimoji="1" lang="ja-JP" altLang="en-US" sz="1200" dirty="0">
                          <a:latin typeface="BIZ UDPゴシック" panose="020B0400000000000000" pitchFamily="50" charset="-128"/>
                          <a:ea typeface="BIZ UDPゴシック" panose="020B0400000000000000" pitchFamily="50" charset="-128"/>
                        </a:rPr>
                        <a:t>曜日 </a:t>
                      </a:r>
                      <a:r>
                        <a:rPr kumimoji="1" lang="en-US" altLang="ja-JP" sz="1200" dirty="0">
                          <a:latin typeface="BIZ UDPゴシック" panose="020B0400000000000000" pitchFamily="50" charset="-128"/>
                          <a:ea typeface="BIZ UDPゴシック" panose="020B0400000000000000" pitchFamily="50" charset="-128"/>
                        </a:rPr>
                        <a:t>1.0h</a:t>
                      </a:r>
                    </a:p>
                    <a:p>
                      <a:r>
                        <a:rPr kumimoji="1" lang="en-US" altLang="ja-JP" sz="1200" dirty="0">
                          <a:latin typeface="BIZ UDPゴシック" panose="020B0400000000000000" pitchFamily="50" charset="-128"/>
                          <a:ea typeface="BIZ UDPゴシック" panose="020B0400000000000000" pitchFamily="50" charset="-128"/>
                        </a:rPr>
                        <a:t>xx:00</a:t>
                      </a:r>
                      <a:r>
                        <a:rPr kumimoji="1" lang="ja-JP" altLang="en-US" sz="1200" dirty="0">
                          <a:latin typeface="BIZ UDPゴシック" panose="020B0400000000000000" pitchFamily="50" charset="-128"/>
                          <a:ea typeface="BIZ UDPゴシック" panose="020B0400000000000000" pitchFamily="50" charset="-128"/>
                        </a:rPr>
                        <a:t>～</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プロジェクトマネージャー</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プロジェクトリーダー</a:t>
                      </a: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メンバー</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ガントチャート</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99895045"/>
                  </a:ext>
                </a:extLst>
              </a:tr>
              <a:tr h="614447">
                <a:tc>
                  <a:txBody>
                    <a:bodyPr/>
                    <a:lstStyle/>
                    <a:p>
                      <a:r>
                        <a:rPr kumimoji="1" lang="en-US" altLang="ja-JP" sz="1200" dirty="0">
                          <a:latin typeface="BIZ UDPゴシック" panose="020B0400000000000000" pitchFamily="50" charset="-128"/>
                          <a:ea typeface="BIZ UDPゴシック" panose="020B0400000000000000" pitchFamily="50" charset="-128"/>
                        </a:rPr>
                        <a:t>5</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チーム定例</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昨日タスクの遅れ報告</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当日タスクの内容報告</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翌日タスクの懸念報告</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毎日 </a:t>
                      </a:r>
                      <a:r>
                        <a:rPr kumimoji="1" lang="en-US" altLang="ja-JP" sz="1200" dirty="0">
                          <a:latin typeface="BIZ UDPゴシック" panose="020B0400000000000000" pitchFamily="50" charset="-128"/>
                          <a:ea typeface="BIZ UDPゴシック" panose="020B0400000000000000" pitchFamily="50" charset="-128"/>
                        </a:rPr>
                        <a:t>15</a:t>
                      </a:r>
                      <a:r>
                        <a:rPr kumimoji="1" lang="ja-JP" altLang="en-US" sz="1200" dirty="0">
                          <a:latin typeface="BIZ UDPゴシック" panose="020B0400000000000000" pitchFamily="50" charset="-128"/>
                          <a:ea typeface="BIZ UDPゴシック" panose="020B0400000000000000" pitchFamily="50" charset="-128"/>
                        </a:rPr>
                        <a:t>分</a:t>
                      </a:r>
                      <a:endParaRPr kumimoji="1" lang="en-US" altLang="ja-JP" sz="1200" dirty="0">
                        <a:latin typeface="BIZ UDPゴシック" panose="020B0400000000000000" pitchFamily="50" charset="-128"/>
                        <a:ea typeface="BIZ UDPゴシック" panose="020B0400000000000000" pitchFamily="50" charset="-128"/>
                      </a:endParaRPr>
                    </a:p>
                    <a:p>
                      <a:r>
                        <a:rPr kumimoji="1" lang="en-US" altLang="ja-JP" sz="1200" dirty="0">
                          <a:latin typeface="BIZ UDPゴシック" panose="020B0400000000000000" pitchFamily="50" charset="-128"/>
                          <a:ea typeface="BIZ UDPゴシック" panose="020B0400000000000000" pitchFamily="50" charset="-128"/>
                        </a:rPr>
                        <a:t>xx:00</a:t>
                      </a:r>
                      <a:r>
                        <a:rPr kumimoji="1" lang="ja-JP" altLang="en-US" sz="1200" dirty="0">
                          <a:latin typeface="BIZ UDPゴシック" panose="020B0400000000000000" pitchFamily="50" charset="-128"/>
                          <a:ea typeface="BIZ UDPゴシック" panose="020B0400000000000000" pitchFamily="50" charset="-128"/>
                        </a:rPr>
                        <a:t>～</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プロジェクトリーダー</a:t>
                      </a: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メンバー</a:t>
                      </a:r>
                    </a:p>
                  </a:txBody>
                  <a:tcPr>
                    <a:solidFill>
                      <a:schemeClr val="bg1">
                        <a:lumMod val="95000"/>
                      </a:schemeClr>
                    </a:solidFill>
                  </a:tcPr>
                </a:tc>
                <a:tc>
                  <a:txBody>
                    <a:bodyPr/>
                    <a:lstStyle/>
                    <a:p>
                      <a:pPr marL="0" marR="0" lvl="0" indent="0" algn="l" defTabSz="914373" rtl="0" eaLnBrk="1" fontAlgn="auto" latinLnBrk="0" hangingPunct="1">
                        <a:lnSpc>
                          <a:spcPct val="100000"/>
                        </a:lnSpc>
                        <a:spcBef>
                          <a:spcPts val="0"/>
                        </a:spcBef>
                        <a:spcAft>
                          <a:spcPts val="0"/>
                        </a:spcAft>
                        <a:buClrTx/>
                        <a:buSzTx/>
                        <a:buFontTx/>
                        <a:buNone/>
                        <a:tabLst/>
                        <a:defRPr/>
                      </a:pPr>
                      <a:r>
                        <a:rPr kumimoji="1" lang="en-US" altLang="ja-JP" sz="1200" dirty="0">
                          <a:latin typeface="BIZ UDPゴシック" panose="020B0400000000000000" pitchFamily="50" charset="-128"/>
                          <a:ea typeface="BIZ UDPゴシック" panose="020B0400000000000000" pitchFamily="50" charset="-128"/>
                        </a:rPr>
                        <a:t>JIRA </a:t>
                      </a:r>
                      <a:r>
                        <a:rPr kumimoji="1" lang="ja-JP" altLang="en-US" sz="1200" dirty="0">
                          <a:latin typeface="BIZ UDPゴシック" panose="020B0400000000000000" pitchFamily="50" charset="-128"/>
                          <a:ea typeface="BIZ UDPゴシック" panose="020B0400000000000000" pitchFamily="50" charset="-128"/>
                        </a:rPr>
                        <a:t>チケット</a:t>
                      </a:r>
                      <a:endParaRPr kumimoji="1" lang="en-US" altLang="ja-JP" sz="1200" dirty="0">
                        <a:latin typeface="BIZ UDPゴシック" panose="020B0400000000000000" pitchFamily="50" charset="-128"/>
                        <a:ea typeface="BIZ UDPゴシック" panose="020B0400000000000000" pitchFamily="50" charset="-128"/>
                      </a:endParaRPr>
                    </a:p>
                    <a:p>
                      <a:pPr marL="0" marR="0" lvl="0" indent="0" algn="l" defTabSz="914373" rtl="0" eaLnBrk="1" fontAlgn="auto" latinLnBrk="0" hangingPunct="1">
                        <a:lnSpc>
                          <a:spcPct val="100000"/>
                        </a:lnSpc>
                        <a:spcBef>
                          <a:spcPts val="0"/>
                        </a:spcBef>
                        <a:spcAft>
                          <a:spcPts val="0"/>
                        </a:spcAft>
                        <a:buClrTx/>
                        <a:buSzTx/>
                        <a:buFontTx/>
                        <a:buNone/>
                        <a:tabLst/>
                        <a:defRPr/>
                      </a:pPr>
                      <a:r>
                        <a:rPr kumimoji="1" lang="ja-JP" altLang="en-US" sz="1200" dirty="0">
                          <a:latin typeface="BIZ UDPゴシック" panose="020B0400000000000000" pitchFamily="50" charset="-128"/>
                          <a:ea typeface="BIZ UDPゴシック" panose="020B0400000000000000" pitchFamily="50" charset="-128"/>
                        </a:rPr>
                        <a:t>課題ログ</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587732588"/>
                  </a:ext>
                </a:extLst>
              </a:tr>
              <a:tr h="438891">
                <a:tc>
                  <a:txBody>
                    <a:bodyPr/>
                    <a:lstStyle/>
                    <a:p>
                      <a:r>
                        <a:rPr kumimoji="1" lang="en-US" altLang="ja-JP" sz="1200" dirty="0">
                          <a:latin typeface="BIZ UDPゴシック" panose="020B0400000000000000" pitchFamily="50" charset="-128"/>
                          <a:ea typeface="BIZ UDPゴシック" panose="020B0400000000000000" pitchFamily="50" charset="-128"/>
                        </a:rPr>
                        <a:t>6</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ハドルミーティング</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技術課題の議論</a:t>
                      </a:r>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不定期 </a:t>
                      </a:r>
                      <a:r>
                        <a:rPr kumimoji="1" lang="en-US" altLang="ja-JP" sz="1200" dirty="0">
                          <a:latin typeface="BIZ UDPゴシック" panose="020B0400000000000000" pitchFamily="50" charset="-128"/>
                          <a:ea typeface="BIZ UDPゴシック" panose="020B0400000000000000" pitchFamily="50" charset="-128"/>
                        </a:rPr>
                        <a:t>15</a:t>
                      </a:r>
                      <a:r>
                        <a:rPr kumimoji="1" lang="ja-JP" altLang="en-US" sz="1200" dirty="0">
                          <a:latin typeface="BIZ UDPゴシック" panose="020B0400000000000000" pitchFamily="50" charset="-128"/>
                          <a:ea typeface="BIZ UDPゴシック" panose="020B0400000000000000" pitchFamily="50" charset="-128"/>
                        </a:rPr>
                        <a:t>分</a:t>
                      </a:r>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marR="0" lvl="0" indent="-182563" algn="l" defTabSz="914373"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dirty="0">
                          <a:latin typeface="BIZ UDPゴシック" panose="020B0400000000000000" pitchFamily="50" charset="-128"/>
                          <a:ea typeface="BIZ UDPゴシック" panose="020B0400000000000000" pitchFamily="50" charset="-128"/>
                        </a:rPr>
                        <a:t>プロジェクトリーダー</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メンバー</a:t>
                      </a:r>
                    </a:p>
                  </a:txBody>
                  <a:tcPr>
                    <a:solidFill>
                      <a:schemeClr val="bg1">
                        <a:lumMod val="95000"/>
                      </a:schemeClr>
                    </a:solidFill>
                  </a:tcPr>
                </a:tc>
                <a:tc>
                  <a:txBody>
                    <a:bodyPr/>
                    <a:lstStyle/>
                    <a:p>
                      <a:pPr marL="0" marR="0" lvl="0" indent="0" algn="l" defTabSz="914373" rtl="0" eaLnBrk="1" fontAlgn="auto" latinLnBrk="0" hangingPunct="1">
                        <a:lnSpc>
                          <a:spcPct val="100000"/>
                        </a:lnSpc>
                        <a:spcBef>
                          <a:spcPts val="0"/>
                        </a:spcBef>
                        <a:spcAft>
                          <a:spcPts val="0"/>
                        </a:spcAft>
                        <a:buClrTx/>
                        <a:buSzTx/>
                        <a:buFontTx/>
                        <a:buNone/>
                        <a:tabLst/>
                        <a:defRPr/>
                      </a:pPr>
                      <a:r>
                        <a:rPr kumimoji="1" lang="en-US" altLang="ja-JP" sz="1200" dirty="0">
                          <a:latin typeface="BIZ UDPゴシック" panose="020B0400000000000000" pitchFamily="50" charset="-128"/>
                          <a:ea typeface="BIZ UDPゴシック" panose="020B0400000000000000" pitchFamily="50" charset="-128"/>
                        </a:rPr>
                        <a:t>JIRA </a:t>
                      </a:r>
                      <a:r>
                        <a:rPr kumimoji="1" lang="ja-JP" altLang="en-US" sz="1200" dirty="0">
                          <a:latin typeface="BIZ UDPゴシック" panose="020B0400000000000000" pitchFamily="50" charset="-128"/>
                          <a:ea typeface="BIZ UDPゴシック" panose="020B0400000000000000" pitchFamily="50" charset="-128"/>
                        </a:rPr>
                        <a:t>チケット</a:t>
                      </a: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613087573"/>
                  </a:ext>
                </a:extLst>
              </a:tr>
              <a:tr h="324924">
                <a:tc>
                  <a:txBody>
                    <a:bodyPr/>
                    <a:lstStyle/>
                    <a:p>
                      <a:r>
                        <a:rPr kumimoji="1" lang="en-US" altLang="ja-JP" sz="1200" dirty="0">
                          <a:latin typeface="BIZ UDPゴシック" panose="020B0400000000000000" pitchFamily="50" charset="-128"/>
                          <a:ea typeface="BIZ UDPゴシック" panose="020B0400000000000000" pitchFamily="50" charset="-128"/>
                        </a:rPr>
                        <a:t>7</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349657474"/>
                  </a:ext>
                </a:extLst>
              </a:tr>
            </a:tbl>
          </a:graphicData>
        </a:graphic>
      </p:graphicFrame>
      <p:sp>
        <p:nvSpPr>
          <p:cNvPr id="7" name="テキスト ボックス 6">
            <a:extLst>
              <a:ext uri="{FF2B5EF4-FFF2-40B4-BE49-F238E27FC236}">
                <a16:creationId xmlns:a16="http://schemas.microsoft.com/office/drawing/2014/main" id="{ACA8343F-07A8-C2FB-6752-769E70AB473B}"/>
              </a:ext>
            </a:extLst>
          </p:cNvPr>
          <p:cNvSpPr txBox="1"/>
          <p:nvPr/>
        </p:nvSpPr>
        <p:spPr>
          <a:xfrm>
            <a:off x="3961359" y="5662594"/>
            <a:ext cx="7822654" cy="646331"/>
          </a:xfrm>
          <a:prstGeom prst="rect">
            <a:avLst/>
          </a:prstGeom>
          <a:noFill/>
        </p:spPr>
        <p:txBody>
          <a:bodyPr wrap="square" lIns="0" tIns="0" rIns="0" bIns="0" rtlCol="0">
            <a:spAutoFit/>
          </a:bodyPr>
          <a:lstStyle/>
          <a:p>
            <a:pPr algn="l"/>
            <a:r>
              <a:rPr kumimoji="1" lang="ja-JP" altLang="en-US" sz="1400" dirty="0">
                <a:latin typeface="BIZ UDPゴシック" panose="020B0400000000000000" pitchFamily="50" charset="-128"/>
                <a:ea typeface="BIZ UDPゴシック" panose="020B0400000000000000" pitchFamily="50" charset="-128"/>
              </a:rPr>
              <a:t>打合せは全体工数の</a:t>
            </a:r>
            <a:r>
              <a:rPr kumimoji="1" lang="en-US" altLang="ja-JP" sz="1400" dirty="0">
                <a:latin typeface="BIZ UDPゴシック" panose="020B0400000000000000" pitchFamily="50" charset="-128"/>
                <a:ea typeface="BIZ UDPゴシック" panose="020B0400000000000000" pitchFamily="50" charset="-128"/>
              </a:rPr>
              <a:t>10%</a:t>
            </a:r>
            <a:r>
              <a:rPr kumimoji="1" lang="ja-JP" altLang="en-US" sz="1400" dirty="0">
                <a:latin typeface="BIZ UDPゴシック" panose="020B0400000000000000" pitchFamily="50" charset="-128"/>
                <a:ea typeface="BIZ UDPゴシック" panose="020B0400000000000000" pitchFamily="50" charset="-128"/>
              </a:rPr>
              <a:t>～</a:t>
            </a:r>
            <a:r>
              <a:rPr kumimoji="1" lang="en-US" altLang="ja-JP" sz="1400" dirty="0">
                <a:latin typeface="BIZ UDPゴシック" panose="020B0400000000000000" pitchFamily="50" charset="-128"/>
                <a:ea typeface="BIZ UDPゴシック" panose="020B0400000000000000" pitchFamily="50" charset="-128"/>
              </a:rPr>
              <a:t>25%</a:t>
            </a:r>
            <a:r>
              <a:rPr kumimoji="1" lang="ja-JP" altLang="en-US" sz="1400" dirty="0">
                <a:latin typeface="BIZ UDPゴシック" panose="020B0400000000000000" pitchFamily="50" charset="-128"/>
                <a:ea typeface="BIZ UDPゴシック" panose="020B0400000000000000" pitchFamily="50" charset="-128"/>
              </a:rPr>
              <a:t>を目指す</a:t>
            </a:r>
            <a:r>
              <a:rPr lang="ja-JP" altLang="en-US" sz="1400" dirty="0">
                <a:latin typeface="BIZ UDPゴシック" panose="020B0400000000000000" pitchFamily="50" charset="-128"/>
                <a:ea typeface="BIZ UDPゴシック" panose="020B0400000000000000" pitchFamily="50" charset="-128"/>
              </a:rPr>
              <a:t>。超える場合はマネジメントレベルで最適化を図る</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リーダー層：</a:t>
            </a:r>
            <a:r>
              <a:rPr lang="en-US" altLang="ja-JP" sz="1400" dirty="0">
                <a:latin typeface="BIZ UDPゴシック" panose="020B0400000000000000" pitchFamily="50" charset="-128"/>
                <a:ea typeface="BIZ UDPゴシック" panose="020B0400000000000000" pitchFamily="50" charset="-128"/>
              </a:rPr>
              <a:t>25% (8h * 5days * 25% = 10h</a:t>
            </a:r>
          </a:p>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メンバー層：</a:t>
            </a:r>
            <a:r>
              <a:rPr kumimoji="1" lang="en-US" altLang="ja-JP" sz="1400" dirty="0">
                <a:latin typeface="BIZ UDPゴシック" panose="020B0400000000000000" pitchFamily="50" charset="-128"/>
                <a:ea typeface="BIZ UDPゴシック" panose="020B0400000000000000" pitchFamily="50" charset="-128"/>
              </a:rPr>
              <a:t>10% (8h * 5days * 10% =   4h</a:t>
            </a:r>
            <a:endParaRPr kumimoji="1" lang="ja-JP" altLang="en-US"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58120740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788D6C-6610-ED5F-5A5C-FE60FAFA175E}"/>
              </a:ext>
            </a:extLst>
          </p:cNvPr>
          <p:cNvSpPr>
            <a:spLocks noGrp="1"/>
          </p:cNvSpPr>
          <p:nvPr>
            <p:ph type="title"/>
          </p:nvPr>
        </p:nvSpPr>
        <p:spPr/>
        <p:txBody>
          <a:bodyPr/>
          <a:lstStyle/>
          <a:p>
            <a:r>
              <a:rPr lang="ja-JP" altLang="en-US" dirty="0"/>
              <a:t>責任分担表</a:t>
            </a:r>
            <a:endParaRPr kumimoji="1" lang="ja-JP" altLang="en-US" dirty="0"/>
          </a:p>
        </p:txBody>
      </p:sp>
      <p:sp>
        <p:nvSpPr>
          <p:cNvPr id="3" name="フッター プレースホルダー 2">
            <a:extLst>
              <a:ext uri="{FF2B5EF4-FFF2-40B4-BE49-F238E27FC236}">
                <a16:creationId xmlns:a16="http://schemas.microsoft.com/office/drawing/2014/main" id="{E5B42A50-0676-3E31-282D-395FDB2190C8}"/>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BF3EC83-751D-CD99-A75B-300D4F071D62}"/>
              </a:ext>
            </a:extLst>
          </p:cNvPr>
          <p:cNvSpPr>
            <a:spLocks noGrp="1"/>
          </p:cNvSpPr>
          <p:nvPr>
            <p:ph type="sldNum" sz="quarter" idx="12"/>
          </p:nvPr>
        </p:nvSpPr>
        <p:spPr/>
        <p:txBody>
          <a:bodyPr/>
          <a:lstStyle/>
          <a:p>
            <a:fld id="{DCB5AA93-092B-49A1-87A7-3C88D5F38AD7}" type="slidenum">
              <a:rPr lang="ja-JP" altLang="en-US" smtClean="0"/>
              <a:pPr/>
              <a:t>26</a:t>
            </a:fld>
            <a:endParaRPr lang="ja-JP" altLang="en-US" sz="900" dirty="0"/>
          </a:p>
        </p:txBody>
      </p:sp>
      <p:sp>
        <p:nvSpPr>
          <p:cNvPr id="5" name="テキスト プレースホルダー 4">
            <a:extLst>
              <a:ext uri="{FF2B5EF4-FFF2-40B4-BE49-F238E27FC236}">
                <a16:creationId xmlns:a16="http://schemas.microsoft.com/office/drawing/2014/main" id="{5093336F-68C6-83CA-F5EA-ED5BE5153624}"/>
              </a:ext>
            </a:extLst>
          </p:cNvPr>
          <p:cNvSpPr>
            <a:spLocks noGrp="1"/>
          </p:cNvSpPr>
          <p:nvPr>
            <p:ph type="body" sz="quarter" idx="13"/>
          </p:nvPr>
        </p:nvSpPr>
        <p:spPr/>
        <p:txBody>
          <a:bodyPr/>
          <a:lstStyle/>
          <a:p>
            <a:endParaRPr kumimoji="1" lang="ja-JP" altLang="en-US" dirty="0"/>
          </a:p>
        </p:txBody>
      </p:sp>
      <p:graphicFrame>
        <p:nvGraphicFramePr>
          <p:cNvPr id="6" name="表 5">
            <a:extLst>
              <a:ext uri="{FF2B5EF4-FFF2-40B4-BE49-F238E27FC236}">
                <a16:creationId xmlns:a16="http://schemas.microsoft.com/office/drawing/2014/main" id="{B81FFAD3-9712-DB4D-8893-C2759B5D10D3}"/>
              </a:ext>
            </a:extLst>
          </p:cNvPr>
          <p:cNvGraphicFramePr>
            <a:graphicFrameLocks noGrp="1"/>
          </p:cNvGraphicFramePr>
          <p:nvPr>
            <p:extLst>
              <p:ext uri="{D42A27DB-BD31-4B8C-83A1-F6EECF244321}">
                <p14:modId xmlns:p14="http://schemas.microsoft.com/office/powerpoint/2010/main" val="2691835130"/>
              </p:ext>
            </p:extLst>
          </p:nvPr>
        </p:nvGraphicFramePr>
        <p:xfrm>
          <a:off x="334963" y="1268413"/>
          <a:ext cx="11522074" cy="3358139"/>
        </p:xfrm>
        <a:graphic>
          <a:graphicData uri="http://schemas.openxmlformats.org/drawingml/2006/table">
            <a:tbl>
              <a:tblPr firstRow="1" bandRow="1">
                <a:tableStyleId>{5C22544A-7EE6-4342-B048-85BDC9FD1C3A}</a:tableStyleId>
              </a:tblPr>
              <a:tblGrid>
                <a:gridCol w="502289">
                  <a:extLst>
                    <a:ext uri="{9D8B030D-6E8A-4147-A177-3AD203B41FA5}">
                      <a16:colId xmlns:a16="http://schemas.microsoft.com/office/drawing/2014/main" val="279041293"/>
                    </a:ext>
                  </a:extLst>
                </a:gridCol>
                <a:gridCol w="1268628">
                  <a:extLst>
                    <a:ext uri="{9D8B030D-6E8A-4147-A177-3AD203B41FA5}">
                      <a16:colId xmlns:a16="http://schemas.microsoft.com/office/drawing/2014/main" val="1769139613"/>
                    </a:ext>
                  </a:extLst>
                </a:gridCol>
                <a:gridCol w="4175346">
                  <a:extLst>
                    <a:ext uri="{9D8B030D-6E8A-4147-A177-3AD203B41FA5}">
                      <a16:colId xmlns:a16="http://schemas.microsoft.com/office/drawing/2014/main" val="2390303899"/>
                    </a:ext>
                  </a:extLst>
                </a:gridCol>
                <a:gridCol w="1620744">
                  <a:extLst>
                    <a:ext uri="{9D8B030D-6E8A-4147-A177-3AD203B41FA5}">
                      <a16:colId xmlns:a16="http://schemas.microsoft.com/office/drawing/2014/main" val="4223384442"/>
                    </a:ext>
                  </a:extLst>
                </a:gridCol>
                <a:gridCol w="2034721">
                  <a:extLst>
                    <a:ext uri="{9D8B030D-6E8A-4147-A177-3AD203B41FA5}">
                      <a16:colId xmlns:a16="http://schemas.microsoft.com/office/drawing/2014/main" val="1379525383"/>
                    </a:ext>
                  </a:extLst>
                </a:gridCol>
                <a:gridCol w="1920346">
                  <a:extLst>
                    <a:ext uri="{9D8B030D-6E8A-4147-A177-3AD203B41FA5}">
                      <a16:colId xmlns:a16="http://schemas.microsoft.com/office/drawing/2014/main" val="411652451"/>
                    </a:ext>
                  </a:extLst>
                </a:gridCol>
              </a:tblGrid>
              <a:tr h="340619">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名前</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主な役割</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管理対象</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主な成果物</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参加会議体</a:t>
                      </a:r>
                    </a:p>
                  </a:txBody>
                  <a:tcPr>
                    <a:solidFill>
                      <a:schemeClr val="tx2">
                        <a:lumMod val="75000"/>
                        <a:lumOff val="25000"/>
                      </a:schemeClr>
                    </a:solidFill>
                  </a:tcPr>
                </a:tc>
                <a:extLst>
                  <a:ext uri="{0D108BD9-81ED-4DB2-BD59-A6C34878D82A}">
                    <a16:rowId xmlns:a16="http://schemas.microsoft.com/office/drawing/2014/main" val="1515397185"/>
                  </a:ext>
                </a:extLst>
              </a:tr>
              <a:tr h="625043">
                <a:tc>
                  <a:txBody>
                    <a:bodyPr/>
                    <a:lstStyle/>
                    <a:p>
                      <a:r>
                        <a:rPr kumimoji="1" lang="en-US" altLang="ja-JP" sz="1200" dirty="0">
                          <a:latin typeface="BIZ UDPゴシック" panose="020B0400000000000000" pitchFamily="50" charset="-128"/>
                          <a:ea typeface="BIZ UDPゴシック" panose="020B0400000000000000" pitchFamily="50" charset="-128"/>
                        </a:rPr>
                        <a:t>1</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a:t>
                      </a:r>
                      <a:endParaRPr kumimoji="1" lang="en-US" altLang="ja-JP" sz="1200" dirty="0">
                        <a:latin typeface="BIZ UDPゴシック" panose="020B0400000000000000" pitchFamily="50" charset="-128"/>
                        <a:ea typeface="BIZ UDPゴシック" panose="020B0400000000000000" pitchFamily="50" charset="-128"/>
                      </a:endParaRPr>
                    </a:p>
                    <a:p>
                      <a:r>
                        <a:rPr kumimoji="1" lang="ja-JP" altLang="en-US" sz="1200" dirty="0">
                          <a:latin typeface="BIZ UDPゴシック" panose="020B0400000000000000" pitchFamily="50" charset="-128"/>
                          <a:ea typeface="BIZ UDPゴシック" panose="020B0400000000000000" pitchFamily="50" charset="-128"/>
                        </a:rPr>
                        <a:t>オーナー </a:t>
                      </a:r>
                      <a:r>
                        <a:rPr kumimoji="1" lang="en-US" altLang="ja-JP" sz="1200" dirty="0">
                          <a:latin typeface="BIZ UDPゴシック" panose="020B0400000000000000" pitchFamily="50" charset="-128"/>
                          <a:ea typeface="BIZ UDPゴシック" panose="020B0400000000000000" pitchFamily="50" charset="-128"/>
                        </a:rPr>
                        <a:t>(PO)</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事業戦略とプロジェクトの整合性確認</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プロジェクト計画の承認</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人員配分に関する調整と支援</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事業戦略</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a:t>
                      </a: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月次オーナー会議</a:t>
                      </a:r>
                    </a:p>
                  </a:txBody>
                  <a:tcPr>
                    <a:solidFill>
                      <a:schemeClr val="bg1">
                        <a:lumMod val="95000"/>
                      </a:schemeClr>
                    </a:solidFill>
                  </a:tcPr>
                </a:tc>
                <a:extLst>
                  <a:ext uri="{0D108BD9-81ED-4DB2-BD59-A6C34878D82A}">
                    <a16:rowId xmlns:a16="http://schemas.microsoft.com/office/drawing/2014/main" val="1031105590"/>
                  </a:ext>
                </a:extLst>
              </a:tr>
              <a:tr h="625043">
                <a:tc>
                  <a:txBody>
                    <a:bodyPr/>
                    <a:lstStyle/>
                    <a:p>
                      <a:r>
                        <a:rPr kumimoji="1" lang="en-US" altLang="ja-JP" sz="1200" dirty="0">
                          <a:latin typeface="BIZ UDPゴシック" panose="020B0400000000000000" pitchFamily="50" charset="-128"/>
                          <a:ea typeface="BIZ UDPゴシック" panose="020B0400000000000000" pitchFamily="50" charset="-128"/>
                        </a:rPr>
                        <a:t>2</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a:t>
                      </a:r>
                      <a:endParaRPr kumimoji="1" lang="en-US" altLang="ja-JP" sz="1200" dirty="0">
                        <a:latin typeface="BIZ UDPゴシック" panose="020B0400000000000000" pitchFamily="50" charset="-128"/>
                        <a:ea typeface="BIZ UDPゴシック" panose="020B0400000000000000" pitchFamily="50" charset="-128"/>
                      </a:endParaRPr>
                    </a:p>
                    <a:p>
                      <a:r>
                        <a:rPr kumimoji="1" lang="ja-JP" altLang="en-US" sz="1200" dirty="0">
                          <a:latin typeface="BIZ UDPゴシック" panose="020B0400000000000000" pitchFamily="50" charset="-128"/>
                          <a:ea typeface="BIZ UDPゴシック" panose="020B0400000000000000" pitchFamily="50" charset="-128"/>
                        </a:rPr>
                        <a:t>マネージャー </a:t>
                      </a:r>
                      <a:r>
                        <a:rPr kumimoji="1" lang="en-US" altLang="ja-JP" sz="1200" dirty="0">
                          <a:latin typeface="BIZ UDPゴシック" panose="020B0400000000000000" pitchFamily="50" charset="-128"/>
                          <a:ea typeface="BIZ UDPゴシック" panose="020B0400000000000000" pitchFamily="50" charset="-128"/>
                        </a:rPr>
                        <a:t>(PM)</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プロジェクト全体の最終責任者</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ステコミへの報告</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重要課題の解決支援</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プロジェクト計画書</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報告書</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月次オーナー会議</a:t>
                      </a:r>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2247178784"/>
                  </a:ext>
                </a:extLst>
              </a:tr>
              <a:tr h="625043">
                <a:tc>
                  <a:txBody>
                    <a:bodyPr/>
                    <a:lstStyle/>
                    <a:p>
                      <a:r>
                        <a:rPr kumimoji="1" lang="en-US" altLang="ja-JP" sz="1200" dirty="0">
                          <a:latin typeface="BIZ UDPゴシック" panose="020B0400000000000000" pitchFamily="50" charset="-128"/>
                          <a:ea typeface="BIZ UDPゴシック" panose="020B0400000000000000" pitchFamily="50" charset="-128"/>
                        </a:rPr>
                        <a:t>3</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a:t>
                      </a:r>
                      <a:endParaRPr kumimoji="1" lang="en-US" altLang="ja-JP" sz="1200" dirty="0">
                        <a:latin typeface="BIZ UDPゴシック" panose="020B0400000000000000" pitchFamily="50" charset="-128"/>
                        <a:ea typeface="BIZ UDPゴシック" panose="020B0400000000000000" pitchFamily="50" charset="-128"/>
                      </a:endParaRPr>
                    </a:p>
                    <a:p>
                      <a:r>
                        <a:rPr kumimoji="1" lang="ja-JP" altLang="en-US" sz="1200" dirty="0">
                          <a:latin typeface="BIZ UDPゴシック" panose="020B0400000000000000" pitchFamily="50" charset="-128"/>
                          <a:ea typeface="BIZ UDPゴシック" panose="020B0400000000000000" pitchFamily="50" charset="-128"/>
                        </a:rPr>
                        <a:t>リーダー </a:t>
                      </a:r>
                      <a:r>
                        <a:rPr kumimoji="1" lang="en-US" altLang="ja-JP" sz="1200" dirty="0">
                          <a:latin typeface="BIZ UDPゴシック" panose="020B0400000000000000" pitchFamily="50" charset="-128"/>
                          <a:ea typeface="BIZ UDPゴシック" panose="020B0400000000000000" pitchFamily="50" charset="-128"/>
                        </a:rPr>
                        <a:t>(PL)</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プロジェクト全体の計画策定</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推進課題の解決</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タスク計画の策定・推進</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プロジェクト計画書</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週次定例</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課題管理会議</a:t>
                      </a:r>
                    </a:p>
                  </a:txBody>
                  <a:tcPr>
                    <a:solidFill>
                      <a:schemeClr val="bg1">
                        <a:lumMod val="95000"/>
                      </a:schemeClr>
                    </a:solidFill>
                  </a:tcPr>
                </a:tc>
                <a:extLst>
                  <a:ext uri="{0D108BD9-81ED-4DB2-BD59-A6C34878D82A}">
                    <a16:rowId xmlns:a16="http://schemas.microsoft.com/office/drawing/2014/main" val="3489119852"/>
                  </a:ext>
                </a:extLst>
              </a:tr>
              <a:tr h="446460">
                <a:tc>
                  <a:txBody>
                    <a:bodyPr/>
                    <a:lstStyle/>
                    <a:p>
                      <a:r>
                        <a:rPr kumimoji="1" lang="en-US" altLang="ja-JP" sz="1200" dirty="0">
                          <a:latin typeface="BIZ UDPゴシック" panose="020B0400000000000000" pitchFamily="50" charset="-128"/>
                          <a:ea typeface="BIZ UDPゴシック" panose="020B0400000000000000" pitchFamily="50" charset="-128"/>
                        </a:rPr>
                        <a:t>4</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リーダー補佐</a:t>
                      </a: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プロジェクト全体</a:t>
                      </a:r>
                    </a:p>
                  </a:txBody>
                  <a:tcPr>
                    <a:solidFill>
                      <a:schemeClr val="bg1">
                        <a:lumMod val="95000"/>
                      </a:schemeClr>
                    </a:solidFill>
                  </a:tcPr>
                </a:tc>
                <a:tc>
                  <a:txBody>
                    <a:bodyPr/>
                    <a:lstStyle/>
                    <a:p>
                      <a:pPr marL="182563" indent="-182563">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プロジェクト運営関連資料</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週次定例</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課題管理会議</a:t>
                      </a:r>
                    </a:p>
                  </a:txBody>
                  <a:tcPr>
                    <a:solidFill>
                      <a:schemeClr val="bg1">
                        <a:lumMod val="95000"/>
                      </a:schemeClr>
                    </a:solidFill>
                  </a:tcPr>
                </a:tc>
                <a:extLst>
                  <a:ext uri="{0D108BD9-81ED-4DB2-BD59-A6C34878D82A}">
                    <a16:rowId xmlns:a16="http://schemas.microsoft.com/office/drawing/2014/main" val="199895045"/>
                  </a:ext>
                </a:extLst>
              </a:tr>
              <a:tr h="625043">
                <a:tc>
                  <a:txBody>
                    <a:bodyPr/>
                    <a:lstStyle/>
                    <a:p>
                      <a:r>
                        <a:rPr kumimoji="1" lang="en-US" altLang="ja-JP" sz="1200" dirty="0">
                          <a:latin typeface="BIZ UDPゴシック" panose="020B0400000000000000" pitchFamily="50" charset="-128"/>
                          <a:ea typeface="BIZ UDPゴシック" panose="020B0400000000000000" pitchFamily="50" charset="-128"/>
                        </a:rPr>
                        <a:t>5</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メンバー</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担当業務の遂行</a:t>
                      </a: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担当</a:t>
                      </a: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週次定例</a:t>
                      </a:r>
                      <a:endParaRPr kumimoji="1" lang="en-US" altLang="ja-JP" sz="1200"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課題管理会議</a:t>
                      </a:r>
                    </a:p>
                    <a:p>
                      <a:pPr marL="171450" marR="0" lvl="0" indent="-171450" algn="l" defTabSz="914373"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587732588"/>
                  </a:ext>
                </a:extLst>
              </a:tr>
            </a:tbl>
          </a:graphicData>
        </a:graphic>
      </p:graphicFrame>
    </p:spTree>
    <p:extLst>
      <p:ext uri="{BB962C8B-B14F-4D97-AF65-F5344CB8AC3E}">
        <p14:creationId xmlns:p14="http://schemas.microsoft.com/office/powerpoint/2010/main" val="11542460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5514A91-BA8D-4773-9606-423128B8CEB2}"/>
              </a:ext>
            </a:extLst>
          </p:cNvPr>
          <p:cNvSpPr>
            <a:spLocks noGrp="1"/>
          </p:cNvSpPr>
          <p:nvPr>
            <p:ph type="title"/>
          </p:nvPr>
        </p:nvSpPr>
        <p:spPr/>
        <p:txBody>
          <a:bodyPr/>
          <a:lstStyle/>
          <a:p>
            <a:r>
              <a:rPr lang="en-US" altLang="ja-JP" dirty="0"/>
              <a:t>RACI</a:t>
            </a:r>
            <a:r>
              <a:rPr lang="ja-JP" altLang="en-US" dirty="0"/>
              <a:t>チャート</a:t>
            </a:r>
            <a:endParaRPr kumimoji="1" lang="ja-JP" altLang="en-US" dirty="0"/>
          </a:p>
        </p:txBody>
      </p:sp>
      <p:sp>
        <p:nvSpPr>
          <p:cNvPr id="3" name="フッター プレースホルダー 2">
            <a:extLst>
              <a:ext uri="{FF2B5EF4-FFF2-40B4-BE49-F238E27FC236}">
                <a16:creationId xmlns:a16="http://schemas.microsoft.com/office/drawing/2014/main" id="{349A2409-E5D8-F94F-0AB9-C2C06FD23D3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DEF5006A-48F2-621F-0F37-DC0117878E02}"/>
              </a:ext>
            </a:extLst>
          </p:cNvPr>
          <p:cNvSpPr>
            <a:spLocks noGrp="1"/>
          </p:cNvSpPr>
          <p:nvPr>
            <p:ph type="sldNum" sz="quarter" idx="12"/>
          </p:nvPr>
        </p:nvSpPr>
        <p:spPr/>
        <p:txBody>
          <a:bodyPr/>
          <a:lstStyle/>
          <a:p>
            <a:fld id="{DCB5AA93-092B-49A1-87A7-3C88D5F38AD7}" type="slidenum">
              <a:rPr lang="ja-JP" altLang="en-US" smtClean="0"/>
              <a:pPr/>
              <a:t>27</a:t>
            </a:fld>
            <a:endParaRPr lang="ja-JP" altLang="en-US" sz="900" dirty="0"/>
          </a:p>
        </p:txBody>
      </p:sp>
      <p:sp>
        <p:nvSpPr>
          <p:cNvPr id="5" name="テキスト プレースホルダー 4">
            <a:extLst>
              <a:ext uri="{FF2B5EF4-FFF2-40B4-BE49-F238E27FC236}">
                <a16:creationId xmlns:a16="http://schemas.microsoft.com/office/drawing/2014/main" id="{8EA1AAEE-F572-77BA-6302-D8005CEC7754}"/>
              </a:ext>
            </a:extLst>
          </p:cNvPr>
          <p:cNvSpPr>
            <a:spLocks noGrp="1"/>
          </p:cNvSpPr>
          <p:nvPr>
            <p:ph type="body" sz="quarter" idx="13"/>
          </p:nvPr>
        </p:nvSpPr>
        <p:spPr/>
        <p:txBody>
          <a:bodyPr/>
          <a:lstStyle/>
          <a:p>
            <a:endParaRPr kumimoji="1" lang="ja-JP" altLang="en-US"/>
          </a:p>
        </p:txBody>
      </p:sp>
      <p:graphicFrame>
        <p:nvGraphicFramePr>
          <p:cNvPr id="6" name="表 5">
            <a:extLst>
              <a:ext uri="{FF2B5EF4-FFF2-40B4-BE49-F238E27FC236}">
                <a16:creationId xmlns:a16="http://schemas.microsoft.com/office/drawing/2014/main" id="{91B16D3B-53A0-4F68-5B33-7517AEE7789F}"/>
              </a:ext>
            </a:extLst>
          </p:cNvPr>
          <p:cNvGraphicFramePr>
            <a:graphicFrameLocks noGrp="1"/>
          </p:cNvGraphicFramePr>
          <p:nvPr>
            <p:extLst>
              <p:ext uri="{D42A27DB-BD31-4B8C-83A1-F6EECF244321}">
                <p14:modId xmlns:p14="http://schemas.microsoft.com/office/powerpoint/2010/main" val="694261315"/>
              </p:ext>
            </p:extLst>
          </p:nvPr>
        </p:nvGraphicFramePr>
        <p:xfrm>
          <a:off x="334963" y="1268413"/>
          <a:ext cx="11522077" cy="2022402"/>
        </p:xfrm>
        <a:graphic>
          <a:graphicData uri="http://schemas.openxmlformats.org/drawingml/2006/table">
            <a:tbl>
              <a:tblPr firstRow="1" bandRow="1">
                <a:tableStyleId>{5C22544A-7EE6-4342-B048-85BDC9FD1C3A}</a:tableStyleId>
              </a:tblPr>
              <a:tblGrid>
                <a:gridCol w="343349">
                  <a:extLst>
                    <a:ext uri="{9D8B030D-6E8A-4147-A177-3AD203B41FA5}">
                      <a16:colId xmlns:a16="http://schemas.microsoft.com/office/drawing/2014/main" val="279041293"/>
                    </a:ext>
                  </a:extLst>
                </a:gridCol>
                <a:gridCol w="3032878">
                  <a:extLst>
                    <a:ext uri="{9D8B030D-6E8A-4147-A177-3AD203B41FA5}">
                      <a16:colId xmlns:a16="http://schemas.microsoft.com/office/drawing/2014/main" val="1769139613"/>
                    </a:ext>
                  </a:extLst>
                </a:gridCol>
                <a:gridCol w="1629170">
                  <a:extLst>
                    <a:ext uri="{9D8B030D-6E8A-4147-A177-3AD203B41FA5}">
                      <a16:colId xmlns:a16="http://schemas.microsoft.com/office/drawing/2014/main" val="3692360000"/>
                    </a:ext>
                  </a:extLst>
                </a:gridCol>
                <a:gridCol w="1629170">
                  <a:extLst>
                    <a:ext uri="{9D8B030D-6E8A-4147-A177-3AD203B41FA5}">
                      <a16:colId xmlns:a16="http://schemas.microsoft.com/office/drawing/2014/main" val="2653613565"/>
                    </a:ext>
                  </a:extLst>
                </a:gridCol>
                <a:gridCol w="1629170">
                  <a:extLst>
                    <a:ext uri="{9D8B030D-6E8A-4147-A177-3AD203B41FA5}">
                      <a16:colId xmlns:a16="http://schemas.microsoft.com/office/drawing/2014/main" val="2390303899"/>
                    </a:ext>
                  </a:extLst>
                </a:gridCol>
                <a:gridCol w="1629170">
                  <a:extLst>
                    <a:ext uri="{9D8B030D-6E8A-4147-A177-3AD203B41FA5}">
                      <a16:colId xmlns:a16="http://schemas.microsoft.com/office/drawing/2014/main" val="4223384442"/>
                    </a:ext>
                  </a:extLst>
                </a:gridCol>
                <a:gridCol w="1629170">
                  <a:extLst>
                    <a:ext uri="{9D8B030D-6E8A-4147-A177-3AD203B41FA5}">
                      <a16:colId xmlns:a16="http://schemas.microsoft.com/office/drawing/2014/main" val="1379525383"/>
                    </a:ext>
                  </a:extLst>
                </a:gridCol>
              </a:tblGrid>
              <a:tr h="337067">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名前</a:t>
                      </a:r>
                    </a:p>
                  </a:txBody>
                  <a:tcPr>
                    <a:solidFill>
                      <a:schemeClr val="tx2">
                        <a:lumMod val="75000"/>
                        <a:lumOff val="25000"/>
                      </a:schemeClr>
                    </a:solidFill>
                  </a:tcPr>
                </a:tc>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PO</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PM</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PL</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a:solidFill>
                            <a:schemeClr val="bg1"/>
                          </a:solidFill>
                          <a:latin typeface="BIZ UDPゴシック" panose="020B0400000000000000" pitchFamily="50" charset="-128"/>
                          <a:ea typeface="BIZ UDPゴシック" panose="020B0400000000000000" pitchFamily="50" charset="-128"/>
                        </a:rPr>
                        <a:t>リーダー補佐</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メンバー</a:t>
                      </a:r>
                    </a:p>
                  </a:txBody>
                  <a:tcPr>
                    <a:solidFill>
                      <a:schemeClr val="tx2">
                        <a:lumMod val="75000"/>
                        <a:lumOff val="25000"/>
                      </a:schemeClr>
                    </a:solidFill>
                  </a:tcPr>
                </a:tc>
                <a:extLst>
                  <a:ext uri="{0D108BD9-81ED-4DB2-BD59-A6C34878D82A}">
                    <a16:rowId xmlns:a16="http://schemas.microsoft.com/office/drawing/2014/main" val="1515397185"/>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1</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031105590"/>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2</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2247178784"/>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3</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3489119852"/>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4</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99895045"/>
                  </a:ext>
                </a:extLst>
              </a:tr>
              <a:tr h="337067">
                <a:tc>
                  <a:txBody>
                    <a:bodyPr/>
                    <a:lstStyle/>
                    <a:p>
                      <a:r>
                        <a:rPr kumimoji="1" lang="en-US" altLang="ja-JP" sz="1200" dirty="0">
                          <a:latin typeface="BIZ UDPゴシック" panose="020B0400000000000000" pitchFamily="50" charset="-128"/>
                          <a:ea typeface="BIZ UDPゴシック" panose="020B0400000000000000" pitchFamily="50" charset="-128"/>
                        </a:rPr>
                        <a:t>5</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71450" indent="-171450">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587732588"/>
                  </a:ext>
                </a:extLst>
              </a:tr>
            </a:tbl>
          </a:graphicData>
        </a:graphic>
      </p:graphicFrame>
    </p:spTree>
    <p:extLst>
      <p:ext uri="{BB962C8B-B14F-4D97-AF65-F5344CB8AC3E}">
        <p14:creationId xmlns:p14="http://schemas.microsoft.com/office/powerpoint/2010/main" val="37155727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E7882EB-7E85-7CB1-3640-258BE36C5927}"/>
              </a:ext>
            </a:extLst>
          </p:cNvPr>
          <p:cNvSpPr>
            <a:spLocks noGrp="1"/>
          </p:cNvSpPr>
          <p:nvPr>
            <p:ph type="title"/>
          </p:nvPr>
        </p:nvSpPr>
        <p:spPr/>
        <p:txBody>
          <a:bodyPr/>
          <a:lstStyle/>
          <a:p>
            <a:r>
              <a:rPr lang="ja-JP" altLang="en-US" dirty="0"/>
              <a:t>課題ログ</a:t>
            </a:r>
            <a:endParaRPr kumimoji="1" lang="ja-JP" altLang="en-US" dirty="0"/>
          </a:p>
        </p:txBody>
      </p:sp>
      <p:sp>
        <p:nvSpPr>
          <p:cNvPr id="3" name="フッター プレースホルダー 2">
            <a:extLst>
              <a:ext uri="{FF2B5EF4-FFF2-40B4-BE49-F238E27FC236}">
                <a16:creationId xmlns:a16="http://schemas.microsoft.com/office/drawing/2014/main" id="{457E9C5C-7AB7-1E5D-AE25-EC26E872104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077BDE32-724B-582C-D118-79DF709F0876}"/>
              </a:ext>
            </a:extLst>
          </p:cNvPr>
          <p:cNvSpPr>
            <a:spLocks noGrp="1"/>
          </p:cNvSpPr>
          <p:nvPr>
            <p:ph type="sldNum" sz="quarter" idx="12"/>
          </p:nvPr>
        </p:nvSpPr>
        <p:spPr/>
        <p:txBody>
          <a:bodyPr/>
          <a:lstStyle/>
          <a:p>
            <a:fld id="{DCB5AA93-092B-49A1-87A7-3C88D5F38AD7}" type="slidenum">
              <a:rPr lang="ja-JP" altLang="en-US" smtClean="0"/>
              <a:pPr/>
              <a:t>28</a:t>
            </a:fld>
            <a:endParaRPr lang="ja-JP" altLang="en-US" sz="900" dirty="0"/>
          </a:p>
        </p:txBody>
      </p:sp>
      <p:sp>
        <p:nvSpPr>
          <p:cNvPr id="5" name="テキスト プレースホルダー 4">
            <a:extLst>
              <a:ext uri="{FF2B5EF4-FFF2-40B4-BE49-F238E27FC236}">
                <a16:creationId xmlns:a16="http://schemas.microsoft.com/office/drawing/2014/main" id="{E22A9231-7E95-868F-A066-CB0025ACBBDE}"/>
              </a:ext>
            </a:extLst>
          </p:cNvPr>
          <p:cNvSpPr>
            <a:spLocks noGrp="1"/>
          </p:cNvSpPr>
          <p:nvPr>
            <p:ph type="body" sz="quarter" idx="13"/>
          </p:nvPr>
        </p:nvSpPr>
        <p:spPr/>
        <p:txBody>
          <a:bodyPr/>
          <a:lstStyle/>
          <a:p>
            <a:endParaRPr kumimoji="1" lang="ja-JP" altLang="en-US"/>
          </a:p>
        </p:txBody>
      </p:sp>
      <p:graphicFrame>
        <p:nvGraphicFramePr>
          <p:cNvPr id="7" name="表 6">
            <a:extLst>
              <a:ext uri="{FF2B5EF4-FFF2-40B4-BE49-F238E27FC236}">
                <a16:creationId xmlns:a16="http://schemas.microsoft.com/office/drawing/2014/main" id="{1DEC95BA-10D2-E107-1277-91561F95FFE1}"/>
              </a:ext>
            </a:extLst>
          </p:cNvPr>
          <p:cNvGraphicFramePr>
            <a:graphicFrameLocks noGrp="1"/>
          </p:cNvGraphicFramePr>
          <p:nvPr>
            <p:extLst>
              <p:ext uri="{D42A27DB-BD31-4B8C-83A1-F6EECF244321}">
                <p14:modId xmlns:p14="http://schemas.microsoft.com/office/powerpoint/2010/main" val="3597670679"/>
              </p:ext>
            </p:extLst>
          </p:nvPr>
        </p:nvGraphicFramePr>
        <p:xfrm>
          <a:off x="334963" y="1268413"/>
          <a:ext cx="11522074" cy="3189858"/>
        </p:xfrm>
        <a:graphic>
          <a:graphicData uri="http://schemas.openxmlformats.org/drawingml/2006/table">
            <a:tbl>
              <a:tblPr firstRow="1" bandRow="1">
                <a:tableStyleId>{5C22544A-7EE6-4342-B048-85BDC9FD1C3A}</a:tableStyleId>
              </a:tblPr>
              <a:tblGrid>
                <a:gridCol w="343568">
                  <a:extLst>
                    <a:ext uri="{9D8B030D-6E8A-4147-A177-3AD203B41FA5}">
                      <a16:colId xmlns:a16="http://schemas.microsoft.com/office/drawing/2014/main" val="279041293"/>
                    </a:ext>
                  </a:extLst>
                </a:gridCol>
                <a:gridCol w="2316824">
                  <a:extLst>
                    <a:ext uri="{9D8B030D-6E8A-4147-A177-3AD203B41FA5}">
                      <a16:colId xmlns:a16="http://schemas.microsoft.com/office/drawing/2014/main" val="1769139613"/>
                    </a:ext>
                  </a:extLst>
                </a:gridCol>
                <a:gridCol w="935995">
                  <a:extLst>
                    <a:ext uri="{9D8B030D-6E8A-4147-A177-3AD203B41FA5}">
                      <a16:colId xmlns:a16="http://schemas.microsoft.com/office/drawing/2014/main" val="2390303899"/>
                    </a:ext>
                  </a:extLst>
                </a:gridCol>
                <a:gridCol w="935995">
                  <a:extLst>
                    <a:ext uri="{9D8B030D-6E8A-4147-A177-3AD203B41FA5}">
                      <a16:colId xmlns:a16="http://schemas.microsoft.com/office/drawing/2014/main" val="3201373435"/>
                    </a:ext>
                  </a:extLst>
                </a:gridCol>
                <a:gridCol w="750343">
                  <a:extLst>
                    <a:ext uri="{9D8B030D-6E8A-4147-A177-3AD203B41FA5}">
                      <a16:colId xmlns:a16="http://schemas.microsoft.com/office/drawing/2014/main" val="4223384442"/>
                    </a:ext>
                  </a:extLst>
                </a:gridCol>
                <a:gridCol w="835434">
                  <a:extLst>
                    <a:ext uri="{9D8B030D-6E8A-4147-A177-3AD203B41FA5}">
                      <a16:colId xmlns:a16="http://schemas.microsoft.com/office/drawing/2014/main" val="1379525383"/>
                    </a:ext>
                  </a:extLst>
                </a:gridCol>
                <a:gridCol w="920523">
                  <a:extLst>
                    <a:ext uri="{9D8B030D-6E8A-4147-A177-3AD203B41FA5}">
                      <a16:colId xmlns:a16="http://schemas.microsoft.com/office/drawing/2014/main" val="411652451"/>
                    </a:ext>
                  </a:extLst>
                </a:gridCol>
                <a:gridCol w="603369">
                  <a:extLst>
                    <a:ext uri="{9D8B030D-6E8A-4147-A177-3AD203B41FA5}">
                      <a16:colId xmlns:a16="http://schemas.microsoft.com/office/drawing/2014/main" val="3439538324"/>
                    </a:ext>
                  </a:extLst>
                </a:gridCol>
                <a:gridCol w="3880023">
                  <a:extLst>
                    <a:ext uri="{9D8B030D-6E8A-4147-A177-3AD203B41FA5}">
                      <a16:colId xmlns:a16="http://schemas.microsoft.com/office/drawing/2014/main" val="3742537535"/>
                    </a:ext>
                  </a:extLst>
                </a:gridCol>
              </a:tblGrid>
              <a:tr h="432027">
                <a:tc>
                  <a:txBody>
                    <a:bodyPr/>
                    <a:lstStyle/>
                    <a:p>
                      <a:r>
                        <a:rPr kumimoji="1" lang="en-US" altLang="ja-JP" sz="12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課題</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重要度</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緊急度</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報告者</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担当者</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最終更新日</a:t>
                      </a:r>
                    </a:p>
                  </a:txBody>
                  <a:tcPr>
                    <a:solidFill>
                      <a:schemeClr val="tx2">
                        <a:lumMod val="75000"/>
                        <a:lumOff val="25000"/>
                      </a:schemeClr>
                    </a:solidFill>
                  </a:tcPr>
                </a:tc>
                <a:tc>
                  <a:txBody>
                    <a:bodyPr/>
                    <a:lstStyle/>
                    <a:p>
                      <a:r>
                        <a:rPr kumimoji="1" lang="ja-JP" altLang="en-US" sz="1200" dirty="0">
                          <a:solidFill>
                            <a:schemeClr val="bg1"/>
                          </a:solidFill>
                          <a:latin typeface="BIZ UDPゴシック" panose="020B0400000000000000" pitchFamily="50" charset="-128"/>
                          <a:ea typeface="BIZ UDPゴシック" panose="020B0400000000000000" pitchFamily="50" charset="-128"/>
                        </a:rPr>
                        <a:t>状態</a:t>
                      </a:r>
                    </a:p>
                  </a:txBody>
                  <a:tcPr>
                    <a:solidFill>
                      <a:schemeClr val="tx2">
                        <a:lumMod val="75000"/>
                        <a:lumOff val="25000"/>
                      </a:schemeClr>
                    </a:solidFill>
                  </a:tcPr>
                </a:tc>
                <a:tc>
                  <a:txBody>
                    <a:bodyPr/>
                    <a:lstStyle/>
                    <a:p>
                      <a:endParaRPr kumimoji="1" lang="ja-JP" altLang="en-US" sz="1200" dirty="0">
                        <a:solidFill>
                          <a:schemeClr val="bg1"/>
                        </a:solidFill>
                        <a:latin typeface="BIZ UDPゴシック" panose="020B0400000000000000" pitchFamily="50" charset="-128"/>
                        <a:ea typeface="BIZ UDPゴシック" panose="020B0400000000000000" pitchFamily="50" charset="-128"/>
                      </a:endParaRPr>
                    </a:p>
                  </a:txBody>
                  <a:tcPr>
                    <a:solidFill>
                      <a:schemeClr val="tx2">
                        <a:lumMod val="75000"/>
                        <a:lumOff val="25000"/>
                      </a:schemeClr>
                    </a:solidFill>
                  </a:tcPr>
                </a:tc>
                <a:extLst>
                  <a:ext uri="{0D108BD9-81ED-4DB2-BD59-A6C34878D82A}">
                    <a16:rowId xmlns:a16="http://schemas.microsoft.com/office/drawing/2014/main" val="1515397185"/>
                  </a:ext>
                </a:extLst>
              </a:tr>
              <a:tr h="432027">
                <a:tc>
                  <a:txBody>
                    <a:bodyPr/>
                    <a:lstStyle/>
                    <a:p>
                      <a:r>
                        <a:rPr kumimoji="1" lang="en-US" altLang="ja-JP" sz="1200" dirty="0">
                          <a:latin typeface="BIZ UDPゴシック" panose="020B0400000000000000" pitchFamily="50" charset="-128"/>
                          <a:ea typeface="BIZ UDPゴシック" panose="020B0400000000000000" pitchFamily="50" charset="-128"/>
                        </a:rPr>
                        <a:t>1</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プロジェクトリーダーの実務工数が捻出できない</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高</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低</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あああ</a:t>
                      </a:r>
                    </a:p>
                  </a:txBody>
                  <a:tcPr>
                    <a:solidFill>
                      <a:schemeClr val="bg1">
                        <a:lumMod val="95000"/>
                      </a:schemeClr>
                    </a:solidFill>
                  </a:tcPr>
                </a:tc>
                <a:tc>
                  <a:txBody>
                    <a:bodyPr/>
                    <a:lstStyle/>
                    <a:p>
                      <a:pPr marL="0" indent="0">
                        <a:buFont typeface="Arial" panose="020B0604020202020204" pitchFamily="34" charset="0"/>
                        <a:buNone/>
                      </a:pPr>
                      <a:r>
                        <a:rPr kumimoji="1" lang="ja-JP" altLang="en-US" sz="1200" dirty="0">
                          <a:latin typeface="BIZ UDPゴシック" panose="020B0400000000000000" pitchFamily="50" charset="-128"/>
                          <a:ea typeface="BIZ UDPゴシック" panose="020B0400000000000000" pitchFamily="50" charset="-128"/>
                        </a:rPr>
                        <a:t>いいい</a:t>
                      </a:r>
                    </a:p>
                  </a:txBody>
                  <a:tcPr>
                    <a:solidFill>
                      <a:schemeClr val="bg1">
                        <a:lumMod val="95000"/>
                      </a:schemeClr>
                    </a:solidFill>
                  </a:tcPr>
                </a:tc>
                <a:tc>
                  <a:txBody>
                    <a:bodyPr/>
                    <a:lstStyle/>
                    <a:p>
                      <a:r>
                        <a:rPr kumimoji="1" lang="en-US" altLang="ja-JP" sz="1200" dirty="0">
                          <a:latin typeface="BIZ UDPゴシック" panose="020B0400000000000000" pitchFamily="50" charset="-128"/>
                          <a:ea typeface="BIZ UDPゴシック" panose="020B0400000000000000" pitchFamily="50" charset="-128"/>
                        </a:rPr>
                        <a:t>2025/10/xx</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対応中</a:t>
                      </a:r>
                    </a:p>
                  </a:txBody>
                  <a:tcPr>
                    <a:solidFill>
                      <a:schemeClr val="bg1">
                        <a:lumMod val="95000"/>
                      </a:schemeClr>
                    </a:solidFill>
                  </a:tcPr>
                </a:tc>
                <a:tc>
                  <a:txBody>
                    <a:bodyPr/>
                    <a:lstStyle/>
                    <a:p>
                      <a:r>
                        <a:rPr kumimoji="1" lang="ja-JP" altLang="en-US" sz="1200" dirty="0">
                          <a:latin typeface="BIZ UDPゴシック" panose="020B0400000000000000" pitchFamily="50" charset="-128"/>
                          <a:ea typeface="BIZ UDPゴシック" panose="020B0400000000000000" pitchFamily="50" charset="-128"/>
                        </a:rPr>
                        <a:t>実務工数のモニタリングを実施する。警告しきい値を超えた時点でプロジェクトオーナーに報告して対処案を決定する</a:t>
                      </a:r>
                    </a:p>
                  </a:txBody>
                  <a:tcPr>
                    <a:solidFill>
                      <a:schemeClr val="bg1">
                        <a:lumMod val="95000"/>
                      </a:schemeClr>
                    </a:solidFill>
                  </a:tcPr>
                </a:tc>
                <a:extLst>
                  <a:ext uri="{0D108BD9-81ED-4DB2-BD59-A6C34878D82A}">
                    <a16:rowId xmlns:a16="http://schemas.microsoft.com/office/drawing/2014/main" val="1031105590"/>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2</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2247178784"/>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3</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3489119852"/>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4</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99895045"/>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5</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indent="-182563">
                        <a:buFont typeface="Arial" panose="020B0604020202020204" pitchFamily="34" charset="0"/>
                        <a:buChar cha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0" marR="0" lvl="0" indent="0" algn="l" defTabSz="914373" rtl="0" eaLnBrk="1" fontAlgn="auto" latinLnBrk="0" hangingPunct="1">
                        <a:lnSpc>
                          <a:spcPct val="100000"/>
                        </a:lnSpc>
                        <a:spcBef>
                          <a:spcPts val="0"/>
                        </a:spcBef>
                        <a:spcAft>
                          <a:spcPts val="0"/>
                        </a:spcAft>
                        <a:buClrTx/>
                        <a:buSzTx/>
                        <a:buFontTx/>
                        <a:buNone/>
                        <a:tabLst/>
                        <a:defRP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587732588"/>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6</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en-US" altLang="ja-JP"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182563" marR="0" lvl="0" indent="-182563" algn="l" defTabSz="914373"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pPr marL="0" marR="0" lvl="0" indent="0" algn="l" defTabSz="914373" rtl="0" eaLnBrk="1" fontAlgn="auto" latinLnBrk="0" hangingPunct="1">
                        <a:lnSpc>
                          <a:spcPct val="100000"/>
                        </a:lnSpc>
                        <a:spcBef>
                          <a:spcPts val="0"/>
                        </a:spcBef>
                        <a:spcAft>
                          <a:spcPts val="0"/>
                        </a:spcAft>
                        <a:buClrTx/>
                        <a:buSzTx/>
                        <a:buFontTx/>
                        <a:buNone/>
                        <a:tabLst/>
                        <a:defRPr/>
                      </a:pP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613087573"/>
                  </a:ext>
                </a:extLst>
              </a:tr>
              <a:tr h="348763">
                <a:tc>
                  <a:txBody>
                    <a:bodyPr/>
                    <a:lstStyle/>
                    <a:p>
                      <a:r>
                        <a:rPr kumimoji="1" lang="en-US" altLang="ja-JP" sz="1200" dirty="0">
                          <a:latin typeface="BIZ UDPゴシック" panose="020B0400000000000000" pitchFamily="50" charset="-128"/>
                          <a:ea typeface="BIZ UDPゴシック" panose="020B0400000000000000" pitchFamily="50" charset="-128"/>
                        </a:rPr>
                        <a:t>7</a:t>
                      </a:r>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tc>
                  <a:txBody>
                    <a:bodyPr/>
                    <a:lstStyle/>
                    <a:p>
                      <a:endParaRPr kumimoji="1" lang="ja-JP" altLang="en-US" sz="1200" dirty="0">
                        <a:latin typeface="BIZ UDPゴシック" panose="020B0400000000000000" pitchFamily="50" charset="-128"/>
                        <a:ea typeface="BIZ UDPゴシック" panose="020B0400000000000000" pitchFamily="50" charset="-128"/>
                      </a:endParaRPr>
                    </a:p>
                  </a:txBody>
                  <a:tcPr>
                    <a:solidFill>
                      <a:schemeClr val="bg1">
                        <a:lumMod val="95000"/>
                      </a:schemeClr>
                    </a:solidFill>
                  </a:tcPr>
                </a:tc>
                <a:extLst>
                  <a:ext uri="{0D108BD9-81ED-4DB2-BD59-A6C34878D82A}">
                    <a16:rowId xmlns:a16="http://schemas.microsoft.com/office/drawing/2014/main" val="1349657474"/>
                  </a:ext>
                </a:extLst>
              </a:tr>
            </a:tbl>
          </a:graphicData>
        </a:graphic>
      </p:graphicFrame>
    </p:spTree>
    <p:extLst>
      <p:ext uri="{BB962C8B-B14F-4D97-AF65-F5344CB8AC3E}">
        <p14:creationId xmlns:p14="http://schemas.microsoft.com/office/powerpoint/2010/main" val="32183316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D0361D5-F95A-A36C-7B2C-140DBFDF7EC3}"/>
              </a:ext>
            </a:extLst>
          </p:cNvPr>
          <p:cNvSpPr>
            <a:spLocks noGrp="1"/>
          </p:cNvSpPr>
          <p:nvPr>
            <p:ph type="title"/>
          </p:nvPr>
        </p:nvSpPr>
        <p:spPr/>
        <p:txBody>
          <a:bodyPr/>
          <a:lstStyle/>
          <a:p>
            <a:r>
              <a:rPr kumimoji="1" lang="ja-JP" altLang="en-US" dirty="0"/>
              <a:t>成果物構造</a:t>
            </a:r>
          </a:p>
        </p:txBody>
      </p:sp>
      <p:sp>
        <p:nvSpPr>
          <p:cNvPr id="3" name="フッター プレースホルダー 2">
            <a:extLst>
              <a:ext uri="{FF2B5EF4-FFF2-40B4-BE49-F238E27FC236}">
                <a16:creationId xmlns:a16="http://schemas.microsoft.com/office/drawing/2014/main" id="{73A4B5B6-2D30-5974-9B0D-E9448573F085}"/>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126E4478-BD43-1B02-52AB-65021095314E}"/>
              </a:ext>
            </a:extLst>
          </p:cNvPr>
          <p:cNvSpPr>
            <a:spLocks noGrp="1"/>
          </p:cNvSpPr>
          <p:nvPr>
            <p:ph type="sldNum" sz="quarter" idx="12"/>
          </p:nvPr>
        </p:nvSpPr>
        <p:spPr/>
        <p:txBody>
          <a:bodyPr/>
          <a:lstStyle/>
          <a:p>
            <a:fld id="{DCB5AA93-092B-49A1-87A7-3C88D5F38AD7}" type="slidenum">
              <a:rPr lang="ja-JP" altLang="en-US" smtClean="0"/>
              <a:pPr/>
              <a:t>29</a:t>
            </a:fld>
            <a:endParaRPr lang="ja-JP" altLang="en-US" sz="900" dirty="0"/>
          </a:p>
        </p:txBody>
      </p:sp>
      <p:sp>
        <p:nvSpPr>
          <p:cNvPr id="5" name="テキスト プレースホルダー 4">
            <a:extLst>
              <a:ext uri="{FF2B5EF4-FFF2-40B4-BE49-F238E27FC236}">
                <a16:creationId xmlns:a16="http://schemas.microsoft.com/office/drawing/2014/main" id="{A8870B19-C2C5-1FEE-BF6A-CEA3BA1CE752}"/>
              </a:ext>
            </a:extLst>
          </p:cNvPr>
          <p:cNvSpPr>
            <a:spLocks noGrp="1"/>
          </p:cNvSpPr>
          <p:nvPr>
            <p:ph type="body" sz="quarter" idx="13"/>
          </p:nvPr>
        </p:nvSpPr>
        <p:spPr/>
        <p:txBody>
          <a:bodyPr/>
          <a:lstStyle/>
          <a:p>
            <a:endParaRPr kumimoji="1" lang="ja-JP" altLang="en-US"/>
          </a:p>
        </p:txBody>
      </p:sp>
      <p:sp>
        <p:nvSpPr>
          <p:cNvPr id="9" name="テキスト ボックス 8">
            <a:extLst>
              <a:ext uri="{FF2B5EF4-FFF2-40B4-BE49-F238E27FC236}">
                <a16:creationId xmlns:a16="http://schemas.microsoft.com/office/drawing/2014/main" id="{51186C67-4B17-D931-056A-31F58D45493E}"/>
              </a:ext>
            </a:extLst>
          </p:cNvPr>
          <p:cNvSpPr txBox="1"/>
          <p:nvPr/>
        </p:nvSpPr>
        <p:spPr>
          <a:xfrm>
            <a:off x="1015952" y="5727473"/>
            <a:ext cx="2136823" cy="369332"/>
          </a:xfrm>
          <a:prstGeom prst="rect">
            <a:avLst/>
          </a:prstGeom>
          <a:noFill/>
        </p:spPr>
        <p:txBody>
          <a:bodyPr wrap="squar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説明</a:t>
            </a:r>
            <a:r>
              <a:rPr lang="en-US" altLang="ja-JP" sz="1200" dirty="0">
                <a:latin typeface="BIZ UDPゴシック" panose="020B0400000000000000" pitchFamily="50" charset="-128"/>
                <a:ea typeface="BIZ UDPゴシック" panose="020B0400000000000000" pitchFamily="50" charset="-128"/>
              </a:rPr>
              <a:t>A</a:t>
            </a:r>
          </a:p>
          <a:p>
            <a:pPr marL="171450" indent="-171450">
              <a:buFont typeface="Arial" panose="020B0604020202020204" pitchFamily="34" charset="0"/>
              <a:buChar char="•"/>
            </a:pPr>
            <a:r>
              <a:rPr lang="en-US" altLang="ja-JP" sz="1200" dirty="0" err="1">
                <a:latin typeface="BIZ UDPゴシック" panose="020B0400000000000000" pitchFamily="50" charset="-128"/>
                <a:ea typeface="BIZ UDPゴシック" panose="020B0400000000000000" pitchFamily="50" charset="-128"/>
              </a:rPr>
              <a:t>hogefuga</a:t>
            </a:r>
            <a:endParaRPr lang="en-US" altLang="ja-JP" sz="1200" dirty="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EA139764-D524-7195-F3B1-CA3249CC7471}"/>
              </a:ext>
            </a:extLst>
          </p:cNvPr>
          <p:cNvSpPr/>
          <p:nvPr/>
        </p:nvSpPr>
        <p:spPr>
          <a:xfrm>
            <a:off x="1015951" y="1262238"/>
            <a:ext cx="1260209" cy="35351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solidFill>
                <a:latin typeface="BIZ UDPゴシック" panose="020B0400000000000000" pitchFamily="50" charset="-128"/>
                <a:ea typeface="BIZ UDPゴシック" panose="020B0400000000000000" pitchFamily="50" charset="-128"/>
              </a:rPr>
              <a:t>プロジェクト</a:t>
            </a:r>
            <a:r>
              <a:rPr lang="en-US" altLang="ja-JP" sz="1200" dirty="0">
                <a:solidFill>
                  <a:schemeClr val="tx1"/>
                </a:solidFill>
                <a:latin typeface="BIZ UDPゴシック" panose="020B0400000000000000" pitchFamily="50" charset="-128"/>
                <a:ea typeface="BIZ UDPゴシック" panose="020B0400000000000000" pitchFamily="50" charset="-128"/>
              </a:rPr>
              <a:t>A</a:t>
            </a:r>
            <a:endParaRPr lang="ja-JP" altLang="en-US" sz="1200" dirty="0">
              <a:solidFill>
                <a:schemeClr val="tx1"/>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A75A4625-93D5-37D6-5BDB-D34E29891FB3}"/>
              </a:ext>
            </a:extLst>
          </p:cNvPr>
          <p:cNvSpPr txBox="1"/>
          <p:nvPr/>
        </p:nvSpPr>
        <p:spPr>
          <a:xfrm>
            <a:off x="360000" y="1558175"/>
            <a:ext cx="528991"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1</a:t>
            </a:r>
            <a:endParaRPr lang="ja-JP" altLang="en-US" sz="12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21DA074-D3F6-D7F8-B6EB-ECE89BF85E64}"/>
              </a:ext>
            </a:extLst>
          </p:cNvPr>
          <p:cNvSpPr txBox="1"/>
          <p:nvPr/>
        </p:nvSpPr>
        <p:spPr>
          <a:xfrm>
            <a:off x="360000" y="2626633"/>
            <a:ext cx="557845"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2</a:t>
            </a:r>
            <a:endParaRPr lang="ja-JP" altLang="en-US" sz="12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D2643EE9-1AF4-F08E-4C29-4E32E6E5FD3C}"/>
              </a:ext>
            </a:extLst>
          </p:cNvPr>
          <p:cNvSpPr txBox="1"/>
          <p:nvPr/>
        </p:nvSpPr>
        <p:spPr>
          <a:xfrm>
            <a:off x="360000" y="5371604"/>
            <a:ext cx="1469954"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3 -&gt; </a:t>
            </a:r>
            <a:r>
              <a:rPr lang="ja-JP" altLang="en-US" sz="1200" dirty="0">
                <a:latin typeface="BIZ UDPゴシック" panose="020B0400000000000000" pitchFamily="50" charset="-128"/>
                <a:ea typeface="BIZ UDPゴシック" panose="020B0400000000000000" pitchFamily="50" charset="-128"/>
              </a:rPr>
              <a:t>ガントへ</a:t>
            </a:r>
          </a:p>
        </p:txBody>
      </p:sp>
      <p:sp>
        <p:nvSpPr>
          <p:cNvPr id="14" name="正方形/長方形 13">
            <a:extLst>
              <a:ext uri="{FF2B5EF4-FFF2-40B4-BE49-F238E27FC236}">
                <a16:creationId xmlns:a16="http://schemas.microsoft.com/office/drawing/2014/main" id="{17E4F9FA-8AF7-EF93-D814-9FFC53BD4BA3}"/>
              </a:ext>
            </a:extLst>
          </p:cNvPr>
          <p:cNvSpPr/>
          <p:nvPr/>
        </p:nvSpPr>
        <p:spPr>
          <a:xfrm>
            <a:off x="1015951" y="2277541"/>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プロジェクト</a:t>
            </a:r>
            <a:endParaRPr lang="en-US" altLang="ja-JP" sz="12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マネジメント</a:t>
            </a:r>
          </a:p>
        </p:txBody>
      </p:sp>
      <p:sp>
        <p:nvSpPr>
          <p:cNvPr id="15" name="正方形/長方形 14">
            <a:extLst>
              <a:ext uri="{FF2B5EF4-FFF2-40B4-BE49-F238E27FC236}">
                <a16:creationId xmlns:a16="http://schemas.microsoft.com/office/drawing/2014/main" id="{5665DE48-BF24-6D7B-639A-8791838DEAB9}"/>
              </a:ext>
            </a:extLst>
          </p:cNvPr>
          <p:cNvSpPr/>
          <p:nvPr/>
        </p:nvSpPr>
        <p:spPr>
          <a:xfrm>
            <a:off x="319205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要求仕様</a:t>
            </a:r>
          </a:p>
        </p:txBody>
      </p:sp>
      <p:sp>
        <p:nvSpPr>
          <p:cNvPr id="16" name="正方形/長方形 15">
            <a:extLst>
              <a:ext uri="{FF2B5EF4-FFF2-40B4-BE49-F238E27FC236}">
                <a16:creationId xmlns:a16="http://schemas.microsoft.com/office/drawing/2014/main" id="{4712F872-0678-84F8-7EC7-A6A989351636}"/>
              </a:ext>
            </a:extLst>
          </p:cNvPr>
          <p:cNvSpPr/>
          <p:nvPr/>
        </p:nvSpPr>
        <p:spPr>
          <a:xfrm>
            <a:off x="534241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設計仕様</a:t>
            </a:r>
          </a:p>
        </p:txBody>
      </p:sp>
      <p:sp>
        <p:nvSpPr>
          <p:cNvPr id="17" name="正方形/長方形 16">
            <a:extLst>
              <a:ext uri="{FF2B5EF4-FFF2-40B4-BE49-F238E27FC236}">
                <a16:creationId xmlns:a16="http://schemas.microsoft.com/office/drawing/2014/main" id="{2C7A0328-0BCA-A139-0829-E409A8026E0C}"/>
              </a:ext>
            </a:extLst>
          </p:cNvPr>
          <p:cNvSpPr/>
          <p:nvPr/>
        </p:nvSpPr>
        <p:spPr>
          <a:xfrm>
            <a:off x="749277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ソフトウェア</a:t>
            </a:r>
          </a:p>
        </p:txBody>
      </p:sp>
      <p:sp>
        <p:nvSpPr>
          <p:cNvPr id="18" name="正方形/長方形 17">
            <a:extLst>
              <a:ext uri="{FF2B5EF4-FFF2-40B4-BE49-F238E27FC236}">
                <a16:creationId xmlns:a16="http://schemas.microsoft.com/office/drawing/2014/main" id="{F41DB0E3-9F94-11F3-62BB-3D729EFCED13}"/>
              </a:ext>
            </a:extLst>
          </p:cNvPr>
          <p:cNvSpPr/>
          <p:nvPr/>
        </p:nvSpPr>
        <p:spPr>
          <a:xfrm>
            <a:off x="9668883" y="2319415"/>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テスト仕様</a:t>
            </a:r>
          </a:p>
        </p:txBody>
      </p:sp>
      <p:sp>
        <p:nvSpPr>
          <p:cNvPr id="19" name="正方形/長方形 18">
            <a:extLst>
              <a:ext uri="{FF2B5EF4-FFF2-40B4-BE49-F238E27FC236}">
                <a16:creationId xmlns:a16="http://schemas.microsoft.com/office/drawing/2014/main" id="{0BC4929C-ED3B-02F7-0E85-AB61BB6C49D7}"/>
              </a:ext>
            </a:extLst>
          </p:cNvPr>
          <p:cNvSpPr/>
          <p:nvPr/>
        </p:nvSpPr>
        <p:spPr>
          <a:xfrm>
            <a:off x="1892566" y="314138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進捗報告</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サマリー</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20" name="コネクタ: カギ線 19">
            <a:extLst>
              <a:ext uri="{FF2B5EF4-FFF2-40B4-BE49-F238E27FC236}">
                <a16:creationId xmlns:a16="http://schemas.microsoft.com/office/drawing/2014/main" id="{555D45B0-FD23-BCE0-855B-416EBA0F8A06}"/>
              </a:ext>
            </a:extLst>
          </p:cNvPr>
          <p:cNvCxnSpPr>
            <a:cxnSpLocks/>
            <a:stCxn id="10" idx="2"/>
            <a:endCxn id="15" idx="0"/>
          </p:cNvCxnSpPr>
          <p:nvPr/>
        </p:nvCxnSpPr>
        <p:spPr>
          <a:xfrm rot="16200000" flipH="1">
            <a:off x="2392662" y="869142"/>
            <a:ext cx="682895" cy="2176106"/>
          </a:xfrm>
          <a:prstGeom prst="bentConnector3">
            <a:avLst>
              <a:gd name="adj1" fmla="val 50000"/>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21" name="コネクタ: カギ線 20">
            <a:extLst>
              <a:ext uri="{FF2B5EF4-FFF2-40B4-BE49-F238E27FC236}">
                <a16:creationId xmlns:a16="http://schemas.microsoft.com/office/drawing/2014/main" id="{44A7E9D6-01D4-FB8E-94D3-F4E52CF2874F}"/>
              </a:ext>
            </a:extLst>
          </p:cNvPr>
          <p:cNvCxnSpPr>
            <a:cxnSpLocks/>
            <a:stCxn id="14" idx="2"/>
            <a:endCxn id="19" idx="1"/>
          </p:cNvCxnSpPr>
          <p:nvPr/>
        </p:nvCxnSpPr>
        <p:spPr>
          <a:xfrm rot="16200000" flipH="1">
            <a:off x="1425768" y="2851339"/>
            <a:ext cx="687086" cy="24651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22" name="正方形/長方形 21">
            <a:extLst>
              <a:ext uri="{FF2B5EF4-FFF2-40B4-BE49-F238E27FC236}">
                <a16:creationId xmlns:a16="http://schemas.microsoft.com/office/drawing/2014/main" id="{1E54F3A5-EDDB-A9DA-BBAE-98953CE7B254}"/>
              </a:ext>
            </a:extLst>
          </p:cNvPr>
          <p:cNvSpPr/>
          <p:nvPr/>
        </p:nvSpPr>
        <p:spPr>
          <a:xfrm>
            <a:off x="1892566" y="36329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計画書・証跡</a:t>
            </a:r>
          </a:p>
        </p:txBody>
      </p:sp>
      <p:sp>
        <p:nvSpPr>
          <p:cNvPr id="23" name="正方形/長方形 22">
            <a:extLst>
              <a:ext uri="{FF2B5EF4-FFF2-40B4-BE49-F238E27FC236}">
                <a16:creationId xmlns:a16="http://schemas.microsoft.com/office/drawing/2014/main" id="{ECEF557E-7F3B-BFBD-A74F-73B7A58714C0}"/>
              </a:ext>
            </a:extLst>
          </p:cNvPr>
          <p:cNvSpPr/>
          <p:nvPr/>
        </p:nvSpPr>
        <p:spPr>
          <a:xfrm>
            <a:off x="1892566" y="412185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ヒアリング</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シート</a:t>
            </a:r>
          </a:p>
        </p:txBody>
      </p:sp>
      <p:sp>
        <p:nvSpPr>
          <p:cNvPr id="24" name="正方形/長方形 23">
            <a:extLst>
              <a:ext uri="{FF2B5EF4-FFF2-40B4-BE49-F238E27FC236}">
                <a16:creationId xmlns:a16="http://schemas.microsoft.com/office/drawing/2014/main" id="{1C0623BB-4931-798D-66AC-7E0AB3B1B052}"/>
              </a:ext>
            </a:extLst>
          </p:cNvPr>
          <p:cNvSpPr/>
          <p:nvPr/>
        </p:nvSpPr>
        <p:spPr>
          <a:xfrm>
            <a:off x="4126611" y="314138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システム要求</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E71B4F4A-DAD7-5758-3878-92BA52F2B249}"/>
              </a:ext>
            </a:extLst>
          </p:cNvPr>
          <p:cNvSpPr/>
          <p:nvPr/>
        </p:nvSpPr>
        <p:spPr>
          <a:xfrm>
            <a:off x="4126611" y="36329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ソフトウェア</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要求</a:t>
            </a:r>
          </a:p>
        </p:txBody>
      </p:sp>
      <p:sp>
        <p:nvSpPr>
          <p:cNvPr id="26" name="正方形/長方形 25">
            <a:extLst>
              <a:ext uri="{FF2B5EF4-FFF2-40B4-BE49-F238E27FC236}">
                <a16:creationId xmlns:a16="http://schemas.microsoft.com/office/drawing/2014/main" id="{C1F42B0F-73E8-8EFB-BBC8-8322D820EB62}"/>
              </a:ext>
            </a:extLst>
          </p:cNvPr>
          <p:cNvSpPr/>
          <p:nvPr/>
        </p:nvSpPr>
        <p:spPr>
          <a:xfrm>
            <a:off x="4126611" y="412185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機能要件</a:t>
            </a:r>
          </a:p>
        </p:txBody>
      </p:sp>
      <p:sp>
        <p:nvSpPr>
          <p:cNvPr id="27" name="正方形/長方形 26">
            <a:extLst>
              <a:ext uri="{FF2B5EF4-FFF2-40B4-BE49-F238E27FC236}">
                <a16:creationId xmlns:a16="http://schemas.microsoft.com/office/drawing/2014/main" id="{4601D094-98E1-2B08-738B-6D513621A5CD}"/>
              </a:ext>
            </a:extLst>
          </p:cNvPr>
          <p:cNvSpPr/>
          <p:nvPr/>
        </p:nvSpPr>
        <p:spPr>
          <a:xfrm>
            <a:off x="6320232" y="314685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アーキテクチャ</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8" name="正方形/長方形 27">
            <a:extLst>
              <a:ext uri="{FF2B5EF4-FFF2-40B4-BE49-F238E27FC236}">
                <a16:creationId xmlns:a16="http://schemas.microsoft.com/office/drawing/2014/main" id="{858E4B80-D358-C2A4-4743-E11242BDF048}"/>
              </a:ext>
            </a:extLst>
          </p:cNvPr>
          <p:cNvSpPr/>
          <p:nvPr/>
        </p:nvSpPr>
        <p:spPr>
          <a:xfrm>
            <a:off x="6320232" y="363839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ソフトウェア</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要求</a:t>
            </a:r>
          </a:p>
        </p:txBody>
      </p:sp>
      <p:sp>
        <p:nvSpPr>
          <p:cNvPr id="29" name="正方形/長方形 28">
            <a:extLst>
              <a:ext uri="{FF2B5EF4-FFF2-40B4-BE49-F238E27FC236}">
                <a16:creationId xmlns:a16="http://schemas.microsoft.com/office/drawing/2014/main" id="{63763177-CE6D-3414-0A69-9273C8BF3528}"/>
              </a:ext>
            </a:extLst>
          </p:cNvPr>
          <p:cNvSpPr/>
          <p:nvPr/>
        </p:nvSpPr>
        <p:spPr>
          <a:xfrm>
            <a:off x="6320232" y="412733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インタフェース</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仕様</a:t>
            </a:r>
          </a:p>
        </p:txBody>
      </p:sp>
      <p:sp>
        <p:nvSpPr>
          <p:cNvPr id="30" name="正方形/長方形 29">
            <a:extLst>
              <a:ext uri="{FF2B5EF4-FFF2-40B4-BE49-F238E27FC236}">
                <a16:creationId xmlns:a16="http://schemas.microsoft.com/office/drawing/2014/main" id="{D36C2E9C-2A91-D4FF-6FE1-5FF3576492D9}"/>
              </a:ext>
            </a:extLst>
          </p:cNvPr>
          <p:cNvSpPr/>
          <p:nvPr/>
        </p:nvSpPr>
        <p:spPr>
          <a:xfrm>
            <a:off x="8513853" y="3146675"/>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開発環境</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A616261F-87EF-75CD-A39E-824E29F0D925}"/>
              </a:ext>
            </a:extLst>
          </p:cNvPr>
          <p:cNvSpPr/>
          <p:nvPr/>
        </p:nvSpPr>
        <p:spPr>
          <a:xfrm>
            <a:off x="8513853" y="3638211"/>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ソースコード</a:t>
            </a:r>
          </a:p>
        </p:txBody>
      </p:sp>
      <p:sp>
        <p:nvSpPr>
          <p:cNvPr id="32" name="正方形/長方形 31">
            <a:extLst>
              <a:ext uri="{FF2B5EF4-FFF2-40B4-BE49-F238E27FC236}">
                <a16:creationId xmlns:a16="http://schemas.microsoft.com/office/drawing/2014/main" id="{0123EA15-64B1-9C8A-511B-36C2C53B5292}"/>
              </a:ext>
            </a:extLst>
          </p:cNvPr>
          <p:cNvSpPr/>
          <p:nvPr/>
        </p:nvSpPr>
        <p:spPr>
          <a:xfrm>
            <a:off x="8513853" y="4127149"/>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静的解析</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3" name="正方形/長方形 32">
            <a:extLst>
              <a:ext uri="{FF2B5EF4-FFF2-40B4-BE49-F238E27FC236}">
                <a16:creationId xmlns:a16="http://schemas.microsoft.com/office/drawing/2014/main" id="{101E2625-8F48-C72E-7AA0-8D5AF4FDDEC9}"/>
              </a:ext>
            </a:extLst>
          </p:cNvPr>
          <p:cNvSpPr/>
          <p:nvPr/>
        </p:nvSpPr>
        <p:spPr>
          <a:xfrm>
            <a:off x="10689958" y="314593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テストケース</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4" name="正方形/長方形 33">
            <a:extLst>
              <a:ext uri="{FF2B5EF4-FFF2-40B4-BE49-F238E27FC236}">
                <a16:creationId xmlns:a16="http://schemas.microsoft.com/office/drawing/2014/main" id="{239F2BB8-A798-C1A6-A55B-140DAD7BCB43}"/>
              </a:ext>
            </a:extLst>
          </p:cNvPr>
          <p:cNvSpPr/>
          <p:nvPr/>
        </p:nvSpPr>
        <p:spPr>
          <a:xfrm>
            <a:off x="10689958" y="3637470"/>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成績書</a:t>
            </a:r>
          </a:p>
        </p:txBody>
      </p:sp>
      <p:sp>
        <p:nvSpPr>
          <p:cNvPr id="35" name="正方形/長方形 34">
            <a:extLst>
              <a:ext uri="{FF2B5EF4-FFF2-40B4-BE49-F238E27FC236}">
                <a16:creationId xmlns:a16="http://schemas.microsoft.com/office/drawing/2014/main" id="{DE5568A7-8502-C100-885F-B712B41F1CA3}"/>
              </a:ext>
            </a:extLst>
          </p:cNvPr>
          <p:cNvSpPr/>
          <p:nvPr/>
        </p:nvSpPr>
        <p:spPr>
          <a:xfrm>
            <a:off x="10689958" y="412640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手順書</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6" name="正方形/長方形 35">
            <a:extLst>
              <a:ext uri="{FF2B5EF4-FFF2-40B4-BE49-F238E27FC236}">
                <a16:creationId xmlns:a16="http://schemas.microsoft.com/office/drawing/2014/main" id="{AE2F5910-9A09-0EA7-5AC1-51F3021A478C}"/>
              </a:ext>
            </a:extLst>
          </p:cNvPr>
          <p:cNvSpPr/>
          <p:nvPr/>
        </p:nvSpPr>
        <p:spPr>
          <a:xfrm>
            <a:off x="1892566" y="459952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構成管理</a:t>
            </a:r>
          </a:p>
        </p:txBody>
      </p:sp>
      <p:sp>
        <p:nvSpPr>
          <p:cNvPr id="37" name="正方形/長方形 36">
            <a:extLst>
              <a:ext uri="{FF2B5EF4-FFF2-40B4-BE49-F238E27FC236}">
                <a16:creationId xmlns:a16="http://schemas.microsoft.com/office/drawing/2014/main" id="{78C46EF5-1965-C52A-1A10-116B46BCFD5A}"/>
              </a:ext>
            </a:extLst>
          </p:cNvPr>
          <p:cNvSpPr/>
          <p:nvPr/>
        </p:nvSpPr>
        <p:spPr>
          <a:xfrm>
            <a:off x="1892566" y="508846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課題ログ</a:t>
            </a:r>
          </a:p>
        </p:txBody>
      </p:sp>
      <p:sp>
        <p:nvSpPr>
          <p:cNvPr id="38" name="正方形/長方形 37">
            <a:extLst>
              <a:ext uri="{FF2B5EF4-FFF2-40B4-BE49-F238E27FC236}">
                <a16:creationId xmlns:a16="http://schemas.microsoft.com/office/drawing/2014/main" id="{84893CC7-3DFF-C6DB-E4AE-DEB2B7399124}"/>
              </a:ext>
            </a:extLst>
          </p:cNvPr>
          <p:cNvSpPr/>
          <p:nvPr/>
        </p:nvSpPr>
        <p:spPr>
          <a:xfrm>
            <a:off x="4126611" y="459952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性能要件</a:t>
            </a:r>
          </a:p>
        </p:txBody>
      </p:sp>
      <p:sp>
        <p:nvSpPr>
          <p:cNvPr id="39" name="正方形/長方形 38">
            <a:extLst>
              <a:ext uri="{FF2B5EF4-FFF2-40B4-BE49-F238E27FC236}">
                <a16:creationId xmlns:a16="http://schemas.microsoft.com/office/drawing/2014/main" id="{94038B48-D928-0A52-F35A-AD9F4C7B477C}"/>
              </a:ext>
            </a:extLst>
          </p:cNvPr>
          <p:cNvSpPr/>
          <p:nvPr/>
        </p:nvSpPr>
        <p:spPr>
          <a:xfrm>
            <a:off x="4126611" y="508846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ヒアリング</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シート</a:t>
            </a:r>
          </a:p>
        </p:txBody>
      </p:sp>
      <p:sp>
        <p:nvSpPr>
          <p:cNvPr id="40" name="正方形/長方形 39">
            <a:extLst>
              <a:ext uri="{FF2B5EF4-FFF2-40B4-BE49-F238E27FC236}">
                <a16:creationId xmlns:a16="http://schemas.microsoft.com/office/drawing/2014/main" id="{1F01ADE3-6125-D8DE-F393-F998A9438510}"/>
              </a:ext>
            </a:extLst>
          </p:cNvPr>
          <p:cNvSpPr/>
          <p:nvPr/>
        </p:nvSpPr>
        <p:spPr>
          <a:xfrm>
            <a:off x="6320232" y="460500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状態遷移</a:t>
            </a:r>
          </a:p>
        </p:txBody>
      </p:sp>
      <p:sp>
        <p:nvSpPr>
          <p:cNvPr id="41" name="正方形/長方形 40">
            <a:extLst>
              <a:ext uri="{FF2B5EF4-FFF2-40B4-BE49-F238E27FC236}">
                <a16:creationId xmlns:a16="http://schemas.microsoft.com/office/drawing/2014/main" id="{2D5D92D6-297A-105D-98C0-3165413D063A}"/>
              </a:ext>
            </a:extLst>
          </p:cNvPr>
          <p:cNvSpPr/>
          <p:nvPr/>
        </p:nvSpPr>
        <p:spPr>
          <a:xfrm>
            <a:off x="6320232" y="509394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ロジック設計</a:t>
            </a:r>
          </a:p>
        </p:txBody>
      </p:sp>
      <p:sp>
        <p:nvSpPr>
          <p:cNvPr id="42" name="正方形/長方形 41">
            <a:extLst>
              <a:ext uri="{FF2B5EF4-FFF2-40B4-BE49-F238E27FC236}">
                <a16:creationId xmlns:a16="http://schemas.microsoft.com/office/drawing/2014/main" id="{663BDCE7-FC8E-EDEF-04CB-3850F14E739E}"/>
              </a:ext>
            </a:extLst>
          </p:cNvPr>
          <p:cNvSpPr/>
          <p:nvPr/>
        </p:nvSpPr>
        <p:spPr>
          <a:xfrm>
            <a:off x="8513853" y="4604821"/>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コーディング</a:t>
            </a:r>
            <a:endParaRPr lang="en-US" altLang="ja-JP" sz="12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ルール</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3" name="正方形/長方形 42">
            <a:extLst>
              <a:ext uri="{FF2B5EF4-FFF2-40B4-BE49-F238E27FC236}">
                <a16:creationId xmlns:a16="http://schemas.microsoft.com/office/drawing/2014/main" id="{B1DC5EB1-3BE8-6D15-D866-FB8DEAA74E40}"/>
              </a:ext>
            </a:extLst>
          </p:cNvPr>
          <p:cNvSpPr/>
          <p:nvPr/>
        </p:nvSpPr>
        <p:spPr>
          <a:xfrm>
            <a:off x="8513853" y="5093759"/>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マニュアル</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F9958FE4-461A-209B-5CB3-FC704CEC9F6B}"/>
              </a:ext>
            </a:extLst>
          </p:cNvPr>
          <p:cNvSpPr/>
          <p:nvPr/>
        </p:nvSpPr>
        <p:spPr>
          <a:xfrm>
            <a:off x="10689958" y="4604080"/>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品質判定</a:t>
            </a:r>
          </a:p>
        </p:txBody>
      </p:sp>
      <p:sp>
        <p:nvSpPr>
          <p:cNvPr id="45" name="正方形/長方形 44">
            <a:extLst>
              <a:ext uri="{FF2B5EF4-FFF2-40B4-BE49-F238E27FC236}">
                <a16:creationId xmlns:a16="http://schemas.microsoft.com/office/drawing/2014/main" id="{E56BDB69-5553-EC7E-EAD4-C8F0239EF59E}"/>
              </a:ext>
            </a:extLst>
          </p:cNvPr>
          <p:cNvSpPr/>
          <p:nvPr/>
        </p:nvSpPr>
        <p:spPr>
          <a:xfrm>
            <a:off x="10689958" y="50930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マニュアル</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46" name="コネクタ: カギ線 45">
            <a:extLst>
              <a:ext uri="{FF2B5EF4-FFF2-40B4-BE49-F238E27FC236}">
                <a16:creationId xmlns:a16="http://schemas.microsoft.com/office/drawing/2014/main" id="{897A13EE-290D-0478-2699-1CF01017EE8D}"/>
              </a:ext>
            </a:extLst>
          </p:cNvPr>
          <p:cNvCxnSpPr>
            <a:cxnSpLocks/>
            <a:stCxn id="15" idx="2"/>
            <a:endCxn id="24" idx="1"/>
          </p:cNvCxnSpPr>
          <p:nvPr/>
        </p:nvCxnSpPr>
        <p:spPr>
          <a:xfrm rot="16200000" flipH="1">
            <a:off x="3641394" y="2832920"/>
            <a:ext cx="665984" cy="304449"/>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7" name="コネクタ: カギ線 46">
            <a:extLst>
              <a:ext uri="{FF2B5EF4-FFF2-40B4-BE49-F238E27FC236}">
                <a16:creationId xmlns:a16="http://schemas.microsoft.com/office/drawing/2014/main" id="{7F00BC30-3574-A44C-9CD5-EF80FF9041A7}"/>
              </a:ext>
            </a:extLst>
          </p:cNvPr>
          <p:cNvCxnSpPr>
            <a:cxnSpLocks/>
            <a:stCxn id="16" idx="2"/>
            <a:endCxn id="27" idx="1"/>
          </p:cNvCxnSpPr>
          <p:nvPr/>
        </p:nvCxnSpPr>
        <p:spPr>
          <a:xfrm rot="16200000" flipH="1">
            <a:off x="5810647" y="2814028"/>
            <a:ext cx="671460" cy="34771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8" name="コネクタ: カギ線 47">
            <a:extLst>
              <a:ext uri="{FF2B5EF4-FFF2-40B4-BE49-F238E27FC236}">
                <a16:creationId xmlns:a16="http://schemas.microsoft.com/office/drawing/2014/main" id="{6D3FEECA-4696-3BAD-26CF-7B7CF3E45721}"/>
              </a:ext>
            </a:extLst>
          </p:cNvPr>
          <p:cNvCxnSpPr>
            <a:cxnSpLocks/>
            <a:stCxn id="17" idx="2"/>
            <a:endCxn id="30" idx="1"/>
          </p:cNvCxnSpPr>
          <p:nvPr/>
        </p:nvCxnSpPr>
        <p:spPr>
          <a:xfrm rot="16200000" flipH="1">
            <a:off x="7982729" y="2792305"/>
            <a:ext cx="671277" cy="390971"/>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49" name="コネクタ: カギ線 48">
            <a:extLst>
              <a:ext uri="{FF2B5EF4-FFF2-40B4-BE49-F238E27FC236}">
                <a16:creationId xmlns:a16="http://schemas.microsoft.com/office/drawing/2014/main" id="{723FFD43-DDF6-6C9D-2F58-796067CAE027}"/>
              </a:ext>
            </a:extLst>
          </p:cNvPr>
          <p:cNvCxnSpPr>
            <a:cxnSpLocks/>
            <a:stCxn id="18" idx="2"/>
            <a:endCxn id="33" idx="1"/>
          </p:cNvCxnSpPr>
          <p:nvPr/>
        </p:nvCxnSpPr>
        <p:spPr>
          <a:xfrm rot="16200000" flipH="1">
            <a:off x="10169591" y="2802322"/>
            <a:ext cx="649764" cy="39097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50" name="テキスト ボックス 49">
            <a:extLst>
              <a:ext uri="{FF2B5EF4-FFF2-40B4-BE49-F238E27FC236}">
                <a16:creationId xmlns:a16="http://schemas.microsoft.com/office/drawing/2014/main" id="{700F6460-92F0-6025-D3DE-C08B664F30B7}"/>
              </a:ext>
            </a:extLst>
          </p:cNvPr>
          <p:cNvSpPr txBox="1"/>
          <p:nvPr/>
        </p:nvSpPr>
        <p:spPr>
          <a:xfrm>
            <a:off x="3194494" y="5727473"/>
            <a:ext cx="2136823" cy="369332"/>
          </a:xfrm>
          <a:prstGeom prst="rect">
            <a:avLst/>
          </a:prstGeom>
          <a:noFill/>
        </p:spPr>
        <p:txBody>
          <a:bodyPr wrap="squar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説明</a:t>
            </a:r>
            <a:r>
              <a:rPr lang="en-US" altLang="ja-JP" sz="1200" dirty="0">
                <a:latin typeface="BIZ UDPゴシック" panose="020B0400000000000000" pitchFamily="50" charset="-128"/>
                <a:ea typeface="BIZ UDPゴシック" panose="020B0400000000000000" pitchFamily="50" charset="-128"/>
              </a:rPr>
              <a:t>A</a:t>
            </a:r>
          </a:p>
          <a:p>
            <a:pPr marL="171450" indent="-171450">
              <a:buFont typeface="Arial" panose="020B0604020202020204" pitchFamily="34" charset="0"/>
              <a:buChar char="•"/>
            </a:pPr>
            <a:r>
              <a:rPr lang="en-US" altLang="ja-JP" sz="1200" dirty="0" err="1">
                <a:latin typeface="BIZ UDPゴシック" panose="020B0400000000000000" pitchFamily="50" charset="-128"/>
                <a:ea typeface="BIZ UDPゴシック" panose="020B0400000000000000" pitchFamily="50" charset="-128"/>
              </a:rPr>
              <a:t>hogefuga</a:t>
            </a:r>
            <a:endParaRPr lang="en-US" altLang="ja-JP" sz="1200" dirty="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0E66BCFA-2A5A-AD0E-A9FC-C4F74D87DC7B}"/>
              </a:ext>
            </a:extLst>
          </p:cNvPr>
          <p:cNvSpPr txBox="1"/>
          <p:nvPr/>
        </p:nvSpPr>
        <p:spPr>
          <a:xfrm>
            <a:off x="5467628" y="5718364"/>
            <a:ext cx="2136823" cy="369332"/>
          </a:xfrm>
          <a:prstGeom prst="rect">
            <a:avLst/>
          </a:prstGeom>
          <a:noFill/>
        </p:spPr>
        <p:txBody>
          <a:bodyPr wrap="squar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説明</a:t>
            </a:r>
            <a:r>
              <a:rPr lang="en-US" altLang="ja-JP" sz="1200" dirty="0">
                <a:latin typeface="BIZ UDPゴシック" panose="020B0400000000000000" pitchFamily="50" charset="-128"/>
                <a:ea typeface="BIZ UDPゴシック" panose="020B0400000000000000" pitchFamily="50" charset="-128"/>
              </a:rPr>
              <a:t>A</a:t>
            </a:r>
          </a:p>
          <a:p>
            <a:pPr marL="171450" indent="-171450">
              <a:buFont typeface="Arial" panose="020B0604020202020204" pitchFamily="34" charset="0"/>
              <a:buChar char="•"/>
            </a:pPr>
            <a:r>
              <a:rPr lang="en-US" altLang="ja-JP" sz="1200" dirty="0" err="1">
                <a:latin typeface="BIZ UDPゴシック" panose="020B0400000000000000" pitchFamily="50" charset="-128"/>
                <a:ea typeface="BIZ UDPゴシック" panose="020B0400000000000000" pitchFamily="50" charset="-128"/>
              </a:rPr>
              <a:t>hogefuga</a:t>
            </a:r>
            <a:endParaRPr lang="en-US" altLang="ja-JP" sz="1200" dirty="0">
              <a:latin typeface="BIZ UDPゴシック" panose="020B0400000000000000" pitchFamily="50" charset="-128"/>
              <a:ea typeface="BIZ UDPゴシック" panose="020B0400000000000000" pitchFamily="50" charset="-128"/>
            </a:endParaRPr>
          </a:p>
        </p:txBody>
      </p:sp>
      <p:sp>
        <p:nvSpPr>
          <p:cNvPr id="52" name="テキスト ボックス 51">
            <a:extLst>
              <a:ext uri="{FF2B5EF4-FFF2-40B4-BE49-F238E27FC236}">
                <a16:creationId xmlns:a16="http://schemas.microsoft.com/office/drawing/2014/main" id="{EFD69273-A915-E783-B156-F84FFD11A443}"/>
              </a:ext>
            </a:extLst>
          </p:cNvPr>
          <p:cNvSpPr txBox="1"/>
          <p:nvPr/>
        </p:nvSpPr>
        <p:spPr>
          <a:xfrm>
            <a:off x="7684574" y="5718364"/>
            <a:ext cx="2136823" cy="369332"/>
          </a:xfrm>
          <a:prstGeom prst="rect">
            <a:avLst/>
          </a:prstGeom>
          <a:noFill/>
        </p:spPr>
        <p:txBody>
          <a:bodyPr wrap="squar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説明</a:t>
            </a:r>
            <a:r>
              <a:rPr lang="en-US" altLang="ja-JP" sz="1200" dirty="0">
                <a:latin typeface="BIZ UDPゴシック" panose="020B0400000000000000" pitchFamily="50" charset="-128"/>
                <a:ea typeface="BIZ UDPゴシック" panose="020B0400000000000000" pitchFamily="50" charset="-128"/>
              </a:rPr>
              <a:t>A</a:t>
            </a:r>
          </a:p>
          <a:p>
            <a:pPr marL="171450" indent="-171450">
              <a:buFont typeface="Arial" panose="020B0604020202020204" pitchFamily="34" charset="0"/>
              <a:buChar char="•"/>
            </a:pPr>
            <a:r>
              <a:rPr lang="en-US" altLang="ja-JP" sz="1200" dirty="0" err="1">
                <a:latin typeface="BIZ UDPゴシック" panose="020B0400000000000000" pitchFamily="50" charset="-128"/>
                <a:ea typeface="BIZ UDPゴシック" panose="020B0400000000000000" pitchFamily="50" charset="-128"/>
              </a:rPr>
              <a:t>hogefuga</a:t>
            </a:r>
            <a:endParaRPr lang="en-US" altLang="ja-JP" sz="1200" dirty="0">
              <a:latin typeface="BIZ UDPゴシック" panose="020B0400000000000000" pitchFamily="50" charset="-128"/>
              <a:ea typeface="BIZ UDPゴシック" panose="020B0400000000000000" pitchFamily="50" charset="-128"/>
            </a:endParaRPr>
          </a:p>
        </p:txBody>
      </p:sp>
      <p:cxnSp>
        <p:nvCxnSpPr>
          <p:cNvPr id="53" name="直線コネクタ 52">
            <a:extLst>
              <a:ext uri="{FF2B5EF4-FFF2-40B4-BE49-F238E27FC236}">
                <a16:creationId xmlns:a16="http://schemas.microsoft.com/office/drawing/2014/main" id="{501FCB74-A9A0-C01C-80C3-11F079603218}"/>
              </a:ext>
            </a:extLst>
          </p:cNvPr>
          <p:cNvCxnSpPr>
            <a:cxnSpLocks/>
          </p:cNvCxnSpPr>
          <p:nvPr/>
        </p:nvCxnSpPr>
        <p:spPr>
          <a:xfrm>
            <a:off x="360000" y="2819361"/>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4" name="直線コネクタ 53">
            <a:extLst>
              <a:ext uri="{FF2B5EF4-FFF2-40B4-BE49-F238E27FC236}">
                <a16:creationId xmlns:a16="http://schemas.microsoft.com/office/drawing/2014/main" id="{40A27123-5B47-0E8E-0197-DDF05B48239A}"/>
              </a:ext>
            </a:extLst>
          </p:cNvPr>
          <p:cNvCxnSpPr>
            <a:cxnSpLocks/>
          </p:cNvCxnSpPr>
          <p:nvPr/>
        </p:nvCxnSpPr>
        <p:spPr>
          <a:xfrm>
            <a:off x="360000" y="1742841"/>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55" name="直線コネクタ 54">
            <a:extLst>
              <a:ext uri="{FF2B5EF4-FFF2-40B4-BE49-F238E27FC236}">
                <a16:creationId xmlns:a16="http://schemas.microsoft.com/office/drawing/2014/main" id="{06942E7B-0331-5E37-5E9F-98FC341D0C83}"/>
              </a:ext>
            </a:extLst>
          </p:cNvPr>
          <p:cNvCxnSpPr>
            <a:cxnSpLocks/>
          </p:cNvCxnSpPr>
          <p:nvPr/>
        </p:nvCxnSpPr>
        <p:spPr>
          <a:xfrm>
            <a:off x="360000" y="5558594"/>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533174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B60316B-EE36-73D7-2EA5-4EEEFF830857}"/>
              </a:ext>
            </a:extLst>
          </p:cNvPr>
          <p:cNvSpPr>
            <a:spLocks noGrp="1"/>
          </p:cNvSpPr>
          <p:nvPr>
            <p:ph type="title"/>
          </p:nvPr>
        </p:nvSpPr>
        <p:spPr/>
        <p:txBody>
          <a:bodyPr/>
          <a:lstStyle/>
          <a:p>
            <a:r>
              <a:rPr kumimoji="1" lang="ja-JP" altLang="en-US" dirty="0"/>
              <a:t>動機付け構造</a:t>
            </a:r>
          </a:p>
        </p:txBody>
      </p:sp>
      <p:sp>
        <p:nvSpPr>
          <p:cNvPr id="3" name="フッター プレースホルダー 2">
            <a:extLst>
              <a:ext uri="{FF2B5EF4-FFF2-40B4-BE49-F238E27FC236}">
                <a16:creationId xmlns:a16="http://schemas.microsoft.com/office/drawing/2014/main" id="{B8E7212C-725D-D612-A9D1-9E9FE45F6CD4}"/>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1B329689-5369-726A-4D47-6512FCDB4BB0}"/>
              </a:ext>
            </a:extLst>
          </p:cNvPr>
          <p:cNvSpPr>
            <a:spLocks noGrp="1"/>
          </p:cNvSpPr>
          <p:nvPr>
            <p:ph type="sldNum" sz="quarter" idx="12"/>
          </p:nvPr>
        </p:nvSpPr>
        <p:spPr/>
        <p:txBody>
          <a:bodyPr/>
          <a:lstStyle/>
          <a:p>
            <a:fld id="{DCB5AA93-092B-49A1-87A7-3C88D5F38AD7}" type="slidenum">
              <a:rPr lang="ja-JP" altLang="en-US" smtClean="0"/>
              <a:pPr/>
              <a:t>30</a:t>
            </a:fld>
            <a:endParaRPr lang="ja-JP" altLang="en-US" sz="900" dirty="0"/>
          </a:p>
        </p:txBody>
      </p:sp>
      <p:sp>
        <p:nvSpPr>
          <p:cNvPr id="5" name="テキスト プレースホルダー 4">
            <a:extLst>
              <a:ext uri="{FF2B5EF4-FFF2-40B4-BE49-F238E27FC236}">
                <a16:creationId xmlns:a16="http://schemas.microsoft.com/office/drawing/2014/main" id="{F86E3A1F-D260-47A3-86D5-55803BAA1666}"/>
              </a:ext>
            </a:extLst>
          </p:cNvPr>
          <p:cNvSpPr>
            <a:spLocks noGrp="1"/>
          </p:cNvSpPr>
          <p:nvPr>
            <p:ph type="body" sz="quarter" idx="13"/>
          </p:nvPr>
        </p:nvSpPr>
        <p:spPr/>
        <p:txBody>
          <a:bodyPr/>
          <a:lstStyle/>
          <a:p>
            <a:endParaRPr kumimoji="1" lang="ja-JP" altLang="en-US"/>
          </a:p>
        </p:txBody>
      </p:sp>
      <p:sp>
        <p:nvSpPr>
          <p:cNvPr id="6" name="四角形: 角を丸くする 5">
            <a:extLst>
              <a:ext uri="{FF2B5EF4-FFF2-40B4-BE49-F238E27FC236}">
                <a16:creationId xmlns:a16="http://schemas.microsoft.com/office/drawing/2014/main" id="{BE19E586-EAEF-48A1-CEA1-06A6284BE623}"/>
              </a:ext>
            </a:extLst>
          </p:cNvPr>
          <p:cNvSpPr/>
          <p:nvPr/>
        </p:nvSpPr>
        <p:spPr>
          <a:xfrm>
            <a:off x="1015951" y="1262238"/>
            <a:ext cx="1260209" cy="353510"/>
          </a:xfrm>
          <a:prstGeom prst="roundRect">
            <a:avLst>
              <a:gd name="adj" fmla="val 50000"/>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ビジョン</a:t>
            </a:r>
          </a:p>
        </p:txBody>
      </p:sp>
      <p:sp>
        <p:nvSpPr>
          <p:cNvPr id="7" name="テキスト ボックス 6">
            <a:extLst>
              <a:ext uri="{FF2B5EF4-FFF2-40B4-BE49-F238E27FC236}">
                <a16:creationId xmlns:a16="http://schemas.microsoft.com/office/drawing/2014/main" id="{5DD2643F-B32F-CFBE-60B0-002C809F4632}"/>
              </a:ext>
            </a:extLst>
          </p:cNvPr>
          <p:cNvSpPr txBox="1"/>
          <p:nvPr/>
        </p:nvSpPr>
        <p:spPr>
          <a:xfrm>
            <a:off x="360000" y="1608930"/>
            <a:ext cx="528991"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1</a:t>
            </a:r>
            <a:endParaRPr lang="ja-JP" altLang="en-US" sz="1200" dirty="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DBC66E01-A5DE-B882-1AB2-2975A33B2AA8}"/>
              </a:ext>
            </a:extLst>
          </p:cNvPr>
          <p:cNvSpPr txBox="1"/>
          <p:nvPr/>
        </p:nvSpPr>
        <p:spPr>
          <a:xfrm>
            <a:off x="360000" y="2741118"/>
            <a:ext cx="557845"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2</a:t>
            </a:r>
            <a:endParaRPr lang="ja-JP" altLang="en-US" sz="1200"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D3F0C397-0C2A-C220-0E48-82C34F0BAF15}"/>
              </a:ext>
            </a:extLst>
          </p:cNvPr>
          <p:cNvSpPr txBox="1"/>
          <p:nvPr/>
        </p:nvSpPr>
        <p:spPr>
          <a:xfrm>
            <a:off x="360000" y="4401909"/>
            <a:ext cx="549831"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レベル</a:t>
            </a:r>
            <a:r>
              <a:rPr lang="en-US" altLang="ja-JP" sz="1200" dirty="0">
                <a:latin typeface="BIZ UDPゴシック" panose="020B0400000000000000" pitchFamily="50" charset="-128"/>
                <a:ea typeface="BIZ UDPゴシック" panose="020B0400000000000000" pitchFamily="50" charset="-128"/>
              </a:rPr>
              <a:t>3</a:t>
            </a:r>
            <a:endParaRPr lang="ja-JP" altLang="en-US" sz="1200" dirty="0">
              <a:latin typeface="BIZ UDPゴシック" panose="020B0400000000000000" pitchFamily="50" charset="-128"/>
              <a:ea typeface="BIZ UDPゴシック" panose="020B0400000000000000" pitchFamily="50" charset="-128"/>
            </a:endParaRPr>
          </a:p>
        </p:txBody>
      </p:sp>
      <p:sp>
        <p:nvSpPr>
          <p:cNvPr id="10" name="正方形/長方形 9">
            <a:extLst>
              <a:ext uri="{FF2B5EF4-FFF2-40B4-BE49-F238E27FC236}">
                <a16:creationId xmlns:a16="http://schemas.microsoft.com/office/drawing/2014/main" id="{B39A5A59-9D8D-E514-6CF4-E12C509EC7FC}"/>
              </a:ext>
            </a:extLst>
          </p:cNvPr>
          <p:cNvSpPr/>
          <p:nvPr/>
        </p:nvSpPr>
        <p:spPr>
          <a:xfrm>
            <a:off x="1015951" y="2277541"/>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1" name="正方形/長方形 10">
            <a:extLst>
              <a:ext uri="{FF2B5EF4-FFF2-40B4-BE49-F238E27FC236}">
                <a16:creationId xmlns:a16="http://schemas.microsoft.com/office/drawing/2014/main" id="{5AF07BE1-0B2F-6D05-44BF-CCE7E3A5C69F}"/>
              </a:ext>
            </a:extLst>
          </p:cNvPr>
          <p:cNvSpPr/>
          <p:nvPr/>
        </p:nvSpPr>
        <p:spPr>
          <a:xfrm>
            <a:off x="319205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2" name="正方形/長方形 11">
            <a:extLst>
              <a:ext uri="{FF2B5EF4-FFF2-40B4-BE49-F238E27FC236}">
                <a16:creationId xmlns:a16="http://schemas.microsoft.com/office/drawing/2014/main" id="{CAE82DDB-ADDA-AD45-D223-41E2BF2DB235}"/>
              </a:ext>
            </a:extLst>
          </p:cNvPr>
          <p:cNvSpPr/>
          <p:nvPr/>
        </p:nvSpPr>
        <p:spPr>
          <a:xfrm>
            <a:off x="534241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3" name="正方形/長方形 12">
            <a:extLst>
              <a:ext uri="{FF2B5EF4-FFF2-40B4-BE49-F238E27FC236}">
                <a16:creationId xmlns:a16="http://schemas.microsoft.com/office/drawing/2014/main" id="{488B0E9E-F750-4232-184E-72553C61BF66}"/>
              </a:ext>
            </a:extLst>
          </p:cNvPr>
          <p:cNvSpPr/>
          <p:nvPr/>
        </p:nvSpPr>
        <p:spPr>
          <a:xfrm>
            <a:off x="7492777" y="2298643"/>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4" name="正方形/長方形 13">
            <a:extLst>
              <a:ext uri="{FF2B5EF4-FFF2-40B4-BE49-F238E27FC236}">
                <a16:creationId xmlns:a16="http://schemas.microsoft.com/office/drawing/2014/main" id="{FDB95D1A-75F1-1BAD-82ED-6525C9F36F6A}"/>
              </a:ext>
            </a:extLst>
          </p:cNvPr>
          <p:cNvSpPr/>
          <p:nvPr/>
        </p:nvSpPr>
        <p:spPr>
          <a:xfrm>
            <a:off x="9668883" y="2319415"/>
            <a:ext cx="1260209" cy="35351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目標</a:t>
            </a:r>
          </a:p>
        </p:txBody>
      </p:sp>
      <p:sp>
        <p:nvSpPr>
          <p:cNvPr id="15" name="正方形/長方形 14">
            <a:extLst>
              <a:ext uri="{FF2B5EF4-FFF2-40B4-BE49-F238E27FC236}">
                <a16:creationId xmlns:a16="http://schemas.microsoft.com/office/drawing/2014/main" id="{0CFD244F-8E2D-556A-36EA-4A1C1A8F55CF}"/>
              </a:ext>
            </a:extLst>
          </p:cNvPr>
          <p:cNvSpPr/>
          <p:nvPr/>
        </p:nvSpPr>
        <p:spPr>
          <a:xfrm>
            <a:off x="1892566" y="314138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16" name="コネクタ: カギ線 15">
            <a:extLst>
              <a:ext uri="{FF2B5EF4-FFF2-40B4-BE49-F238E27FC236}">
                <a16:creationId xmlns:a16="http://schemas.microsoft.com/office/drawing/2014/main" id="{052F3214-5026-C20F-E7B7-B47FCF9F91D9}"/>
              </a:ext>
            </a:extLst>
          </p:cNvPr>
          <p:cNvCxnSpPr>
            <a:cxnSpLocks/>
            <a:stCxn id="36" idx="2"/>
            <a:endCxn id="10" idx="0"/>
          </p:cNvCxnSpPr>
          <p:nvPr/>
        </p:nvCxnSpPr>
        <p:spPr>
          <a:xfrm rot="5400000">
            <a:off x="2403212" y="858592"/>
            <a:ext cx="661794" cy="2176105"/>
          </a:xfrm>
          <a:prstGeom prst="bentConnector3">
            <a:avLst>
              <a:gd name="adj1" fmla="val 50000"/>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17" name="コネクタ: カギ線 16">
            <a:extLst>
              <a:ext uri="{FF2B5EF4-FFF2-40B4-BE49-F238E27FC236}">
                <a16:creationId xmlns:a16="http://schemas.microsoft.com/office/drawing/2014/main" id="{C682CC85-C886-0DB2-2353-6AD6E5B17EF8}"/>
              </a:ext>
            </a:extLst>
          </p:cNvPr>
          <p:cNvCxnSpPr>
            <a:cxnSpLocks/>
            <a:stCxn id="10" idx="2"/>
            <a:endCxn id="15" idx="1"/>
          </p:cNvCxnSpPr>
          <p:nvPr/>
        </p:nvCxnSpPr>
        <p:spPr>
          <a:xfrm rot="16200000" flipH="1">
            <a:off x="1425768" y="2851339"/>
            <a:ext cx="687086" cy="24651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A9052673-3F08-1514-5A1A-9C5FFDB77CFD}"/>
              </a:ext>
            </a:extLst>
          </p:cNvPr>
          <p:cNvSpPr/>
          <p:nvPr/>
        </p:nvSpPr>
        <p:spPr>
          <a:xfrm>
            <a:off x="1892566" y="36329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03F687D1-FF10-2CB9-3419-390F7441F0CB}"/>
              </a:ext>
            </a:extLst>
          </p:cNvPr>
          <p:cNvSpPr/>
          <p:nvPr/>
        </p:nvSpPr>
        <p:spPr>
          <a:xfrm>
            <a:off x="1892566" y="412185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0" name="正方形/長方形 19">
            <a:extLst>
              <a:ext uri="{FF2B5EF4-FFF2-40B4-BE49-F238E27FC236}">
                <a16:creationId xmlns:a16="http://schemas.microsoft.com/office/drawing/2014/main" id="{47E60B4C-9A4E-8C86-73BB-44176A0FE6B6}"/>
              </a:ext>
            </a:extLst>
          </p:cNvPr>
          <p:cNvSpPr/>
          <p:nvPr/>
        </p:nvSpPr>
        <p:spPr>
          <a:xfrm>
            <a:off x="4126611" y="314138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1" name="正方形/長方形 20">
            <a:extLst>
              <a:ext uri="{FF2B5EF4-FFF2-40B4-BE49-F238E27FC236}">
                <a16:creationId xmlns:a16="http://schemas.microsoft.com/office/drawing/2014/main" id="{E697055F-DAE2-3C5E-7AD6-DB2961710B91}"/>
              </a:ext>
            </a:extLst>
          </p:cNvPr>
          <p:cNvSpPr/>
          <p:nvPr/>
        </p:nvSpPr>
        <p:spPr>
          <a:xfrm>
            <a:off x="4126611" y="363291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2" name="正方形/長方形 21">
            <a:extLst>
              <a:ext uri="{FF2B5EF4-FFF2-40B4-BE49-F238E27FC236}">
                <a16:creationId xmlns:a16="http://schemas.microsoft.com/office/drawing/2014/main" id="{56B0C1F0-76B9-6A48-7059-13DF7F8E8399}"/>
              </a:ext>
            </a:extLst>
          </p:cNvPr>
          <p:cNvSpPr/>
          <p:nvPr/>
        </p:nvSpPr>
        <p:spPr>
          <a:xfrm>
            <a:off x="4126611" y="4121856"/>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AF190722-750E-410E-136F-058F63AB0CD6}"/>
              </a:ext>
            </a:extLst>
          </p:cNvPr>
          <p:cNvSpPr/>
          <p:nvPr/>
        </p:nvSpPr>
        <p:spPr>
          <a:xfrm>
            <a:off x="6320232" y="314685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14C615AA-AD68-82F1-1BF2-3E177B511318}"/>
              </a:ext>
            </a:extLst>
          </p:cNvPr>
          <p:cNvSpPr/>
          <p:nvPr/>
        </p:nvSpPr>
        <p:spPr>
          <a:xfrm>
            <a:off x="6320232" y="363839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171EB94F-65B4-0849-AE9C-D836288DD52B}"/>
              </a:ext>
            </a:extLst>
          </p:cNvPr>
          <p:cNvSpPr/>
          <p:nvPr/>
        </p:nvSpPr>
        <p:spPr>
          <a:xfrm>
            <a:off x="6320232" y="4127332"/>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B21FD19-DE2C-D68F-0D37-896FBED97BE8}"/>
              </a:ext>
            </a:extLst>
          </p:cNvPr>
          <p:cNvSpPr/>
          <p:nvPr/>
        </p:nvSpPr>
        <p:spPr>
          <a:xfrm>
            <a:off x="8513853" y="3146675"/>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4889D2FF-5996-6FD9-3717-D32B2E8741FF}"/>
              </a:ext>
            </a:extLst>
          </p:cNvPr>
          <p:cNvSpPr/>
          <p:nvPr/>
        </p:nvSpPr>
        <p:spPr>
          <a:xfrm>
            <a:off x="8513853" y="3638211"/>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8" name="正方形/長方形 27">
            <a:extLst>
              <a:ext uri="{FF2B5EF4-FFF2-40B4-BE49-F238E27FC236}">
                <a16:creationId xmlns:a16="http://schemas.microsoft.com/office/drawing/2014/main" id="{6C0BC7D4-D3C6-2CDB-430E-18228DF5D11F}"/>
              </a:ext>
            </a:extLst>
          </p:cNvPr>
          <p:cNvSpPr/>
          <p:nvPr/>
        </p:nvSpPr>
        <p:spPr>
          <a:xfrm>
            <a:off x="8513853" y="4127149"/>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29" name="正方形/長方形 28">
            <a:extLst>
              <a:ext uri="{FF2B5EF4-FFF2-40B4-BE49-F238E27FC236}">
                <a16:creationId xmlns:a16="http://schemas.microsoft.com/office/drawing/2014/main" id="{720AED3A-07EF-9E96-72E2-8545AED9A5B6}"/>
              </a:ext>
            </a:extLst>
          </p:cNvPr>
          <p:cNvSpPr/>
          <p:nvPr/>
        </p:nvSpPr>
        <p:spPr>
          <a:xfrm>
            <a:off x="10689958" y="3145934"/>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0" name="正方形/長方形 29">
            <a:extLst>
              <a:ext uri="{FF2B5EF4-FFF2-40B4-BE49-F238E27FC236}">
                <a16:creationId xmlns:a16="http://schemas.microsoft.com/office/drawing/2014/main" id="{BAB51926-26D2-F497-658E-6ABAAA046516}"/>
              </a:ext>
            </a:extLst>
          </p:cNvPr>
          <p:cNvSpPr/>
          <p:nvPr/>
        </p:nvSpPr>
        <p:spPr>
          <a:xfrm>
            <a:off x="10689958" y="3637470"/>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1" name="正方形/長方形 30">
            <a:extLst>
              <a:ext uri="{FF2B5EF4-FFF2-40B4-BE49-F238E27FC236}">
                <a16:creationId xmlns:a16="http://schemas.microsoft.com/office/drawing/2014/main" id="{1BF5D9A2-88BC-B864-5BF5-3273C74F70EF}"/>
              </a:ext>
            </a:extLst>
          </p:cNvPr>
          <p:cNvSpPr/>
          <p:nvPr/>
        </p:nvSpPr>
        <p:spPr>
          <a:xfrm>
            <a:off x="10689958" y="4126408"/>
            <a:ext cx="1260209" cy="353510"/>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標的</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32" name="コネクタ: カギ線 31">
            <a:extLst>
              <a:ext uri="{FF2B5EF4-FFF2-40B4-BE49-F238E27FC236}">
                <a16:creationId xmlns:a16="http://schemas.microsoft.com/office/drawing/2014/main" id="{B6B3772B-01F9-4A94-177A-D1AA48009226}"/>
              </a:ext>
            </a:extLst>
          </p:cNvPr>
          <p:cNvCxnSpPr>
            <a:cxnSpLocks/>
            <a:stCxn id="11" idx="2"/>
            <a:endCxn id="20" idx="1"/>
          </p:cNvCxnSpPr>
          <p:nvPr/>
        </p:nvCxnSpPr>
        <p:spPr>
          <a:xfrm rot="16200000" flipH="1">
            <a:off x="3641394" y="2832920"/>
            <a:ext cx="665984" cy="304449"/>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3" name="コネクタ: カギ線 32">
            <a:extLst>
              <a:ext uri="{FF2B5EF4-FFF2-40B4-BE49-F238E27FC236}">
                <a16:creationId xmlns:a16="http://schemas.microsoft.com/office/drawing/2014/main" id="{D1AB3F26-AF26-AC49-54CE-2A346CF48068}"/>
              </a:ext>
            </a:extLst>
          </p:cNvPr>
          <p:cNvCxnSpPr>
            <a:cxnSpLocks/>
            <a:stCxn id="12" idx="2"/>
            <a:endCxn id="23" idx="1"/>
          </p:cNvCxnSpPr>
          <p:nvPr/>
        </p:nvCxnSpPr>
        <p:spPr>
          <a:xfrm rot="16200000" flipH="1">
            <a:off x="5810647" y="2814028"/>
            <a:ext cx="671460" cy="34771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4" name="コネクタ: カギ線 33">
            <a:extLst>
              <a:ext uri="{FF2B5EF4-FFF2-40B4-BE49-F238E27FC236}">
                <a16:creationId xmlns:a16="http://schemas.microsoft.com/office/drawing/2014/main" id="{E8D2584A-CE4F-B2A1-2F7F-35300F8F0F66}"/>
              </a:ext>
            </a:extLst>
          </p:cNvPr>
          <p:cNvCxnSpPr>
            <a:cxnSpLocks/>
            <a:stCxn id="13" idx="2"/>
            <a:endCxn id="26" idx="1"/>
          </p:cNvCxnSpPr>
          <p:nvPr/>
        </p:nvCxnSpPr>
        <p:spPr>
          <a:xfrm rot="16200000" flipH="1">
            <a:off x="7982729" y="2792305"/>
            <a:ext cx="671277" cy="390971"/>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5EECCA0-5D68-79BE-CC27-88AFF38CD73C}"/>
              </a:ext>
            </a:extLst>
          </p:cNvPr>
          <p:cNvCxnSpPr>
            <a:cxnSpLocks/>
            <a:stCxn id="14" idx="2"/>
            <a:endCxn id="29" idx="1"/>
          </p:cNvCxnSpPr>
          <p:nvPr/>
        </p:nvCxnSpPr>
        <p:spPr>
          <a:xfrm rot="16200000" flipH="1">
            <a:off x="10169591" y="2802322"/>
            <a:ext cx="649764" cy="390970"/>
          </a:xfrm>
          <a:prstGeom prst="bentConnector2">
            <a:avLst/>
          </a:prstGeom>
          <a:ln w="12700">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36" name="正方形/長方形 35">
            <a:extLst>
              <a:ext uri="{FF2B5EF4-FFF2-40B4-BE49-F238E27FC236}">
                <a16:creationId xmlns:a16="http://schemas.microsoft.com/office/drawing/2014/main" id="{4F838BE7-23C6-772A-F8B8-AA5692838896}"/>
              </a:ext>
            </a:extLst>
          </p:cNvPr>
          <p:cNvSpPr/>
          <p:nvPr/>
        </p:nvSpPr>
        <p:spPr>
          <a:xfrm>
            <a:off x="3192056" y="1262237"/>
            <a:ext cx="1260209" cy="35351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ゴール</a:t>
            </a:r>
          </a:p>
        </p:txBody>
      </p:sp>
      <p:sp>
        <p:nvSpPr>
          <p:cNvPr id="37" name="正方形/長方形 36">
            <a:extLst>
              <a:ext uri="{FF2B5EF4-FFF2-40B4-BE49-F238E27FC236}">
                <a16:creationId xmlns:a16="http://schemas.microsoft.com/office/drawing/2014/main" id="{DE1AEA58-E189-F7C6-6253-A97F7FECA452}"/>
              </a:ext>
            </a:extLst>
          </p:cNvPr>
          <p:cNvSpPr/>
          <p:nvPr/>
        </p:nvSpPr>
        <p:spPr>
          <a:xfrm>
            <a:off x="5331317" y="1262237"/>
            <a:ext cx="1260209" cy="353510"/>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tx1">
                    <a:lumMod val="75000"/>
                    <a:lumOff val="25000"/>
                  </a:schemeClr>
                </a:solidFill>
                <a:latin typeface="BIZ UDPゴシック" panose="020B0400000000000000" pitchFamily="50" charset="-128"/>
                <a:ea typeface="BIZ UDPゴシック" panose="020B0400000000000000" pitchFamily="50" charset="-128"/>
              </a:rPr>
              <a:t>目的</a:t>
            </a:r>
          </a:p>
        </p:txBody>
      </p:sp>
      <p:sp>
        <p:nvSpPr>
          <p:cNvPr id="38" name="正方形/長方形 37">
            <a:extLst>
              <a:ext uri="{FF2B5EF4-FFF2-40B4-BE49-F238E27FC236}">
                <a16:creationId xmlns:a16="http://schemas.microsoft.com/office/drawing/2014/main" id="{850BB562-C1F8-806B-92A9-821402F1DB1E}"/>
              </a:ext>
            </a:extLst>
          </p:cNvPr>
          <p:cNvSpPr/>
          <p:nvPr/>
        </p:nvSpPr>
        <p:spPr>
          <a:xfrm>
            <a:off x="1892566" y="472563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B9BEDEF4-7096-3885-A37D-6F1C86E25C07}"/>
              </a:ext>
            </a:extLst>
          </p:cNvPr>
          <p:cNvSpPr/>
          <p:nvPr/>
        </p:nvSpPr>
        <p:spPr>
          <a:xfrm>
            <a:off x="1892566" y="499254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0" name="正方形/長方形 39">
            <a:extLst>
              <a:ext uri="{FF2B5EF4-FFF2-40B4-BE49-F238E27FC236}">
                <a16:creationId xmlns:a16="http://schemas.microsoft.com/office/drawing/2014/main" id="{F2E4F69F-E178-6ACE-5CDA-91096F298451}"/>
              </a:ext>
            </a:extLst>
          </p:cNvPr>
          <p:cNvSpPr/>
          <p:nvPr/>
        </p:nvSpPr>
        <p:spPr>
          <a:xfrm>
            <a:off x="1892566" y="525916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41" name="直線コネクタ 40">
            <a:extLst>
              <a:ext uri="{FF2B5EF4-FFF2-40B4-BE49-F238E27FC236}">
                <a16:creationId xmlns:a16="http://schemas.microsoft.com/office/drawing/2014/main" id="{D4E687D9-5BC3-B199-EBFB-C621F61FD918}"/>
              </a:ext>
            </a:extLst>
          </p:cNvPr>
          <p:cNvCxnSpPr>
            <a:cxnSpLocks/>
          </p:cNvCxnSpPr>
          <p:nvPr/>
        </p:nvCxnSpPr>
        <p:spPr>
          <a:xfrm flipV="1">
            <a:off x="2284473" y="1438992"/>
            <a:ext cx="915896" cy="1"/>
          </a:xfrm>
          <a:prstGeom prst="line">
            <a:avLst/>
          </a:prstGeom>
          <a:ln w="127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490EA135-DD74-06F7-B519-72695E43F396}"/>
              </a:ext>
            </a:extLst>
          </p:cNvPr>
          <p:cNvCxnSpPr>
            <a:cxnSpLocks/>
            <a:stCxn id="36" idx="3"/>
            <a:endCxn id="37" idx="1"/>
          </p:cNvCxnSpPr>
          <p:nvPr/>
        </p:nvCxnSpPr>
        <p:spPr>
          <a:xfrm>
            <a:off x="4452265" y="1438992"/>
            <a:ext cx="879052" cy="0"/>
          </a:xfrm>
          <a:prstGeom prst="line">
            <a:avLst/>
          </a:prstGeom>
          <a:ln w="12700">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3" name="正方形/長方形 42">
            <a:extLst>
              <a:ext uri="{FF2B5EF4-FFF2-40B4-BE49-F238E27FC236}">
                <a16:creationId xmlns:a16="http://schemas.microsoft.com/office/drawing/2014/main" id="{E86048C8-9867-7490-3D28-2A975D2B5125}"/>
              </a:ext>
            </a:extLst>
          </p:cNvPr>
          <p:cNvSpPr/>
          <p:nvPr/>
        </p:nvSpPr>
        <p:spPr>
          <a:xfrm>
            <a:off x="1892566" y="552578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85323E48-F0B7-4E74-9318-907CFA627525}"/>
              </a:ext>
            </a:extLst>
          </p:cNvPr>
          <p:cNvSpPr/>
          <p:nvPr/>
        </p:nvSpPr>
        <p:spPr>
          <a:xfrm>
            <a:off x="1892566" y="579241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5" name="正方形/長方形 44">
            <a:extLst>
              <a:ext uri="{FF2B5EF4-FFF2-40B4-BE49-F238E27FC236}">
                <a16:creationId xmlns:a16="http://schemas.microsoft.com/office/drawing/2014/main" id="{A888430F-38E3-D266-0C35-44205C429640}"/>
              </a:ext>
            </a:extLst>
          </p:cNvPr>
          <p:cNvSpPr/>
          <p:nvPr/>
        </p:nvSpPr>
        <p:spPr>
          <a:xfrm>
            <a:off x="4126611" y="472563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6" name="正方形/長方形 45">
            <a:extLst>
              <a:ext uri="{FF2B5EF4-FFF2-40B4-BE49-F238E27FC236}">
                <a16:creationId xmlns:a16="http://schemas.microsoft.com/office/drawing/2014/main" id="{85195A65-AFC1-1F2B-55DA-932A554144C4}"/>
              </a:ext>
            </a:extLst>
          </p:cNvPr>
          <p:cNvSpPr/>
          <p:nvPr/>
        </p:nvSpPr>
        <p:spPr>
          <a:xfrm>
            <a:off x="4126611" y="499254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7" name="正方形/長方形 46">
            <a:extLst>
              <a:ext uri="{FF2B5EF4-FFF2-40B4-BE49-F238E27FC236}">
                <a16:creationId xmlns:a16="http://schemas.microsoft.com/office/drawing/2014/main" id="{CA92E6D5-1BB7-948D-92A9-6A49437799CF}"/>
              </a:ext>
            </a:extLst>
          </p:cNvPr>
          <p:cNvSpPr/>
          <p:nvPr/>
        </p:nvSpPr>
        <p:spPr>
          <a:xfrm>
            <a:off x="4126611" y="525916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8" name="正方形/長方形 47">
            <a:extLst>
              <a:ext uri="{FF2B5EF4-FFF2-40B4-BE49-F238E27FC236}">
                <a16:creationId xmlns:a16="http://schemas.microsoft.com/office/drawing/2014/main" id="{21C03496-4038-F9D8-1293-685D7251ED3B}"/>
              </a:ext>
            </a:extLst>
          </p:cNvPr>
          <p:cNvSpPr/>
          <p:nvPr/>
        </p:nvSpPr>
        <p:spPr>
          <a:xfrm>
            <a:off x="4126611" y="552578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49" name="正方形/長方形 48">
            <a:extLst>
              <a:ext uri="{FF2B5EF4-FFF2-40B4-BE49-F238E27FC236}">
                <a16:creationId xmlns:a16="http://schemas.microsoft.com/office/drawing/2014/main" id="{4B7DAF4B-DCCD-5BBF-A39E-0B7B3D664831}"/>
              </a:ext>
            </a:extLst>
          </p:cNvPr>
          <p:cNvSpPr/>
          <p:nvPr/>
        </p:nvSpPr>
        <p:spPr>
          <a:xfrm>
            <a:off x="4126611" y="579241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0" name="正方形/長方形 49">
            <a:extLst>
              <a:ext uri="{FF2B5EF4-FFF2-40B4-BE49-F238E27FC236}">
                <a16:creationId xmlns:a16="http://schemas.microsoft.com/office/drawing/2014/main" id="{7D726C44-9A54-37F8-978E-C8F4B459ED1E}"/>
              </a:ext>
            </a:extLst>
          </p:cNvPr>
          <p:cNvSpPr/>
          <p:nvPr/>
        </p:nvSpPr>
        <p:spPr>
          <a:xfrm>
            <a:off x="6320232" y="472563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1" name="正方形/長方形 50">
            <a:extLst>
              <a:ext uri="{FF2B5EF4-FFF2-40B4-BE49-F238E27FC236}">
                <a16:creationId xmlns:a16="http://schemas.microsoft.com/office/drawing/2014/main" id="{45E0EE37-ABB7-50AA-9E0A-722DD6A9885D}"/>
              </a:ext>
            </a:extLst>
          </p:cNvPr>
          <p:cNvSpPr/>
          <p:nvPr/>
        </p:nvSpPr>
        <p:spPr>
          <a:xfrm>
            <a:off x="6320232" y="499254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2" name="正方形/長方形 51">
            <a:extLst>
              <a:ext uri="{FF2B5EF4-FFF2-40B4-BE49-F238E27FC236}">
                <a16:creationId xmlns:a16="http://schemas.microsoft.com/office/drawing/2014/main" id="{521A25B0-16A8-C102-0D0B-B9C39CC6EBC7}"/>
              </a:ext>
            </a:extLst>
          </p:cNvPr>
          <p:cNvSpPr/>
          <p:nvPr/>
        </p:nvSpPr>
        <p:spPr>
          <a:xfrm>
            <a:off x="6320232" y="525916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3" name="正方形/長方形 52">
            <a:extLst>
              <a:ext uri="{FF2B5EF4-FFF2-40B4-BE49-F238E27FC236}">
                <a16:creationId xmlns:a16="http://schemas.microsoft.com/office/drawing/2014/main" id="{B05DAD37-7744-86BD-B944-CF5A7518E278}"/>
              </a:ext>
            </a:extLst>
          </p:cNvPr>
          <p:cNvSpPr/>
          <p:nvPr/>
        </p:nvSpPr>
        <p:spPr>
          <a:xfrm>
            <a:off x="6320232" y="552578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4" name="正方形/長方形 53">
            <a:extLst>
              <a:ext uri="{FF2B5EF4-FFF2-40B4-BE49-F238E27FC236}">
                <a16:creationId xmlns:a16="http://schemas.microsoft.com/office/drawing/2014/main" id="{9286FA42-C2CC-85DC-C2B6-F59D92867B04}"/>
              </a:ext>
            </a:extLst>
          </p:cNvPr>
          <p:cNvSpPr/>
          <p:nvPr/>
        </p:nvSpPr>
        <p:spPr>
          <a:xfrm>
            <a:off x="6320232" y="579241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5" name="正方形/長方形 54">
            <a:extLst>
              <a:ext uri="{FF2B5EF4-FFF2-40B4-BE49-F238E27FC236}">
                <a16:creationId xmlns:a16="http://schemas.microsoft.com/office/drawing/2014/main" id="{A53AD54F-012C-FD0A-04AD-3F800429D5A1}"/>
              </a:ext>
            </a:extLst>
          </p:cNvPr>
          <p:cNvSpPr/>
          <p:nvPr/>
        </p:nvSpPr>
        <p:spPr>
          <a:xfrm>
            <a:off x="8513853" y="473394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6" name="正方形/長方形 55">
            <a:extLst>
              <a:ext uri="{FF2B5EF4-FFF2-40B4-BE49-F238E27FC236}">
                <a16:creationId xmlns:a16="http://schemas.microsoft.com/office/drawing/2014/main" id="{13D10860-F991-1C53-01DA-4ACA11ACE1A8}"/>
              </a:ext>
            </a:extLst>
          </p:cNvPr>
          <p:cNvSpPr/>
          <p:nvPr/>
        </p:nvSpPr>
        <p:spPr>
          <a:xfrm>
            <a:off x="8513853" y="500085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7" name="正方形/長方形 56">
            <a:extLst>
              <a:ext uri="{FF2B5EF4-FFF2-40B4-BE49-F238E27FC236}">
                <a16:creationId xmlns:a16="http://schemas.microsoft.com/office/drawing/2014/main" id="{C51CC8A8-1B06-B50B-F6C5-E0C0CEC02744}"/>
              </a:ext>
            </a:extLst>
          </p:cNvPr>
          <p:cNvSpPr/>
          <p:nvPr/>
        </p:nvSpPr>
        <p:spPr>
          <a:xfrm>
            <a:off x="8513853" y="526747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8" name="正方形/長方形 57">
            <a:extLst>
              <a:ext uri="{FF2B5EF4-FFF2-40B4-BE49-F238E27FC236}">
                <a16:creationId xmlns:a16="http://schemas.microsoft.com/office/drawing/2014/main" id="{05FF7D90-F4D8-8DD0-8088-DFCCD4C4065D}"/>
              </a:ext>
            </a:extLst>
          </p:cNvPr>
          <p:cNvSpPr/>
          <p:nvPr/>
        </p:nvSpPr>
        <p:spPr>
          <a:xfrm>
            <a:off x="8513853" y="553409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59" name="正方形/長方形 58">
            <a:extLst>
              <a:ext uri="{FF2B5EF4-FFF2-40B4-BE49-F238E27FC236}">
                <a16:creationId xmlns:a16="http://schemas.microsoft.com/office/drawing/2014/main" id="{841315CC-F7DE-9B8A-EA11-4E53BA1DCBC9}"/>
              </a:ext>
            </a:extLst>
          </p:cNvPr>
          <p:cNvSpPr/>
          <p:nvPr/>
        </p:nvSpPr>
        <p:spPr>
          <a:xfrm>
            <a:off x="8513853" y="580072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0" name="正方形/長方形 59">
            <a:extLst>
              <a:ext uri="{FF2B5EF4-FFF2-40B4-BE49-F238E27FC236}">
                <a16:creationId xmlns:a16="http://schemas.microsoft.com/office/drawing/2014/main" id="{91BC0825-65D4-CBB4-EB1A-DE8E33EA6583}"/>
              </a:ext>
            </a:extLst>
          </p:cNvPr>
          <p:cNvSpPr/>
          <p:nvPr/>
        </p:nvSpPr>
        <p:spPr>
          <a:xfrm>
            <a:off x="10689958" y="4733944"/>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1" name="正方形/長方形 60">
            <a:extLst>
              <a:ext uri="{FF2B5EF4-FFF2-40B4-BE49-F238E27FC236}">
                <a16:creationId xmlns:a16="http://schemas.microsoft.com/office/drawing/2014/main" id="{3F49F50D-6835-B149-EA7F-09CB51712FC5}"/>
              </a:ext>
            </a:extLst>
          </p:cNvPr>
          <p:cNvSpPr/>
          <p:nvPr/>
        </p:nvSpPr>
        <p:spPr>
          <a:xfrm>
            <a:off x="10689958" y="5000852"/>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2" name="正方形/長方形 61">
            <a:extLst>
              <a:ext uri="{FF2B5EF4-FFF2-40B4-BE49-F238E27FC236}">
                <a16:creationId xmlns:a16="http://schemas.microsoft.com/office/drawing/2014/main" id="{ACD8599C-A06E-A279-2A5C-205473CC89A3}"/>
              </a:ext>
            </a:extLst>
          </p:cNvPr>
          <p:cNvSpPr/>
          <p:nvPr/>
        </p:nvSpPr>
        <p:spPr>
          <a:xfrm>
            <a:off x="10689958" y="5267475"/>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3" name="正方形/長方形 62">
            <a:extLst>
              <a:ext uri="{FF2B5EF4-FFF2-40B4-BE49-F238E27FC236}">
                <a16:creationId xmlns:a16="http://schemas.microsoft.com/office/drawing/2014/main" id="{898868AA-0D24-1E0F-C359-650AFCB1DC87}"/>
              </a:ext>
            </a:extLst>
          </p:cNvPr>
          <p:cNvSpPr/>
          <p:nvPr/>
        </p:nvSpPr>
        <p:spPr>
          <a:xfrm>
            <a:off x="10689958" y="5534098"/>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sp>
        <p:nvSpPr>
          <p:cNvPr id="64" name="正方形/長方形 63">
            <a:extLst>
              <a:ext uri="{FF2B5EF4-FFF2-40B4-BE49-F238E27FC236}">
                <a16:creationId xmlns:a16="http://schemas.microsoft.com/office/drawing/2014/main" id="{D13E213A-997D-626D-1014-79939509F9D8}"/>
              </a:ext>
            </a:extLst>
          </p:cNvPr>
          <p:cNvSpPr/>
          <p:nvPr/>
        </p:nvSpPr>
        <p:spPr>
          <a:xfrm>
            <a:off x="10689958" y="5800721"/>
            <a:ext cx="1260209" cy="235274"/>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200" dirty="0">
                <a:solidFill>
                  <a:schemeClr val="bg1"/>
                </a:solidFill>
                <a:latin typeface="BIZ UDPゴシック" panose="020B0400000000000000" pitchFamily="50" charset="-128"/>
                <a:ea typeface="BIZ UDPゴシック" panose="020B0400000000000000" pitchFamily="50" charset="-128"/>
              </a:rPr>
              <a:t>マイルストーン</a:t>
            </a:r>
            <a:endParaRPr lang="en-US" altLang="ja-JP" sz="1200" dirty="0">
              <a:solidFill>
                <a:schemeClr val="bg1"/>
              </a:solidFill>
              <a:latin typeface="BIZ UDPゴシック" panose="020B0400000000000000" pitchFamily="50" charset="-128"/>
              <a:ea typeface="BIZ UDPゴシック" panose="020B0400000000000000" pitchFamily="50" charset="-128"/>
            </a:endParaRPr>
          </a:p>
        </p:txBody>
      </p:sp>
      <p:cxnSp>
        <p:nvCxnSpPr>
          <p:cNvPr id="65" name="直線コネクタ 64">
            <a:extLst>
              <a:ext uri="{FF2B5EF4-FFF2-40B4-BE49-F238E27FC236}">
                <a16:creationId xmlns:a16="http://schemas.microsoft.com/office/drawing/2014/main" id="{77BECA9C-A530-776D-D4D6-2D2A22F551D5}"/>
              </a:ext>
            </a:extLst>
          </p:cNvPr>
          <p:cNvCxnSpPr>
            <a:cxnSpLocks/>
          </p:cNvCxnSpPr>
          <p:nvPr/>
        </p:nvCxnSpPr>
        <p:spPr>
          <a:xfrm>
            <a:off x="360000" y="1793596"/>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66" name="直線コネクタ 65">
            <a:extLst>
              <a:ext uri="{FF2B5EF4-FFF2-40B4-BE49-F238E27FC236}">
                <a16:creationId xmlns:a16="http://schemas.microsoft.com/office/drawing/2014/main" id="{0E3E6331-6E24-CCF1-3602-FEE9F9CB5D6C}"/>
              </a:ext>
            </a:extLst>
          </p:cNvPr>
          <p:cNvCxnSpPr>
            <a:cxnSpLocks/>
          </p:cNvCxnSpPr>
          <p:nvPr/>
        </p:nvCxnSpPr>
        <p:spPr>
          <a:xfrm>
            <a:off x="360000" y="4586575"/>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67" name="直線コネクタ 66">
            <a:extLst>
              <a:ext uri="{FF2B5EF4-FFF2-40B4-BE49-F238E27FC236}">
                <a16:creationId xmlns:a16="http://schemas.microsoft.com/office/drawing/2014/main" id="{DD4E8D18-D8BA-DB15-4CE6-7C9517C9ED91}"/>
              </a:ext>
            </a:extLst>
          </p:cNvPr>
          <p:cNvCxnSpPr>
            <a:cxnSpLocks/>
          </p:cNvCxnSpPr>
          <p:nvPr/>
        </p:nvCxnSpPr>
        <p:spPr>
          <a:xfrm>
            <a:off x="360000" y="2931265"/>
            <a:ext cx="11520000" cy="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230935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07C049-CB8F-9311-925D-FF160C543B1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FA5ECB5-1A55-9EDB-6021-150B60A9B6B8}"/>
              </a:ext>
            </a:extLst>
          </p:cNvPr>
          <p:cNvSpPr>
            <a:spLocks noGrp="1"/>
          </p:cNvSpPr>
          <p:nvPr>
            <p:ph type="ctrTitle"/>
          </p:nvPr>
        </p:nvSpPr>
        <p:spPr/>
        <p:txBody>
          <a:bodyPr/>
          <a:lstStyle/>
          <a:p>
            <a:r>
              <a:rPr lang="ja-JP" altLang="en-US" dirty="0"/>
              <a:t>分析：詳細化</a:t>
            </a:r>
            <a:endParaRPr kumimoji="1" lang="ja-JP" altLang="en-US" dirty="0"/>
          </a:p>
        </p:txBody>
      </p:sp>
      <p:sp>
        <p:nvSpPr>
          <p:cNvPr id="3" name="字幕 2">
            <a:extLst>
              <a:ext uri="{FF2B5EF4-FFF2-40B4-BE49-F238E27FC236}">
                <a16:creationId xmlns:a16="http://schemas.microsoft.com/office/drawing/2014/main" id="{517C5984-CF69-2397-BE18-6CE0E52687BC}"/>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6BE0090-B195-F9A6-561F-3729B56C46A7}"/>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31</a:t>
            </a:fld>
            <a:endParaRPr lang="ja-JP" altLang="en-US"/>
          </a:p>
        </p:txBody>
      </p:sp>
      <p:sp>
        <p:nvSpPr>
          <p:cNvPr id="5" name="フッター プレースホルダー 4">
            <a:extLst>
              <a:ext uri="{FF2B5EF4-FFF2-40B4-BE49-F238E27FC236}">
                <a16:creationId xmlns:a16="http://schemas.microsoft.com/office/drawing/2014/main" id="{BEA79DAB-C38E-D265-F1C8-1B638A7BAF55}"/>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8914692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3F0527-D9AA-4A2F-9B57-CA19CDB14B6B}"/>
              </a:ext>
            </a:extLst>
          </p:cNvPr>
          <p:cNvSpPr>
            <a:spLocks noGrp="1"/>
          </p:cNvSpPr>
          <p:nvPr>
            <p:ph type="title"/>
          </p:nvPr>
        </p:nvSpPr>
        <p:spPr/>
        <p:txBody>
          <a:bodyPr/>
          <a:lstStyle/>
          <a:p>
            <a:r>
              <a:rPr lang="ja-JP" altLang="en-US" dirty="0"/>
              <a:t>昨年度までの課題と対応検討</a:t>
            </a:r>
            <a:endParaRPr kumimoji="1" lang="ja-JP" altLang="en-US" dirty="0"/>
          </a:p>
        </p:txBody>
      </p:sp>
      <p:sp>
        <p:nvSpPr>
          <p:cNvPr id="3" name="フッター プレースホルダー 2">
            <a:extLst>
              <a:ext uri="{FF2B5EF4-FFF2-40B4-BE49-F238E27FC236}">
                <a16:creationId xmlns:a16="http://schemas.microsoft.com/office/drawing/2014/main" id="{AC12C6B1-2941-4AAD-6458-FD0AA637B14C}"/>
              </a:ext>
            </a:extLst>
          </p:cNvPr>
          <p:cNvSpPr>
            <a:spLocks noGrp="1"/>
          </p:cNvSpPr>
          <p:nvPr>
            <p:ph type="ftr" sz="quarter" idx="11"/>
          </p:nvPr>
        </p:nvSpPr>
        <p:spPr/>
        <p:txBody>
          <a:bodyPr/>
          <a:lstStyle/>
          <a:p>
            <a:r>
              <a:rPr lang="ja-JP" altLang="en-US" dirty="0"/>
              <a:t>出所：</a:t>
            </a:r>
            <a:endParaRPr lang="ja-JP" altLang="en-US" sz="900" dirty="0"/>
          </a:p>
        </p:txBody>
      </p:sp>
      <p:sp>
        <p:nvSpPr>
          <p:cNvPr id="4" name="スライド番号プレースホルダー 3">
            <a:extLst>
              <a:ext uri="{FF2B5EF4-FFF2-40B4-BE49-F238E27FC236}">
                <a16:creationId xmlns:a16="http://schemas.microsoft.com/office/drawing/2014/main" id="{E392E025-C43D-C57B-FFC3-F0C9504061FD}"/>
              </a:ext>
            </a:extLst>
          </p:cNvPr>
          <p:cNvSpPr>
            <a:spLocks noGrp="1"/>
          </p:cNvSpPr>
          <p:nvPr>
            <p:ph type="sldNum" sz="quarter" idx="12"/>
          </p:nvPr>
        </p:nvSpPr>
        <p:spPr/>
        <p:txBody>
          <a:bodyPr/>
          <a:lstStyle/>
          <a:p>
            <a:fld id="{DCB5AA93-092B-49A1-87A7-3C88D5F38AD7}" type="slidenum">
              <a:rPr lang="ja-JP" altLang="en-US" smtClean="0"/>
              <a:pPr/>
              <a:t>32</a:t>
            </a:fld>
            <a:endParaRPr lang="ja-JP" altLang="en-US" sz="900" dirty="0"/>
          </a:p>
        </p:txBody>
      </p:sp>
      <p:sp>
        <p:nvSpPr>
          <p:cNvPr id="5" name="テキスト プレースホルダー 4">
            <a:extLst>
              <a:ext uri="{FF2B5EF4-FFF2-40B4-BE49-F238E27FC236}">
                <a16:creationId xmlns:a16="http://schemas.microsoft.com/office/drawing/2014/main" id="{925F6B76-2FAE-DF98-C15D-983FB639D5BF}"/>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BC620EB1-B54C-8B9C-C705-4D2CAEE22690}"/>
              </a:ext>
            </a:extLst>
          </p:cNvPr>
          <p:cNvSpPr/>
          <p:nvPr/>
        </p:nvSpPr>
        <p:spPr>
          <a:xfrm>
            <a:off x="360000" y="1530528"/>
            <a:ext cx="556286" cy="2703786"/>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データ収集</a:t>
            </a:r>
          </a:p>
        </p:txBody>
      </p:sp>
      <p:sp>
        <p:nvSpPr>
          <p:cNvPr id="7" name="正方形/長方形 6">
            <a:extLst>
              <a:ext uri="{FF2B5EF4-FFF2-40B4-BE49-F238E27FC236}">
                <a16:creationId xmlns:a16="http://schemas.microsoft.com/office/drawing/2014/main" id="{46A6A5AB-80FA-848C-9E63-6BBD0189F68B}"/>
              </a:ext>
            </a:extLst>
          </p:cNvPr>
          <p:cNvSpPr/>
          <p:nvPr/>
        </p:nvSpPr>
        <p:spPr>
          <a:xfrm>
            <a:off x="360000" y="4367309"/>
            <a:ext cx="556286" cy="176593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データ利活用</a:t>
            </a:r>
          </a:p>
        </p:txBody>
      </p:sp>
      <p:cxnSp>
        <p:nvCxnSpPr>
          <p:cNvPr id="8" name="直線コネクタ 7">
            <a:extLst>
              <a:ext uri="{FF2B5EF4-FFF2-40B4-BE49-F238E27FC236}">
                <a16:creationId xmlns:a16="http://schemas.microsoft.com/office/drawing/2014/main" id="{E83AB7A8-8C7B-1EA5-663C-D81E44549B11}"/>
              </a:ext>
            </a:extLst>
          </p:cNvPr>
          <p:cNvCxnSpPr>
            <a:cxnSpLocks/>
          </p:cNvCxnSpPr>
          <p:nvPr/>
        </p:nvCxnSpPr>
        <p:spPr>
          <a:xfrm>
            <a:off x="964276" y="1261328"/>
            <a:ext cx="3316779"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DA64B1BF-0589-6B0A-A93B-CB75465A09FC}"/>
              </a:ext>
            </a:extLst>
          </p:cNvPr>
          <p:cNvSpPr txBox="1"/>
          <p:nvPr/>
        </p:nvSpPr>
        <p:spPr>
          <a:xfrm>
            <a:off x="2383817" y="1153606"/>
            <a:ext cx="596317"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課題  </a:t>
            </a:r>
          </a:p>
        </p:txBody>
      </p:sp>
      <p:sp>
        <p:nvSpPr>
          <p:cNvPr id="10" name="テキスト ボックス 9">
            <a:extLst>
              <a:ext uri="{FF2B5EF4-FFF2-40B4-BE49-F238E27FC236}">
                <a16:creationId xmlns:a16="http://schemas.microsoft.com/office/drawing/2014/main" id="{3D7CDD01-5667-82BF-6531-3D1F52F10B77}"/>
              </a:ext>
            </a:extLst>
          </p:cNvPr>
          <p:cNvSpPr txBox="1"/>
          <p:nvPr/>
        </p:nvSpPr>
        <p:spPr>
          <a:xfrm>
            <a:off x="1072342" y="1530527"/>
            <a:ext cx="3208713"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収集データの量が不足</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ユーザ登録・利用数が少なく、分析等データ利活用に必要なデータ量が収集できていない</a:t>
            </a:r>
          </a:p>
        </p:txBody>
      </p:sp>
      <p:cxnSp>
        <p:nvCxnSpPr>
          <p:cNvPr id="11" name="直線コネクタ 10">
            <a:extLst>
              <a:ext uri="{FF2B5EF4-FFF2-40B4-BE49-F238E27FC236}">
                <a16:creationId xmlns:a16="http://schemas.microsoft.com/office/drawing/2014/main" id="{97686C09-BC2C-1C19-5A7E-94C31230B2AE}"/>
              </a:ext>
            </a:extLst>
          </p:cNvPr>
          <p:cNvCxnSpPr>
            <a:cxnSpLocks/>
          </p:cNvCxnSpPr>
          <p:nvPr/>
        </p:nvCxnSpPr>
        <p:spPr>
          <a:xfrm>
            <a:off x="4437610" y="1260808"/>
            <a:ext cx="3816928"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FE1EF8FF-4A21-5274-C9DA-63F44991C7FA}"/>
              </a:ext>
            </a:extLst>
          </p:cNvPr>
          <p:cNvSpPr txBox="1"/>
          <p:nvPr/>
        </p:nvSpPr>
        <p:spPr>
          <a:xfrm>
            <a:off x="5584800" y="1153086"/>
            <a:ext cx="1481175"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想定される要因  </a:t>
            </a:r>
          </a:p>
        </p:txBody>
      </p:sp>
      <p:sp>
        <p:nvSpPr>
          <p:cNvPr id="13" name="テキスト ボックス 12">
            <a:extLst>
              <a:ext uri="{FF2B5EF4-FFF2-40B4-BE49-F238E27FC236}">
                <a16:creationId xmlns:a16="http://schemas.microsoft.com/office/drawing/2014/main" id="{BA506F85-75AB-5B0C-75A0-55CFC6097337}"/>
              </a:ext>
            </a:extLst>
          </p:cNvPr>
          <p:cNvSpPr txBox="1"/>
          <p:nvPr/>
        </p:nvSpPr>
        <p:spPr>
          <a:xfrm>
            <a:off x="4545676" y="1530007"/>
            <a:ext cx="3708862"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許諾・同意を前提としたデータ収集</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ユーザ本人の同意・許諾をもとに個人情報を含むデータを収集し、</a:t>
            </a:r>
            <a:r>
              <a:rPr kumimoji="1" lang="en-US" altLang="ja-JP" sz="1400" dirty="0">
                <a:latin typeface="BIZ UDPゴシック" panose="020B0400000000000000" pitchFamily="50" charset="-128"/>
                <a:ea typeface="BIZ UDPゴシック" panose="020B0400000000000000" pitchFamily="50" charset="-128"/>
              </a:rPr>
              <a:t>PF</a:t>
            </a:r>
            <a:r>
              <a:rPr lang="ja-JP" altLang="en-US" sz="1400" dirty="0">
                <a:latin typeface="BIZ UDPゴシック" panose="020B0400000000000000" pitchFamily="50" charset="-128"/>
                <a:ea typeface="BIZ UDPゴシック" panose="020B0400000000000000" pitchFamily="50" charset="-128"/>
              </a:rPr>
              <a:t>感で共有・利活用する仕組み</a:t>
            </a:r>
            <a:endParaRPr lang="en-US" altLang="ja-JP" sz="1400" dirty="0">
              <a:latin typeface="BIZ UDPゴシック" panose="020B0400000000000000" pitchFamily="50" charset="-128"/>
              <a:ea typeface="BIZ UDPゴシック" panose="020B0400000000000000" pitchFamily="50" charset="-128"/>
            </a:endParaRPr>
          </a:p>
        </p:txBody>
      </p:sp>
      <p:cxnSp>
        <p:nvCxnSpPr>
          <p:cNvPr id="14" name="直線コネクタ 13">
            <a:extLst>
              <a:ext uri="{FF2B5EF4-FFF2-40B4-BE49-F238E27FC236}">
                <a16:creationId xmlns:a16="http://schemas.microsoft.com/office/drawing/2014/main" id="{5FE57480-7ED0-9578-1E63-7572E069A859}"/>
              </a:ext>
            </a:extLst>
          </p:cNvPr>
          <p:cNvCxnSpPr>
            <a:cxnSpLocks/>
          </p:cNvCxnSpPr>
          <p:nvPr/>
        </p:nvCxnSpPr>
        <p:spPr>
          <a:xfrm>
            <a:off x="8467231" y="1260808"/>
            <a:ext cx="3316779"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5" name="テキスト ボックス 14">
            <a:extLst>
              <a:ext uri="{FF2B5EF4-FFF2-40B4-BE49-F238E27FC236}">
                <a16:creationId xmlns:a16="http://schemas.microsoft.com/office/drawing/2014/main" id="{08F42AEF-D8D1-563E-DE64-FA3D484415E6}"/>
              </a:ext>
            </a:extLst>
          </p:cNvPr>
          <p:cNvSpPr txBox="1"/>
          <p:nvPr/>
        </p:nvSpPr>
        <p:spPr>
          <a:xfrm>
            <a:off x="9670641" y="1153086"/>
            <a:ext cx="955390"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対応方針  </a:t>
            </a:r>
          </a:p>
        </p:txBody>
      </p:sp>
      <p:sp>
        <p:nvSpPr>
          <p:cNvPr id="16" name="テキスト ボックス 15">
            <a:extLst>
              <a:ext uri="{FF2B5EF4-FFF2-40B4-BE49-F238E27FC236}">
                <a16:creationId xmlns:a16="http://schemas.microsoft.com/office/drawing/2014/main" id="{4613A316-13FD-EC29-4A79-4F73AED6462E}"/>
              </a:ext>
            </a:extLst>
          </p:cNvPr>
          <p:cNvSpPr txBox="1"/>
          <p:nvPr/>
        </p:nvSpPr>
        <p:spPr>
          <a:xfrm>
            <a:off x="8575297" y="1530007"/>
            <a:ext cx="3208713" cy="646331"/>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ユーザ本人の同意・許諾を必要としない匿名加工情報の収集を追加し、収集データ量を確保する </a:t>
            </a:r>
            <a:r>
              <a:rPr kumimoji="1" lang="en-US" altLang="ja-JP" sz="1400" dirty="0">
                <a:latin typeface="BIZ UDPゴシック" panose="020B0400000000000000" pitchFamily="50" charset="-128"/>
                <a:ea typeface="BIZ UDPゴシック" panose="020B0400000000000000" pitchFamily="50" charset="-128"/>
              </a:rPr>
              <a:t>-&gt; p18</a:t>
            </a:r>
            <a:r>
              <a:rPr kumimoji="1" lang="ja-JP" altLang="en-US" sz="1400" dirty="0">
                <a:latin typeface="BIZ UDPゴシック" panose="020B0400000000000000" pitchFamily="50" charset="-128"/>
                <a:ea typeface="BIZ UDPゴシック" panose="020B0400000000000000" pitchFamily="50" charset="-128"/>
              </a:rPr>
              <a:t>参照</a:t>
            </a:r>
            <a:endParaRPr lang="en-US" altLang="ja-JP" sz="1400"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78E57F24-C80A-14A0-534A-51FB0383DBCC}"/>
              </a:ext>
            </a:extLst>
          </p:cNvPr>
          <p:cNvSpPr txBox="1"/>
          <p:nvPr/>
        </p:nvSpPr>
        <p:spPr>
          <a:xfrm>
            <a:off x="1072342" y="3157616"/>
            <a:ext cx="3208713"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収集データの量が不足</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ユーザ登録・利用数が少なく、分析等データ利活用に必要なデータ量が収集できていない</a:t>
            </a:r>
          </a:p>
        </p:txBody>
      </p:sp>
      <p:sp>
        <p:nvSpPr>
          <p:cNvPr id="18" name="テキスト ボックス 17">
            <a:extLst>
              <a:ext uri="{FF2B5EF4-FFF2-40B4-BE49-F238E27FC236}">
                <a16:creationId xmlns:a16="http://schemas.microsoft.com/office/drawing/2014/main" id="{75D8077A-5E69-4A03-52FB-8A99579D06F1}"/>
              </a:ext>
            </a:extLst>
          </p:cNvPr>
          <p:cNvSpPr txBox="1"/>
          <p:nvPr/>
        </p:nvSpPr>
        <p:spPr>
          <a:xfrm>
            <a:off x="4545676" y="3157096"/>
            <a:ext cx="3708862"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許諾・同意を前提としたデータ収集</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ユーザ本人の同意・許諾をもとに個人情報を含むデータを収集ユーザの同意・許諾の取得が難しく、登録途中で離脱</a:t>
            </a:r>
          </a:p>
        </p:txBody>
      </p:sp>
      <p:sp>
        <p:nvSpPr>
          <p:cNvPr id="19" name="テキスト ボックス 18">
            <a:extLst>
              <a:ext uri="{FF2B5EF4-FFF2-40B4-BE49-F238E27FC236}">
                <a16:creationId xmlns:a16="http://schemas.microsoft.com/office/drawing/2014/main" id="{9CBFBE49-47D0-5824-C978-E35A3FA119FF}"/>
              </a:ext>
            </a:extLst>
          </p:cNvPr>
          <p:cNvSpPr txBox="1"/>
          <p:nvPr/>
        </p:nvSpPr>
        <p:spPr>
          <a:xfrm>
            <a:off x="8575297" y="3157096"/>
            <a:ext cx="3208713" cy="646331"/>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ユーザ本人の同意・許諾を必要としない匿名加工情報の収集を追加し、収集データ量を確保する </a:t>
            </a:r>
            <a:r>
              <a:rPr kumimoji="1" lang="en-US" altLang="ja-JP" sz="1400" dirty="0">
                <a:latin typeface="BIZ UDPゴシック" panose="020B0400000000000000" pitchFamily="50" charset="-128"/>
                <a:ea typeface="BIZ UDPゴシック" panose="020B0400000000000000" pitchFamily="50" charset="-128"/>
              </a:rPr>
              <a:t>-&gt; p18</a:t>
            </a:r>
            <a:r>
              <a:rPr kumimoji="1" lang="ja-JP" altLang="en-US" sz="1400" dirty="0">
                <a:latin typeface="BIZ UDPゴシック" panose="020B0400000000000000" pitchFamily="50" charset="-128"/>
                <a:ea typeface="BIZ UDPゴシック" panose="020B0400000000000000" pitchFamily="50" charset="-128"/>
              </a:rPr>
              <a:t>参照</a:t>
            </a:r>
            <a:endParaRPr lang="en-US" altLang="ja-JP" sz="1400" dirty="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19BBE0C4-C994-E173-8B9D-10C81455FFD1}"/>
              </a:ext>
            </a:extLst>
          </p:cNvPr>
          <p:cNvSpPr txBox="1"/>
          <p:nvPr/>
        </p:nvSpPr>
        <p:spPr>
          <a:xfrm>
            <a:off x="1072342" y="4365256"/>
            <a:ext cx="3208713"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収集データの量が不足</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ユーザ登録・利用数が少なく、分析等データ利活用に必要なデータ量が収集できていない</a:t>
            </a:r>
          </a:p>
        </p:txBody>
      </p:sp>
      <p:sp>
        <p:nvSpPr>
          <p:cNvPr id="21" name="テキスト ボックス 20">
            <a:extLst>
              <a:ext uri="{FF2B5EF4-FFF2-40B4-BE49-F238E27FC236}">
                <a16:creationId xmlns:a16="http://schemas.microsoft.com/office/drawing/2014/main" id="{AE3B027A-B7F9-FA0C-D340-C3A82C1C6ADC}"/>
              </a:ext>
            </a:extLst>
          </p:cNvPr>
          <p:cNvSpPr txBox="1"/>
          <p:nvPr/>
        </p:nvSpPr>
        <p:spPr>
          <a:xfrm>
            <a:off x="4545676" y="4364736"/>
            <a:ext cx="3708862" cy="861774"/>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許諾・同意を前提としたデータ収集</a:t>
            </a:r>
            <a:endParaRPr kumimoji="1" lang="en-US" altLang="ja-JP" sz="1400" dirty="0">
              <a:latin typeface="BIZ UDPゴシック" panose="020B0400000000000000" pitchFamily="50" charset="-128"/>
              <a:ea typeface="BIZ UDPゴシック" panose="020B0400000000000000" pitchFamily="50" charset="-128"/>
            </a:endParaRPr>
          </a:p>
          <a:p>
            <a:pPr marL="355600" indent="-173038" algn="l">
              <a:buFont typeface="Wingdings" panose="05000000000000000000" pitchFamily="2" charset="2"/>
              <a:buChar char="ü"/>
            </a:pPr>
            <a:r>
              <a:rPr kumimoji="1" lang="ja-JP" altLang="en-US" sz="1400" dirty="0">
                <a:latin typeface="BIZ UDPゴシック" panose="020B0400000000000000" pitchFamily="50" charset="-128"/>
                <a:ea typeface="BIZ UDPゴシック" panose="020B0400000000000000" pitchFamily="50" charset="-128"/>
              </a:rPr>
              <a:t>ユーザ本人の同意・許諾をもとに個人情報を含むデータを収集ユーザの同意・許諾の取得が難しく、登録途中で離脱</a:t>
            </a:r>
          </a:p>
        </p:txBody>
      </p:sp>
      <p:sp>
        <p:nvSpPr>
          <p:cNvPr id="22" name="テキスト ボックス 21">
            <a:extLst>
              <a:ext uri="{FF2B5EF4-FFF2-40B4-BE49-F238E27FC236}">
                <a16:creationId xmlns:a16="http://schemas.microsoft.com/office/drawing/2014/main" id="{ED54F8EE-63E7-9BC1-871E-2879F6A91E1E}"/>
              </a:ext>
            </a:extLst>
          </p:cNvPr>
          <p:cNvSpPr txBox="1"/>
          <p:nvPr/>
        </p:nvSpPr>
        <p:spPr>
          <a:xfrm>
            <a:off x="8575297" y="4364736"/>
            <a:ext cx="3208713" cy="646331"/>
          </a:xfrm>
          <a:prstGeom prst="rect">
            <a:avLst/>
          </a:prstGeom>
          <a:noFill/>
        </p:spPr>
        <p:txBody>
          <a:bodyPr wrap="square" lIns="0" tIns="0" rIns="0" bIns="0" rtlCol="0" anchor="t" anchorCtr="0">
            <a:spAutoFit/>
          </a:bodyPr>
          <a:lstStyle/>
          <a:p>
            <a:pPr marL="182563" indent="-182563" algn="l">
              <a:buFont typeface="Wingdings" panose="05000000000000000000" pitchFamily="2" charset="2"/>
              <a:buChar char="n"/>
            </a:pPr>
            <a:r>
              <a:rPr kumimoji="1" lang="ja-JP" altLang="en-US" sz="1400" dirty="0">
                <a:latin typeface="BIZ UDPゴシック" panose="020B0400000000000000" pitchFamily="50" charset="-128"/>
                <a:ea typeface="BIZ UDPゴシック" panose="020B0400000000000000" pitchFamily="50" charset="-128"/>
              </a:rPr>
              <a:t>ユーザ本人の同意・許諾を必要としない匿名加工情報の収集を追加し、収集データ量を確保する </a:t>
            </a:r>
            <a:r>
              <a:rPr kumimoji="1" lang="en-US" altLang="ja-JP" sz="1400" dirty="0">
                <a:latin typeface="BIZ UDPゴシック" panose="020B0400000000000000" pitchFamily="50" charset="-128"/>
                <a:ea typeface="BIZ UDPゴシック" panose="020B0400000000000000" pitchFamily="50" charset="-128"/>
              </a:rPr>
              <a:t>-&gt; p18</a:t>
            </a:r>
            <a:r>
              <a:rPr kumimoji="1" lang="ja-JP" altLang="en-US" sz="1400" dirty="0">
                <a:latin typeface="BIZ UDPゴシック" panose="020B0400000000000000" pitchFamily="50" charset="-128"/>
                <a:ea typeface="BIZ UDPゴシック" panose="020B0400000000000000" pitchFamily="50" charset="-128"/>
              </a:rPr>
              <a:t>参照</a:t>
            </a:r>
            <a:endParaRPr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9484358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44BF58-672D-EAF5-B78D-3D31A8797514}"/>
              </a:ext>
            </a:extLst>
          </p:cNvPr>
          <p:cNvSpPr>
            <a:spLocks noGrp="1"/>
          </p:cNvSpPr>
          <p:nvPr>
            <p:ph type="title"/>
          </p:nvPr>
        </p:nvSpPr>
        <p:spPr/>
        <p:txBody>
          <a:bodyPr/>
          <a:lstStyle/>
          <a:p>
            <a:r>
              <a:rPr lang="ja-JP" altLang="en-US" dirty="0"/>
              <a:t>示唆</a:t>
            </a:r>
            <a:endParaRPr kumimoji="1" lang="ja-JP" altLang="en-US" dirty="0"/>
          </a:p>
        </p:txBody>
      </p:sp>
      <p:sp>
        <p:nvSpPr>
          <p:cNvPr id="3" name="フッター プレースホルダー 2">
            <a:extLst>
              <a:ext uri="{FF2B5EF4-FFF2-40B4-BE49-F238E27FC236}">
                <a16:creationId xmlns:a16="http://schemas.microsoft.com/office/drawing/2014/main" id="{E3457AC0-5C18-BFB6-FEF6-1F28B43309BD}"/>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433F237-4880-C537-17A3-C55141DA9907}"/>
              </a:ext>
            </a:extLst>
          </p:cNvPr>
          <p:cNvSpPr>
            <a:spLocks noGrp="1"/>
          </p:cNvSpPr>
          <p:nvPr>
            <p:ph type="sldNum" sz="quarter" idx="12"/>
          </p:nvPr>
        </p:nvSpPr>
        <p:spPr/>
        <p:txBody>
          <a:bodyPr/>
          <a:lstStyle/>
          <a:p>
            <a:fld id="{DCB5AA93-092B-49A1-87A7-3C88D5F38AD7}" type="slidenum">
              <a:rPr lang="ja-JP" altLang="en-US" smtClean="0"/>
              <a:pPr/>
              <a:t>33</a:t>
            </a:fld>
            <a:endParaRPr lang="ja-JP" altLang="en-US" sz="900" dirty="0"/>
          </a:p>
        </p:txBody>
      </p:sp>
      <p:sp>
        <p:nvSpPr>
          <p:cNvPr id="5" name="テキスト プレースホルダー 4">
            <a:extLst>
              <a:ext uri="{FF2B5EF4-FFF2-40B4-BE49-F238E27FC236}">
                <a16:creationId xmlns:a16="http://schemas.microsoft.com/office/drawing/2014/main" id="{258546F3-4A38-2600-7D23-30556414367F}"/>
              </a:ext>
            </a:extLst>
          </p:cNvPr>
          <p:cNvSpPr>
            <a:spLocks noGrp="1"/>
          </p:cNvSpPr>
          <p:nvPr>
            <p:ph type="body" sz="quarter" idx="13"/>
          </p:nvPr>
        </p:nvSpPr>
        <p:spPr/>
        <p:txBody>
          <a:bodyPr/>
          <a:lstStyle/>
          <a:p>
            <a:endParaRPr kumimoji="1" lang="ja-JP" altLang="en-US"/>
          </a:p>
        </p:txBody>
      </p:sp>
      <p:sp>
        <p:nvSpPr>
          <p:cNvPr id="6" name="テキスト ボックス 5">
            <a:extLst>
              <a:ext uri="{FF2B5EF4-FFF2-40B4-BE49-F238E27FC236}">
                <a16:creationId xmlns:a16="http://schemas.microsoft.com/office/drawing/2014/main" id="{4FA75906-021E-144F-C54C-A1883077A897}"/>
              </a:ext>
            </a:extLst>
          </p:cNvPr>
          <p:cNvSpPr txBox="1"/>
          <p:nvPr/>
        </p:nvSpPr>
        <p:spPr>
          <a:xfrm>
            <a:off x="334963" y="1733852"/>
            <a:ext cx="2150739" cy="646331"/>
          </a:xfrm>
          <a:prstGeom prst="rect">
            <a:avLst/>
          </a:prstGeom>
          <a:noFill/>
        </p:spPr>
        <p:txBody>
          <a:bodyPr wrap="square" lIns="0" tIns="0" rIns="0" bIns="0" rtlCol="0" anchor="t" anchorCtr="0">
            <a:spAutoFit/>
          </a:bodyPr>
          <a:lstStyle/>
          <a:p>
            <a:pPr marL="177800" indent="-177800" algn="l">
              <a:buFont typeface="Wingdings" panose="05000000000000000000" pitchFamily="2" charset="2"/>
              <a:buChar char="n"/>
            </a:pPr>
            <a:r>
              <a:rPr lang="en-US" altLang="ja-JP" sz="1400" dirty="0">
                <a:latin typeface="BIZ UDPゴシック" panose="020B0400000000000000" pitchFamily="50" charset="-128"/>
                <a:ea typeface="BIZ UDPゴシック" panose="020B0400000000000000" pitchFamily="50" charset="-128"/>
              </a:rPr>
              <a:t>PHR</a:t>
            </a:r>
            <a:r>
              <a:rPr lang="ja-JP" altLang="en-US" sz="1400" dirty="0">
                <a:latin typeface="BIZ UDPゴシック" panose="020B0400000000000000" pitchFamily="50" charset="-128"/>
                <a:ea typeface="BIZ UDPゴシック" panose="020B0400000000000000" pitchFamily="50" charset="-128"/>
              </a:rPr>
              <a:t>はどの産業まで活用の幅が広がっているのか？</a:t>
            </a:r>
            <a:endParaRPr lang="en-US" altLang="ja-JP" sz="14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4A25E42B-EAA4-695A-8CD2-9BF87B18B1D3}"/>
              </a:ext>
            </a:extLst>
          </p:cNvPr>
          <p:cNvCxnSpPr>
            <a:cxnSpLocks/>
          </p:cNvCxnSpPr>
          <p:nvPr/>
        </p:nvCxnSpPr>
        <p:spPr>
          <a:xfrm>
            <a:off x="360000" y="1620000"/>
            <a:ext cx="11520000" cy="10986"/>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EFFA4D67-385A-2377-4248-ED88CC8EF4D1}"/>
              </a:ext>
            </a:extLst>
          </p:cNvPr>
          <p:cNvSpPr txBox="1"/>
          <p:nvPr/>
        </p:nvSpPr>
        <p:spPr>
          <a:xfrm>
            <a:off x="433123" y="1362040"/>
            <a:ext cx="1345997"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論点</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CFF031CC-6733-E227-9CA9-0AAB889B403D}"/>
              </a:ext>
            </a:extLst>
          </p:cNvPr>
          <p:cNvSpPr txBox="1"/>
          <p:nvPr/>
        </p:nvSpPr>
        <p:spPr>
          <a:xfrm>
            <a:off x="2990954" y="1362040"/>
            <a:ext cx="2875540"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示唆</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F31AE9D0-4EBB-8AE8-2350-AED65A3685E2}"/>
              </a:ext>
            </a:extLst>
          </p:cNvPr>
          <p:cNvSpPr txBox="1"/>
          <p:nvPr/>
        </p:nvSpPr>
        <p:spPr>
          <a:xfrm>
            <a:off x="2990955" y="1733852"/>
            <a:ext cx="8767922" cy="1508105"/>
          </a:xfrm>
          <a:prstGeom prst="rect">
            <a:avLst/>
          </a:prstGeom>
          <a:noFill/>
        </p:spPr>
        <p:txBody>
          <a:bodyPr wrap="square" lIns="0" tIns="0" rIns="0" bIns="0" rtlCol="0" anchor="t" anchorCtr="0">
            <a:spAutoFit/>
          </a:bodyPr>
          <a:lstStyle/>
          <a:p>
            <a:pPr marL="0" lvl="1"/>
            <a:r>
              <a:rPr kumimoji="1" lang="ja-JP" altLang="en-US" sz="1400" dirty="0">
                <a:latin typeface="BIZ UDPゴシック" panose="020B0400000000000000" pitchFamily="50" charset="-128"/>
                <a:ea typeface="BIZ UDPゴシック" panose="020B0400000000000000" pitchFamily="50" charset="-128"/>
              </a:rPr>
              <a:t>フィットネスや食事・食事管理に加え、周辺産業では自動車、小売り、アパレル、住宅、睡眠、美容、家電への広がりがみられる</a:t>
            </a:r>
            <a:endParaRPr kumimoji="1" lang="en-US" altLang="ja-JP" sz="1400" dirty="0">
              <a:latin typeface="BIZ UDPゴシック" panose="020B0400000000000000" pitchFamily="50" charset="-128"/>
              <a:ea typeface="BIZ UDPゴシック" panose="020B0400000000000000" pitchFamily="50" charset="-128"/>
            </a:endParaRPr>
          </a:p>
          <a:p>
            <a:pPr marL="0" lvl="1"/>
            <a:endParaRPr lang="en-US" altLang="ja-JP" sz="1400" dirty="0">
              <a:latin typeface="BIZ UDPゴシック" panose="020B0400000000000000" pitchFamily="50" charset="-128"/>
              <a:ea typeface="BIZ UDPゴシック" panose="020B0400000000000000" pitchFamily="50" charset="-128"/>
            </a:endParaRPr>
          </a:p>
          <a:p>
            <a:pPr marL="0" lvl="1"/>
            <a:r>
              <a:rPr kumimoji="1" lang="ja-JP" altLang="en-US" sz="1400" dirty="0">
                <a:latin typeface="BIZ UDPゴシック" panose="020B0400000000000000" pitchFamily="50" charset="-128"/>
                <a:ea typeface="BIZ UDPゴシック" panose="020B0400000000000000" pitchFamily="50" charset="-128"/>
              </a:rPr>
              <a:t>特にアパレル産業においては、正確な生体データ、行動データ取得をコア技術として、他産業に対するサービスを展開</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保育園等での幼児の体調管理</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発熱やうつぶせ寝の検知</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、工場現場・工場における作業員の体調管理、リハビリ施設というでの歩行支援など</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8EEE4839-8AB5-F5EF-09DB-194AA8F9DC5D}"/>
              </a:ext>
            </a:extLst>
          </p:cNvPr>
          <p:cNvSpPr txBox="1"/>
          <p:nvPr/>
        </p:nvSpPr>
        <p:spPr>
          <a:xfrm>
            <a:off x="334963" y="3466197"/>
            <a:ext cx="2150739" cy="646331"/>
          </a:xfrm>
          <a:prstGeom prst="rect">
            <a:avLst/>
          </a:prstGeom>
          <a:noFill/>
        </p:spPr>
        <p:txBody>
          <a:bodyPr wrap="square" lIns="0" tIns="0" rIns="0" bIns="0" rtlCol="0" anchor="t" anchorCtr="0">
            <a:spAutoFit/>
          </a:bodyPr>
          <a:lstStyle/>
          <a:p>
            <a:pPr marL="177800" indent="-17780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各産業毎にどのようなものがサービス化されているのか？</a:t>
            </a:r>
            <a:endParaRPr lang="en-US" altLang="ja-JP"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F521880F-148A-DB00-BB22-060E575C7AA1}"/>
              </a:ext>
            </a:extLst>
          </p:cNvPr>
          <p:cNvSpPr txBox="1"/>
          <p:nvPr/>
        </p:nvSpPr>
        <p:spPr>
          <a:xfrm>
            <a:off x="2990955" y="3466197"/>
            <a:ext cx="8767922" cy="1292662"/>
          </a:xfrm>
          <a:prstGeom prst="rect">
            <a:avLst/>
          </a:prstGeom>
          <a:noFill/>
        </p:spPr>
        <p:txBody>
          <a:bodyPr wrap="square" lIns="0" tIns="0" rIns="0" bIns="0" rtlCol="0" anchor="t" anchorCtr="0">
            <a:spAutoFit/>
          </a:bodyPr>
          <a:lstStyle/>
          <a:p>
            <a:pPr marL="0" lvl="1"/>
            <a:r>
              <a:rPr kumimoji="1" lang="ja-JP" altLang="en-US" sz="1400" dirty="0">
                <a:latin typeface="BIZ UDPゴシック" panose="020B0400000000000000" pitchFamily="50" charset="-128"/>
                <a:ea typeface="BIZ UDPゴシック" panose="020B0400000000000000" pitchFamily="50" charset="-128"/>
              </a:rPr>
              <a:t>産業を俯瞰してみるとおおよそ</a:t>
            </a:r>
            <a:r>
              <a:rPr kumimoji="1" lang="en-US" altLang="ja-JP" sz="1400" dirty="0">
                <a:latin typeface="BIZ UDPゴシック" panose="020B0400000000000000" pitchFamily="50" charset="-128"/>
                <a:ea typeface="BIZ UDPゴシック" panose="020B0400000000000000" pitchFamily="50" charset="-128"/>
              </a:rPr>
              <a:t>PHT</a:t>
            </a:r>
            <a:r>
              <a:rPr kumimoji="1" lang="ja-JP" altLang="en-US" sz="1400" dirty="0">
                <a:latin typeface="BIZ UDPゴシック" panose="020B0400000000000000" pitchFamily="50" charset="-128"/>
                <a:ea typeface="BIZ UDPゴシック" panose="020B0400000000000000" pitchFamily="50" charset="-128"/>
              </a:rPr>
              <a:t>データの活用パターンは以下の</a:t>
            </a:r>
            <a:r>
              <a:rPr kumimoji="1" lang="en-US" altLang="ja-JP" sz="1400" dirty="0">
                <a:latin typeface="BIZ UDPゴシック" panose="020B0400000000000000" pitchFamily="50" charset="-128"/>
                <a:ea typeface="BIZ UDPゴシック" panose="020B0400000000000000" pitchFamily="50" charset="-128"/>
              </a:rPr>
              <a:t>5</a:t>
            </a:r>
            <a:r>
              <a:rPr kumimoji="1" lang="ja-JP" altLang="en-US" sz="1400" dirty="0">
                <a:latin typeface="BIZ UDPゴシック" panose="020B0400000000000000" pitchFamily="50" charset="-128"/>
                <a:ea typeface="BIZ UDPゴシック" panose="020B0400000000000000" pitchFamily="50" charset="-128"/>
              </a:rPr>
              <a:t>つに大別</a:t>
            </a:r>
            <a:endParaRPr kumimoji="1"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体調・行動の精緻な可視化</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：アパレル、食品・サプリ、食事管理、睡眠、美容等</a:t>
            </a:r>
            <a:endParaRPr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①に基づくパーソナライズされた提案</a:t>
            </a:r>
            <a:r>
              <a:rPr kumimoji="1" lang="en-US" altLang="ja-JP" sz="1400" dirty="0">
                <a:latin typeface="BIZ UDPゴシック" panose="020B0400000000000000" pitchFamily="50" charset="-128"/>
                <a:ea typeface="BIZ UDPゴシック" panose="020B0400000000000000" pitchFamily="50" charset="-128"/>
              </a:rPr>
              <a:t>	</a:t>
            </a:r>
            <a:r>
              <a:rPr kumimoji="1" lang="ja-JP" altLang="en-US" sz="1400" dirty="0">
                <a:latin typeface="BIZ UDPゴシック" panose="020B0400000000000000" pitchFamily="50" charset="-128"/>
                <a:ea typeface="BIZ UDPゴシック" panose="020B0400000000000000" pitchFamily="50" charset="-128"/>
              </a:rPr>
              <a:t>：食品・サプリ・小売り</a:t>
            </a:r>
            <a:endParaRPr kumimoji="1"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積極的な介入による行動変容</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：フィットネス、食事管理</a:t>
            </a:r>
            <a:endParaRPr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体調異常時の早期検出</a:t>
            </a:r>
            <a:r>
              <a:rPr kumimoji="1" lang="en-US" altLang="ja-JP" sz="1400" dirty="0">
                <a:latin typeface="BIZ UDPゴシック" panose="020B0400000000000000" pitchFamily="50" charset="-128"/>
                <a:ea typeface="BIZ UDPゴシック" panose="020B0400000000000000" pitchFamily="50" charset="-128"/>
              </a:rPr>
              <a:t>		</a:t>
            </a:r>
            <a:r>
              <a:rPr kumimoji="1" lang="ja-JP" altLang="en-US" sz="1400" dirty="0">
                <a:latin typeface="BIZ UDPゴシック" panose="020B0400000000000000" pitchFamily="50" charset="-128"/>
                <a:ea typeface="BIZ UDPゴシック" panose="020B0400000000000000" pitchFamily="50" charset="-128"/>
              </a:rPr>
              <a:t>：住宅、自動車、アパレル</a:t>
            </a:r>
            <a:endParaRPr kumimoji="1"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快適な空間づくり</a:t>
            </a:r>
            <a:r>
              <a:rPr lang="en-US" altLang="ja-JP" sz="1400" dirty="0">
                <a:latin typeface="BIZ UDPゴシック" panose="020B0400000000000000" pitchFamily="50" charset="-128"/>
                <a:ea typeface="BIZ UDPゴシック" panose="020B0400000000000000" pitchFamily="50" charset="-128"/>
              </a:rPr>
              <a:t>			</a:t>
            </a:r>
            <a:r>
              <a:rPr lang="ja-JP" altLang="en-US" sz="1400" dirty="0">
                <a:latin typeface="BIZ UDPゴシック" panose="020B0400000000000000" pitchFamily="50" charset="-128"/>
                <a:ea typeface="BIZ UDPゴシック" panose="020B0400000000000000" pitchFamily="50" charset="-128"/>
              </a:rPr>
              <a:t>：住宅、自動車</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C93663E0-5689-6B03-553B-EE1B4E2F58B6}"/>
              </a:ext>
            </a:extLst>
          </p:cNvPr>
          <p:cNvSpPr txBox="1"/>
          <p:nvPr/>
        </p:nvSpPr>
        <p:spPr>
          <a:xfrm>
            <a:off x="334963" y="4861019"/>
            <a:ext cx="2150739" cy="646331"/>
          </a:xfrm>
          <a:prstGeom prst="rect">
            <a:avLst/>
          </a:prstGeom>
          <a:noFill/>
        </p:spPr>
        <p:txBody>
          <a:bodyPr wrap="square" lIns="0" tIns="0" rIns="0" bIns="0" rtlCol="0" anchor="t" anchorCtr="0">
            <a:spAutoFit/>
          </a:bodyPr>
          <a:lstStyle/>
          <a:p>
            <a:pPr marL="177800" indent="-17780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今後どのように発展していく可能性が想定されているのか？</a:t>
            </a:r>
            <a:endParaRPr lang="en-US" altLang="ja-JP" sz="14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7CA88D2-2DE0-9DCD-B5A0-D5D757D16186}"/>
              </a:ext>
            </a:extLst>
          </p:cNvPr>
          <p:cNvSpPr txBox="1"/>
          <p:nvPr/>
        </p:nvSpPr>
        <p:spPr>
          <a:xfrm>
            <a:off x="2990955" y="4861019"/>
            <a:ext cx="8767922" cy="1292662"/>
          </a:xfrm>
          <a:prstGeom prst="rect">
            <a:avLst/>
          </a:prstGeom>
          <a:noFill/>
        </p:spPr>
        <p:txBody>
          <a:bodyPr wrap="square" lIns="0" tIns="0" rIns="0" bIns="0" rtlCol="0" anchor="t" anchorCtr="0">
            <a:spAutoFit/>
          </a:bodyPr>
          <a:lstStyle/>
          <a:p>
            <a:pPr marL="0" lvl="1"/>
            <a:r>
              <a:rPr kumimoji="1" lang="ja-JP" altLang="en-US" sz="1400" dirty="0">
                <a:latin typeface="BIZ UDPゴシック" panose="020B0400000000000000" pitchFamily="50" charset="-128"/>
                <a:ea typeface="BIZ UDPゴシック" panose="020B0400000000000000" pitchFamily="50" charset="-128"/>
              </a:rPr>
              <a:t>実証実験段階にあるサービスや先進事例を踏まえると、以下の</a:t>
            </a:r>
            <a:r>
              <a:rPr kumimoji="1" lang="en-US" altLang="ja-JP" sz="1400" dirty="0">
                <a:latin typeface="BIZ UDPゴシック" panose="020B0400000000000000" pitchFamily="50" charset="-128"/>
                <a:ea typeface="BIZ UDPゴシック" panose="020B0400000000000000" pitchFamily="50" charset="-128"/>
              </a:rPr>
              <a:t>5</a:t>
            </a:r>
            <a:r>
              <a:rPr kumimoji="1" lang="ja-JP" altLang="en-US" sz="1400" dirty="0">
                <a:latin typeface="BIZ UDPゴシック" panose="020B0400000000000000" pitchFamily="50" charset="-128"/>
                <a:ea typeface="BIZ UDPゴシック" panose="020B0400000000000000" pitchFamily="50" charset="-128"/>
              </a:rPr>
              <a:t>つの方向性が考えられる</a:t>
            </a:r>
            <a:endParaRPr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取得・活用可能な生体データの拡張 </a:t>
            </a:r>
            <a:r>
              <a:rPr kumimoji="1" lang="en-US" altLang="ja-JP" sz="1400" dirty="0">
                <a:latin typeface="BIZ UDPゴシック" panose="020B0400000000000000" pitchFamily="50" charset="-128"/>
                <a:ea typeface="BIZ UDPゴシック" panose="020B0400000000000000" pitchFamily="50" charset="-128"/>
              </a:rPr>
              <a:t>(DNA</a:t>
            </a:r>
            <a:r>
              <a:rPr kumimoji="1" lang="ja-JP" altLang="en-US" sz="1400" dirty="0">
                <a:latin typeface="BIZ UDPゴシック" panose="020B0400000000000000" pitchFamily="50" charset="-128"/>
                <a:ea typeface="BIZ UDPゴシック" panose="020B0400000000000000" pitchFamily="50" charset="-128"/>
              </a:rPr>
              <a:t>、マイクロバイオーム</a:t>
            </a:r>
            <a:r>
              <a:rPr kumimoji="1" lang="en-US" altLang="ja-JP" sz="1400" dirty="0">
                <a:latin typeface="BIZ UDPゴシック" panose="020B0400000000000000" pitchFamily="50" charset="-128"/>
                <a:ea typeface="BIZ UDPゴシック" panose="020B0400000000000000" pitchFamily="50" charset="-128"/>
              </a:rPr>
              <a:t>)</a:t>
            </a: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複数データを掛け合わせたデータの付加価値の向上 </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医療機関データ</a:t>
            </a:r>
            <a:r>
              <a:rPr kumimoji="1" lang="en-US" altLang="ja-JP" sz="1400" dirty="0">
                <a:latin typeface="BIZ UDPゴシック" panose="020B0400000000000000" pitchFamily="50" charset="-128"/>
                <a:ea typeface="BIZ UDPゴシック" panose="020B0400000000000000" pitchFamily="50" charset="-128"/>
              </a:rPr>
              <a:t>)</a:t>
            </a: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より日常に密着したデータ取得チャネルの充実化 </a:t>
            </a:r>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非接触センサー、</a:t>
            </a:r>
            <a:r>
              <a:rPr lang="en-US" altLang="ja-JP" sz="1400" dirty="0">
                <a:latin typeface="BIZ UDPゴシック" panose="020B0400000000000000" pitchFamily="50" charset="-128"/>
                <a:ea typeface="BIZ UDPゴシック" panose="020B0400000000000000" pitchFamily="50" charset="-128"/>
              </a:rPr>
              <a:t>IoT</a:t>
            </a:r>
            <a:r>
              <a:rPr lang="ja-JP" altLang="en-US" sz="1400" dirty="0">
                <a:latin typeface="BIZ UDPゴシック" panose="020B0400000000000000" pitchFamily="50" charset="-128"/>
                <a:ea typeface="BIZ UDPゴシック" panose="020B0400000000000000" pitchFamily="50" charset="-128"/>
              </a:rPr>
              <a:t>デバイス</a:t>
            </a:r>
            <a:r>
              <a:rPr lang="en-US" altLang="ja-JP" sz="1400" dirty="0">
                <a:latin typeface="BIZ UDPゴシック" panose="020B0400000000000000" pitchFamily="50" charset="-128"/>
                <a:ea typeface="BIZ UDPゴシック" panose="020B0400000000000000" pitchFamily="50" charset="-128"/>
              </a:rPr>
              <a:t>)</a:t>
            </a:r>
          </a:p>
          <a:p>
            <a:pPr marL="357188" lvl="1" indent="-357188">
              <a:buFont typeface="+mj-ea"/>
              <a:buAutoNum type="circleNumDbPlain"/>
            </a:pPr>
            <a:r>
              <a:rPr kumimoji="1" lang="ja-JP" altLang="en-US" sz="1400" dirty="0">
                <a:latin typeface="BIZ UDPゴシック" panose="020B0400000000000000" pitchFamily="50" charset="-128"/>
                <a:ea typeface="BIZ UDPゴシック" panose="020B0400000000000000" pitchFamily="50" charset="-128"/>
              </a:rPr>
              <a:t>日常に溶け込むシームレスな購買機械の提供</a:t>
            </a:r>
            <a:endParaRPr kumimoji="1" lang="en-US" altLang="ja-JP" sz="1400" dirty="0">
              <a:latin typeface="BIZ UDPゴシック" panose="020B0400000000000000" pitchFamily="50" charset="-128"/>
              <a:ea typeface="BIZ UDPゴシック" panose="020B0400000000000000" pitchFamily="50" charset="-128"/>
            </a:endParaRPr>
          </a:p>
          <a:p>
            <a:pPr marL="357188" lvl="1" indent="-357188">
              <a:buFont typeface="+mj-ea"/>
              <a:buAutoNum type="circleNumDbPlain"/>
            </a:pPr>
            <a:r>
              <a:rPr lang="ja-JP" altLang="en-US" sz="1400" dirty="0">
                <a:latin typeface="BIZ UDPゴシック" panose="020B0400000000000000" pitchFamily="50" charset="-128"/>
                <a:ea typeface="BIZ UDPゴシック" panose="020B0400000000000000" pitchFamily="50" charset="-128"/>
              </a:rPr>
              <a:t>モノに留まらない個人最適な体験の提供</a:t>
            </a:r>
            <a:endParaRPr kumimoji="1"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6115251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CD881FF-CCB8-9452-53C4-0096180378D4}"/>
              </a:ext>
            </a:extLst>
          </p:cNvPr>
          <p:cNvSpPr>
            <a:spLocks noGrp="1"/>
          </p:cNvSpPr>
          <p:nvPr>
            <p:ph type="title"/>
          </p:nvPr>
        </p:nvSpPr>
        <p:spPr/>
        <p:txBody>
          <a:bodyPr/>
          <a:lstStyle/>
          <a:p>
            <a:r>
              <a:rPr lang="ja-JP" altLang="en-US" dirty="0"/>
              <a:t>洋上風力産業の集積事例</a:t>
            </a:r>
            <a:endParaRPr kumimoji="1" lang="ja-JP" altLang="en-US" dirty="0"/>
          </a:p>
        </p:txBody>
      </p:sp>
      <p:sp>
        <p:nvSpPr>
          <p:cNvPr id="3" name="フッター プレースホルダー 2">
            <a:extLst>
              <a:ext uri="{FF2B5EF4-FFF2-40B4-BE49-F238E27FC236}">
                <a16:creationId xmlns:a16="http://schemas.microsoft.com/office/drawing/2014/main" id="{9B6B95EB-56CE-8806-E2E7-3A3F9C3DEBE4}"/>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73AFBA3-E806-8742-9917-B4B7B8253949}"/>
              </a:ext>
            </a:extLst>
          </p:cNvPr>
          <p:cNvSpPr>
            <a:spLocks noGrp="1"/>
          </p:cNvSpPr>
          <p:nvPr>
            <p:ph type="sldNum" sz="quarter" idx="12"/>
          </p:nvPr>
        </p:nvSpPr>
        <p:spPr/>
        <p:txBody>
          <a:bodyPr/>
          <a:lstStyle/>
          <a:p>
            <a:fld id="{DCB5AA93-092B-49A1-87A7-3C88D5F38AD7}" type="slidenum">
              <a:rPr lang="ja-JP" altLang="en-US" smtClean="0"/>
              <a:pPr/>
              <a:t>34</a:t>
            </a:fld>
            <a:endParaRPr lang="ja-JP" altLang="en-US" sz="900" dirty="0"/>
          </a:p>
        </p:txBody>
      </p:sp>
      <p:sp>
        <p:nvSpPr>
          <p:cNvPr id="5" name="テキスト プレースホルダー 4">
            <a:extLst>
              <a:ext uri="{FF2B5EF4-FFF2-40B4-BE49-F238E27FC236}">
                <a16:creationId xmlns:a16="http://schemas.microsoft.com/office/drawing/2014/main" id="{7685F887-E7C6-9C5D-5B48-D47C7302B1D2}"/>
              </a:ext>
            </a:extLst>
          </p:cNvPr>
          <p:cNvSpPr>
            <a:spLocks noGrp="1"/>
          </p:cNvSpPr>
          <p:nvPr>
            <p:ph type="body" sz="quarter" idx="13"/>
          </p:nvPr>
        </p:nvSpPr>
        <p:spPr/>
        <p:txBody>
          <a:bodyPr/>
          <a:lstStyle/>
          <a:p>
            <a:r>
              <a:rPr lang="ja-JP" altLang="en-US" dirty="0"/>
              <a:t>イギリス ハルにおける洋上風力産業集積</a:t>
            </a:r>
            <a:endParaRPr lang="en-US" altLang="ja-JP" dirty="0"/>
          </a:p>
        </p:txBody>
      </p:sp>
      <p:sp>
        <p:nvSpPr>
          <p:cNvPr id="6" name="テキスト ボックス 5">
            <a:extLst>
              <a:ext uri="{FF2B5EF4-FFF2-40B4-BE49-F238E27FC236}">
                <a16:creationId xmlns:a16="http://schemas.microsoft.com/office/drawing/2014/main" id="{C01BE844-985F-8F8C-C1D8-41AB6585F518}"/>
              </a:ext>
            </a:extLst>
          </p:cNvPr>
          <p:cNvSpPr txBox="1"/>
          <p:nvPr/>
        </p:nvSpPr>
        <p:spPr>
          <a:xfrm>
            <a:off x="351346" y="1620651"/>
            <a:ext cx="2784763" cy="2585323"/>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洋上風力に特化した産業振興地域に指定し、部品製造から発電所までサプライチェーンを構築</a:t>
            </a:r>
            <a:endParaRPr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kumimoji="1" lang="en-US" altLang="ja-JP" sz="1400" dirty="0">
                <a:latin typeface="BIZ UDPゴシック" panose="020B0400000000000000" pitchFamily="50" charset="-128"/>
                <a:ea typeface="BIZ UDPゴシック" panose="020B0400000000000000" pitchFamily="50" charset="-128"/>
              </a:rPr>
              <a:t>2015</a:t>
            </a:r>
            <a:r>
              <a:rPr kumimoji="1" lang="ja-JP" altLang="en-US" sz="1400" dirty="0">
                <a:latin typeface="BIZ UDPゴシック" panose="020B0400000000000000" pitchFamily="50" charset="-128"/>
                <a:ea typeface="BIZ UDPゴシック" panose="020B0400000000000000" pitchFamily="50" charset="-128"/>
              </a:rPr>
              <a:t>年から洋上風力発電所が稼働開始</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関連産業の企業が相次いで立地</a:t>
            </a:r>
            <a:endParaRPr lang="en-US" altLang="ja-JP" sz="1400" dirty="0">
              <a:latin typeface="BIZ UDPゴシック" panose="020B0400000000000000" pitchFamily="50" charset="-128"/>
              <a:ea typeface="BIZ UDPゴシック" panose="020B0400000000000000" pitchFamily="50" charset="-128"/>
            </a:endParaRPr>
          </a:p>
          <a:p>
            <a:pPr marL="363538" lvl="1" indent="-180975">
              <a:buFont typeface="BIZ UDPゴシック" panose="020B0400000000000000" pitchFamily="50" charset="-128"/>
              <a:buChar char="­"/>
            </a:pPr>
            <a:r>
              <a:rPr kumimoji="1" lang="en-US" altLang="ja-JP" sz="1400" dirty="0">
                <a:latin typeface="BIZ UDPゴシック" panose="020B0400000000000000" pitchFamily="50" charset="-128"/>
                <a:ea typeface="BIZ UDPゴシック" panose="020B0400000000000000" pitchFamily="50" charset="-128"/>
              </a:rPr>
              <a:t>2016</a:t>
            </a:r>
            <a:r>
              <a:rPr kumimoji="1" lang="ja-JP" altLang="en-US" sz="1400" dirty="0">
                <a:latin typeface="BIZ UDPゴシック" panose="020B0400000000000000" pitchFamily="50" charset="-128"/>
                <a:ea typeface="BIZ UDPゴシック" panose="020B0400000000000000" pitchFamily="50" charset="-128"/>
              </a:rPr>
              <a:t>年：</a:t>
            </a:r>
            <a:r>
              <a:rPr kumimoji="1" lang="en-US" altLang="ja-JP" sz="1400" dirty="0">
                <a:latin typeface="BIZ UDPゴシック" panose="020B0400000000000000" pitchFamily="50" charset="-128"/>
                <a:ea typeface="BIZ UDPゴシック" panose="020B0400000000000000" pitchFamily="50" charset="-128"/>
              </a:rPr>
              <a:t>Siemens </a:t>
            </a:r>
            <a:r>
              <a:rPr kumimoji="1" lang="en-US" altLang="ja-JP" sz="1400" dirty="0" err="1">
                <a:latin typeface="BIZ UDPゴシック" panose="020B0400000000000000" pitchFamily="50" charset="-128"/>
                <a:ea typeface="BIZ UDPゴシック" panose="020B0400000000000000" pitchFamily="50" charset="-128"/>
              </a:rPr>
              <a:t>Gamessa</a:t>
            </a:r>
            <a:r>
              <a:rPr kumimoji="1" lang="ja-JP" altLang="en-US" sz="1400" dirty="0">
                <a:latin typeface="BIZ UDPゴシック" panose="020B0400000000000000" pitchFamily="50" charset="-128"/>
                <a:ea typeface="BIZ UDPゴシック" panose="020B0400000000000000" pitchFamily="50" charset="-128"/>
              </a:rPr>
              <a:t>タービン工場</a:t>
            </a:r>
            <a:endParaRPr kumimoji="1" lang="en-US" altLang="ja-JP" sz="1400" dirty="0">
              <a:latin typeface="BIZ UDPゴシック" panose="020B0400000000000000" pitchFamily="50" charset="-128"/>
              <a:ea typeface="BIZ UDPゴシック" panose="020B0400000000000000" pitchFamily="50" charset="-128"/>
            </a:endParaRPr>
          </a:p>
          <a:p>
            <a:pPr marL="363538" lvl="1" indent="-180975">
              <a:buFont typeface="BIZ UDPゴシック" panose="020B0400000000000000" pitchFamily="50" charset="-128"/>
              <a:buChar char="­"/>
            </a:pPr>
            <a:r>
              <a:rPr lang="en-US" altLang="ja-JP" sz="1400" dirty="0">
                <a:latin typeface="BIZ UDPゴシック" panose="020B0400000000000000" pitchFamily="50" charset="-128"/>
                <a:ea typeface="BIZ UDPゴシック" panose="020B0400000000000000" pitchFamily="50" charset="-128"/>
              </a:rPr>
              <a:t>2021</a:t>
            </a:r>
            <a:r>
              <a:rPr lang="ja-JP" altLang="en-US" sz="1400" dirty="0">
                <a:latin typeface="BIZ UDPゴシック" panose="020B0400000000000000" pitchFamily="50" charset="-128"/>
                <a:ea typeface="BIZ UDPゴシック" panose="020B0400000000000000" pitchFamily="50" charset="-128"/>
              </a:rPr>
              <a:t>年：</a:t>
            </a:r>
            <a:r>
              <a:rPr lang="en-US" altLang="ja-JP" sz="1400" dirty="0">
                <a:latin typeface="BIZ UDPゴシック" panose="020B0400000000000000" pitchFamily="50" charset="-128"/>
                <a:ea typeface="BIZ UDPゴシック" panose="020B0400000000000000" pitchFamily="50" charset="-128"/>
              </a:rPr>
              <a:t>GRI Renewable Industries</a:t>
            </a:r>
            <a:r>
              <a:rPr lang="ja-JP" altLang="en-US" sz="1400" dirty="0">
                <a:latin typeface="BIZ UDPゴシック" panose="020B0400000000000000" pitchFamily="50" charset="-128"/>
                <a:ea typeface="BIZ UDPゴシック" panose="020B0400000000000000" pitchFamily="50" charset="-128"/>
              </a:rPr>
              <a:t>がタワー製造</a:t>
            </a:r>
            <a:endParaRPr lang="en-US" altLang="ja-JP" sz="1400" dirty="0">
              <a:latin typeface="BIZ UDPゴシック" panose="020B0400000000000000" pitchFamily="50" charset="-128"/>
              <a:ea typeface="BIZ UDPゴシック" panose="020B0400000000000000" pitchFamily="50" charset="-128"/>
            </a:endParaRPr>
          </a:p>
          <a:p>
            <a:pPr marL="363538" lvl="1" indent="-180975">
              <a:buFont typeface="BIZ UDPゴシック" panose="020B0400000000000000" pitchFamily="50" charset="-128"/>
              <a:buChar char="­"/>
            </a:pPr>
            <a:r>
              <a:rPr kumimoji="1" lang="en-US" altLang="ja-JP" sz="1400" dirty="0">
                <a:latin typeface="BIZ UDPゴシック" panose="020B0400000000000000" pitchFamily="50" charset="-128"/>
                <a:ea typeface="BIZ UDPゴシック" panose="020B0400000000000000" pitchFamily="50" charset="-128"/>
              </a:rPr>
              <a:t>2021</a:t>
            </a:r>
            <a:r>
              <a:rPr kumimoji="1" lang="ja-JP" altLang="en-US" sz="1400" dirty="0">
                <a:latin typeface="BIZ UDPゴシック" panose="020B0400000000000000" pitchFamily="50" charset="-128"/>
                <a:ea typeface="BIZ UDPゴシック" panose="020B0400000000000000" pitchFamily="50" charset="-128"/>
              </a:rPr>
              <a:t>年：</a:t>
            </a:r>
            <a:r>
              <a:rPr kumimoji="1" lang="en-US" altLang="ja-JP" sz="1400" dirty="0" err="1">
                <a:latin typeface="BIZ UDPゴシック" panose="020B0400000000000000" pitchFamily="50" charset="-128"/>
                <a:ea typeface="BIZ UDPゴシック" panose="020B0400000000000000" pitchFamily="50" charset="-128"/>
              </a:rPr>
              <a:t>SeAH</a:t>
            </a:r>
            <a:r>
              <a:rPr kumimoji="1" lang="en-US" altLang="ja-JP" sz="1400" dirty="0">
                <a:latin typeface="BIZ UDPゴシック" panose="020B0400000000000000" pitchFamily="50" charset="-128"/>
                <a:ea typeface="BIZ UDPゴシック" panose="020B0400000000000000" pitchFamily="50" charset="-128"/>
              </a:rPr>
              <a:t> Wind</a:t>
            </a:r>
            <a:r>
              <a:rPr kumimoji="1" lang="ja-JP" altLang="en-US" sz="1400" dirty="0">
                <a:latin typeface="BIZ UDPゴシック" panose="020B0400000000000000" pitchFamily="50" charset="-128"/>
                <a:ea typeface="BIZ UDPゴシック" panose="020B0400000000000000" pitchFamily="50" charset="-128"/>
              </a:rPr>
              <a:t>がモノパイル製造</a:t>
            </a:r>
            <a:endParaRPr kumimoji="1" lang="en-US" altLang="ja-JP" sz="14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5E88C56F-C75C-9292-D140-5D48D7211CEB}"/>
              </a:ext>
            </a:extLst>
          </p:cNvPr>
          <p:cNvCxnSpPr>
            <a:cxnSpLocks/>
          </p:cNvCxnSpPr>
          <p:nvPr/>
        </p:nvCxnSpPr>
        <p:spPr>
          <a:xfrm>
            <a:off x="359999" y="1530360"/>
            <a:ext cx="11520000" cy="17431"/>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E07F61EA-A48B-5B35-A67A-1AF6CFA5A595}"/>
              </a:ext>
            </a:extLst>
          </p:cNvPr>
          <p:cNvSpPr txBox="1"/>
          <p:nvPr/>
        </p:nvSpPr>
        <p:spPr>
          <a:xfrm>
            <a:off x="351347" y="1314916"/>
            <a:ext cx="897110" cy="215444"/>
          </a:xfrm>
          <a:prstGeom prst="rect">
            <a:avLst/>
          </a:prstGeom>
          <a:noFill/>
        </p:spPr>
        <p:txBody>
          <a:bodyPr wrap="square" lIns="0" tIns="0" rIns="0" bIns="0" rtlCol="0" anchor="t" anchorCtr="0">
            <a:spAutoFit/>
          </a:bodyPr>
          <a:lstStyle/>
          <a:p>
            <a:pPr algn="l"/>
            <a:r>
              <a:rPr lang="ja-JP" altLang="en-US" sz="1400" b="1" dirty="0">
                <a:latin typeface="BIZ UDPゴシック" panose="020B0400000000000000" pitchFamily="50" charset="-128"/>
                <a:ea typeface="BIZ UDPゴシック" panose="020B0400000000000000" pitchFamily="50" charset="-128"/>
              </a:rPr>
              <a:t>事例概要</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16648605-7970-4A7D-3E07-2558BBAC3D69}"/>
              </a:ext>
            </a:extLst>
          </p:cNvPr>
          <p:cNvSpPr txBox="1"/>
          <p:nvPr/>
        </p:nvSpPr>
        <p:spPr>
          <a:xfrm>
            <a:off x="3399848" y="1314916"/>
            <a:ext cx="2875540"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洋上風力産業集積のアプローチ</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26EDFDED-25D5-C8A7-DF7A-7A873FA43DEE}"/>
              </a:ext>
            </a:extLst>
          </p:cNvPr>
          <p:cNvSpPr txBox="1"/>
          <p:nvPr/>
        </p:nvSpPr>
        <p:spPr>
          <a:xfrm>
            <a:off x="9605671" y="1291731"/>
            <a:ext cx="1406838" cy="215444"/>
          </a:xfrm>
          <a:prstGeom prst="rect">
            <a:avLst/>
          </a:prstGeom>
          <a:noFill/>
        </p:spPr>
        <p:txBody>
          <a:bodyPr wrap="square" lIns="0" tIns="0" rIns="0" bIns="0" rtlCol="0" anchor="t" anchorCtr="0">
            <a:spAutoFit/>
          </a:bodyPr>
          <a:lstStyle/>
          <a:p>
            <a:pPr algn="l"/>
            <a:r>
              <a:rPr lang="ja-JP" altLang="en-US" sz="1400" b="1" dirty="0">
                <a:latin typeface="BIZ UDPゴシック" panose="020B0400000000000000" pitchFamily="50" charset="-128"/>
                <a:ea typeface="BIZ UDPゴシック" panose="020B0400000000000000" pitchFamily="50" charset="-128"/>
              </a:rPr>
              <a:t>成功要因</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5344ADC1-D32A-CE7D-310C-354321D6340E}"/>
              </a:ext>
            </a:extLst>
          </p:cNvPr>
          <p:cNvSpPr txBox="1"/>
          <p:nvPr/>
        </p:nvSpPr>
        <p:spPr>
          <a:xfrm>
            <a:off x="4246725" y="1620651"/>
            <a:ext cx="4970890" cy="1938992"/>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ハル周辺</a:t>
            </a:r>
            <a:r>
              <a:rPr lang="en-US" altLang="ja-JP" sz="1400" dirty="0">
                <a:latin typeface="BIZ UDPゴシック" panose="020B0400000000000000" pitchFamily="50" charset="-128"/>
                <a:ea typeface="BIZ UDPゴシック" panose="020B0400000000000000" pitchFamily="50" charset="-128"/>
              </a:rPr>
              <a:t>375ha</a:t>
            </a:r>
            <a:r>
              <a:rPr lang="ja-JP" altLang="en-US" sz="1400" dirty="0">
                <a:latin typeface="BIZ UDPゴシック" panose="020B0400000000000000" pitchFamily="50" charset="-128"/>
                <a:ea typeface="BIZ UDPゴシック" panose="020B0400000000000000" pitchFamily="50" charset="-128"/>
              </a:rPr>
              <a:t>の地域を産業振興地域に指定。洋上風力関連の製造企業の拠点立地に向けたインセンティブを拡充</a:t>
            </a:r>
            <a:endParaRPr lang="en-US" altLang="ja-JP" sz="1400" dirty="0">
              <a:latin typeface="BIZ UDPゴシック" panose="020B0400000000000000" pitchFamily="50" charset="-128"/>
              <a:ea typeface="BIZ UDPゴシック" panose="020B0400000000000000" pitchFamily="50" charset="-128"/>
            </a:endParaRPr>
          </a:p>
          <a:p>
            <a:pPr marL="355600" lvl="1" indent="-173038">
              <a:buFont typeface="BIZ UDPゴシック" panose="020B0400000000000000" pitchFamily="50" charset="-128"/>
              <a:buChar char="­"/>
            </a:pPr>
            <a:r>
              <a:rPr kumimoji="1" lang="ja-JP" altLang="en-US" sz="1400" dirty="0">
                <a:latin typeface="BIZ UDPゴシック" panose="020B0400000000000000" pitchFamily="50" charset="-128"/>
                <a:ea typeface="BIZ UDPゴシック" panose="020B0400000000000000" pitchFamily="50" charset="-128"/>
              </a:rPr>
              <a:t>北海からハンバー川を通じて</a:t>
            </a:r>
            <a:r>
              <a:rPr lang="en-US" altLang="ja-JP" sz="1400" dirty="0">
                <a:latin typeface="BIZ UDPゴシック" panose="020B0400000000000000" pitchFamily="50" charset="-128"/>
                <a:ea typeface="BIZ UDPゴシック" panose="020B0400000000000000" pitchFamily="50" charset="-128"/>
              </a:rPr>
              <a:t>40Km</a:t>
            </a:r>
            <a:r>
              <a:rPr lang="ja-JP" altLang="en-US" sz="1400" dirty="0">
                <a:latin typeface="BIZ UDPゴシック" panose="020B0400000000000000" pitchFamily="50" charset="-128"/>
                <a:ea typeface="BIZ UDPゴシック" panose="020B0400000000000000" pitchFamily="50" charset="-128"/>
              </a:rPr>
              <a:t>、深い推進や大規模な部品輸送・製造が可能な港湾が既存していたなど洋上風力の適地</a:t>
            </a:r>
            <a:endParaRPr lang="en-US" altLang="ja-JP" sz="1400" dirty="0">
              <a:latin typeface="BIZ UDPゴシック" panose="020B0400000000000000" pitchFamily="50" charset="-128"/>
              <a:ea typeface="BIZ UDPゴシック" panose="020B0400000000000000" pitchFamily="50" charset="-128"/>
            </a:endParaRPr>
          </a:p>
          <a:p>
            <a:pPr marL="355600" lvl="1" indent="-173038">
              <a:buFont typeface="BIZ UDPゴシック" panose="020B0400000000000000" pitchFamily="50" charset="-128"/>
              <a:buChar char="­"/>
            </a:pPr>
            <a:r>
              <a:rPr kumimoji="1" lang="ja-JP" altLang="en-US" sz="1400" dirty="0">
                <a:latin typeface="BIZ UDPゴシック" panose="020B0400000000000000" pitchFamily="50" charset="-128"/>
                <a:ea typeface="BIZ UDPゴシック" panose="020B0400000000000000" pitchFamily="50" charset="-128"/>
              </a:rPr>
              <a:t>産業振興地域内に転移する企業に対し、固定資産税</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ビジネスレート</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を</a:t>
            </a:r>
            <a:r>
              <a:rPr kumimoji="1" lang="en-US" altLang="ja-JP" sz="1400" dirty="0">
                <a:latin typeface="BIZ UDPゴシック" panose="020B0400000000000000" pitchFamily="50" charset="-128"/>
                <a:ea typeface="BIZ UDPゴシック" panose="020B0400000000000000" pitchFamily="50" charset="-128"/>
              </a:rPr>
              <a:t>5</a:t>
            </a:r>
            <a:r>
              <a:rPr kumimoji="1" lang="ja-JP" altLang="en-US" sz="1400" dirty="0">
                <a:latin typeface="BIZ UDPゴシック" panose="020B0400000000000000" pitchFamily="50" charset="-128"/>
                <a:ea typeface="BIZ UDPゴシック" panose="020B0400000000000000" pitchFamily="50" charset="-128"/>
              </a:rPr>
              <a:t>年間免税</a:t>
            </a:r>
            <a:endParaRPr kumimoji="1" lang="en-US" altLang="ja-JP" sz="1400" dirty="0">
              <a:latin typeface="BIZ UDPゴシック" panose="020B0400000000000000" pitchFamily="50" charset="-128"/>
              <a:ea typeface="BIZ UDPゴシック" panose="020B0400000000000000" pitchFamily="50" charset="-128"/>
            </a:endParaRPr>
          </a:p>
          <a:p>
            <a:pPr marL="355600" lvl="1" indent="-173038">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移転後の初年度は工場設備や機械への投資費用を課税対象額から</a:t>
            </a:r>
            <a:r>
              <a:rPr lang="en-US" altLang="ja-JP" sz="1400" dirty="0">
                <a:latin typeface="BIZ UDPゴシック" panose="020B0400000000000000" pitchFamily="50" charset="-128"/>
                <a:ea typeface="BIZ UDPゴシック" panose="020B0400000000000000" pitchFamily="50" charset="-128"/>
              </a:rPr>
              <a:t>100%</a:t>
            </a:r>
            <a:r>
              <a:rPr lang="ja-JP" altLang="en-US" sz="1400" dirty="0">
                <a:latin typeface="BIZ UDPゴシック" panose="020B0400000000000000" pitchFamily="50" charset="-128"/>
                <a:ea typeface="BIZ UDPゴシック" panose="020B0400000000000000" pitchFamily="50" charset="-128"/>
              </a:rPr>
              <a:t>控除</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8488A4E8-24C6-8A15-B6C9-1E5EEAD3F484}"/>
              </a:ext>
            </a:extLst>
          </p:cNvPr>
          <p:cNvSpPr txBox="1"/>
          <p:nvPr/>
        </p:nvSpPr>
        <p:spPr>
          <a:xfrm>
            <a:off x="3399849" y="1620652"/>
            <a:ext cx="747480" cy="215444"/>
          </a:xfrm>
          <a:prstGeom prst="rect">
            <a:avLst/>
          </a:prstGeom>
          <a:noFill/>
        </p:spPr>
        <p:txBody>
          <a:bodyPr wrap="square" lIns="0" tIns="0" rIns="0" bIns="0" rtlCol="0" anchor="t" anchorCtr="0">
            <a:spAutoFit/>
          </a:bodyPr>
          <a:lstStyle/>
          <a:p>
            <a:pPr algn="l"/>
            <a:r>
              <a:rPr kumimoji="1" lang="en-US" altLang="ja-JP" sz="1400" dirty="0">
                <a:latin typeface="BIZ UDPゴシック" panose="020B0400000000000000" pitchFamily="50" charset="-128"/>
                <a:ea typeface="BIZ UDPゴシック" panose="020B0400000000000000" pitchFamily="50" charset="-128"/>
              </a:rPr>
              <a:t>2011</a:t>
            </a:r>
            <a:r>
              <a:rPr kumimoji="1" lang="ja-JP" altLang="en-US" sz="1400" dirty="0">
                <a:latin typeface="BIZ UDPゴシック" panose="020B0400000000000000" pitchFamily="50" charset="-128"/>
                <a:ea typeface="BIZ UDPゴシック" panose="020B0400000000000000" pitchFamily="50" charset="-128"/>
              </a:rPr>
              <a:t>年</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BE089F8A-FEAA-F923-F0CD-545A3FF3DC23}"/>
              </a:ext>
            </a:extLst>
          </p:cNvPr>
          <p:cNvSpPr txBox="1"/>
          <p:nvPr/>
        </p:nvSpPr>
        <p:spPr>
          <a:xfrm>
            <a:off x="4246725" y="3632503"/>
            <a:ext cx="4970890"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en-US" altLang="ja-JP" sz="1400" dirty="0">
                <a:latin typeface="BIZ UDPゴシック" panose="020B0400000000000000" pitchFamily="50" charset="-128"/>
                <a:ea typeface="BIZ UDPゴシック" panose="020B0400000000000000" pitchFamily="50" charset="-128"/>
              </a:rPr>
              <a:t>300MW</a:t>
            </a:r>
            <a:r>
              <a:rPr kumimoji="1" lang="ja-JP" altLang="en-US" sz="1400" dirty="0">
                <a:latin typeface="BIZ UDPゴシック" panose="020B0400000000000000" pitchFamily="50" charset="-128"/>
                <a:ea typeface="BIZ UDPゴシック" panose="020B0400000000000000" pitchFamily="50" charset="-128"/>
              </a:rPr>
              <a:t>を超える洋上風力プロジェクトの開発に対し、サプライチェーン詳細の提出を義務化しその評価をもとに落札。</a:t>
            </a:r>
            <a:r>
              <a:rPr kumimoji="1" lang="en-US" altLang="ja-JP" sz="1400" dirty="0">
                <a:latin typeface="BIZ UDPゴシック" panose="020B0400000000000000" pitchFamily="50" charset="-128"/>
                <a:ea typeface="BIZ UDPゴシック" panose="020B0400000000000000" pitchFamily="50" charset="-128"/>
              </a:rPr>
              <a:t>2030</a:t>
            </a:r>
            <a:r>
              <a:rPr kumimoji="1" lang="ja-JP" altLang="en-US" sz="1400" dirty="0">
                <a:latin typeface="BIZ UDPゴシック" panose="020B0400000000000000" pitchFamily="50" charset="-128"/>
                <a:ea typeface="BIZ UDPゴシック" panose="020B0400000000000000" pitchFamily="50" charset="-128"/>
              </a:rPr>
              <a:t>年までに国内化</a:t>
            </a:r>
            <a:r>
              <a:rPr kumimoji="1" lang="en-US" altLang="ja-JP" sz="1400" dirty="0">
                <a:latin typeface="BIZ UDPゴシック" panose="020B0400000000000000" pitchFamily="50" charset="-128"/>
                <a:ea typeface="BIZ UDPゴシック" panose="020B0400000000000000" pitchFamily="50" charset="-128"/>
              </a:rPr>
              <a:t>60%</a:t>
            </a:r>
            <a:r>
              <a:rPr kumimoji="1" lang="ja-JP" altLang="en-US" sz="1400" dirty="0">
                <a:latin typeface="BIZ UDPゴシック" panose="020B0400000000000000" pitchFamily="50" charset="-128"/>
                <a:ea typeface="BIZ UDPゴシック" panose="020B0400000000000000" pitchFamily="50" charset="-128"/>
              </a:rPr>
              <a:t>を目指す</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315EEC4F-F141-62B3-6F0E-833E6EA26ACD}"/>
              </a:ext>
            </a:extLst>
          </p:cNvPr>
          <p:cNvSpPr txBox="1"/>
          <p:nvPr/>
        </p:nvSpPr>
        <p:spPr>
          <a:xfrm>
            <a:off x="3399849" y="3632503"/>
            <a:ext cx="747480" cy="215444"/>
          </a:xfrm>
          <a:prstGeom prst="rect">
            <a:avLst/>
          </a:prstGeom>
          <a:noFill/>
        </p:spPr>
        <p:txBody>
          <a:bodyPr wrap="square" lIns="0" tIns="0" rIns="0" bIns="0" rtlCol="0" anchor="t" anchorCtr="0">
            <a:spAutoFit/>
          </a:bodyPr>
          <a:lstStyle/>
          <a:p>
            <a:pPr algn="l"/>
            <a:r>
              <a:rPr kumimoji="1" lang="en-US" altLang="ja-JP" sz="1400" dirty="0">
                <a:latin typeface="BIZ UDPゴシック" panose="020B0400000000000000" pitchFamily="50" charset="-128"/>
                <a:ea typeface="BIZ UDPゴシック" panose="020B0400000000000000" pitchFamily="50" charset="-128"/>
              </a:rPr>
              <a:t>2013</a:t>
            </a:r>
            <a:r>
              <a:rPr kumimoji="1" lang="ja-JP" altLang="en-US" sz="1400" dirty="0">
                <a:latin typeface="BIZ UDPゴシック" panose="020B0400000000000000" pitchFamily="50" charset="-128"/>
                <a:ea typeface="BIZ UDPゴシック" panose="020B0400000000000000" pitchFamily="50" charset="-128"/>
              </a:rPr>
              <a:t>年</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A34B0485-86F6-4A1F-28F7-3760F84098BB}"/>
              </a:ext>
            </a:extLst>
          </p:cNvPr>
          <p:cNvSpPr txBox="1"/>
          <p:nvPr/>
        </p:nvSpPr>
        <p:spPr>
          <a:xfrm>
            <a:off x="4246725" y="4411213"/>
            <a:ext cx="4970890" cy="430887"/>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エネルギー法にて低炭素発電事業者向けに差額決済契約制度を導入。</a:t>
            </a:r>
            <a:r>
              <a:rPr lang="ja-JP" altLang="en-US" sz="1400" dirty="0">
                <a:latin typeface="BIZ UDPゴシック" panose="020B0400000000000000" pitchFamily="50" charset="-128"/>
                <a:ea typeface="BIZ UDPゴシック" panose="020B0400000000000000" pitchFamily="50" charset="-128"/>
              </a:rPr>
              <a:t>洋上風力発電事業者に長期的な収益の安定性を保証</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45A64F16-3B88-C975-CC6F-C67FD1A84BBD}"/>
              </a:ext>
            </a:extLst>
          </p:cNvPr>
          <p:cNvSpPr txBox="1"/>
          <p:nvPr/>
        </p:nvSpPr>
        <p:spPr>
          <a:xfrm>
            <a:off x="3399849" y="4411213"/>
            <a:ext cx="747480" cy="215444"/>
          </a:xfrm>
          <a:prstGeom prst="rect">
            <a:avLst/>
          </a:prstGeom>
          <a:noFill/>
        </p:spPr>
        <p:txBody>
          <a:bodyPr wrap="square" lIns="0" tIns="0" rIns="0" bIns="0" rtlCol="0" anchor="t" anchorCtr="0">
            <a:spAutoFit/>
          </a:bodyPr>
          <a:lstStyle/>
          <a:p>
            <a:pPr algn="l"/>
            <a:r>
              <a:rPr kumimoji="1" lang="en-US" altLang="ja-JP" sz="1400" dirty="0">
                <a:latin typeface="BIZ UDPゴシック" panose="020B0400000000000000" pitchFamily="50" charset="-128"/>
                <a:ea typeface="BIZ UDPゴシック" panose="020B0400000000000000" pitchFamily="50" charset="-128"/>
              </a:rPr>
              <a:t>2014</a:t>
            </a:r>
            <a:r>
              <a:rPr kumimoji="1" lang="ja-JP" altLang="en-US" sz="1400" dirty="0">
                <a:latin typeface="BIZ UDPゴシック" panose="020B0400000000000000" pitchFamily="50" charset="-128"/>
                <a:ea typeface="BIZ UDPゴシック" panose="020B0400000000000000" pitchFamily="50" charset="-128"/>
              </a:rPr>
              <a:t>年</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02D255CE-02D8-0CAB-BEEB-445751F78D60}"/>
              </a:ext>
            </a:extLst>
          </p:cNvPr>
          <p:cNvSpPr txBox="1"/>
          <p:nvPr/>
        </p:nvSpPr>
        <p:spPr>
          <a:xfrm>
            <a:off x="4246725" y="5072537"/>
            <a:ext cx="4970890" cy="1292662"/>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国のグリーン産業改革に向けた戦略</a:t>
            </a:r>
            <a:r>
              <a:rPr kumimoji="1" lang="en-US" altLang="ja-JP" sz="1400" dirty="0">
                <a:latin typeface="BIZ UDPゴシック" panose="020B0400000000000000" pitchFamily="50" charset="-128"/>
                <a:ea typeface="BIZ UDPゴシック" panose="020B0400000000000000" pitchFamily="50" charset="-128"/>
              </a:rPr>
              <a:t>10</a:t>
            </a:r>
            <a:r>
              <a:rPr kumimoji="1" lang="ja-JP" altLang="en-US" sz="1400" dirty="0">
                <a:latin typeface="BIZ UDPゴシック" panose="020B0400000000000000" pitchFamily="50" charset="-128"/>
                <a:ea typeface="BIZ UDPゴシック" panose="020B0400000000000000" pitchFamily="50" charset="-128"/>
              </a:rPr>
              <a:t>項目計画に洋上風力を組み込み、洋上風力の国内サプライチェーン構築に向けた支援を強化</a:t>
            </a:r>
            <a:endParaRPr kumimoji="1" lang="en-US" altLang="ja-JP" sz="1400" dirty="0">
              <a:latin typeface="BIZ UDPゴシック" panose="020B0400000000000000" pitchFamily="50" charset="-128"/>
              <a:ea typeface="BIZ UDPゴシック" panose="020B0400000000000000" pitchFamily="50" charset="-128"/>
            </a:endParaRPr>
          </a:p>
          <a:p>
            <a:pPr marL="465137" lvl="1" indent="-285750">
              <a:buFont typeface="BIZ UDPゴシック" panose="020B0400000000000000" pitchFamily="50" charset="-128"/>
              <a:buChar char="­"/>
            </a:pPr>
            <a:r>
              <a:rPr lang="ja-JP" altLang="en-US" sz="1400" dirty="0">
                <a:latin typeface="BIZ UDPゴシック" panose="020B0400000000000000" pitchFamily="50" charset="-128"/>
                <a:ea typeface="BIZ UDPゴシック" panose="020B0400000000000000" pitchFamily="50" charset="-128"/>
              </a:rPr>
              <a:t>ハルを含む経済的に貧困な地域をターゲット</a:t>
            </a:r>
            <a:endParaRPr lang="en-US" altLang="ja-JP" sz="1400" dirty="0">
              <a:latin typeface="BIZ UDPゴシック" panose="020B0400000000000000" pitchFamily="50" charset="-128"/>
              <a:ea typeface="BIZ UDPゴシック" panose="020B0400000000000000" pitchFamily="50" charset="-128"/>
            </a:endParaRPr>
          </a:p>
          <a:p>
            <a:pPr marL="465137" lvl="1" indent="-285750">
              <a:buFont typeface="BIZ UDPゴシック" panose="020B0400000000000000" pitchFamily="50" charset="-128"/>
              <a:buChar char="­"/>
            </a:pPr>
            <a:r>
              <a:rPr kumimoji="1" lang="ja-JP" altLang="en-US" sz="1400" dirty="0">
                <a:latin typeface="BIZ UDPゴシック" panose="020B0400000000000000" pitchFamily="50" charset="-128"/>
                <a:ea typeface="BIZ UDPゴシック" panose="020B0400000000000000" pitchFamily="50" charset="-128"/>
              </a:rPr>
              <a:t>国内の洋上風力産業を成長させ、</a:t>
            </a:r>
            <a:r>
              <a:rPr kumimoji="1" lang="en-US" altLang="ja-JP" sz="1400" dirty="0">
                <a:latin typeface="BIZ UDPゴシック" panose="020B0400000000000000" pitchFamily="50" charset="-128"/>
                <a:ea typeface="BIZ UDPゴシック" panose="020B0400000000000000" pitchFamily="50" charset="-128"/>
              </a:rPr>
              <a:t>2030</a:t>
            </a:r>
            <a:r>
              <a:rPr kumimoji="1" lang="ja-JP" altLang="en-US" sz="1400" dirty="0">
                <a:latin typeface="BIZ UDPゴシック" panose="020B0400000000000000" pitchFamily="50" charset="-128"/>
                <a:ea typeface="BIZ UDPゴシック" panose="020B0400000000000000" pitchFamily="50" charset="-128"/>
              </a:rPr>
              <a:t>年までに洋上風力で</a:t>
            </a:r>
            <a:r>
              <a:rPr kumimoji="1" lang="en-US" altLang="ja-JP" sz="1400" dirty="0">
                <a:latin typeface="BIZ UDPゴシック" panose="020B0400000000000000" pitchFamily="50" charset="-128"/>
                <a:ea typeface="BIZ UDPゴシック" panose="020B0400000000000000" pitchFamily="50" charset="-128"/>
              </a:rPr>
              <a:t>40GW</a:t>
            </a:r>
            <a:r>
              <a:rPr kumimoji="1" lang="ja-JP" altLang="en-US" sz="1400" dirty="0">
                <a:latin typeface="BIZ UDPゴシック" panose="020B0400000000000000" pitchFamily="50" charset="-128"/>
                <a:ea typeface="BIZ UDPゴシック" panose="020B0400000000000000" pitchFamily="50" charset="-128"/>
              </a:rPr>
              <a:t>を発電する狙い</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8" name="テキスト ボックス 17">
            <a:extLst>
              <a:ext uri="{FF2B5EF4-FFF2-40B4-BE49-F238E27FC236}">
                <a16:creationId xmlns:a16="http://schemas.microsoft.com/office/drawing/2014/main" id="{667097CE-3684-65A7-C53D-42559EA288C6}"/>
              </a:ext>
            </a:extLst>
          </p:cNvPr>
          <p:cNvSpPr txBox="1"/>
          <p:nvPr/>
        </p:nvSpPr>
        <p:spPr>
          <a:xfrm>
            <a:off x="3399849" y="5072537"/>
            <a:ext cx="747480" cy="215444"/>
          </a:xfrm>
          <a:prstGeom prst="rect">
            <a:avLst/>
          </a:prstGeom>
          <a:noFill/>
        </p:spPr>
        <p:txBody>
          <a:bodyPr wrap="square" lIns="0" tIns="0" rIns="0" bIns="0" rtlCol="0" anchor="t" anchorCtr="0">
            <a:spAutoFit/>
          </a:bodyPr>
          <a:lstStyle/>
          <a:p>
            <a:pPr algn="l"/>
            <a:r>
              <a:rPr kumimoji="1" lang="en-US" altLang="ja-JP" sz="1400" dirty="0">
                <a:latin typeface="BIZ UDPゴシック" panose="020B0400000000000000" pitchFamily="50" charset="-128"/>
                <a:ea typeface="BIZ UDPゴシック" panose="020B0400000000000000" pitchFamily="50" charset="-128"/>
              </a:rPr>
              <a:t>2017</a:t>
            </a:r>
            <a:r>
              <a:rPr kumimoji="1" lang="ja-JP" altLang="en-US" sz="1400" dirty="0">
                <a:latin typeface="BIZ UDPゴシック" panose="020B0400000000000000" pitchFamily="50" charset="-128"/>
                <a:ea typeface="BIZ UDPゴシック" panose="020B0400000000000000" pitchFamily="50" charset="-128"/>
              </a:rPr>
              <a:t>年</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AAF4A633-78BC-6A67-BF17-2922CC542F21}"/>
              </a:ext>
            </a:extLst>
          </p:cNvPr>
          <p:cNvSpPr txBox="1"/>
          <p:nvPr/>
        </p:nvSpPr>
        <p:spPr>
          <a:xfrm>
            <a:off x="9605671" y="1620651"/>
            <a:ext cx="2282980" cy="1292662"/>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当時新規産業であった洋上風力産業からの需要の予見性を高めた</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戦略的な産業振興地域の指定による洋上風力ハブとしての優勢性の確立</a:t>
            </a:r>
            <a:endParaRPr kumimoji="1" lang="en-US" altLang="ja-JP"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771658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BEFD181-CDE1-D955-C9D2-3A8248D34137}"/>
              </a:ext>
            </a:extLst>
          </p:cNvPr>
          <p:cNvSpPr>
            <a:spLocks noGrp="1"/>
          </p:cNvSpPr>
          <p:nvPr>
            <p:ph type="title"/>
          </p:nvPr>
        </p:nvSpPr>
        <p:spPr/>
        <p:txBody>
          <a:bodyPr/>
          <a:lstStyle/>
          <a:p>
            <a:r>
              <a:rPr lang="ja-JP" altLang="en-US" dirty="0"/>
              <a:t>各産業別に異なる投資阻害要因が存在</a:t>
            </a:r>
            <a:endParaRPr kumimoji="1" lang="ja-JP" altLang="en-US" dirty="0"/>
          </a:p>
        </p:txBody>
      </p:sp>
      <p:sp>
        <p:nvSpPr>
          <p:cNvPr id="3" name="フッター プレースホルダー 2">
            <a:extLst>
              <a:ext uri="{FF2B5EF4-FFF2-40B4-BE49-F238E27FC236}">
                <a16:creationId xmlns:a16="http://schemas.microsoft.com/office/drawing/2014/main" id="{A6E0B6B4-7CDC-700C-9E0D-1F4C15FFA78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A69CA750-DCA3-6B87-AC91-6B5D0EA46479}"/>
              </a:ext>
            </a:extLst>
          </p:cNvPr>
          <p:cNvSpPr>
            <a:spLocks noGrp="1"/>
          </p:cNvSpPr>
          <p:nvPr>
            <p:ph type="sldNum" sz="quarter" idx="12"/>
          </p:nvPr>
        </p:nvSpPr>
        <p:spPr/>
        <p:txBody>
          <a:bodyPr/>
          <a:lstStyle/>
          <a:p>
            <a:fld id="{DCB5AA93-092B-49A1-87A7-3C88D5F38AD7}" type="slidenum">
              <a:rPr lang="ja-JP" altLang="en-US" smtClean="0"/>
              <a:pPr/>
              <a:t>35</a:t>
            </a:fld>
            <a:endParaRPr lang="ja-JP" altLang="en-US" sz="900" dirty="0"/>
          </a:p>
        </p:txBody>
      </p:sp>
      <p:sp>
        <p:nvSpPr>
          <p:cNvPr id="5" name="テキスト プレースホルダー 4">
            <a:extLst>
              <a:ext uri="{FF2B5EF4-FFF2-40B4-BE49-F238E27FC236}">
                <a16:creationId xmlns:a16="http://schemas.microsoft.com/office/drawing/2014/main" id="{F3523B64-4E21-93C1-CFC2-7C5379266B04}"/>
              </a:ext>
            </a:extLst>
          </p:cNvPr>
          <p:cNvSpPr>
            <a:spLocks noGrp="1"/>
          </p:cNvSpPr>
          <p:nvPr>
            <p:ph type="body" sz="quarter" idx="13"/>
          </p:nvPr>
        </p:nvSpPr>
        <p:spPr/>
        <p:txBody>
          <a:bodyPr/>
          <a:lstStyle/>
          <a:p>
            <a:r>
              <a:rPr lang="ja-JP" altLang="en-US" dirty="0"/>
              <a:t>産業集積・立地の投資判断に関わる投資阻害要因</a:t>
            </a:r>
            <a:endParaRPr lang="en-US" altLang="ja-JP" dirty="0"/>
          </a:p>
        </p:txBody>
      </p:sp>
      <p:sp>
        <p:nvSpPr>
          <p:cNvPr id="6" name="テキスト ボックス 5">
            <a:extLst>
              <a:ext uri="{FF2B5EF4-FFF2-40B4-BE49-F238E27FC236}">
                <a16:creationId xmlns:a16="http://schemas.microsoft.com/office/drawing/2014/main" id="{115662FA-6F80-83D4-09C8-11EC881DF6BA}"/>
              </a:ext>
            </a:extLst>
          </p:cNvPr>
          <p:cNvSpPr txBox="1"/>
          <p:nvPr/>
        </p:nvSpPr>
        <p:spPr>
          <a:xfrm>
            <a:off x="360000" y="1642833"/>
            <a:ext cx="2342560" cy="430887"/>
          </a:xfrm>
          <a:prstGeom prst="rect">
            <a:avLst/>
          </a:prstGeom>
          <a:noFill/>
        </p:spPr>
        <p:txBody>
          <a:bodyPr wrap="square" lIns="0" tIns="0" rIns="0" bIns="0" rtlCol="0" anchor="t" anchorCtr="0">
            <a:spAutoFit/>
          </a:bodyPr>
          <a:lstStyle/>
          <a:p>
            <a:pPr marL="285750" indent="-28575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需要規模および予見性の低さ</a:t>
            </a:r>
            <a:endParaRPr kumimoji="1" lang="en-US" altLang="ja-JP" sz="14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FA184B38-83C1-CD4F-06B2-089350885B4E}"/>
              </a:ext>
            </a:extLst>
          </p:cNvPr>
          <p:cNvCxnSpPr>
            <a:cxnSpLocks/>
          </p:cNvCxnSpPr>
          <p:nvPr/>
        </p:nvCxnSpPr>
        <p:spPr>
          <a:xfrm>
            <a:off x="407987" y="1526770"/>
            <a:ext cx="11376026" cy="10986"/>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E0EC1B4D-5E57-634B-07E7-8D0AF873EE41}"/>
              </a:ext>
            </a:extLst>
          </p:cNvPr>
          <p:cNvSpPr txBox="1"/>
          <p:nvPr/>
        </p:nvSpPr>
        <p:spPr>
          <a:xfrm>
            <a:off x="360000" y="1270407"/>
            <a:ext cx="1345997"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投資阻害要因</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553E9261-9519-CA29-2CC9-5CCA84A5C1FA}"/>
              </a:ext>
            </a:extLst>
          </p:cNvPr>
          <p:cNvSpPr txBox="1"/>
          <p:nvPr/>
        </p:nvSpPr>
        <p:spPr>
          <a:xfrm>
            <a:off x="2990954" y="1270407"/>
            <a:ext cx="2875540"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詳細</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76B7317E-5907-D270-51F9-36D0D533C7B3}"/>
              </a:ext>
            </a:extLst>
          </p:cNvPr>
          <p:cNvSpPr txBox="1"/>
          <p:nvPr/>
        </p:nvSpPr>
        <p:spPr>
          <a:xfrm>
            <a:off x="8833905" y="819704"/>
            <a:ext cx="1406838"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該当する産業</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B113F097-960C-FEFC-6C22-A019C6B45994}"/>
              </a:ext>
            </a:extLst>
          </p:cNvPr>
          <p:cNvSpPr txBox="1"/>
          <p:nvPr/>
        </p:nvSpPr>
        <p:spPr>
          <a:xfrm>
            <a:off x="2990955" y="1642833"/>
            <a:ext cx="5404900" cy="861774"/>
          </a:xfrm>
          <a:prstGeom prst="rect">
            <a:avLst/>
          </a:prstGeom>
          <a:no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立地先に十分な需要が存在するか不透明</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投資判断において需要の予見性が非常に重要。日本で今後成長がよそくされる浮体式についての明確目標コメントがない</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市場黎明期のため、新規需要が見込めない可能性</a:t>
            </a:r>
            <a:endParaRPr kumimoji="1" lang="en-US" altLang="ja-JP" sz="1400" dirty="0">
              <a:latin typeface="BIZ UDPゴシック" panose="020B0400000000000000" pitchFamily="50" charset="-128"/>
              <a:ea typeface="BIZ UDPゴシック" panose="020B0400000000000000" pitchFamily="50" charset="-128"/>
            </a:endParaRPr>
          </a:p>
        </p:txBody>
      </p:sp>
      <p:cxnSp>
        <p:nvCxnSpPr>
          <p:cNvPr id="12" name="直線コネクタ 11">
            <a:extLst>
              <a:ext uri="{FF2B5EF4-FFF2-40B4-BE49-F238E27FC236}">
                <a16:creationId xmlns:a16="http://schemas.microsoft.com/office/drawing/2014/main" id="{D226E4C9-8092-FFFD-BE52-7B00731DDD8F}"/>
              </a:ext>
            </a:extLst>
          </p:cNvPr>
          <p:cNvCxnSpPr>
            <a:cxnSpLocks/>
          </p:cNvCxnSpPr>
          <p:nvPr/>
        </p:nvCxnSpPr>
        <p:spPr>
          <a:xfrm flipV="1">
            <a:off x="8703425" y="1056143"/>
            <a:ext cx="3080588" cy="11502"/>
          </a:xfrm>
          <a:prstGeom prst="line">
            <a:avLst/>
          </a:prstGeom>
          <a:ln>
            <a:solidFill>
              <a:schemeClr val="bg1">
                <a:lumMod val="65000"/>
              </a:schemeClr>
            </a:solidFill>
          </a:ln>
        </p:spPr>
        <p:style>
          <a:lnRef idx="2">
            <a:schemeClr val="accent1"/>
          </a:lnRef>
          <a:fillRef idx="0">
            <a:schemeClr val="accent1"/>
          </a:fillRef>
          <a:effectRef idx="1">
            <a:schemeClr val="accent1"/>
          </a:effectRef>
          <a:fontRef idx="minor">
            <a:schemeClr val="tx1"/>
          </a:fontRef>
        </p:style>
      </p:cxnSp>
      <p:sp>
        <p:nvSpPr>
          <p:cNvPr id="14" name="楕円 13">
            <a:extLst>
              <a:ext uri="{FF2B5EF4-FFF2-40B4-BE49-F238E27FC236}">
                <a16:creationId xmlns:a16="http://schemas.microsoft.com/office/drawing/2014/main" id="{D704E317-DC2B-490E-A752-4749FC418F4C}"/>
              </a:ext>
            </a:extLst>
          </p:cNvPr>
          <p:cNvSpPr/>
          <p:nvPr/>
        </p:nvSpPr>
        <p:spPr>
          <a:xfrm>
            <a:off x="8977794" y="1681720"/>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kumimoji="1"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p>
        </p:txBody>
      </p:sp>
      <p:sp>
        <p:nvSpPr>
          <p:cNvPr id="16" name="テキスト ボックス 15">
            <a:extLst>
              <a:ext uri="{FF2B5EF4-FFF2-40B4-BE49-F238E27FC236}">
                <a16:creationId xmlns:a16="http://schemas.microsoft.com/office/drawing/2014/main" id="{C0A40F38-C587-CF1C-7679-1189AFB3C214}"/>
              </a:ext>
            </a:extLst>
          </p:cNvPr>
          <p:cNvSpPr txBox="1"/>
          <p:nvPr/>
        </p:nvSpPr>
        <p:spPr>
          <a:xfrm>
            <a:off x="8833905" y="1272766"/>
            <a:ext cx="814952"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洋上風力</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A4F0B58F-8CE7-4872-C85E-E7F8958DF24C}"/>
              </a:ext>
            </a:extLst>
          </p:cNvPr>
          <p:cNvSpPr txBox="1"/>
          <p:nvPr/>
        </p:nvSpPr>
        <p:spPr>
          <a:xfrm>
            <a:off x="9648857" y="1272766"/>
            <a:ext cx="814952"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半導体</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8" name="テキスト ボックス 17">
            <a:extLst>
              <a:ext uri="{FF2B5EF4-FFF2-40B4-BE49-F238E27FC236}">
                <a16:creationId xmlns:a16="http://schemas.microsoft.com/office/drawing/2014/main" id="{7098FB07-B7BC-87D9-A0EF-5BC82154A411}"/>
              </a:ext>
            </a:extLst>
          </p:cNvPr>
          <p:cNvSpPr txBox="1"/>
          <p:nvPr/>
        </p:nvSpPr>
        <p:spPr>
          <a:xfrm>
            <a:off x="10308959" y="1272766"/>
            <a:ext cx="814952" cy="215444"/>
          </a:xfrm>
          <a:prstGeom prst="rect">
            <a:avLst/>
          </a:prstGeom>
          <a:noFill/>
        </p:spPr>
        <p:txBody>
          <a:bodyPr wrap="square" lIns="0" tIns="0" rIns="0" bIns="0" rtlCol="0" anchor="t" anchorCtr="0">
            <a:spAutoFit/>
          </a:bodyPr>
          <a:lstStyle/>
          <a:p>
            <a:pPr algn="l"/>
            <a:r>
              <a:rPr kumimoji="1" lang="ja-JP" altLang="en-US" sz="1400" b="1" dirty="0">
                <a:latin typeface="BIZ UDPゴシック" panose="020B0400000000000000" pitchFamily="50" charset="-128"/>
                <a:ea typeface="BIZ UDPゴシック" panose="020B0400000000000000" pitchFamily="50" charset="-128"/>
              </a:rPr>
              <a:t>蓄電池</a:t>
            </a:r>
            <a:endParaRPr kumimoji="1" lang="en-US" altLang="ja-JP" sz="1400" b="1" dirty="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0F2BF6D0-F67F-123B-FFD1-DB3F10540805}"/>
              </a:ext>
            </a:extLst>
          </p:cNvPr>
          <p:cNvSpPr txBox="1"/>
          <p:nvPr/>
        </p:nvSpPr>
        <p:spPr>
          <a:xfrm>
            <a:off x="10969061" y="1100156"/>
            <a:ext cx="814952" cy="430887"/>
          </a:xfrm>
          <a:prstGeom prst="rect">
            <a:avLst/>
          </a:prstGeom>
          <a:noFill/>
        </p:spPr>
        <p:txBody>
          <a:bodyPr wrap="square" lIns="0" tIns="0" rIns="0" bIns="0" rtlCol="0" anchor="t" anchorCtr="0">
            <a:spAutoFit/>
          </a:bodyPr>
          <a:lstStyle/>
          <a:p>
            <a:pPr algn="l"/>
            <a:r>
              <a:rPr kumimoji="1" lang="ja-JP" altLang="en-US" sz="1400" b="1" dirty="0">
                <a:latin typeface="メイリオ" panose="020B0604030504040204" pitchFamily="50" charset="-128"/>
                <a:ea typeface="メイリオ" panose="020B0604030504040204" pitchFamily="50" charset="-128"/>
              </a:rPr>
              <a:t>ペロブ</a:t>
            </a:r>
            <a:endParaRPr kumimoji="1" lang="en-US" altLang="ja-JP" sz="1400" b="1" dirty="0">
              <a:latin typeface="メイリオ" panose="020B0604030504040204" pitchFamily="50" charset="-128"/>
              <a:ea typeface="メイリオ" panose="020B0604030504040204" pitchFamily="50" charset="-128"/>
            </a:endParaRPr>
          </a:p>
          <a:p>
            <a:pPr algn="l"/>
            <a:r>
              <a:rPr kumimoji="1" lang="ja-JP" altLang="en-US" sz="1400" b="1" dirty="0">
                <a:latin typeface="メイリオ" panose="020B0604030504040204" pitchFamily="50" charset="-128"/>
                <a:ea typeface="メイリオ" panose="020B0604030504040204" pitchFamily="50" charset="-128"/>
              </a:rPr>
              <a:t>スカイト</a:t>
            </a:r>
            <a:endParaRPr kumimoji="1" lang="en-US" altLang="ja-JP" sz="1400" b="1" dirty="0">
              <a:latin typeface="メイリオ" panose="020B0604030504040204" pitchFamily="50" charset="-128"/>
              <a:ea typeface="メイリオ" panose="020B0604030504040204" pitchFamily="50" charset="-128"/>
            </a:endParaRPr>
          </a:p>
        </p:txBody>
      </p:sp>
      <p:sp>
        <p:nvSpPr>
          <p:cNvPr id="21" name="楕円 20">
            <a:extLst>
              <a:ext uri="{FF2B5EF4-FFF2-40B4-BE49-F238E27FC236}">
                <a16:creationId xmlns:a16="http://schemas.microsoft.com/office/drawing/2014/main" id="{03A4DA47-95CE-B1C7-121F-6AC8A9741940}"/>
              </a:ext>
            </a:extLst>
          </p:cNvPr>
          <p:cNvSpPr/>
          <p:nvPr/>
        </p:nvSpPr>
        <p:spPr>
          <a:xfrm>
            <a:off x="10391153" y="1681720"/>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4" name="楕円 23">
            <a:extLst>
              <a:ext uri="{FF2B5EF4-FFF2-40B4-BE49-F238E27FC236}">
                <a16:creationId xmlns:a16="http://schemas.microsoft.com/office/drawing/2014/main" id="{0953F539-F1AF-CF3D-E009-8B773C5AFF98}"/>
              </a:ext>
            </a:extLst>
          </p:cNvPr>
          <p:cNvSpPr/>
          <p:nvPr/>
        </p:nvSpPr>
        <p:spPr>
          <a:xfrm>
            <a:off x="11123911" y="2409939"/>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2A26E4C8-F3FB-7708-F714-82C74327530E}"/>
              </a:ext>
            </a:extLst>
          </p:cNvPr>
          <p:cNvSpPr txBox="1"/>
          <p:nvPr/>
        </p:nvSpPr>
        <p:spPr>
          <a:xfrm>
            <a:off x="360000" y="2999641"/>
            <a:ext cx="2342560" cy="215444"/>
          </a:xfrm>
          <a:prstGeom prst="rect">
            <a:avLst/>
          </a:prstGeom>
          <a:noFill/>
        </p:spPr>
        <p:txBody>
          <a:bodyPr wrap="square" lIns="0" tIns="0" rIns="0" bIns="0" rtlCol="0" anchor="t" anchorCtr="0">
            <a:spAutoFit/>
          </a:bodyPr>
          <a:lstStyle/>
          <a:p>
            <a:pPr marL="285750" indent="-28575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産業エコシステムの欠如</a:t>
            </a:r>
            <a:endParaRPr lang="en-US" altLang="ja-JP" sz="1400" dirty="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45A7E49D-33F5-E5C5-7D61-9CB98490F8B8}"/>
              </a:ext>
            </a:extLst>
          </p:cNvPr>
          <p:cNvSpPr txBox="1"/>
          <p:nvPr/>
        </p:nvSpPr>
        <p:spPr>
          <a:xfrm>
            <a:off x="2990954" y="2999641"/>
            <a:ext cx="5404900" cy="1077218"/>
          </a:xfrm>
          <a:prstGeom prst="rect">
            <a:avLst/>
          </a:prstGeom>
          <a:noFill/>
        </p:spPr>
        <p:txBody>
          <a:bodyPr wrap="square" lIns="0" tIns="0" rIns="0" bIns="0" rtlCol="0" anchor="t" anchorCtr="0">
            <a:spAutoFit/>
          </a:bodyPr>
          <a:lstStyle/>
          <a:p>
            <a:pPr algn="l"/>
            <a:r>
              <a:rPr lang="ja-JP" altLang="en-US" sz="1400" dirty="0">
                <a:latin typeface="BIZ UDPゴシック" panose="020B0400000000000000" pitchFamily="50" charset="-128"/>
                <a:ea typeface="BIZ UDPゴシック" panose="020B0400000000000000" pitchFamily="50" charset="-128"/>
              </a:rPr>
              <a:t>下流顧客の生産拠点近傍へ立地させる必要性</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リチウムイオンバッテリーは輸送中に物理的損傷が発生すると発火リスクがあるため、生産拠点を自動車</a:t>
            </a:r>
            <a:r>
              <a:rPr lang="en-US" altLang="ja-JP" sz="1400" dirty="0">
                <a:latin typeface="BIZ UDPゴシック" panose="020B0400000000000000" pitchFamily="50" charset="-128"/>
                <a:ea typeface="BIZ UDPゴシック" panose="020B0400000000000000" pitchFamily="50" charset="-128"/>
              </a:rPr>
              <a:t>OEM</a:t>
            </a:r>
            <a:r>
              <a:rPr lang="ja-JP" altLang="en-US" sz="1400" dirty="0">
                <a:latin typeface="BIZ UDPゴシック" panose="020B0400000000000000" pitchFamily="50" charset="-128"/>
                <a:ea typeface="BIZ UDPゴシック" panose="020B0400000000000000" pitchFamily="50" charset="-128"/>
              </a:rPr>
              <a:t>近傍に設置することが求められる</a:t>
            </a:r>
            <a:endParaRPr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市場黎明期のため、新規需要が見込めない可能性</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29" name="楕円 28">
            <a:extLst>
              <a:ext uri="{FF2B5EF4-FFF2-40B4-BE49-F238E27FC236}">
                <a16:creationId xmlns:a16="http://schemas.microsoft.com/office/drawing/2014/main" id="{0ACBE006-79E0-B8E3-47F5-F18306920548}"/>
              </a:ext>
            </a:extLst>
          </p:cNvPr>
          <p:cNvSpPr/>
          <p:nvPr/>
        </p:nvSpPr>
        <p:spPr>
          <a:xfrm>
            <a:off x="8977793" y="3038528"/>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32" name="楕円 31">
            <a:extLst>
              <a:ext uri="{FF2B5EF4-FFF2-40B4-BE49-F238E27FC236}">
                <a16:creationId xmlns:a16="http://schemas.microsoft.com/office/drawing/2014/main" id="{97DE0EE8-5BCE-8155-B8A9-D361EF2CBB64}"/>
              </a:ext>
            </a:extLst>
          </p:cNvPr>
          <p:cNvSpPr/>
          <p:nvPr/>
        </p:nvSpPr>
        <p:spPr>
          <a:xfrm>
            <a:off x="10391152" y="3038528"/>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35" name="楕円 34">
            <a:extLst>
              <a:ext uri="{FF2B5EF4-FFF2-40B4-BE49-F238E27FC236}">
                <a16:creationId xmlns:a16="http://schemas.microsoft.com/office/drawing/2014/main" id="{5F3D5FAB-E508-C0AB-B995-8137628F891B}"/>
              </a:ext>
            </a:extLst>
          </p:cNvPr>
          <p:cNvSpPr/>
          <p:nvPr/>
        </p:nvSpPr>
        <p:spPr>
          <a:xfrm>
            <a:off x="11123910" y="3877731"/>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A6CA900D-75E0-5A6A-85FC-830BD983C8C4}"/>
              </a:ext>
            </a:extLst>
          </p:cNvPr>
          <p:cNvSpPr txBox="1"/>
          <p:nvPr/>
        </p:nvSpPr>
        <p:spPr>
          <a:xfrm>
            <a:off x="360000" y="4411269"/>
            <a:ext cx="2342560" cy="215444"/>
          </a:xfrm>
          <a:prstGeom prst="rect">
            <a:avLst/>
          </a:prstGeom>
          <a:noFill/>
        </p:spPr>
        <p:txBody>
          <a:bodyPr wrap="square" lIns="0" tIns="0" rIns="0" bIns="0" rtlCol="0" anchor="t" anchorCtr="0">
            <a:spAutoFit/>
          </a:bodyPr>
          <a:lstStyle/>
          <a:p>
            <a:pPr marL="285750" indent="-28575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設備投資費用の高さ</a:t>
            </a:r>
            <a:endParaRPr lang="en-US" altLang="ja-JP" sz="1400" dirty="0">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2B9F4BC7-3E78-5E4C-6DC2-E695A54463BD}"/>
              </a:ext>
            </a:extLst>
          </p:cNvPr>
          <p:cNvSpPr txBox="1"/>
          <p:nvPr/>
        </p:nvSpPr>
        <p:spPr>
          <a:xfrm>
            <a:off x="2990954" y="4411269"/>
            <a:ext cx="5404900" cy="861774"/>
          </a:xfrm>
          <a:prstGeom prst="rect">
            <a:avLst/>
          </a:prstGeom>
          <a:noFill/>
        </p:spPr>
        <p:txBody>
          <a:bodyPr wrap="square" lIns="0" tIns="0" rIns="0" bIns="0" rtlCol="0" anchor="t" anchorCtr="0">
            <a:spAutoFit/>
          </a:bodyPr>
          <a:lstStyle/>
          <a:p>
            <a:pPr algn="l"/>
            <a:r>
              <a:rPr lang="ja-JP" altLang="en-US" sz="1400" dirty="0">
                <a:latin typeface="BIZ UDPゴシック" panose="020B0400000000000000" pitchFamily="50" charset="-128"/>
                <a:ea typeface="BIZ UDPゴシック" panose="020B0400000000000000" pitchFamily="50" charset="-128"/>
              </a:rPr>
              <a:t>産業の性質上、大規模な設備投資が必要</a:t>
            </a:r>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新規事業への転換に伴い、生産拠点の新設が必要</a:t>
            </a:r>
            <a:endParaRPr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既存の軸受事業から電気ブレーキやバイオ分野は新たな設備に投資しなければならないため、</a:t>
            </a:r>
            <a:r>
              <a:rPr lang="en-US" altLang="ja-JP" sz="1400" dirty="0">
                <a:latin typeface="BIZ UDPゴシック" panose="020B0400000000000000" pitchFamily="50" charset="-128"/>
                <a:ea typeface="BIZ UDPゴシック" panose="020B0400000000000000" pitchFamily="50" charset="-128"/>
              </a:rPr>
              <a:t>CAPEX</a:t>
            </a:r>
            <a:r>
              <a:rPr lang="ja-JP" altLang="en-US" sz="1400" dirty="0">
                <a:latin typeface="BIZ UDPゴシック" panose="020B0400000000000000" pitchFamily="50" charset="-128"/>
                <a:ea typeface="BIZ UDPゴシック" panose="020B0400000000000000" pitchFamily="50" charset="-128"/>
              </a:rPr>
              <a:t>が増加する</a:t>
            </a:r>
            <a:endParaRPr lang="en-US" altLang="ja-JP" sz="1400" dirty="0">
              <a:latin typeface="BIZ UDPゴシック" panose="020B0400000000000000" pitchFamily="50" charset="-128"/>
              <a:ea typeface="BIZ UDPゴシック" panose="020B0400000000000000" pitchFamily="50" charset="-128"/>
            </a:endParaRPr>
          </a:p>
        </p:txBody>
      </p:sp>
      <p:sp>
        <p:nvSpPr>
          <p:cNvPr id="40" name="楕円 39">
            <a:extLst>
              <a:ext uri="{FF2B5EF4-FFF2-40B4-BE49-F238E27FC236}">
                <a16:creationId xmlns:a16="http://schemas.microsoft.com/office/drawing/2014/main" id="{5C05FD05-B144-EF56-6733-FF4BB6932B27}"/>
              </a:ext>
            </a:extLst>
          </p:cNvPr>
          <p:cNvSpPr/>
          <p:nvPr/>
        </p:nvSpPr>
        <p:spPr>
          <a:xfrm>
            <a:off x="9731051" y="4411269"/>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42" name="テキスト ボックス 41">
            <a:extLst>
              <a:ext uri="{FF2B5EF4-FFF2-40B4-BE49-F238E27FC236}">
                <a16:creationId xmlns:a16="http://schemas.microsoft.com/office/drawing/2014/main" id="{36F95053-CDE4-C9D9-624D-59EB90672621}"/>
              </a:ext>
            </a:extLst>
          </p:cNvPr>
          <p:cNvSpPr txBox="1"/>
          <p:nvPr/>
        </p:nvSpPr>
        <p:spPr>
          <a:xfrm>
            <a:off x="360000" y="5576419"/>
            <a:ext cx="2342560" cy="215444"/>
          </a:xfrm>
          <a:prstGeom prst="rect">
            <a:avLst/>
          </a:prstGeom>
          <a:noFill/>
        </p:spPr>
        <p:txBody>
          <a:bodyPr wrap="square" lIns="0" tIns="0" rIns="0" bIns="0" rtlCol="0" anchor="t" anchorCtr="0">
            <a:spAutoFit/>
          </a:bodyPr>
          <a:lstStyle/>
          <a:p>
            <a:pPr marL="285750" indent="-285750" algn="l">
              <a:buFont typeface="Wingdings" panose="05000000000000000000" pitchFamily="2" charset="2"/>
              <a:buChar char="n"/>
            </a:pPr>
            <a:r>
              <a:rPr lang="ja-JP" altLang="en-US" sz="1400" dirty="0">
                <a:latin typeface="BIZ UDPゴシック" panose="020B0400000000000000" pitchFamily="50" charset="-128"/>
                <a:ea typeface="BIZ UDPゴシック" panose="020B0400000000000000" pitchFamily="50" charset="-128"/>
              </a:rPr>
              <a:t>優秀な人材の不足</a:t>
            </a:r>
            <a:endParaRPr lang="en-US" altLang="ja-JP" sz="1400" dirty="0">
              <a:latin typeface="BIZ UDPゴシック" panose="020B0400000000000000" pitchFamily="50" charset="-128"/>
              <a:ea typeface="BIZ UDPゴシック" panose="020B0400000000000000" pitchFamily="50" charset="-128"/>
            </a:endParaRPr>
          </a:p>
        </p:txBody>
      </p:sp>
      <p:sp>
        <p:nvSpPr>
          <p:cNvPr id="43" name="テキスト ボックス 42">
            <a:extLst>
              <a:ext uri="{FF2B5EF4-FFF2-40B4-BE49-F238E27FC236}">
                <a16:creationId xmlns:a16="http://schemas.microsoft.com/office/drawing/2014/main" id="{B2DF1DDB-DCF0-A01A-4207-D8E30C10CBCF}"/>
              </a:ext>
            </a:extLst>
          </p:cNvPr>
          <p:cNvSpPr txBox="1"/>
          <p:nvPr/>
        </p:nvSpPr>
        <p:spPr>
          <a:xfrm>
            <a:off x="2990954" y="5576419"/>
            <a:ext cx="5404900" cy="646331"/>
          </a:xfrm>
          <a:prstGeom prst="rect">
            <a:avLst/>
          </a:prstGeom>
          <a:no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新規立地先に製品製造を行える人材プールが必要</a:t>
            </a:r>
            <a:endParaRPr kumimoji="1" lang="en-US" altLang="ja-JP" sz="1400" dirty="0">
              <a:latin typeface="BIZ UDPゴシック" panose="020B0400000000000000" pitchFamily="50" charset="-128"/>
              <a:ea typeface="BIZ UDPゴシック" panose="020B0400000000000000" pitchFamily="50" charset="-128"/>
            </a:endParaRPr>
          </a:p>
          <a:p>
            <a:pPr marL="182563" lvl="1" indent="-182563">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日本には洋上風力発電慮の設備建設・維持のできる人材が少ない。人材育成制度も途上の印象</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45" name="楕円 44">
            <a:extLst>
              <a:ext uri="{FF2B5EF4-FFF2-40B4-BE49-F238E27FC236}">
                <a16:creationId xmlns:a16="http://schemas.microsoft.com/office/drawing/2014/main" id="{E08ED61D-CF7A-07AA-67A9-BF872207A972}"/>
              </a:ext>
            </a:extLst>
          </p:cNvPr>
          <p:cNvSpPr/>
          <p:nvPr/>
        </p:nvSpPr>
        <p:spPr>
          <a:xfrm>
            <a:off x="8973311" y="5696736"/>
            <a:ext cx="325282" cy="310112"/>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lang="ja-JP" altLang="en-US" sz="140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50" name="テキスト ボックス 49">
            <a:extLst>
              <a:ext uri="{FF2B5EF4-FFF2-40B4-BE49-F238E27FC236}">
                <a16:creationId xmlns:a16="http://schemas.microsoft.com/office/drawing/2014/main" id="{06DD1EAB-8242-3363-1D1A-3DF4B0D2F148}"/>
              </a:ext>
            </a:extLst>
          </p:cNvPr>
          <p:cNvSpPr txBox="1"/>
          <p:nvPr/>
        </p:nvSpPr>
        <p:spPr>
          <a:xfrm>
            <a:off x="3444240" y="-802640"/>
            <a:ext cx="914400" cy="914400"/>
          </a:xfrm>
          <a:prstGeom prst="rect">
            <a:avLst/>
          </a:prstGeom>
          <a:noFill/>
        </p:spPr>
        <p:txBody>
          <a:bodyPr wrap="none" lIns="0" tIns="0" rIns="0" bIns="0" rtlCol="0" anchor="t" anchorCtr="0">
            <a:noAutofit/>
          </a:bodyPr>
          <a:lstStyle/>
          <a:p>
            <a:pPr marL="285750" indent="-198438" algn="l">
              <a:buFont typeface="Arial" panose="020B0604020202020204" pitchFamily="34" charset="0"/>
              <a:buChar char="•"/>
            </a:pPr>
            <a:endParaRPr kumimoji="1" lang="ja-JP" altLang="en-US" sz="14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4696205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5E491B7-4459-41BE-51B4-4472BD4C9845}"/>
              </a:ext>
            </a:extLst>
          </p:cNvPr>
          <p:cNvSpPr>
            <a:spLocks noGrp="1"/>
          </p:cNvSpPr>
          <p:nvPr>
            <p:ph type="title"/>
          </p:nvPr>
        </p:nvSpPr>
        <p:spPr/>
        <p:txBody>
          <a:bodyPr/>
          <a:lstStyle/>
          <a:p>
            <a:r>
              <a:rPr lang="ja-JP" altLang="en-US" dirty="0"/>
              <a:t>オンライン化の機運醸成に向けた取り組み案</a:t>
            </a:r>
            <a:endParaRPr kumimoji="1" lang="ja-JP" altLang="en-US" dirty="0"/>
          </a:p>
        </p:txBody>
      </p:sp>
      <p:sp>
        <p:nvSpPr>
          <p:cNvPr id="3" name="フッター プレースホルダー 2">
            <a:extLst>
              <a:ext uri="{FF2B5EF4-FFF2-40B4-BE49-F238E27FC236}">
                <a16:creationId xmlns:a16="http://schemas.microsoft.com/office/drawing/2014/main" id="{B030F6AD-CBBF-0795-F289-0F4BF8B71EFD}"/>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7C7FFCE5-B275-05DE-3FCD-B7894CD0B49A}"/>
              </a:ext>
            </a:extLst>
          </p:cNvPr>
          <p:cNvSpPr>
            <a:spLocks noGrp="1"/>
          </p:cNvSpPr>
          <p:nvPr>
            <p:ph type="sldNum" sz="quarter" idx="12"/>
          </p:nvPr>
        </p:nvSpPr>
        <p:spPr/>
        <p:txBody>
          <a:bodyPr/>
          <a:lstStyle/>
          <a:p>
            <a:fld id="{DCB5AA93-092B-49A1-87A7-3C88D5F38AD7}" type="slidenum">
              <a:rPr lang="ja-JP" altLang="en-US" smtClean="0"/>
              <a:pPr/>
              <a:t>36</a:t>
            </a:fld>
            <a:endParaRPr lang="ja-JP" altLang="en-US" sz="900" dirty="0"/>
          </a:p>
        </p:txBody>
      </p:sp>
      <p:sp>
        <p:nvSpPr>
          <p:cNvPr id="5" name="テキスト プレースホルダー 4">
            <a:extLst>
              <a:ext uri="{FF2B5EF4-FFF2-40B4-BE49-F238E27FC236}">
                <a16:creationId xmlns:a16="http://schemas.microsoft.com/office/drawing/2014/main" id="{A44D2D2A-9C62-5666-AB4F-8ABA0DEB052A}"/>
              </a:ext>
            </a:extLst>
          </p:cNvPr>
          <p:cNvSpPr>
            <a:spLocks noGrp="1"/>
          </p:cNvSpPr>
          <p:nvPr>
            <p:ph type="body" sz="quarter" idx="13"/>
          </p:nvPr>
        </p:nvSpPr>
        <p:spPr/>
        <p:txBody>
          <a:bodyPr/>
          <a:lstStyle/>
          <a:p>
            <a:endParaRPr kumimoji="1" lang="ja-JP" altLang="en-US"/>
          </a:p>
        </p:txBody>
      </p:sp>
      <p:sp>
        <p:nvSpPr>
          <p:cNvPr id="6" name="吹き出し: 四角形 5">
            <a:extLst>
              <a:ext uri="{FF2B5EF4-FFF2-40B4-BE49-F238E27FC236}">
                <a16:creationId xmlns:a16="http://schemas.microsoft.com/office/drawing/2014/main" id="{7BC10400-6AD1-12EB-C59E-0C784E6F90C8}"/>
              </a:ext>
            </a:extLst>
          </p:cNvPr>
          <p:cNvSpPr/>
          <p:nvPr/>
        </p:nvSpPr>
        <p:spPr>
          <a:xfrm>
            <a:off x="360000" y="1628775"/>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cxnSp>
        <p:nvCxnSpPr>
          <p:cNvPr id="7" name="直線コネクタ 6">
            <a:extLst>
              <a:ext uri="{FF2B5EF4-FFF2-40B4-BE49-F238E27FC236}">
                <a16:creationId xmlns:a16="http://schemas.microsoft.com/office/drawing/2014/main" id="{39A6BC5C-6E09-86DF-97B5-C70B374E5296}"/>
              </a:ext>
            </a:extLst>
          </p:cNvPr>
          <p:cNvCxnSpPr>
            <a:cxnSpLocks/>
          </p:cNvCxnSpPr>
          <p:nvPr/>
        </p:nvCxnSpPr>
        <p:spPr>
          <a:xfrm flipV="1">
            <a:off x="360000" y="1526193"/>
            <a:ext cx="2663424" cy="52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DDDED1C6-2690-2CAE-8370-1B33AA072A0A}"/>
              </a:ext>
            </a:extLst>
          </p:cNvPr>
          <p:cNvSpPr txBox="1"/>
          <p:nvPr/>
        </p:nvSpPr>
        <p:spPr>
          <a:xfrm>
            <a:off x="1540592" y="1260000"/>
            <a:ext cx="359073" cy="215444"/>
          </a:xfrm>
          <a:prstGeom prst="rect">
            <a:avLst/>
          </a:prstGeom>
          <a:solidFill>
            <a:schemeClr val="bg1"/>
          </a:solidFill>
        </p:spPr>
        <p:txBody>
          <a:bodyPr wrap="none" lIns="0" tIns="0" rIns="0" bIns="0" rtlCol="0" anchor="t" anchorCtr="0">
            <a:spAutoFit/>
          </a:bodyPr>
          <a:lstStyle/>
          <a:p>
            <a:pPr algn="l"/>
            <a:r>
              <a:rPr lang="ja-JP" altLang="en-US" sz="1400" dirty="0">
                <a:latin typeface="BIZ UDPゴシック" panose="020B0400000000000000" pitchFamily="50" charset="-128"/>
                <a:ea typeface="BIZ UDPゴシック" panose="020B0400000000000000" pitchFamily="50" charset="-128"/>
              </a:rPr>
              <a:t>意見</a:t>
            </a:r>
            <a:endParaRPr kumimoji="1" lang="ja-JP" altLang="en-US" sz="1400" dirty="0">
              <a:latin typeface="BIZ UDPゴシック" panose="020B0400000000000000" pitchFamily="50" charset="-128"/>
              <a:ea typeface="BIZ UDPゴシック" panose="020B0400000000000000" pitchFamily="50" charset="-128"/>
            </a:endParaRPr>
          </a:p>
        </p:txBody>
      </p:sp>
      <p:cxnSp>
        <p:nvCxnSpPr>
          <p:cNvPr id="9" name="直線コネクタ 8">
            <a:extLst>
              <a:ext uri="{FF2B5EF4-FFF2-40B4-BE49-F238E27FC236}">
                <a16:creationId xmlns:a16="http://schemas.microsoft.com/office/drawing/2014/main" id="{D6DF8CD0-9567-277D-9A05-961268506FEF}"/>
              </a:ext>
            </a:extLst>
          </p:cNvPr>
          <p:cNvCxnSpPr>
            <a:cxnSpLocks/>
          </p:cNvCxnSpPr>
          <p:nvPr/>
        </p:nvCxnSpPr>
        <p:spPr>
          <a:xfrm>
            <a:off x="4437611" y="1526193"/>
            <a:ext cx="3584171"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B4887BD1-D83B-2743-3CB6-269B0765C34C}"/>
              </a:ext>
            </a:extLst>
          </p:cNvPr>
          <p:cNvSpPr txBox="1"/>
          <p:nvPr/>
        </p:nvSpPr>
        <p:spPr>
          <a:xfrm>
            <a:off x="5840335" y="1260000"/>
            <a:ext cx="597921"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取組案</a:t>
            </a:r>
          </a:p>
        </p:txBody>
      </p:sp>
      <p:cxnSp>
        <p:nvCxnSpPr>
          <p:cNvPr id="11" name="直線コネクタ 10">
            <a:extLst>
              <a:ext uri="{FF2B5EF4-FFF2-40B4-BE49-F238E27FC236}">
                <a16:creationId xmlns:a16="http://schemas.microsoft.com/office/drawing/2014/main" id="{AE870744-8D99-2A93-9B36-990C11AC120D}"/>
              </a:ext>
            </a:extLst>
          </p:cNvPr>
          <p:cNvCxnSpPr>
            <a:cxnSpLocks/>
          </p:cNvCxnSpPr>
          <p:nvPr/>
        </p:nvCxnSpPr>
        <p:spPr>
          <a:xfrm>
            <a:off x="8234960" y="1526193"/>
            <a:ext cx="3549056"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8AF9559D-72B8-8D18-F2EA-0765630A0A4C}"/>
              </a:ext>
            </a:extLst>
          </p:cNvPr>
          <p:cNvSpPr txBox="1"/>
          <p:nvPr/>
        </p:nvSpPr>
        <p:spPr>
          <a:xfrm>
            <a:off x="9968798" y="1260000"/>
            <a:ext cx="359073" cy="215444"/>
          </a:xfrm>
          <a:prstGeom prst="rect">
            <a:avLst/>
          </a:prstGeom>
          <a:solidFill>
            <a:schemeClr val="bg1"/>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内容</a:t>
            </a:r>
          </a:p>
        </p:txBody>
      </p:sp>
      <p:sp>
        <p:nvSpPr>
          <p:cNvPr id="13" name="矢印: 右 12">
            <a:extLst>
              <a:ext uri="{FF2B5EF4-FFF2-40B4-BE49-F238E27FC236}">
                <a16:creationId xmlns:a16="http://schemas.microsoft.com/office/drawing/2014/main" id="{A9D8A05B-B84B-5316-BF5F-0882D4344D23}"/>
              </a:ext>
            </a:extLst>
          </p:cNvPr>
          <p:cNvSpPr/>
          <p:nvPr/>
        </p:nvSpPr>
        <p:spPr>
          <a:xfrm>
            <a:off x="4018584" y="1844851"/>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1ACC5CA0-8E5E-45CC-7CA8-0D855A874AD2}"/>
              </a:ext>
            </a:extLst>
          </p:cNvPr>
          <p:cNvSpPr txBox="1"/>
          <p:nvPr/>
        </p:nvSpPr>
        <p:spPr>
          <a:xfrm>
            <a:off x="4437610" y="1628774"/>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5" name="テキスト ボックス 14">
            <a:extLst>
              <a:ext uri="{FF2B5EF4-FFF2-40B4-BE49-F238E27FC236}">
                <a16:creationId xmlns:a16="http://schemas.microsoft.com/office/drawing/2014/main" id="{3891C118-22AC-3B9C-BAFF-3C6323E98B30}"/>
              </a:ext>
            </a:extLst>
          </p:cNvPr>
          <p:cNvSpPr txBox="1"/>
          <p:nvPr/>
        </p:nvSpPr>
        <p:spPr>
          <a:xfrm>
            <a:off x="8229600" y="1628774"/>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16" name="グラフィックス 15" descr="男子生徒 枠線">
            <a:extLst>
              <a:ext uri="{FF2B5EF4-FFF2-40B4-BE49-F238E27FC236}">
                <a16:creationId xmlns:a16="http://schemas.microsoft.com/office/drawing/2014/main" id="{71EF6DF0-04FF-29B2-357C-AD55C7D4D6F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1733203"/>
            <a:ext cx="654936" cy="654936"/>
          </a:xfrm>
          <a:prstGeom prst="rect">
            <a:avLst/>
          </a:prstGeom>
        </p:spPr>
      </p:pic>
      <p:sp>
        <p:nvSpPr>
          <p:cNvPr id="17" name="吹き出し: 四角形 16">
            <a:extLst>
              <a:ext uri="{FF2B5EF4-FFF2-40B4-BE49-F238E27FC236}">
                <a16:creationId xmlns:a16="http://schemas.microsoft.com/office/drawing/2014/main" id="{9C5BFF3A-1C40-287B-A099-032673074540}"/>
              </a:ext>
            </a:extLst>
          </p:cNvPr>
          <p:cNvSpPr/>
          <p:nvPr/>
        </p:nvSpPr>
        <p:spPr>
          <a:xfrm>
            <a:off x="360000" y="2497343"/>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sp>
        <p:nvSpPr>
          <p:cNvPr id="18" name="矢印: 右 17">
            <a:extLst>
              <a:ext uri="{FF2B5EF4-FFF2-40B4-BE49-F238E27FC236}">
                <a16:creationId xmlns:a16="http://schemas.microsoft.com/office/drawing/2014/main" id="{CFEA1004-92E8-5ACE-99F7-D8C015FC143A}"/>
              </a:ext>
            </a:extLst>
          </p:cNvPr>
          <p:cNvSpPr/>
          <p:nvPr/>
        </p:nvSpPr>
        <p:spPr>
          <a:xfrm>
            <a:off x="4018584" y="2713419"/>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C391A300-F11B-92A0-F84A-DEC9C71EA42A}"/>
              </a:ext>
            </a:extLst>
          </p:cNvPr>
          <p:cNvSpPr txBox="1"/>
          <p:nvPr/>
        </p:nvSpPr>
        <p:spPr>
          <a:xfrm>
            <a:off x="4437610" y="2497342"/>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20" name="テキスト ボックス 19">
            <a:extLst>
              <a:ext uri="{FF2B5EF4-FFF2-40B4-BE49-F238E27FC236}">
                <a16:creationId xmlns:a16="http://schemas.microsoft.com/office/drawing/2014/main" id="{59B230E7-00FC-10CC-CD34-34B4A8A2CF50}"/>
              </a:ext>
            </a:extLst>
          </p:cNvPr>
          <p:cNvSpPr txBox="1"/>
          <p:nvPr/>
        </p:nvSpPr>
        <p:spPr>
          <a:xfrm>
            <a:off x="8229600" y="2497342"/>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21" name="グラフィックス 20" descr="男子生徒 枠線">
            <a:extLst>
              <a:ext uri="{FF2B5EF4-FFF2-40B4-BE49-F238E27FC236}">
                <a16:creationId xmlns:a16="http://schemas.microsoft.com/office/drawing/2014/main" id="{B3AE51EA-3DBF-DED5-869A-C1E759A2A0B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2601771"/>
            <a:ext cx="654936" cy="654936"/>
          </a:xfrm>
          <a:prstGeom prst="rect">
            <a:avLst/>
          </a:prstGeom>
        </p:spPr>
      </p:pic>
      <p:sp>
        <p:nvSpPr>
          <p:cNvPr id="22" name="吹き出し: 四角形 21">
            <a:extLst>
              <a:ext uri="{FF2B5EF4-FFF2-40B4-BE49-F238E27FC236}">
                <a16:creationId xmlns:a16="http://schemas.microsoft.com/office/drawing/2014/main" id="{E943B0F0-FC52-DFFC-1B67-8B71549196E6}"/>
              </a:ext>
            </a:extLst>
          </p:cNvPr>
          <p:cNvSpPr/>
          <p:nvPr/>
        </p:nvSpPr>
        <p:spPr>
          <a:xfrm>
            <a:off x="360000" y="3358731"/>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sp>
        <p:nvSpPr>
          <p:cNvPr id="23" name="矢印: 右 22">
            <a:extLst>
              <a:ext uri="{FF2B5EF4-FFF2-40B4-BE49-F238E27FC236}">
                <a16:creationId xmlns:a16="http://schemas.microsoft.com/office/drawing/2014/main" id="{48A630A3-6B3C-DB91-F525-9E934E6C917D}"/>
              </a:ext>
            </a:extLst>
          </p:cNvPr>
          <p:cNvSpPr/>
          <p:nvPr/>
        </p:nvSpPr>
        <p:spPr>
          <a:xfrm>
            <a:off x="4018584" y="3574807"/>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26D6B1C3-2490-5C9D-E2A3-7D0171CC4124}"/>
              </a:ext>
            </a:extLst>
          </p:cNvPr>
          <p:cNvSpPr txBox="1"/>
          <p:nvPr/>
        </p:nvSpPr>
        <p:spPr>
          <a:xfrm>
            <a:off x="4437610" y="3358730"/>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25" name="テキスト ボックス 24">
            <a:extLst>
              <a:ext uri="{FF2B5EF4-FFF2-40B4-BE49-F238E27FC236}">
                <a16:creationId xmlns:a16="http://schemas.microsoft.com/office/drawing/2014/main" id="{31C5DE2C-BF5D-D694-17C1-F6C9CA11F7D0}"/>
              </a:ext>
            </a:extLst>
          </p:cNvPr>
          <p:cNvSpPr txBox="1"/>
          <p:nvPr/>
        </p:nvSpPr>
        <p:spPr>
          <a:xfrm>
            <a:off x="8229600" y="3358730"/>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26" name="グラフィックス 25" descr="男子生徒 枠線">
            <a:extLst>
              <a:ext uri="{FF2B5EF4-FFF2-40B4-BE49-F238E27FC236}">
                <a16:creationId xmlns:a16="http://schemas.microsoft.com/office/drawing/2014/main" id="{F8386E05-1C06-731E-9AE7-E667D25DED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3463159"/>
            <a:ext cx="654936" cy="654936"/>
          </a:xfrm>
          <a:prstGeom prst="rect">
            <a:avLst/>
          </a:prstGeom>
        </p:spPr>
      </p:pic>
      <p:sp>
        <p:nvSpPr>
          <p:cNvPr id="27" name="吹き出し: 四角形 26">
            <a:extLst>
              <a:ext uri="{FF2B5EF4-FFF2-40B4-BE49-F238E27FC236}">
                <a16:creationId xmlns:a16="http://schemas.microsoft.com/office/drawing/2014/main" id="{B461B4BC-4370-A3BA-C466-B1D53B3971A5}"/>
              </a:ext>
            </a:extLst>
          </p:cNvPr>
          <p:cNvSpPr/>
          <p:nvPr/>
        </p:nvSpPr>
        <p:spPr>
          <a:xfrm>
            <a:off x="360000" y="4219190"/>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sp>
        <p:nvSpPr>
          <p:cNvPr id="28" name="矢印: 右 27">
            <a:extLst>
              <a:ext uri="{FF2B5EF4-FFF2-40B4-BE49-F238E27FC236}">
                <a16:creationId xmlns:a16="http://schemas.microsoft.com/office/drawing/2014/main" id="{BB423AC4-AE06-D463-84F8-3B6BD9A2F76F}"/>
              </a:ext>
            </a:extLst>
          </p:cNvPr>
          <p:cNvSpPr/>
          <p:nvPr/>
        </p:nvSpPr>
        <p:spPr>
          <a:xfrm>
            <a:off x="4018584" y="4435266"/>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647E9797-D48D-134E-2BEB-49BCDC69385C}"/>
              </a:ext>
            </a:extLst>
          </p:cNvPr>
          <p:cNvSpPr txBox="1"/>
          <p:nvPr/>
        </p:nvSpPr>
        <p:spPr>
          <a:xfrm>
            <a:off x="4437610" y="4219189"/>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30" name="テキスト ボックス 29">
            <a:extLst>
              <a:ext uri="{FF2B5EF4-FFF2-40B4-BE49-F238E27FC236}">
                <a16:creationId xmlns:a16="http://schemas.microsoft.com/office/drawing/2014/main" id="{12EB86BB-9D2F-CBA0-851A-C1BFFCD44E1C}"/>
              </a:ext>
            </a:extLst>
          </p:cNvPr>
          <p:cNvSpPr txBox="1"/>
          <p:nvPr/>
        </p:nvSpPr>
        <p:spPr>
          <a:xfrm>
            <a:off x="8229600" y="4219189"/>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31" name="グラフィックス 30" descr="男子生徒 枠線">
            <a:extLst>
              <a:ext uri="{FF2B5EF4-FFF2-40B4-BE49-F238E27FC236}">
                <a16:creationId xmlns:a16="http://schemas.microsoft.com/office/drawing/2014/main" id="{F7A7C52E-3A6D-BF1C-D448-3C84F877B27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4323618"/>
            <a:ext cx="654936" cy="654936"/>
          </a:xfrm>
          <a:prstGeom prst="rect">
            <a:avLst/>
          </a:prstGeom>
        </p:spPr>
      </p:pic>
      <p:sp>
        <p:nvSpPr>
          <p:cNvPr id="32" name="吹き出し: 四角形 31">
            <a:extLst>
              <a:ext uri="{FF2B5EF4-FFF2-40B4-BE49-F238E27FC236}">
                <a16:creationId xmlns:a16="http://schemas.microsoft.com/office/drawing/2014/main" id="{14665A1B-3AF7-B2B0-EFE1-61FF088188A5}"/>
              </a:ext>
            </a:extLst>
          </p:cNvPr>
          <p:cNvSpPr/>
          <p:nvPr/>
        </p:nvSpPr>
        <p:spPr>
          <a:xfrm>
            <a:off x="360000" y="5080578"/>
            <a:ext cx="2824927" cy="759370"/>
          </a:xfrm>
          <a:prstGeom prst="wedgeRectCallout">
            <a:avLst>
              <a:gd name="adj1" fmla="val 57364"/>
              <a:gd name="adj2" fmla="val -5343"/>
            </a:avLst>
          </a:prstGeom>
          <a:no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t" anchorCtr="0"/>
          <a:lstStyle/>
          <a:p>
            <a:pPr algn="l"/>
            <a:r>
              <a:rPr kumimoji="1" lang="ja-JP" altLang="en-US" sz="1200" dirty="0">
                <a:solidFill>
                  <a:schemeClr val="tx1"/>
                </a:solidFill>
                <a:latin typeface="BIZ UDPゴシック" panose="020B0400000000000000" pitchFamily="50" charset="-128"/>
                <a:ea typeface="BIZ UDPゴシック" panose="020B0400000000000000" pitchFamily="50" charset="-128"/>
              </a:rPr>
              <a:t>ブロック会議を通じて最新状況を引き続き共有してほしい</a:t>
            </a:r>
          </a:p>
        </p:txBody>
      </p:sp>
      <p:sp>
        <p:nvSpPr>
          <p:cNvPr id="33" name="矢印: 右 32">
            <a:extLst>
              <a:ext uri="{FF2B5EF4-FFF2-40B4-BE49-F238E27FC236}">
                <a16:creationId xmlns:a16="http://schemas.microsoft.com/office/drawing/2014/main" id="{D2A229E6-CA47-1C85-DDF1-ABCAD3505BFA}"/>
              </a:ext>
            </a:extLst>
          </p:cNvPr>
          <p:cNvSpPr/>
          <p:nvPr/>
        </p:nvSpPr>
        <p:spPr>
          <a:xfrm>
            <a:off x="4018584" y="5296654"/>
            <a:ext cx="270831" cy="327209"/>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71A2884B-8D0C-AC37-9FA5-7B8EF6131216}"/>
              </a:ext>
            </a:extLst>
          </p:cNvPr>
          <p:cNvSpPr txBox="1"/>
          <p:nvPr/>
        </p:nvSpPr>
        <p:spPr>
          <a:xfrm>
            <a:off x="4437610" y="5080577"/>
            <a:ext cx="3584171" cy="759366"/>
          </a:xfrm>
          <a:prstGeom prst="rect">
            <a:avLst/>
          </a:prstGeom>
          <a:solidFill>
            <a:schemeClr val="tx2">
              <a:lumMod val="25000"/>
              <a:lumOff val="75000"/>
            </a:schemeClr>
          </a:solid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35" name="テキスト ボックス 34">
            <a:extLst>
              <a:ext uri="{FF2B5EF4-FFF2-40B4-BE49-F238E27FC236}">
                <a16:creationId xmlns:a16="http://schemas.microsoft.com/office/drawing/2014/main" id="{F6731189-C719-99E9-4AB5-C8C4C46E3045}"/>
              </a:ext>
            </a:extLst>
          </p:cNvPr>
          <p:cNvSpPr txBox="1"/>
          <p:nvPr/>
        </p:nvSpPr>
        <p:spPr>
          <a:xfrm>
            <a:off x="8229600" y="5080577"/>
            <a:ext cx="3658867"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pic>
        <p:nvPicPr>
          <p:cNvPr id="36" name="グラフィックス 35" descr="男子生徒 枠線">
            <a:extLst>
              <a:ext uri="{FF2B5EF4-FFF2-40B4-BE49-F238E27FC236}">
                <a16:creationId xmlns:a16="http://schemas.microsoft.com/office/drawing/2014/main" id="{DA1D9E89-5915-EB23-05A6-8AD5A67B293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3122" y="5185006"/>
            <a:ext cx="654936" cy="654936"/>
          </a:xfrm>
          <a:prstGeom prst="rect">
            <a:avLst/>
          </a:prstGeom>
        </p:spPr>
      </p:pic>
    </p:spTree>
    <p:extLst>
      <p:ext uri="{BB962C8B-B14F-4D97-AF65-F5344CB8AC3E}">
        <p14:creationId xmlns:p14="http://schemas.microsoft.com/office/powerpoint/2010/main" val="39375920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D6A19AC-D42B-8636-52DD-7AFCC81E936C}"/>
              </a:ext>
            </a:extLst>
          </p:cNvPr>
          <p:cNvSpPr>
            <a:spLocks noGrp="1"/>
          </p:cNvSpPr>
          <p:nvPr>
            <p:ph type="title"/>
          </p:nvPr>
        </p:nvSpPr>
        <p:spPr/>
        <p:txBody>
          <a:bodyPr/>
          <a:lstStyle/>
          <a:p>
            <a:r>
              <a:rPr lang="en-US" altLang="ja-JP" dirty="0"/>
              <a:t>CN</a:t>
            </a:r>
            <a:r>
              <a:rPr lang="ja-JP" altLang="en-US" dirty="0"/>
              <a:t>対応のための組織</a:t>
            </a:r>
            <a:r>
              <a:rPr lang="en-US" altLang="ja-JP" dirty="0"/>
              <a:t>/</a:t>
            </a:r>
            <a:r>
              <a:rPr lang="ja-JP" altLang="en-US" dirty="0"/>
              <a:t>体制構築と人材育成</a:t>
            </a:r>
            <a:endParaRPr kumimoji="1" lang="ja-JP" altLang="en-US" dirty="0"/>
          </a:p>
        </p:txBody>
      </p:sp>
      <p:sp>
        <p:nvSpPr>
          <p:cNvPr id="3" name="フッター プレースホルダー 2">
            <a:extLst>
              <a:ext uri="{FF2B5EF4-FFF2-40B4-BE49-F238E27FC236}">
                <a16:creationId xmlns:a16="http://schemas.microsoft.com/office/drawing/2014/main" id="{3084C142-F2D9-0FB1-580D-7FF932CE3243}"/>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5F60C5E6-6FBA-A686-B1FC-04FCA59B9607}"/>
              </a:ext>
            </a:extLst>
          </p:cNvPr>
          <p:cNvSpPr>
            <a:spLocks noGrp="1"/>
          </p:cNvSpPr>
          <p:nvPr>
            <p:ph type="sldNum" sz="quarter" idx="12"/>
          </p:nvPr>
        </p:nvSpPr>
        <p:spPr/>
        <p:txBody>
          <a:bodyPr/>
          <a:lstStyle/>
          <a:p>
            <a:fld id="{DCB5AA93-092B-49A1-87A7-3C88D5F38AD7}" type="slidenum">
              <a:rPr lang="ja-JP" altLang="en-US" smtClean="0"/>
              <a:pPr/>
              <a:t>37</a:t>
            </a:fld>
            <a:endParaRPr lang="ja-JP" altLang="en-US" sz="900" dirty="0"/>
          </a:p>
        </p:txBody>
      </p:sp>
      <p:sp>
        <p:nvSpPr>
          <p:cNvPr id="5" name="テキスト プレースホルダー 4">
            <a:extLst>
              <a:ext uri="{FF2B5EF4-FFF2-40B4-BE49-F238E27FC236}">
                <a16:creationId xmlns:a16="http://schemas.microsoft.com/office/drawing/2014/main" id="{1B68BF15-0C93-942E-2526-F30E2FA3722E}"/>
              </a:ext>
            </a:extLst>
          </p:cNvPr>
          <p:cNvSpPr>
            <a:spLocks noGrp="1"/>
          </p:cNvSpPr>
          <p:nvPr>
            <p:ph type="body" sz="quarter" idx="13"/>
          </p:nvPr>
        </p:nvSpPr>
        <p:spPr/>
        <p:txBody>
          <a:bodyPr>
            <a:normAutofit fontScale="92500" lnSpcReduction="20000"/>
          </a:bodyPr>
          <a:lstStyle/>
          <a:p>
            <a:r>
              <a:rPr lang="ja-JP" altLang="en-US" dirty="0"/>
              <a:t>組織</a:t>
            </a:r>
            <a:r>
              <a:rPr lang="en-US" altLang="ja-JP" dirty="0"/>
              <a:t>/</a:t>
            </a:r>
            <a:r>
              <a:rPr lang="ja-JP" altLang="en-US" dirty="0"/>
              <a:t>体制構築においては、社や部門をまたいだ取り組みが重要。人材育成では社員の意識と対応能力の両方の向上が重要になると理解</a:t>
            </a:r>
          </a:p>
        </p:txBody>
      </p:sp>
      <p:cxnSp>
        <p:nvCxnSpPr>
          <p:cNvPr id="6" name="直線コネクタ 5">
            <a:extLst>
              <a:ext uri="{FF2B5EF4-FFF2-40B4-BE49-F238E27FC236}">
                <a16:creationId xmlns:a16="http://schemas.microsoft.com/office/drawing/2014/main" id="{716F1C16-1D8F-6B15-16EE-3F1BF5662768}"/>
              </a:ext>
            </a:extLst>
          </p:cNvPr>
          <p:cNvCxnSpPr>
            <a:cxnSpLocks/>
          </p:cNvCxnSpPr>
          <p:nvPr/>
        </p:nvCxnSpPr>
        <p:spPr>
          <a:xfrm>
            <a:off x="2078182" y="1572075"/>
            <a:ext cx="4559533"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2A146567-1BA5-A8E5-F176-BCFDCED96713}"/>
              </a:ext>
            </a:extLst>
          </p:cNvPr>
          <p:cNvSpPr txBox="1"/>
          <p:nvPr/>
        </p:nvSpPr>
        <p:spPr>
          <a:xfrm>
            <a:off x="2078181" y="1303585"/>
            <a:ext cx="1103223" cy="215444"/>
          </a:xfrm>
          <a:prstGeom prst="rect">
            <a:avLst/>
          </a:prstGeom>
          <a:solidFill>
            <a:schemeClr val="bg1"/>
          </a:solid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 現状</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課題</a:t>
            </a:r>
          </a:p>
        </p:txBody>
      </p:sp>
      <p:cxnSp>
        <p:nvCxnSpPr>
          <p:cNvPr id="8" name="直線コネクタ 7">
            <a:extLst>
              <a:ext uri="{FF2B5EF4-FFF2-40B4-BE49-F238E27FC236}">
                <a16:creationId xmlns:a16="http://schemas.microsoft.com/office/drawing/2014/main" id="{1E71B9F4-3156-3C84-3B74-843634637972}"/>
              </a:ext>
            </a:extLst>
          </p:cNvPr>
          <p:cNvCxnSpPr>
            <a:cxnSpLocks/>
          </p:cNvCxnSpPr>
          <p:nvPr/>
        </p:nvCxnSpPr>
        <p:spPr>
          <a:xfrm>
            <a:off x="7146422" y="1572075"/>
            <a:ext cx="4637594"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97625157-D70A-0A83-DE8F-C94A236F5DF8}"/>
              </a:ext>
            </a:extLst>
          </p:cNvPr>
          <p:cNvSpPr txBox="1"/>
          <p:nvPr/>
        </p:nvSpPr>
        <p:spPr>
          <a:xfrm>
            <a:off x="7146422" y="1297969"/>
            <a:ext cx="469205" cy="215444"/>
          </a:xfrm>
          <a:prstGeom prst="rect">
            <a:avLst/>
          </a:prstGeom>
          <a:solidFill>
            <a:schemeClr val="bg1"/>
          </a:solid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施策</a:t>
            </a:r>
          </a:p>
        </p:txBody>
      </p:sp>
      <p:sp>
        <p:nvSpPr>
          <p:cNvPr id="10" name="テキスト ボックス 9">
            <a:extLst>
              <a:ext uri="{FF2B5EF4-FFF2-40B4-BE49-F238E27FC236}">
                <a16:creationId xmlns:a16="http://schemas.microsoft.com/office/drawing/2014/main" id="{6A22E09E-15F2-A4E9-74FD-3D39D414DAC4}"/>
              </a:ext>
            </a:extLst>
          </p:cNvPr>
          <p:cNvSpPr txBox="1"/>
          <p:nvPr/>
        </p:nvSpPr>
        <p:spPr>
          <a:xfrm>
            <a:off x="2078181" y="1628774"/>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en-US" altLang="ja-JP" sz="1200" dirty="0">
                <a:latin typeface="BIZ UDPゴシック" panose="020B0400000000000000" pitchFamily="50" charset="-128"/>
                <a:ea typeface="BIZ UDPゴシック" panose="020B0400000000000000" pitchFamily="50" charset="-128"/>
              </a:rPr>
              <a:t>SC</a:t>
            </a:r>
            <a:r>
              <a:rPr kumimoji="1" lang="ja-JP" altLang="en-US" sz="1200" dirty="0">
                <a:latin typeface="BIZ UDPゴシック" panose="020B0400000000000000" pitchFamily="50" charset="-128"/>
                <a:ea typeface="BIZ UDPゴシック" panose="020B0400000000000000" pitchFamily="50" charset="-128"/>
              </a:rPr>
              <a:t>上位からの</a:t>
            </a:r>
            <a:r>
              <a:rPr kumimoji="1" lang="ja-JP" altLang="en-US" sz="1200" b="1" dirty="0">
                <a:latin typeface="BIZ UDPゴシック" panose="020B0400000000000000" pitchFamily="50" charset="-128"/>
                <a:ea typeface="BIZ UDPゴシック" panose="020B0400000000000000" pitchFamily="50" charset="-128"/>
              </a:rPr>
              <a:t>業績</a:t>
            </a:r>
            <a:r>
              <a:rPr kumimoji="1" lang="en-US" altLang="ja-JP" sz="1200" b="1" dirty="0">
                <a:latin typeface="BIZ UDPゴシック" panose="020B0400000000000000" pitchFamily="50" charset="-128"/>
                <a:ea typeface="BIZ UDPゴシック" panose="020B0400000000000000" pitchFamily="50" charset="-128"/>
              </a:rPr>
              <a:t>/</a:t>
            </a:r>
            <a:r>
              <a:rPr kumimoji="1" lang="ja-JP" altLang="en-US" sz="1200" b="1" dirty="0">
                <a:latin typeface="BIZ UDPゴシック" panose="020B0400000000000000" pitchFamily="50" charset="-128"/>
                <a:ea typeface="BIZ UDPゴシック" panose="020B0400000000000000" pitchFamily="50" charset="-128"/>
              </a:rPr>
              <a:t>経営判断がないと</a:t>
            </a:r>
            <a:r>
              <a:rPr kumimoji="1" lang="ja-JP" altLang="en-US" sz="1200" dirty="0">
                <a:latin typeface="BIZ UDPゴシック" panose="020B0400000000000000" pitchFamily="50" charset="-128"/>
                <a:ea typeface="BIZ UDPゴシック" panose="020B0400000000000000" pitchFamily="50" charset="-128"/>
              </a:rPr>
              <a:t>取り込みが浸透しない。理解の促進が必要</a:t>
            </a:r>
            <a:endParaRPr kumimoji="1" lang="en-US" altLang="ja-JP" sz="12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サプライヤーに対する支援がスポット的になっている</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53A57E3C-AEFA-EA55-90C1-BD9BC84098B6}"/>
              </a:ext>
            </a:extLst>
          </p:cNvPr>
          <p:cNvSpPr txBox="1"/>
          <p:nvPr/>
        </p:nvSpPr>
        <p:spPr>
          <a:xfrm>
            <a:off x="7182194" y="1628774"/>
            <a:ext cx="4706273" cy="759365"/>
          </a:xfrm>
          <a:prstGeom prst="rect">
            <a:avLst/>
          </a:prstGeom>
          <a:noFill/>
        </p:spPr>
        <p:txBody>
          <a:bodyPr wrap="square" lIns="0" tIns="0" rIns="0" bIns="0" rtlCol="0" anchor="t" anchorCtr="0">
            <a:noAutofit/>
          </a:bodyPr>
          <a:lstStyle/>
          <a:p>
            <a:pPr algn="l"/>
            <a:r>
              <a:rPr lang="ja-JP" altLang="en-US" sz="1200" dirty="0">
                <a:latin typeface="BIZ UDPゴシック" panose="020B0400000000000000" pitchFamily="50" charset="-128"/>
                <a:ea typeface="BIZ UDPゴシック" panose="020B0400000000000000" pitchFamily="50" charset="-128"/>
              </a:rPr>
              <a:t>メーカーとサプライヤーなど、</a:t>
            </a:r>
            <a:r>
              <a:rPr lang="en-US" altLang="ja-JP" sz="1200" dirty="0">
                <a:latin typeface="BIZ UDPゴシック" panose="020B0400000000000000" pitchFamily="50" charset="-128"/>
                <a:ea typeface="BIZ UDPゴシック" panose="020B0400000000000000" pitchFamily="50" charset="-128"/>
              </a:rPr>
              <a:t>SC</a:t>
            </a:r>
            <a:r>
              <a:rPr lang="ja-JP" altLang="en-US" sz="1200" dirty="0">
                <a:latin typeface="BIZ UDPゴシック" panose="020B0400000000000000" pitchFamily="50" charset="-128"/>
                <a:ea typeface="BIZ UDPゴシック" panose="020B0400000000000000" pitchFamily="50" charset="-128"/>
              </a:rPr>
              <a:t>上の企業が連携した</a:t>
            </a:r>
            <a:r>
              <a:rPr lang="en-US" altLang="ja-JP" sz="1200" dirty="0">
                <a:latin typeface="BIZ UDPゴシック" panose="020B0400000000000000" pitchFamily="50" charset="-128"/>
                <a:ea typeface="BIZ UDPゴシック" panose="020B0400000000000000" pitchFamily="50" charset="-128"/>
              </a:rPr>
              <a:t>CN</a:t>
            </a:r>
            <a:r>
              <a:rPr lang="ja-JP" altLang="en-US" sz="1200" dirty="0">
                <a:latin typeface="BIZ UDPゴシック" panose="020B0400000000000000" pitchFamily="50" charset="-128"/>
                <a:ea typeface="BIZ UDPゴシック" panose="020B0400000000000000" pitchFamily="50" charset="-128"/>
              </a:rPr>
              <a:t>対応を進められるよう、企業間連携を促進させる体制を構築させる必要がある</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45511CF-2A5E-6562-DEE5-F2E3C3478DC7}"/>
              </a:ext>
            </a:extLst>
          </p:cNvPr>
          <p:cNvSpPr txBox="1"/>
          <p:nvPr/>
        </p:nvSpPr>
        <p:spPr>
          <a:xfrm>
            <a:off x="2078181" y="2497342"/>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3" name="テキスト ボックス 12">
            <a:extLst>
              <a:ext uri="{FF2B5EF4-FFF2-40B4-BE49-F238E27FC236}">
                <a16:creationId xmlns:a16="http://schemas.microsoft.com/office/drawing/2014/main" id="{1928D7C0-253F-89B3-4042-20AB54A73B87}"/>
              </a:ext>
            </a:extLst>
          </p:cNvPr>
          <p:cNvSpPr txBox="1"/>
          <p:nvPr/>
        </p:nvSpPr>
        <p:spPr>
          <a:xfrm>
            <a:off x="7182194" y="2497342"/>
            <a:ext cx="4706273"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sp>
        <p:nvSpPr>
          <p:cNvPr id="14" name="テキスト ボックス 13">
            <a:extLst>
              <a:ext uri="{FF2B5EF4-FFF2-40B4-BE49-F238E27FC236}">
                <a16:creationId xmlns:a16="http://schemas.microsoft.com/office/drawing/2014/main" id="{99AFD533-D106-0997-6AAD-CD794D760E4A}"/>
              </a:ext>
            </a:extLst>
          </p:cNvPr>
          <p:cNvSpPr txBox="1"/>
          <p:nvPr/>
        </p:nvSpPr>
        <p:spPr>
          <a:xfrm>
            <a:off x="2078181" y="3358730"/>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5" name="テキスト ボックス 14">
            <a:extLst>
              <a:ext uri="{FF2B5EF4-FFF2-40B4-BE49-F238E27FC236}">
                <a16:creationId xmlns:a16="http://schemas.microsoft.com/office/drawing/2014/main" id="{CA0E51E4-EFD9-E13C-6DC7-94845B5DE3F8}"/>
              </a:ext>
            </a:extLst>
          </p:cNvPr>
          <p:cNvSpPr txBox="1"/>
          <p:nvPr/>
        </p:nvSpPr>
        <p:spPr>
          <a:xfrm>
            <a:off x="7182194" y="3358730"/>
            <a:ext cx="4706273"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sp>
        <p:nvSpPr>
          <p:cNvPr id="16" name="テキスト ボックス 15">
            <a:extLst>
              <a:ext uri="{FF2B5EF4-FFF2-40B4-BE49-F238E27FC236}">
                <a16:creationId xmlns:a16="http://schemas.microsoft.com/office/drawing/2014/main" id="{7D66FA22-5103-64D9-18BD-C31E598A1F02}"/>
              </a:ext>
            </a:extLst>
          </p:cNvPr>
          <p:cNvSpPr txBox="1"/>
          <p:nvPr/>
        </p:nvSpPr>
        <p:spPr>
          <a:xfrm>
            <a:off x="2078181" y="4219189"/>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7" name="テキスト ボックス 16">
            <a:extLst>
              <a:ext uri="{FF2B5EF4-FFF2-40B4-BE49-F238E27FC236}">
                <a16:creationId xmlns:a16="http://schemas.microsoft.com/office/drawing/2014/main" id="{4062E25F-CEBA-5B8B-D1FD-769694ACC1EF}"/>
              </a:ext>
            </a:extLst>
          </p:cNvPr>
          <p:cNvSpPr txBox="1"/>
          <p:nvPr/>
        </p:nvSpPr>
        <p:spPr>
          <a:xfrm>
            <a:off x="7182194" y="4219189"/>
            <a:ext cx="4706273"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sp>
        <p:nvSpPr>
          <p:cNvPr id="18" name="テキスト ボックス 17">
            <a:extLst>
              <a:ext uri="{FF2B5EF4-FFF2-40B4-BE49-F238E27FC236}">
                <a16:creationId xmlns:a16="http://schemas.microsoft.com/office/drawing/2014/main" id="{65984408-69DC-F581-8C3A-EE3543253FAB}"/>
              </a:ext>
            </a:extLst>
          </p:cNvPr>
          <p:cNvSpPr txBox="1"/>
          <p:nvPr/>
        </p:nvSpPr>
        <p:spPr>
          <a:xfrm>
            <a:off x="2078181" y="5080577"/>
            <a:ext cx="4559533" cy="759366"/>
          </a:xfrm>
          <a:prstGeom prst="rect">
            <a:avLst/>
          </a:prstGeom>
          <a:noFill/>
        </p:spPr>
        <p:txBody>
          <a:bodyPr wrap="square" lIns="0" tIns="0" rIns="0" bIns="0" rtlCol="0" anchor="t" anchorCtr="0">
            <a:noAutofit/>
          </a:bodyPr>
          <a:lstStyle/>
          <a:p>
            <a:pPr marL="182563" indent="-182563" algn="l">
              <a:buFont typeface="Arial" panose="020B0604020202020204" pitchFamily="34" charset="0"/>
              <a:buChar char="•"/>
            </a:pPr>
            <a:r>
              <a:rPr kumimoji="1" lang="ja-JP" altLang="en-US" sz="1200" dirty="0">
                <a:latin typeface="BIZ UDPゴシック" panose="020B0400000000000000" pitchFamily="50" charset="-128"/>
                <a:ea typeface="BIZ UDPゴシック" panose="020B0400000000000000" pitchFamily="50" charset="-128"/>
              </a:rPr>
              <a:t>ブロック会議、疑似体験への参加</a:t>
            </a:r>
          </a:p>
        </p:txBody>
      </p:sp>
      <p:sp>
        <p:nvSpPr>
          <p:cNvPr id="19" name="テキスト ボックス 18">
            <a:extLst>
              <a:ext uri="{FF2B5EF4-FFF2-40B4-BE49-F238E27FC236}">
                <a16:creationId xmlns:a16="http://schemas.microsoft.com/office/drawing/2014/main" id="{D3BEC0E5-A358-6EF1-3375-19FF61C01DE3}"/>
              </a:ext>
            </a:extLst>
          </p:cNvPr>
          <p:cNvSpPr txBox="1"/>
          <p:nvPr/>
        </p:nvSpPr>
        <p:spPr>
          <a:xfrm>
            <a:off x="7182194" y="5080577"/>
            <a:ext cx="4706273" cy="759365"/>
          </a:xfrm>
          <a:prstGeom prst="rect">
            <a:avLst/>
          </a:prstGeom>
          <a:noFill/>
        </p:spPr>
        <p:txBody>
          <a:bodyPr wrap="square" lIns="0" tIns="0" rIns="0" bIns="0" rtlCol="0" anchor="t" anchorCtr="0">
            <a:noAutofit/>
          </a:bodyPr>
          <a:lstStyle/>
          <a:p>
            <a:pPr algn="l"/>
            <a:r>
              <a:rPr kumimoji="1" lang="ja-JP" altLang="en-US" sz="1200" dirty="0">
                <a:latin typeface="BIZ UDPゴシック" panose="020B0400000000000000" pitchFamily="50" charset="-128"/>
                <a:ea typeface="BIZ UDPゴシック" panose="020B0400000000000000" pitchFamily="50" charset="-128"/>
              </a:rPr>
              <a:t>次年度以降も継続して実施するブロック会議や疑似体験をよびかける。またブロック会議内で自治体にパネルディスカッションに登壇してもらい、課題の共有とその対処方針を全体に共有する。</a:t>
            </a:r>
          </a:p>
        </p:txBody>
      </p:sp>
      <p:sp>
        <p:nvSpPr>
          <p:cNvPr id="20" name="テキスト ボックス 19">
            <a:extLst>
              <a:ext uri="{FF2B5EF4-FFF2-40B4-BE49-F238E27FC236}">
                <a16:creationId xmlns:a16="http://schemas.microsoft.com/office/drawing/2014/main" id="{E53E0B16-338B-BA8B-928A-EE7C7FC63C57}"/>
              </a:ext>
            </a:extLst>
          </p:cNvPr>
          <p:cNvSpPr txBox="1"/>
          <p:nvPr/>
        </p:nvSpPr>
        <p:spPr>
          <a:xfrm>
            <a:off x="360000" y="1628773"/>
            <a:ext cx="340155" cy="2425911"/>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組織</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体制構築</a:t>
            </a:r>
          </a:p>
        </p:txBody>
      </p:sp>
      <p:sp>
        <p:nvSpPr>
          <p:cNvPr id="21" name="テキスト ボックス 20">
            <a:extLst>
              <a:ext uri="{FF2B5EF4-FFF2-40B4-BE49-F238E27FC236}">
                <a16:creationId xmlns:a16="http://schemas.microsoft.com/office/drawing/2014/main" id="{4126DD53-2832-CCEB-3E14-BB042E02F029}"/>
              </a:ext>
            </a:extLst>
          </p:cNvPr>
          <p:cNvSpPr txBox="1"/>
          <p:nvPr/>
        </p:nvSpPr>
        <p:spPr>
          <a:xfrm>
            <a:off x="360000" y="4149725"/>
            <a:ext cx="340155" cy="1800226"/>
          </a:xfrm>
          <a:prstGeom prst="rect">
            <a:avLst/>
          </a:prstGeom>
          <a:solidFill>
            <a:schemeClr val="tx2">
              <a:lumMod val="25000"/>
              <a:lumOff val="75000"/>
            </a:schemeClr>
          </a:solidFill>
        </p:spPr>
        <p:txBody>
          <a:bodyPr vert="eaVert" wrap="square" lIns="0" tIns="0" rIns="0" bIns="0" rtlCol="0" anchor="ctr" anchorCtr="1">
            <a:noAutofit/>
          </a:bodyPr>
          <a:lstStyle/>
          <a:p>
            <a:pPr algn="l"/>
            <a:r>
              <a:rPr kumimoji="1" lang="ja-JP" altLang="en-US" sz="1400" dirty="0">
                <a:latin typeface="BIZ UDPゴシック" panose="020B0400000000000000" pitchFamily="50" charset="-128"/>
                <a:ea typeface="BIZ UDPゴシック" panose="020B0400000000000000" pitchFamily="50" charset="-128"/>
              </a:rPr>
              <a:t>組織</a:t>
            </a:r>
            <a:r>
              <a:rPr kumimoji="1" lang="en-US" altLang="ja-JP" sz="1400" dirty="0">
                <a:latin typeface="BIZ UDPゴシック" panose="020B0400000000000000" pitchFamily="50" charset="-128"/>
                <a:ea typeface="BIZ UDPゴシック" panose="020B0400000000000000" pitchFamily="50" charset="-128"/>
              </a:rPr>
              <a:t>/</a:t>
            </a:r>
            <a:r>
              <a:rPr kumimoji="1" lang="ja-JP" altLang="en-US" sz="1400" dirty="0">
                <a:latin typeface="BIZ UDPゴシック" panose="020B0400000000000000" pitchFamily="50" charset="-128"/>
                <a:ea typeface="BIZ UDPゴシック" panose="020B0400000000000000" pitchFamily="50" charset="-128"/>
              </a:rPr>
              <a:t>体制構築</a:t>
            </a:r>
          </a:p>
        </p:txBody>
      </p:sp>
      <p:sp>
        <p:nvSpPr>
          <p:cNvPr id="22" name="正方形/長方形 21">
            <a:extLst>
              <a:ext uri="{FF2B5EF4-FFF2-40B4-BE49-F238E27FC236}">
                <a16:creationId xmlns:a16="http://schemas.microsoft.com/office/drawing/2014/main" id="{4179B21E-ED25-29EB-CD96-48DB6FE440BD}"/>
              </a:ext>
            </a:extLst>
          </p:cNvPr>
          <p:cNvSpPr/>
          <p:nvPr/>
        </p:nvSpPr>
        <p:spPr>
          <a:xfrm>
            <a:off x="955963" y="1652866"/>
            <a:ext cx="914400" cy="71118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en-US" altLang="ja-JP" sz="1400" dirty="0">
                <a:solidFill>
                  <a:schemeClr val="bg1"/>
                </a:solidFill>
                <a:latin typeface="BIZ UDPゴシック" panose="020B0400000000000000" pitchFamily="50" charset="-128"/>
                <a:ea typeface="BIZ UDPゴシック" panose="020B0400000000000000" pitchFamily="50" charset="-128"/>
              </a:rPr>
              <a:t>SC</a:t>
            </a:r>
            <a:r>
              <a:rPr kumimoji="1" lang="ja-JP" altLang="en-US" sz="1400" dirty="0">
                <a:solidFill>
                  <a:schemeClr val="bg1"/>
                </a:solidFill>
                <a:latin typeface="BIZ UDPゴシック" panose="020B0400000000000000" pitchFamily="50" charset="-128"/>
                <a:ea typeface="BIZ UDPゴシック" panose="020B0400000000000000" pitchFamily="50" charset="-128"/>
              </a:rPr>
              <a:t>上での</a:t>
            </a:r>
            <a:endParaRPr kumimoji="1"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en-US" altLang="ja-JP" sz="1400" dirty="0">
                <a:solidFill>
                  <a:schemeClr val="bg1"/>
                </a:solidFill>
                <a:latin typeface="BIZ UDPゴシック" panose="020B0400000000000000" pitchFamily="50" charset="-128"/>
                <a:ea typeface="BIZ UDPゴシック" panose="020B0400000000000000" pitchFamily="50" charset="-128"/>
              </a:rPr>
              <a:t>CN</a:t>
            </a:r>
            <a:r>
              <a:rPr lang="ja-JP" altLang="en-US" sz="1400" dirty="0">
                <a:solidFill>
                  <a:schemeClr val="bg1"/>
                </a:solidFill>
                <a:latin typeface="BIZ UDPゴシック" panose="020B0400000000000000" pitchFamily="50" charset="-128"/>
                <a:ea typeface="BIZ UDPゴシック" panose="020B0400000000000000" pitchFamily="50" charset="-128"/>
              </a:rPr>
              <a:t>推進</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r>
              <a:rPr kumimoji="1" lang="ja-JP" altLang="en-US" sz="1400" dirty="0">
                <a:solidFill>
                  <a:schemeClr val="bg1"/>
                </a:solidFill>
                <a:latin typeface="BIZ UDPゴシック" panose="020B0400000000000000" pitchFamily="50" charset="-128"/>
                <a:ea typeface="BIZ UDPゴシック" panose="020B0400000000000000" pitchFamily="50" charset="-128"/>
              </a:rPr>
              <a:t>他社連携</a:t>
            </a: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3" name="正方形/長方形 22">
            <a:extLst>
              <a:ext uri="{FF2B5EF4-FFF2-40B4-BE49-F238E27FC236}">
                <a16:creationId xmlns:a16="http://schemas.microsoft.com/office/drawing/2014/main" id="{1183FDB2-8559-F3B6-DA13-600FD7FB1062}"/>
              </a:ext>
            </a:extLst>
          </p:cNvPr>
          <p:cNvSpPr/>
          <p:nvPr/>
        </p:nvSpPr>
        <p:spPr>
          <a:xfrm>
            <a:off x="955963" y="2497342"/>
            <a:ext cx="914400" cy="71118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部門横断</a:t>
            </a:r>
            <a:endParaRPr kumimoji="1"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bg1"/>
                </a:solidFill>
                <a:latin typeface="BIZ UDPゴシック" panose="020B0400000000000000" pitchFamily="50" charset="-128"/>
                <a:ea typeface="BIZ UDPゴシック" panose="020B0400000000000000" pitchFamily="50" charset="-128"/>
              </a:rPr>
              <a:t>対応</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r>
              <a:rPr kumimoji="1" lang="ja-JP" altLang="en-US" sz="1400" dirty="0">
                <a:solidFill>
                  <a:schemeClr val="bg1"/>
                </a:solidFill>
                <a:latin typeface="BIZ UDPゴシック" panose="020B0400000000000000" pitchFamily="50" charset="-128"/>
                <a:ea typeface="BIZ UDPゴシック" panose="020B0400000000000000" pitchFamily="50" charset="-128"/>
              </a:rPr>
              <a:t>各社対応</a:t>
            </a: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4" name="正方形/長方形 23">
            <a:extLst>
              <a:ext uri="{FF2B5EF4-FFF2-40B4-BE49-F238E27FC236}">
                <a16:creationId xmlns:a16="http://schemas.microsoft.com/office/drawing/2014/main" id="{23FADE62-265D-8BA9-3017-108EDCE84C35}"/>
              </a:ext>
            </a:extLst>
          </p:cNvPr>
          <p:cNvSpPr/>
          <p:nvPr/>
        </p:nvSpPr>
        <p:spPr>
          <a:xfrm>
            <a:off x="955963" y="3343505"/>
            <a:ext cx="914400" cy="71118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企業</a:t>
            </a: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r>
              <a:rPr kumimoji="1" lang="ja-JP" altLang="en-US" sz="1400" dirty="0">
                <a:solidFill>
                  <a:schemeClr val="bg1"/>
                </a:solidFill>
                <a:latin typeface="BIZ UDPゴシック" panose="020B0400000000000000" pitchFamily="50" charset="-128"/>
                <a:ea typeface="BIZ UDPゴシック" panose="020B0400000000000000" pitchFamily="50" charset="-128"/>
              </a:rPr>
              <a:t>製品</a:t>
            </a:r>
            <a:endParaRPr kumimoji="1"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bg1"/>
                </a:solidFill>
                <a:latin typeface="BIZ UDPゴシック" panose="020B0400000000000000" pitchFamily="50" charset="-128"/>
                <a:ea typeface="BIZ UDPゴシック" panose="020B0400000000000000" pitchFamily="50" charset="-128"/>
              </a:rPr>
              <a:t>ブランド</a:t>
            </a:r>
            <a:endParaRPr lang="en-US" altLang="ja-JP" sz="1400" dirty="0">
              <a:solidFill>
                <a:schemeClr val="bg1"/>
              </a:solidFill>
              <a:latin typeface="BIZ UDPゴシック" panose="020B0400000000000000" pitchFamily="50" charset="-128"/>
              <a:ea typeface="BIZ UDPゴシック" panose="020B0400000000000000" pitchFamily="50" charset="-128"/>
            </a:endParaRPr>
          </a:p>
          <a:p>
            <a:pPr algn="ct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r>
              <a:rPr kumimoji="1" lang="ja-JP" altLang="en-US" sz="1400" dirty="0">
                <a:solidFill>
                  <a:schemeClr val="bg1"/>
                </a:solidFill>
                <a:latin typeface="BIZ UDPゴシック" panose="020B0400000000000000" pitchFamily="50" charset="-128"/>
                <a:ea typeface="BIZ UDPゴシック" panose="020B0400000000000000" pitchFamily="50" charset="-128"/>
              </a:rPr>
              <a:t>各社対応</a:t>
            </a:r>
            <a:r>
              <a:rPr kumimoji="1" lang="en-US" altLang="ja-JP" sz="1400" dirty="0">
                <a:solidFill>
                  <a:schemeClr val="bg1"/>
                </a:solidFill>
                <a:latin typeface="BIZ UDPゴシック" panose="020B0400000000000000" pitchFamily="50" charset="-128"/>
                <a:ea typeface="BIZ UDPゴシック" panose="020B0400000000000000" pitchFamily="50" charset="-128"/>
              </a:rPr>
              <a:t>)</a:t>
            </a:r>
            <a:endParaRPr kumimoji="1" lang="ja-JP" altLang="en-US" sz="1400" dirty="0">
              <a:solidFill>
                <a:schemeClr val="bg1"/>
              </a:solidFill>
              <a:latin typeface="BIZ UDPゴシック" panose="020B0400000000000000" pitchFamily="50" charset="-128"/>
              <a:ea typeface="BIZ UDPゴシック" panose="020B0400000000000000" pitchFamily="50" charset="-128"/>
            </a:endParaRPr>
          </a:p>
        </p:txBody>
      </p:sp>
      <p:sp>
        <p:nvSpPr>
          <p:cNvPr id="25" name="正方形/長方形 24">
            <a:extLst>
              <a:ext uri="{FF2B5EF4-FFF2-40B4-BE49-F238E27FC236}">
                <a16:creationId xmlns:a16="http://schemas.microsoft.com/office/drawing/2014/main" id="{9DDC61FC-EAB0-0861-B240-1DD3FA82538D}"/>
              </a:ext>
            </a:extLst>
          </p:cNvPr>
          <p:cNvSpPr/>
          <p:nvPr/>
        </p:nvSpPr>
        <p:spPr>
          <a:xfrm>
            <a:off x="955963" y="4143358"/>
            <a:ext cx="914400" cy="71118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サプライヤー向け対応</a:t>
            </a:r>
          </a:p>
        </p:txBody>
      </p:sp>
      <p:sp>
        <p:nvSpPr>
          <p:cNvPr id="26" name="正方形/長方形 25">
            <a:extLst>
              <a:ext uri="{FF2B5EF4-FFF2-40B4-BE49-F238E27FC236}">
                <a16:creationId xmlns:a16="http://schemas.microsoft.com/office/drawing/2014/main" id="{7A672DA6-037C-AEE3-B83E-C395A14A8B07}"/>
              </a:ext>
            </a:extLst>
          </p:cNvPr>
          <p:cNvSpPr/>
          <p:nvPr/>
        </p:nvSpPr>
        <p:spPr>
          <a:xfrm>
            <a:off x="955963" y="4943210"/>
            <a:ext cx="914400" cy="46193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社員の意識向上</a:t>
            </a:r>
          </a:p>
        </p:txBody>
      </p:sp>
      <p:sp>
        <p:nvSpPr>
          <p:cNvPr id="27" name="正方形/長方形 26">
            <a:extLst>
              <a:ext uri="{FF2B5EF4-FFF2-40B4-BE49-F238E27FC236}">
                <a16:creationId xmlns:a16="http://schemas.microsoft.com/office/drawing/2014/main" id="{3FA84C52-A589-4B41-D1FE-83D2C0D74620}"/>
              </a:ext>
            </a:extLst>
          </p:cNvPr>
          <p:cNvSpPr/>
          <p:nvPr/>
        </p:nvSpPr>
        <p:spPr>
          <a:xfrm>
            <a:off x="955963" y="5480996"/>
            <a:ext cx="914400" cy="461930"/>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社員の対応能力向上</a:t>
            </a:r>
          </a:p>
        </p:txBody>
      </p:sp>
      <p:sp>
        <p:nvSpPr>
          <p:cNvPr id="29" name="楕円 28">
            <a:extLst>
              <a:ext uri="{FF2B5EF4-FFF2-40B4-BE49-F238E27FC236}">
                <a16:creationId xmlns:a16="http://schemas.microsoft.com/office/drawing/2014/main" id="{B25536F1-10DE-F311-BE19-6954E397ECD7}"/>
              </a:ext>
            </a:extLst>
          </p:cNvPr>
          <p:cNvSpPr/>
          <p:nvPr/>
        </p:nvSpPr>
        <p:spPr>
          <a:xfrm>
            <a:off x="6788158" y="1463528"/>
            <a:ext cx="207818" cy="216000"/>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1400" dirty="0">
                <a:solidFill>
                  <a:schemeClr val="tx1"/>
                </a:solidFill>
                <a:latin typeface="BIZ UDPゴシック" panose="020B0400000000000000" pitchFamily="50" charset="-128"/>
                <a:ea typeface="BIZ UDPゴシック" panose="020B0400000000000000" pitchFamily="50" charset="-128"/>
              </a:rPr>
              <a:t>&gt;</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801018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B17BF-38ED-586D-9D2E-7CCE192C258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E748F95-1D1E-29C7-118D-B6ADED82C3A0}"/>
              </a:ext>
            </a:extLst>
          </p:cNvPr>
          <p:cNvSpPr>
            <a:spLocks noGrp="1"/>
          </p:cNvSpPr>
          <p:nvPr>
            <p:ph type="ctrTitle"/>
          </p:nvPr>
        </p:nvSpPr>
        <p:spPr/>
        <p:txBody>
          <a:bodyPr/>
          <a:lstStyle/>
          <a:p>
            <a:r>
              <a:rPr lang="ja-JP" altLang="en-US" dirty="0"/>
              <a:t>集計</a:t>
            </a:r>
            <a:endParaRPr kumimoji="1" lang="ja-JP" altLang="en-US" dirty="0"/>
          </a:p>
        </p:txBody>
      </p:sp>
      <p:sp>
        <p:nvSpPr>
          <p:cNvPr id="3" name="字幕 2">
            <a:extLst>
              <a:ext uri="{FF2B5EF4-FFF2-40B4-BE49-F238E27FC236}">
                <a16:creationId xmlns:a16="http://schemas.microsoft.com/office/drawing/2014/main" id="{1762CB33-AF32-3B4F-3D3C-F3AE4022158F}"/>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84DCBBA9-436C-272C-ADB2-2290B8B59365}"/>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38</a:t>
            </a:fld>
            <a:endParaRPr lang="ja-JP" altLang="en-US"/>
          </a:p>
        </p:txBody>
      </p:sp>
      <p:sp>
        <p:nvSpPr>
          <p:cNvPr id="5" name="フッター プレースホルダー 4">
            <a:extLst>
              <a:ext uri="{FF2B5EF4-FFF2-40B4-BE49-F238E27FC236}">
                <a16:creationId xmlns:a16="http://schemas.microsoft.com/office/drawing/2014/main" id="{194EE114-41ED-AEC8-FC63-3236FCD933A1}"/>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2842055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BCC9961-09EB-58E4-1745-6441EAD8A5ED}"/>
              </a:ext>
            </a:extLst>
          </p:cNvPr>
          <p:cNvSpPr>
            <a:spLocks noGrp="1"/>
          </p:cNvSpPr>
          <p:nvPr>
            <p:ph type="title"/>
          </p:nvPr>
        </p:nvSpPr>
        <p:spPr/>
        <p:txBody>
          <a:bodyPr/>
          <a:lstStyle/>
          <a:p>
            <a:r>
              <a:rPr lang="ja-JP" altLang="en-US" dirty="0"/>
              <a:t>各国企業における事業機会と連携の課題</a:t>
            </a:r>
            <a:endParaRPr kumimoji="1" lang="ja-JP" altLang="en-US" dirty="0"/>
          </a:p>
        </p:txBody>
      </p:sp>
      <p:sp>
        <p:nvSpPr>
          <p:cNvPr id="3" name="フッター プレースホルダー 2">
            <a:extLst>
              <a:ext uri="{FF2B5EF4-FFF2-40B4-BE49-F238E27FC236}">
                <a16:creationId xmlns:a16="http://schemas.microsoft.com/office/drawing/2014/main" id="{4E474B14-73B5-7D18-D770-FF26127E1205}"/>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A826A6AE-F37A-8D3F-8DA5-8F715D2475E8}"/>
              </a:ext>
            </a:extLst>
          </p:cNvPr>
          <p:cNvSpPr>
            <a:spLocks noGrp="1"/>
          </p:cNvSpPr>
          <p:nvPr>
            <p:ph type="sldNum" sz="quarter" idx="12"/>
          </p:nvPr>
        </p:nvSpPr>
        <p:spPr/>
        <p:txBody>
          <a:bodyPr/>
          <a:lstStyle/>
          <a:p>
            <a:fld id="{DCB5AA93-092B-49A1-87A7-3C88D5F38AD7}" type="slidenum">
              <a:rPr lang="ja-JP" altLang="en-US" smtClean="0"/>
              <a:pPr/>
              <a:t>39</a:t>
            </a:fld>
            <a:endParaRPr lang="ja-JP" altLang="en-US" sz="900" dirty="0"/>
          </a:p>
        </p:txBody>
      </p:sp>
      <p:sp>
        <p:nvSpPr>
          <p:cNvPr id="5" name="テキスト プレースホルダー 4">
            <a:extLst>
              <a:ext uri="{FF2B5EF4-FFF2-40B4-BE49-F238E27FC236}">
                <a16:creationId xmlns:a16="http://schemas.microsoft.com/office/drawing/2014/main" id="{60BD4441-024A-CDF0-7A1F-489E5808A400}"/>
              </a:ext>
            </a:extLst>
          </p:cNvPr>
          <p:cNvSpPr>
            <a:spLocks noGrp="1"/>
          </p:cNvSpPr>
          <p:nvPr>
            <p:ph type="body" sz="quarter" idx="13"/>
          </p:nvPr>
        </p:nvSpPr>
        <p:spPr/>
        <p:txBody>
          <a:bodyPr/>
          <a:lstStyle/>
          <a:p>
            <a:endParaRPr kumimoji="1" lang="ja-JP" altLang="en-US" dirty="0"/>
          </a:p>
        </p:txBody>
      </p:sp>
      <p:sp>
        <p:nvSpPr>
          <p:cNvPr id="6" name="テキスト ボックス 5">
            <a:extLst>
              <a:ext uri="{FF2B5EF4-FFF2-40B4-BE49-F238E27FC236}">
                <a16:creationId xmlns:a16="http://schemas.microsoft.com/office/drawing/2014/main" id="{DE7D9CFB-D651-BBEB-54C6-41347F6BA963}"/>
              </a:ext>
            </a:extLst>
          </p:cNvPr>
          <p:cNvSpPr txBox="1"/>
          <p:nvPr/>
        </p:nvSpPr>
        <p:spPr>
          <a:xfrm>
            <a:off x="1387218" y="1316503"/>
            <a:ext cx="2014975"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デジタルケイパビリティの強化</a:t>
            </a:r>
            <a:endParaRPr lang="en-US" altLang="ja-JP" sz="1200" dirty="0">
              <a:latin typeface="BIZ UDPゴシック" panose="020B0400000000000000" pitchFamily="50" charset="-128"/>
              <a:ea typeface="BIZ UDPゴシック" panose="020B0400000000000000" pitchFamily="50" charset="-128"/>
            </a:endParaRPr>
          </a:p>
        </p:txBody>
      </p:sp>
      <p:cxnSp>
        <p:nvCxnSpPr>
          <p:cNvPr id="7" name="直線コネクタ 6">
            <a:extLst>
              <a:ext uri="{FF2B5EF4-FFF2-40B4-BE49-F238E27FC236}">
                <a16:creationId xmlns:a16="http://schemas.microsoft.com/office/drawing/2014/main" id="{8D5A1B7E-71DE-7291-00E3-DFC61427DFA9}"/>
              </a:ext>
              <a:ext uri="{C183D7F6-B498-43B3-948B-1728B52AA6E4}">
                <adec:decorative xmlns:adec="http://schemas.microsoft.com/office/drawing/2017/decorative" val="1"/>
              </a:ext>
            </a:extLst>
          </p:cNvPr>
          <p:cNvCxnSpPr>
            <a:cxnSpLocks/>
          </p:cNvCxnSpPr>
          <p:nvPr/>
        </p:nvCxnSpPr>
        <p:spPr>
          <a:xfrm flipV="1">
            <a:off x="1344481" y="1495154"/>
            <a:ext cx="10439535" cy="30778"/>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8" name="テキスト ボックス 7">
            <a:extLst>
              <a:ext uri="{FF2B5EF4-FFF2-40B4-BE49-F238E27FC236}">
                <a16:creationId xmlns:a16="http://schemas.microsoft.com/office/drawing/2014/main" id="{181DBC8D-4151-9461-398A-AB4692ECD8F5}"/>
              </a:ext>
            </a:extLst>
          </p:cNvPr>
          <p:cNvSpPr txBox="1"/>
          <p:nvPr/>
        </p:nvSpPr>
        <p:spPr>
          <a:xfrm>
            <a:off x="360000" y="2021959"/>
            <a:ext cx="1073089" cy="369332"/>
          </a:xfrm>
          <a:prstGeom prst="rect">
            <a:avLst/>
          </a:prstGeom>
          <a:noFill/>
        </p:spPr>
        <p:txBody>
          <a:bodyPr wrap="square" lIns="0" tIns="0" rIns="0" bIns="0" rtlCol="0">
            <a:spAutoFit/>
          </a:bodyPr>
          <a:lstStyle/>
          <a:p>
            <a:pPr algn="l"/>
            <a:r>
              <a:rPr lang="ja-JP" altLang="en-US" sz="1200" dirty="0">
                <a:latin typeface="BIZ UDPゴシック" panose="020B0400000000000000" pitchFamily="50" charset="-128"/>
                <a:ea typeface="BIZ UDPゴシック" panose="020B0400000000000000" pitchFamily="50" charset="-128"/>
              </a:rPr>
              <a:t>各国企業の</a:t>
            </a:r>
            <a:endParaRPr lang="en-US" altLang="ja-JP" sz="1200" dirty="0">
              <a:latin typeface="BIZ UDPゴシック" panose="020B0400000000000000" pitchFamily="50" charset="-128"/>
              <a:ea typeface="BIZ UDPゴシック" panose="020B0400000000000000" pitchFamily="50" charset="-128"/>
            </a:endParaRPr>
          </a:p>
          <a:p>
            <a:pPr algn="l"/>
            <a:r>
              <a:rPr lang="ja-JP" altLang="en-US" sz="1200" dirty="0">
                <a:latin typeface="BIZ UDPゴシック" panose="020B0400000000000000" pitchFamily="50" charset="-128"/>
                <a:ea typeface="BIZ UDPゴシック" panose="020B0400000000000000" pitchFamily="50" charset="-128"/>
              </a:rPr>
              <a:t>戦略方向性</a:t>
            </a:r>
            <a:endParaRPr kumimoji="1" lang="ja-JP" altLang="en-US" sz="1200" dirty="0">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7211B940-39C1-6434-3896-7E442CEAF2F8}"/>
              </a:ext>
            </a:extLst>
          </p:cNvPr>
          <p:cNvSpPr txBox="1"/>
          <p:nvPr/>
        </p:nvSpPr>
        <p:spPr>
          <a:xfrm>
            <a:off x="360000" y="3488984"/>
            <a:ext cx="1073088" cy="369332"/>
          </a:xfrm>
          <a:prstGeom prst="rect">
            <a:avLst/>
          </a:prstGeom>
          <a:noFill/>
        </p:spPr>
        <p:txBody>
          <a:bodyPr wrap="square" lIns="0" tIns="0" rIns="0" bIns="0" rtlCol="0">
            <a:spAutoFit/>
          </a:bodyPr>
          <a:lstStyle/>
          <a:p>
            <a:pPr algn="l"/>
            <a:r>
              <a:rPr lang="ja-JP" altLang="en-US" sz="1200" dirty="0">
                <a:latin typeface="BIZ UDPゴシック" panose="020B0400000000000000" pitchFamily="50" charset="-128"/>
                <a:ea typeface="BIZ UDPゴシック" panose="020B0400000000000000" pitchFamily="50" charset="-128"/>
              </a:rPr>
              <a:t>各国企業から</a:t>
            </a:r>
            <a:endParaRPr lang="en-US" altLang="ja-JP" sz="1200" dirty="0">
              <a:latin typeface="BIZ UDPゴシック" panose="020B0400000000000000" pitchFamily="50" charset="-128"/>
              <a:ea typeface="BIZ UDPゴシック" panose="020B0400000000000000" pitchFamily="50" charset="-128"/>
            </a:endParaRPr>
          </a:p>
          <a:p>
            <a:pPr algn="l"/>
            <a:r>
              <a:rPr kumimoji="1" lang="ja-JP" altLang="en-US" sz="1200" dirty="0">
                <a:latin typeface="BIZ UDPゴシック" panose="020B0400000000000000" pitchFamily="50" charset="-128"/>
                <a:ea typeface="BIZ UDPゴシック" panose="020B0400000000000000" pitchFamily="50" charset="-128"/>
              </a:rPr>
              <a:t>見た事業機会</a:t>
            </a:r>
          </a:p>
        </p:txBody>
      </p:sp>
      <p:sp>
        <p:nvSpPr>
          <p:cNvPr id="10" name="テキスト ボックス 9">
            <a:extLst>
              <a:ext uri="{FF2B5EF4-FFF2-40B4-BE49-F238E27FC236}">
                <a16:creationId xmlns:a16="http://schemas.microsoft.com/office/drawing/2014/main" id="{F7AC4518-CCE3-5367-3A55-65428C096AD7}"/>
              </a:ext>
            </a:extLst>
          </p:cNvPr>
          <p:cNvSpPr txBox="1"/>
          <p:nvPr/>
        </p:nvSpPr>
        <p:spPr>
          <a:xfrm>
            <a:off x="360000" y="4956009"/>
            <a:ext cx="1073088" cy="553998"/>
          </a:xfrm>
          <a:prstGeom prst="rect">
            <a:avLst/>
          </a:prstGeom>
          <a:noFill/>
        </p:spPr>
        <p:txBody>
          <a:bodyPr wrap="square" lIns="0" tIns="0" rIns="0" bIns="0" rtlCol="0">
            <a:spAutoFit/>
          </a:bodyPr>
          <a:lstStyle/>
          <a:p>
            <a:pPr algn="l"/>
            <a:r>
              <a:rPr lang="ja-JP" altLang="en-US" sz="1200" dirty="0">
                <a:latin typeface="BIZ UDPゴシック" panose="020B0400000000000000" pitchFamily="50" charset="-128"/>
                <a:ea typeface="BIZ UDPゴシック" panose="020B0400000000000000" pitchFamily="50" charset="-128"/>
              </a:rPr>
              <a:t>各国企業から</a:t>
            </a:r>
            <a:endParaRPr lang="en-US" altLang="ja-JP" sz="1200" dirty="0">
              <a:latin typeface="BIZ UDPゴシック" panose="020B0400000000000000" pitchFamily="50" charset="-128"/>
              <a:ea typeface="BIZ UDPゴシック" panose="020B0400000000000000" pitchFamily="50" charset="-128"/>
            </a:endParaRPr>
          </a:p>
          <a:p>
            <a:pPr algn="l"/>
            <a:r>
              <a:rPr kumimoji="1" lang="ja-JP" altLang="en-US" sz="1200" dirty="0">
                <a:latin typeface="BIZ UDPゴシック" panose="020B0400000000000000" pitchFamily="50" charset="-128"/>
                <a:ea typeface="BIZ UDPゴシック" panose="020B0400000000000000" pitchFamily="50" charset="-128"/>
              </a:rPr>
              <a:t>見た連携の</a:t>
            </a:r>
            <a:endParaRPr kumimoji="1" lang="en-US" altLang="ja-JP" sz="1200" dirty="0">
              <a:latin typeface="BIZ UDPゴシック" panose="020B0400000000000000" pitchFamily="50" charset="-128"/>
              <a:ea typeface="BIZ UDPゴシック" panose="020B0400000000000000" pitchFamily="50" charset="-128"/>
            </a:endParaRPr>
          </a:p>
          <a:p>
            <a:pPr algn="l"/>
            <a:r>
              <a:rPr kumimoji="1" lang="ja-JP" altLang="en-US" sz="1200" dirty="0">
                <a:latin typeface="BIZ UDPゴシック" panose="020B0400000000000000" pitchFamily="50" charset="-128"/>
                <a:ea typeface="BIZ UDPゴシック" panose="020B0400000000000000" pitchFamily="50" charset="-128"/>
              </a:rPr>
              <a:t>課題</a:t>
            </a:r>
          </a:p>
        </p:txBody>
      </p:sp>
      <p:sp>
        <p:nvSpPr>
          <p:cNvPr id="11" name="テキスト ボックス 10">
            <a:extLst>
              <a:ext uri="{FF2B5EF4-FFF2-40B4-BE49-F238E27FC236}">
                <a16:creationId xmlns:a16="http://schemas.microsoft.com/office/drawing/2014/main" id="{9B2027B3-D74B-FAB5-AF18-09B90D29C98D}"/>
              </a:ext>
            </a:extLst>
          </p:cNvPr>
          <p:cNvSpPr txBox="1"/>
          <p:nvPr/>
        </p:nvSpPr>
        <p:spPr>
          <a:xfrm>
            <a:off x="4075593" y="1310488"/>
            <a:ext cx="2048638"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サプライチェーン分散化の支援</a:t>
            </a:r>
            <a:endParaRPr lang="en-US" altLang="ja-JP" sz="12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DEF9AEDF-A42F-270C-5CE6-A6318E2DF9C7}"/>
              </a:ext>
            </a:extLst>
          </p:cNvPr>
          <p:cNvSpPr txBox="1"/>
          <p:nvPr/>
        </p:nvSpPr>
        <p:spPr>
          <a:xfrm>
            <a:off x="1387218" y="1574306"/>
            <a:ext cx="1149354"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インド</a:t>
            </a:r>
            <a:r>
              <a:rPr lang="en-US" altLang="ja-JP" sz="1200" dirty="0">
                <a:latin typeface="BIZ UDPゴシック" panose="020B0400000000000000" pitchFamily="50" charset="-128"/>
                <a:ea typeface="BIZ UDPゴシック" panose="020B0400000000000000" pitchFamily="50" charset="-128"/>
              </a:rPr>
              <a:t>IT</a:t>
            </a:r>
            <a:r>
              <a:rPr lang="ja-JP" altLang="en-US" sz="1200" dirty="0">
                <a:latin typeface="BIZ UDPゴシック" panose="020B0400000000000000" pitchFamily="50" charset="-128"/>
                <a:ea typeface="BIZ UDPゴシック" panose="020B0400000000000000" pitchFamily="50" charset="-128"/>
              </a:rPr>
              <a:t>サービス</a:t>
            </a:r>
            <a:endParaRPr lang="en-US" altLang="ja-JP" sz="1200" dirty="0">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750A3DF8-D60F-CBDC-5710-E00F852FB0F3}"/>
              </a:ext>
            </a:extLst>
          </p:cNvPr>
          <p:cNvSpPr txBox="1"/>
          <p:nvPr/>
        </p:nvSpPr>
        <p:spPr>
          <a:xfrm>
            <a:off x="1387218" y="1980929"/>
            <a:ext cx="2520904" cy="923330"/>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高付加価値化</a:t>
            </a:r>
            <a:r>
              <a:rPr lang="en-US" altLang="ja-JP" sz="1200" b="1" dirty="0">
                <a:latin typeface="BIZ UDPゴシック" panose="020B0400000000000000" pitchFamily="50" charset="-128"/>
                <a:ea typeface="BIZ UDPゴシック" panose="020B0400000000000000" pitchFamily="50" charset="-128"/>
              </a:rPr>
              <a:t> / </a:t>
            </a:r>
            <a:r>
              <a:rPr lang="ja-JP" altLang="en-US" sz="1200" b="1" dirty="0">
                <a:latin typeface="BIZ UDPゴシック" panose="020B0400000000000000" pitchFamily="50" charset="-128"/>
                <a:ea typeface="BIZ UDPゴシック" panose="020B0400000000000000" pitchFamily="50" charset="-128"/>
              </a:rPr>
              <a:t>売上の分散化</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バリューチェーン上流への進出による付加価値の向上や、特定国・顧客への依存度の低減に注力</a:t>
            </a:r>
            <a:endParaRPr lang="en-US" altLang="ja-JP" sz="1200" dirty="0">
              <a:latin typeface="BIZ UDPゴシック" panose="020B0400000000000000" pitchFamily="50" charset="-128"/>
              <a:ea typeface="BIZ UDPゴシック" panose="020B0400000000000000" pitchFamily="50" charset="-128"/>
            </a:endParaRPr>
          </a:p>
          <a:p>
            <a:pPr marL="342900" indent="-342900">
              <a:buFont typeface="+mj-ea"/>
              <a:buAutoNum type="circleNumDbPlain"/>
            </a:pPr>
            <a:endParaRPr lang="en-US" altLang="ja-JP" sz="1200" dirty="0">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75230B71-A3FA-255F-0E1B-4E6BBABAFFFE}"/>
              </a:ext>
            </a:extLst>
          </p:cNvPr>
          <p:cNvSpPr txBox="1"/>
          <p:nvPr/>
        </p:nvSpPr>
        <p:spPr>
          <a:xfrm>
            <a:off x="4075593" y="1574306"/>
            <a:ext cx="1237518" cy="184666"/>
          </a:xfrm>
          <a:prstGeom prst="rect">
            <a:avLst/>
          </a:prstGeom>
          <a:noFill/>
        </p:spPr>
        <p:txBody>
          <a:bodyPr wrap="none" lIns="0" tIns="0" rIns="0" bIns="0" rtlCol="0">
            <a:spAutoFit/>
          </a:bodyPr>
          <a:lstStyle/>
          <a:p>
            <a:r>
              <a:rPr lang="ja-JP" altLang="en-US" sz="1200" dirty="0">
                <a:latin typeface="BIZ UDPゴシック" panose="020B0400000000000000" pitchFamily="50" charset="-128"/>
                <a:ea typeface="BIZ UDPゴシック" panose="020B0400000000000000" pitchFamily="50" charset="-128"/>
              </a:rPr>
              <a:t>インド自動車・部品</a:t>
            </a:r>
            <a:endParaRPr lang="en-US" altLang="ja-JP" sz="1200" dirty="0">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54BE675C-00CF-E899-D930-E39DD4EE988E}"/>
              </a:ext>
            </a:extLst>
          </p:cNvPr>
          <p:cNvSpPr txBox="1"/>
          <p:nvPr/>
        </p:nvSpPr>
        <p:spPr>
          <a:xfrm>
            <a:off x="6763968" y="1574306"/>
            <a:ext cx="1437317" cy="184666"/>
          </a:xfrm>
          <a:prstGeom prst="rect">
            <a:avLst/>
          </a:prstGeom>
          <a:noFill/>
        </p:spPr>
        <p:txBody>
          <a:bodyPr wrap="non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ASEAN</a:t>
            </a:r>
            <a:r>
              <a:rPr lang="ja-JP" altLang="en-US" sz="1200" dirty="0">
                <a:latin typeface="BIZ UDPゴシック" panose="020B0400000000000000" pitchFamily="50" charset="-128"/>
                <a:ea typeface="BIZ UDPゴシック" panose="020B0400000000000000" pitchFamily="50" charset="-128"/>
              </a:rPr>
              <a:t>自動車・部品</a:t>
            </a:r>
            <a:endParaRPr lang="en-US" altLang="ja-JP" sz="1200" dirty="0">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5F35E15E-26AF-4E5C-904F-2F4D1EE03EB3}"/>
              </a:ext>
            </a:extLst>
          </p:cNvPr>
          <p:cNvSpPr txBox="1"/>
          <p:nvPr/>
        </p:nvSpPr>
        <p:spPr>
          <a:xfrm>
            <a:off x="6763968" y="1980929"/>
            <a:ext cx="2520904" cy="1107996"/>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高付加価値</a:t>
            </a:r>
            <a:r>
              <a:rPr lang="en-US" altLang="ja-JP" sz="1200" b="1" dirty="0">
                <a:latin typeface="BIZ UDPゴシック" panose="020B0400000000000000" pitchFamily="50" charset="-128"/>
                <a:ea typeface="BIZ UDPゴシック" panose="020B0400000000000000" pitchFamily="50" charset="-128"/>
              </a:rPr>
              <a:t>/</a:t>
            </a:r>
            <a:r>
              <a:rPr lang="ja-JP" altLang="en-US" sz="1200" b="1" dirty="0">
                <a:latin typeface="BIZ UDPゴシック" panose="020B0400000000000000" pitchFamily="50" charset="-128"/>
                <a:ea typeface="BIZ UDPゴシック" panose="020B0400000000000000" pitchFamily="50" charset="-128"/>
              </a:rPr>
              <a:t>顧客基盤の多様化</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市場成長が鈍化する中、バリューチェーンのポジションアップを志向</a:t>
            </a:r>
            <a:endParaRPr lang="en-US" altLang="ja-JP" sz="1200"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en-US" altLang="ja-JP" sz="1200" dirty="0">
                <a:latin typeface="BIZ UDPゴシック" panose="020B0400000000000000" pitchFamily="50" charset="-128"/>
                <a:ea typeface="BIZ UDPゴシック" panose="020B0400000000000000" pitchFamily="50" charset="-128"/>
              </a:rPr>
              <a:t>EV</a:t>
            </a:r>
            <a:r>
              <a:rPr lang="ja-JP" altLang="en-US" sz="1200" dirty="0">
                <a:latin typeface="BIZ UDPゴシック" panose="020B0400000000000000" pitchFamily="50" charset="-128"/>
                <a:ea typeface="BIZ UDPゴシック" panose="020B0400000000000000" pitchFamily="50" charset="-128"/>
              </a:rPr>
              <a:t>等で対等してきている中華系</a:t>
            </a:r>
            <a:r>
              <a:rPr lang="en-US" altLang="ja-JP" sz="1200" dirty="0">
                <a:latin typeface="BIZ UDPゴシック" panose="020B0400000000000000" pitchFamily="50" charset="-128"/>
                <a:ea typeface="BIZ UDPゴシック" panose="020B0400000000000000" pitchFamily="50" charset="-128"/>
              </a:rPr>
              <a:t>OEM</a:t>
            </a:r>
            <a:r>
              <a:rPr lang="ja-JP" altLang="en-US" sz="1200" dirty="0">
                <a:latin typeface="BIZ UDPゴシック" panose="020B0400000000000000" pitchFamily="50" charset="-128"/>
                <a:ea typeface="BIZ UDPゴシック" panose="020B0400000000000000" pitchFamily="50" charset="-128"/>
              </a:rPr>
              <a:t>とも連携強化し、取り込みの多角化を検討</a:t>
            </a:r>
            <a:endParaRPr lang="en-US" altLang="ja-JP" sz="1200" dirty="0">
              <a:latin typeface="BIZ UDPゴシック" panose="020B0400000000000000" pitchFamily="50" charset="-128"/>
              <a:ea typeface="BIZ UDPゴシック" panose="020B0400000000000000" pitchFamily="50" charset="-128"/>
            </a:endParaRPr>
          </a:p>
        </p:txBody>
      </p:sp>
      <p:cxnSp>
        <p:nvCxnSpPr>
          <p:cNvPr id="17" name="直線コネクタ 16">
            <a:extLst>
              <a:ext uri="{FF2B5EF4-FFF2-40B4-BE49-F238E27FC236}">
                <a16:creationId xmlns:a16="http://schemas.microsoft.com/office/drawing/2014/main" id="{971D7207-38C7-AA1E-2E06-8ACA67BAB14D}"/>
              </a:ext>
              <a:ext uri="{C183D7F6-B498-43B3-948B-1728B52AA6E4}">
                <adec:decorative xmlns:adec="http://schemas.microsoft.com/office/drawing/2017/decorative" val="1"/>
              </a:ext>
            </a:extLst>
          </p:cNvPr>
          <p:cNvCxnSpPr>
            <a:cxnSpLocks/>
          </p:cNvCxnSpPr>
          <p:nvPr/>
        </p:nvCxnSpPr>
        <p:spPr>
          <a:xfrm flipV="1">
            <a:off x="1344482" y="1758972"/>
            <a:ext cx="10439534" cy="30778"/>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8" name="テキスト ボックス 17">
            <a:extLst>
              <a:ext uri="{FF2B5EF4-FFF2-40B4-BE49-F238E27FC236}">
                <a16:creationId xmlns:a16="http://schemas.microsoft.com/office/drawing/2014/main" id="{29FEBD48-C481-DB98-CE2F-99548B55A0EA}"/>
              </a:ext>
            </a:extLst>
          </p:cNvPr>
          <p:cNvSpPr txBox="1"/>
          <p:nvPr/>
        </p:nvSpPr>
        <p:spPr>
          <a:xfrm>
            <a:off x="9452342" y="1574306"/>
            <a:ext cx="1437317" cy="184666"/>
          </a:xfrm>
          <a:prstGeom prst="rect">
            <a:avLst/>
          </a:prstGeom>
          <a:noFill/>
        </p:spPr>
        <p:txBody>
          <a:bodyPr wrap="non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ASEAN</a:t>
            </a:r>
            <a:r>
              <a:rPr lang="ja-JP" altLang="en-US" sz="1200" dirty="0">
                <a:latin typeface="BIZ UDPゴシック" panose="020B0400000000000000" pitchFamily="50" charset="-128"/>
                <a:ea typeface="BIZ UDPゴシック" panose="020B0400000000000000" pitchFamily="50" charset="-128"/>
              </a:rPr>
              <a:t>自動車・部品</a:t>
            </a:r>
            <a:endParaRPr lang="en-US" altLang="ja-JP" sz="1200" dirty="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F91BC87D-6183-7618-34B6-504324C31190}"/>
              </a:ext>
            </a:extLst>
          </p:cNvPr>
          <p:cNvSpPr txBox="1"/>
          <p:nvPr/>
        </p:nvSpPr>
        <p:spPr>
          <a:xfrm>
            <a:off x="9452342" y="1980929"/>
            <a:ext cx="2520904" cy="1060290"/>
          </a:xfrm>
          <a:prstGeom prst="rect">
            <a:avLst/>
          </a:prstGeom>
          <a:noFill/>
          <a:ln>
            <a:solidFill>
              <a:schemeClr val="bg1">
                <a:lumMod val="65000"/>
              </a:schemeClr>
            </a:solidFill>
          </a:ln>
        </p:spPr>
        <p:txBody>
          <a:bodyPr wrap="square" lIns="0" tIns="0" rIns="0" bIns="0" rtlCol="0">
            <a:noAutofit/>
          </a:bodyPr>
          <a:lstStyle/>
          <a:p>
            <a:r>
              <a:rPr lang="ja-JP" altLang="en-US" sz="1200" b="1" dirty="0">
                <a:solidFill>
                  <a:schemeClr val="accent3"/>
                </a:solidFill>
                <a:latin typeface="BIZ UDPゴシック" panose="020B0400000000000000" pitchFamily="50" charset="-128"/>
                <a:ea typeface="BIZ UDPゴシック" panose="020B0400000000000000" pitchFamily="50" charset="-128"/>
              </a:rPr>
              <a:t>スケール拡大</a:t>
            </a:r>
            <a:r>
              <a:rPr lang="en-US" altLang="ja-JP" sz="1200" b="1" dirty="0">
                <a:solidFill>
                  <a:schemeClr val="accent3"/>
                </a:solidFill>
                <a:latin typeface="BIZ UDPゴシック" panose="020B0400000000000000" pitchFamily="50" charset="-128"/>
                <a:ea typeface="BIZ UDPゴシック" panose="020B0400000000000000" pitchFamily="50" charset="-128"/>
              </a:rPr>
              <a:t>/</a:t>
            </a:r>
            <a:r>
              <a:rPr lang="ja-JP" altLang="en-US" sz="1200" b="1" dirty="0">
                <a:solidFill>
                  <a:schemeClr val="accent3"/>
                </a:solidFill>
                <a:latin typeface="BIZ UDPゴシック" panose="020B0400000000000000" pitchFamily="50" charset="-128"/>
                <a:ea typeface="BIZ UDPゴシック" panose="020B0400000000000000" pitchFamily="50" charset="-128"/>
              </a:rPr>
              <a:t>高付加価値化</a:t>
            </a:r>
            <a:r>
              <a:rPr lang="en-US" altLang="ja-JP" sz="1200" b="1" dirty="0">
                <a:solidFill>
                  <a:schemeClr val="accent3"/>
                </a:solidFill>
                <a:latin typeface="BIZ UDPゴシック" panose="020B0400000000000000" pitchFamily="50" charset="-128"/>
                <a:ea typeface="BIZ UDPゴシック" panose="020B0400000000000000" pitchFamily="50" charset="-128"/>
              </a:rPr>
              <a:t>/</a:t>
            </a:r>
            <a:r>
              <a:rPr lang="ja-JP" altLang="en-US" sz="1200" b="1" dirty="0">
                <a:solidFill>
                  <a:schemeClr val="accent3"/>
                </a:solidFill>
                <a:latin typeface="BIZ UDPゴシック" panose="020B0400000000000000" pitchFamily="50" charset="-128"/>
                <a:ea typeface="BIZ UDPゴシック" panose="020B0400000000000000" pitchFamily="50" charset="-128"/>
              </a:rPr>
              <a:t>顧客基盤の多様化</a:t>
            </a:r>
            <a:endParaRPr lang="en-US" altLang="ja-JP" sz="1200" b="1" dirty="0">
              <a:solidFill>
                <a:schemeClr val="accent3"/>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組立の価値減少に伴い、スケール化によるコスト削減と、上流工程進出による付加価値向上を狙う</a:t>
            </a:r>
            <a:endParaRPr lang="en-US" altLang="ja-JP" sz="1200" dirty="0">
              <a:latin typeface="BIZ UDPゴシック" panose="020B0400000000000000" pitchFamily="50" charset="-128"/>
              <a:ea typeface="BIZ UDPゴシック" panose="020B0400000000000000" pitchFamily="50" charset="-128"/>
            </a:endParaRPr>
          </a:p>
        </p:txBody>
      </p:sp>
      <p:sp>
        <p:nvSpPr>
          <p:cNvPr id="20" name="テキスト ボックス 19">
            <a:extLst>
              <a:ext uri="{FF2B5EF4-FFF2-40B4-BE49-F238E27FC236}">
                <a16:creationId xmlns:a16="http://schemas.microsoft.com/office/drawing/2014/main" id="{DDEEDBBA-9016-95DB-6218-FBD37D6077E8}"/>
              </a:ext>
            </a:extLst>
          </p:cNvPr>
          <p:cNvSpPr txBox="1"/>
          <p:nvPr/>
        </p:nvSpPr>
        <p:spPr>
          <a:xfrm>
            <a:off x="4075593" y="1980929"/>
            <a:ext cx="2520904" cy="738664"/>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国内市場の生産・販売拡大</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国内市場の成長に合わせ、自社の生産・供給を増加し、成長を取り込みたい</a:t>
            </a:r>
            <a:endParaRPr lang="en-US" altLang="ja-JP" sz="1200" dirty="0">
              <a:latin typeface="BIZ UDPゴシック" panose="020B0400000000000000" pitchFamily="50" charset="-128"/>
              <a:ea typeface="BIZ UDPゴシック" panose="020B0400000000000000" pitchFamily="50" charset="-128"/>
            </a:endParaRPr>
          </a:p>
        </p:txBody>
      </p:sp>
      <p:sp>
        <p:nvSpPr>
          <p:cNvPr id="21" name="テキスト ボックス 20">
            <a:extLst>
              <a:ext uri="{FF2B5EF4-FFF2-40B4-BE49-F238E27FC236}">
                <a16:creationId xmlns:a16="http://schemas.microsoft.com/office/drawing/2014/main" id="{46632240-5F8B-8D38-B29C-9FD738DCDB8C}"/>
              </a:ext>
            </a:extLst>
          </p:cNvPr>
          <p:cNvSpPr txBox="1"/>
          <p:nvPr/>
        </p:nvSpPr>
        <p:spPr>
          <a:xfrm>
            <a:off x="1387218" y="3486824"/>
            <a:ext cx="2520904" cy="923330"/>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日本市場における売上拡大</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日系企業へのアプローチ・売上を拡大したい </a:t>
            </a:r>
            <a:r>
              <a:rPr lang="en-US" altLang="ja-JP" sz="1200" dirty="0">
                <a:latin typeface="BIZ UDPゴシック" panose="020B0400000000000000" pitchFamily="50" charset="-128"/>
                <a:ea typeface="BIZ UDPゴシック" panose="020B0400000000000000" pitchFamily="50" charset="-128"/>
              </a:rPr>
              <a:t>(</a:t>
            </a:r>
            <a:r>
              <a:rPr lang="ja-JP" altLang="en-US" sz="1200" dirty="0">
                <a:latin typeface="BIZ UDPゴシック" panose="020B0400000000000000" pitchFamily="50" charset="-128"/>
                <a:ea typeface="BIZ UDPゴシック" panose="020B0400000000000000" pitchFamily="50" charset="-128"/>
              </a:rPr>
              <a:t>特に</a:t>
            </a:r>
            <a:r>
              <a:rPr lang="en-US" altLang="ja-JP" sz="1200" dirty="0">
                <a:latin typeface="BIZ UDPゴシック" panose="020B0400000000000000" pitchFamily="50" charset="-128"/>
                <a:ea typeface="BIZ UDPゴシック" panose="020B0400000000000000" pitchFamily="50" charset="-128"/>
              </a:rPr>
              <a:t>IT</a:t>
            </a:r>
            <a:r>
              <a:rPr lang="ja-JP" altLang="en-US" sz="1200" dirty="0">
                <a:latin typeface="BIZ UDPゴシック" panose="020B0400000000000000" pitchFamily="50" charset="-128"/>
                <a:ea typeface="BIZ UDPゴシック" panose="020B0400000000000000" pitchFamily="50" charset="-128"/>
              </a:rPr>
              <a:t>開発のアウトソース、先端デジタル技術のインプリ等</a:t>
            </a:r>
            <a:r>
              <a:rPr lang="en-US" altLang="ja-JP" sz="1200" dirty="0">
                <a:latin typeface="BIZ UDPゴシック" panose="020B0400000000000000" pitchFamily="50" charset="-128"/>
                <a:ea typeface="BIZ UDPゴシック" panose="020B0400000000000000" pitchFamily="50" charset="-128"/>
              </a:rPr>
              <a:t>)</a:t>
            </a:r>
          </a:p>
        </p:txBody>
      </p:sp>
      <p:sp>
        <p:nvSpPr>
          <p:cNvPr id="22" name="テキスト ボックス 21">
            <a:extLst>
              <a:ext uri="{FF2B5EF4-FFF2-40B4-BE49-F238E27FC236}">
                <a16:creationId xmlns:a16="http://schemas.microsoft.com/office/drawing/2014/main" id="{06B71D73-976D-4ADD-241B-7C1A482C16D0}"/>
              </a:ext>
            </a:extLst>
          </p:cNvPr>
          <p:cNvSpPr txBox="1"/>
          <p:nvPr/>
        </p:nvSpPr>
        <p:spPr>
          <a:xfrm>
            <a:off x="9452342" y="3486824"/>
            <a:ext cx="2520904" cy="923330"/>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日本企業からの技術取得</a:t>
            </a:r>
            <a:endParaRPr lang="en-US" altLang="ja-JP" sz="1200" b="1"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設計や調達までバリューチェーンを広げるうえで、高付加価値工程を含めた製造技術・ノウハウを取得したい</a:t>
            </a:r>
            <a:endParaRPr lang="en-US" altLang="ja-JP" sz="1200" dirty="0">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755781C2-BA10-D441-D781-A8642D701CF1}"/>
              </a:ext>
            </a:extLst>
          </p:cNvPr>
          <p:cNvSpPr txBox="1"/>
          <p:nvPr/>
        </p:nvSpPr>
        <p:spPr>
          <a:xfrm>
            <a:off x="4075593" y="3486824"/>
            <a:ext cx="2520904" cy="738664"/>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日系企業からの技術・チャネル取得</a:t>
            </a:r>
            <a:endParaRPr lang="en-US" altLang="ja-JP" sz="1200" b="1" dirty="0">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設計技術の不足、品質のばらつきに対して、日系企業から製造・生産技術を取得したい</a:t>
            </a:r>
            <a:endParaRPr lang="en-US" altLang="ja-JP" sz="1200" dirty="0">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CFE4708C-8D63-EF63-CDEA-81D7138D0ECD}"/>
              </a:ext>
            </a:extLst>
          </p:cNvPr>
          <p:cNvSpPr txBox="1"/>
          <p:nvPr/>
        </p:nvSpPr>
        <p:spPr>
          <a:xfrm>
            <a:off x="6763967" y="3486824"/>
            <a:ext cx="2520904" cy="923330"/>
          </a:xfrm>
          <a:prstGeom prst="rect">
            <a:avLst/>
          </a:prstGeom>
          <a:noFill/>
          <a:ln>
            <a:solidFill>
              <a:schemeClr val="bg1">
                <a:lumMod val="65000"/>
              </a:schemeClr>
            </a:solidFill>
          </a:ln>
        </p:spPr>
        <p:txBody>
          <a:bodyPr wrap="square" lIns="0" tIns="0" rIns="0" bIns="0" rtlCol="0">
            <a:noAutofit/>
          </a:bodyPr>
          <a:lstStyle/>
          <a:p>
            <a:r>
              <a:rPr lang="ja-JP" altLang="en-US" sz="1200" b="1" dirty="0">
                <a:solidFill>
                  <a:schemeClr val="accent3"/>
                </a:solidFill>
                <a:latin typeface="BIZ UDPゴシック" panose="020B0400000000000000" pitchFamily="50" charset="-128"/>
                <a:ea typeface="BIZ UDPゴシック" panose="020B0400000000000000" pitchFamily="50" charset="-128"/>
              </a:rPr>
              <a:t>日本企業からの技術取得</a:t>
            </a:r>
            <a:endParaRPr lang="en-US" altLang="ja-JP" sz="1200" b="1" dirty="0">
              <a:solidFill>
                <a:schemeClr val="accent3"/>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自律的に仕様変更するための設計・製造技術やバリューチェーン横ぐしでの生産・調達管理のノウハウを取得したい</a:t>
            </a:r>
            <a:endParaRPr lang="en-US" altLang="ja-JP" sz="1200" dirty="0">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7315ACBA-A100-AF59-FC06-C75F18132F9D}"/>
              </a:ext>
            </a:extLst>
          </p:cNvPr>
          <p:cNvSpPr txBox="1"/>
          <p:nvPr/>
        </p:nvSpPr>
        <p:spPr>
          <a:xfrm>
            <a:off x="1387218" y="4956009"/>
            <a:ext cx="2520904" cy="738664"/>
          </a:xfrm>
          <a:prstGeom prst="rect">
            <a:avLst/>
          </a:prstGeom>
          <a:noFill/>
        </p:spPr>
        <p:txBody>
          <a:bodyPr wrap="square" lIns="0" tIns="0" rIns="0" bIns="0" rtlCol="0">
            <a:noAutofit/>
          </a:bodyPr>
          <a:lstStyle/>
          <a:p>
            <a:r>
              <a:rPr lang="ja-JP" altLang="en-US" sz="1200" dirty="0">
                <a:latin typeface="BIZ UDPゴシック" panose="020B0400000000000000" pitchFamily="50" charset="-128"/>
                <a:ea typeface="BIZ UDPゴシック" panose="020B0400000000000000" pitchFamily="50" charset="-128"/>
              </a:rPr>
              <a:t>案</a:t>
            </a:r>
            <a:r>
              <a:rPr lang="ja-JP" altLang="en-US" sz="1200" b="1" dirty="0">
                <a:latin typeface="BIZ UDPゴシック" panose="020B0400000000000000" pitchFamily="50" charset="-128"/>
                <a:ea typeface="BIZ UDPゴシック" panose="020B0400000000000000" pitchFamily="50" charset="-128"/>
              </a:rPr>
              <a:t>件の複雑性・収益性の低さ</a:t>
            </a:r>
            <a:endParaRPr lang="en-US" altLang="ja-JP" sz="1200" b="1"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個社側の要望が多く、要望水準も高いため、案件が難易度で利益が出づらい</a:t>
            </a:r>
            <a:endParaRPr lang="en-US" altLang="ja-JP" sz="1200" dirty="0">
              <a:latin typeface="BIZ UDPゴシック" panose="020B0400000000000000" pitchFamily="50" charset="-128"/>
              <a:ea typeface="BIZ UDPゴシック" panose="020B0400000000000000" pitchFamily="50" charset="-128"/>
            </a:endParaRPr>
          </a:p>
        </p:txBody>
      </p:sp>
      <p:sp>
        <p:nvSpPr>
          <p:cNvPr id="26" name="テキスト ボックス 25">
            <a:extLst>
              <a:ext uri="{FF2B5EF4-FFF2-40B4-BE49-F238E27FC236}">
                <a16:creationId xmlns:a16="http://schemas.microsoft.com/office/drawing/2014/main" id="{4DB5FC88-20D0-EB0C-019F-BBE59DCECCFD}"/>
              </a:ext>
            </a:extLst>
          </p:cNvPr>
          <p:cNvSpPr txBox="1"/>
          <p:nvPr/>
        </p:nvSpPr>
        <p:spPr>
          <a:xfrm>
            <a:off x="9452342" y="4956009"/>
            <a:ext cx="2520904" cy="738664"/>
          </a:xfrm>
          <a:prstGeom prst="rect">
            <a:avLst/>
          </a:prstGeom>
          <a:noFill/>
        </p:spPr>
        <p:txBody>
          <a:bodyPr wrap="square" lIns="0" tIns="0" rIns="0" bIns="0" rtlCol="0">
            <a:noAutofit/>
          </a:bodyPr>
          <a:lstStyle/>
          <a:p>
            <a:r>
              <a:rPr lang="ja-JP" altLang="en-US" sz="1200" b="1" dirty="0">
                <a:latin typeface="BIZ UDPゴシック" panose="020B0400000000000000" pitchFamily="50" charset="-128"/>
                <a:ea typeface="BIZ UDPゴシック" panose="020B0400000000000000" pitchFamily="50" charset="-128"/>
              </a:rPr>
              <a:t>高付加価値工程・技術の囲い込み</a:t>
            </a:r>
            <a:endParaRPr lang="en-US" altLang="ja-JP" sz="1200" b="1" dirty="0">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設計工程や基幹部材に対する技術・ノウハウが、自社もしくは系列サプライヤーで秘匿され開示されない</a:t>
            </a:r>
            <a:endParaRPr lang="en-US" altLang="ja-JP" sz="1200" dirty="0">
              <a:latin typeface="BIZ UDPゴシック" panose="020B0400000000000000" pitchFamily="50" charset="-128"/>
              <a:ea typeface="BIZ UDPゴシック" panose="020B0400000000000000" pitchFamily="50" charset="-128"/>
            </a:endParaRPr>
          </a:p>
        </p:txBody>
      </p:sp>
      <p:sp>
        <p:nvSpPr>
          <p:cNvPr id="27" name="テキスト ボックス 26">
            <a:extLst>
              <a:ext uri="{FF2B5EF4-FFF2-40B4-BE49-F238E27FC236}">
                <a16:creationId xmlns:a16="http://schemas.microsoft.com/office/drawing/2014/main" id="{85CA1DE0-2AEC-E574-5900-8642F5C6ABAE}"/>
              </a:ext>
            </a:extLst>
          </p:cNvPr>
          <p:cNvSpPr txBox="1"/>
          <p:nvPr/>
        </p:nvSpPr>
        <p:spPr>
          <a:xfrm>
            <a:off x="4075593" y="4956009"/>
            <a:ext cx="2520904" cy="923330"/>
          </a:xfrm>
          <a:prstGeom prst="rect">
            <a:avLst/>
          </a:prstGeom>
          <a:noFill/>
          <a:ln>
            <a:solidFill>
              <a:schemeClr val="bg1">
                <a:lumMod val="65000"/>
              </a:schemeClr>
            </a:solidFill>
          </a:ln>
        </p:spPr>
        <p:txBody>
          <a:bodyPr wrap="square" lIns="0" tIns="0" rIns="0" bIns="0" rtlCol="0">
            <a:noAutofit/>
          </a:bodyPr>
          <a:lstStyle/>
          <a:p>
            <a:r>
              <a:rPr lang="ja-JP" altLang="en-US" sz="1200" b="1" dirty="0">
                <a:solidFill>
                  <a:schemeClr val="accent3"/>
                </a:solidFill>
                <a:latin typeface="BIZ UDPゴシック" panose="020B0400000000000000" pitchFamily="50" charset="-128"/>
                <a:ea typeface="BIZ UDPゴシック" panose="020B0400000000000000" pitchFamily="50" charset="-128"/>
              </a:rPr>
              <a:t>必要以上の品質基準の高さ</a:t>
            </a:r>
            <a:endParaRPr lang="en-US" altLang="ja-JP" sz="1200" b="1" dirty="0">
              <a:solidFill>
                <a:schemeClr val="accent3"/>
              </a:solidFill>
              <a:latin typeface="BIZ UDPゴシック" panose="020B0400000000000000" pitchFamily="50" charset="-128"/>
              <a:ea typeface="BIZ UDPゴシック" panose="020B0400000000000000" pitchFamily="50" charset="-128"/>
            </a:endParaRPr>
          </a:p>
          <a:p>
            <a:pPr marL="171450" indent="-171450">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インドでは前提としている耐用期間や原価構造が異なり、国内基準をそのまま適用すると、オーバースペックでコストも見合わない</a:t>
            </a:r>
            <a:endParaRPr lang="en-US" altLang="ja-JP" sz="1200"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A336A58D-427D-6D82-684C-219C56DEB5B0}"/>
              </a:ext>
            </a:extLst>
          </p:cNvPr>
          <p:cNvSpPr txBox="1"/>
          <p:nvPr/>
        </p:nvSpPr>
        <p:spPr>
          <a:xfrm>
            <a:off x="6763967" y="4956009"/>
            <a:ext cx="2520904" cy="923330"/>
          </a:xfrm>
          <a:prstGeom prst="rect">
            <a:avLst/>
          </a:prstGeom>
          <a:noFill/>
          <a:ln>
            <a:solidFill>
              <a:schemeClr val="bg1">
                <a:lumMod val="65000"/>
              </a:schemeClr>
            </a:solidFill>
          </a:ln>
        </p:spPr>
        <p:txBody>
          <a:bodyPr wrap="square" lIns="0" tIns="0" rIns="0" bIns="0" rtlCol="0">
            <a:noAutofit/>
          </a:bodyPr>
          <a:lstStyle/>
          <a:p>
            <a:r>
              <a:rPr lang="ja-JP" altLang="en-US" sz="1200" b="1" dirty="0">
                <a:solidFill>
                  <a:schemeClr val="accent3"/>
                </a:solidFill>
                <a:latin typeface="BIZ UDPゴシック" panose="020B0400000000000000" pitchFamily="50" charset="-128"/>
                <a:ea typeface="BIZ UDPゴシック" panose="020B0400000000000000" pitchFamily="50" charset="-128"/>
              </a:rPr>
              <a:t>高付加価値工程・技術の囲い込み</a:t>
            </a:r>
            <a:endParaRPr lang="en-US" altLang="ja-JP" sz="1200" b="1" dirty="0">
              <a:solidFill>
                <a:schemeClr val="accent3"/>
              </a:solidFill>
              <a:latin typeface="BIZ UDPゴシック" panose="020B0400000000000000" pitchFamily="50" charset="-128"/>
              <a:ea typeface="BIZ UDPゴシック" panose="020B0400000000000000" pitchFamily="50" charset="-128"/>
            </a:endParaRPr>
          </a:p>
          <a:p>
            <a:pPr marL="182563" indent="-182563">
              <a:buFont typeface="Arial" panose="020B0604020202020204" pitchFamily="34" charset="0"/>
              <a:buChar char="•"/>
            </a:pPr>
            <a:r>
              <a:rPr lang="ja-JP" altLang="en-US" sz="1200" dirty="0">
                <a:latin typeface="BIZ UDPゴシック" panose="020B0400000000000000" pitchFamily="50" charset="-128"/>
                <a:ea typeface="BIZ UDPゴシック" panose="020B0400000000000000" pitchFamily="50" charset="-128"/>
              </a:rPr>
              <a:t>設計工程や基幹部材に対する技術・ノウハウが、自社もしくは系列サプライヤーで秘匿され開示されない</a:t>
            </a:r>
            <a:endParaRPr lang="en-US" altLang="ja-JP" sz="12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69632198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54CEA1-767C-2B77-C00C-10756B02FEAE}"/>
              </a:ext>
            </a:extLst>
          </p:cNvPr>
          <p:cNvSpPr>
            <a:spLocks noGrp="1"/>
          </p:cNvSpPr>
          <p:nvPr>
            <p:ph type="title"/>
          </p:nvPr>
        </p:nvSpPr>
        <p:spPr/>
        <p:txBody>
          <a:bodyPr>
            <a:normAutofit fontScale="90000"/>
          </a:bodyPr>
          <a:lstStyle/>
          <a:p>
            <a:r>
              <a:rPr lang="ja-JP" altLang="en-US" dirty="0"/>
              <a:t>どのようなインセンティブを選択するか、どのような水準とするか、複数の指標によって評価</a:t>
            </a:r>
            <a:endParaRPr kumimoji="1" lang="ja-JP" altLang="en-US" dirty="0"/>
          </a:p>
        </p:txBody>
      </p:sp>
      <p:sp>
        <p:nvSpPr>
          <p:cNvPr id="3" name="フッター プレースホルダー 2">
            <a:extLst>
              <a:ext uri="{FF2B5EF4-FFF2-40B4-BE49-F238E27FC236}">
                <a16:creationId xmlns:a16="http://schemas.microsoft.com/office/drawing/2014/main" id="{6B29944D-D552-6412-64F2-343B5182FA0F}"/>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CB5B118D-9EE2-8CAB-5B35-BDB91A0AA80D}"/>
              </a:ext>
            </a:extLst>
          </p:cNvPr>
          <p:cNvSpPr>
            <a:spLocks noGrp="1"/>
          </p:cNvSpPr>
          <p:nvPr>
            <p:ph type="sldNum" sz="quarter" idx="12"/>
          </p:nvPr>
        </p:nvSpPr>
        <p:spPr/>
        <p:txBody>
          <a:bodyPr/>
          <a:lstStyle/>
          <a:p>
            <a:fld id="{DCB5AA93-092B-49A1-87A7-3C88D5F38AD7}" type="slidenum">
              <a:rPr lang="ja-JP" altLang="en-US" smtClean="0"/>
              <a:pPr/>
              <a:t>40</a:t>
            </a:fld>
            <a:endParaRPr lang="ja-JP" altLang="en-US" sz="900" dirty="0"/>
          </a:p>
        </p:txBody>
      </p:sp>
      <p:sp>
        <p:nvSpPr>
          <p:cNvPr id="5" name="テキスト プレースホルダー 4">
            <a:extLst>
              <a:ext uri="{FF2B5EF4-FFF2-40B4-BE49-F238E27FC236}">
                <a16:creationId xmlns:a16="http://schemas.microsoft.com/office/drawing/2014/main" id="{C9F3B097-048F-89FA-C17C-D412D7CD1700}"/>
              </a:ext>
            </a:extLst>
          </p:cNvPr>
          <p:cNvSpPr>
            <a:spLocks noGrp="1"/>
          </p:cNvSpPr>
          <p:nvPr>
            <p:ph type="body" sz="quarter" idx="13"/>
          </p:nvPr>
        </p:nvSpPr>
        <p:spPr/>
        <p:txBody>
          <a:bodyPr/>
          <a:lstStyle/>
          <a:p>
            <a:r>
              <a:rPr lang="ja-JP" altLang="en-US" dirty="0"/>
              <a:t>インセンティブを評価するための指標 </a:t>
            </a:r>
            <a:r>
              <a:rPr lang="en-US" altLang="ja-JP" dirty="0"/>
              <a:t>(</a:t>
            </a:r>
            <a:r>
              <a:rPr lang="ja-JP" altLang="en-US" dirty="0"/>
              <a:t>中東某国における実例</a:t>
            </a:r>
            <a:r>
              <a:rPr lang="en-US" altLang="ja-JP" dirty="0"/>
              <a:t>)</a:t>
            </a:r>
          </a:p>
        </p:txBody>
      </p:sp>
      <p:sp>
        <p:nvSpPr>
          <p:cNvPr id="6" name="テキスト ボックス 5">
            <a:extLst>
              <a:ext uri="{FF2B5EF4-FFF2-40B4-BE49-F238E27FC236}">
                <a16:creationId xmlns:a16="http://schemas.microsoft.com/office/drawing/2014/main" id="{2947F281-8FE8-5C94-4942-AFAA3D95B662}"/>
              </a:ext>
            </a:extLst>
          </p:cNvPr>
          <p:cNvSpPr txBox="1"/>
          <p:nvPr/>
        </p:nvSpPr>
        <p:spPr>
          <a:xfrm>
            <a:off x="334964" y="1268413"/>
            <a:ext cx="1664482" cy="5221287"/>
          </a:xfrm>
          <a:prstGeom prst="rect">
            <a:avLst/>
          </a:prstGeom>
          <a:noFill/>
        </p:spPr>
        <p:txBody>
          <a:bodyPr wrap="square" lIns="0" tIns="0" rIns="0" bIns="0" rtlCol="0" anchor="t" anchorCtr="0">
            <a:noAutofit/>
          </a:bodyPr>
          <a:lstStyle/>
          <a:p>
            <a:r>
              <a:rPr lang="ja-JP" altLang="en-US" sz="1400" b="1" dirty="0">
                <a:latin typeface="BIZ UDPゴシック" panose="020B0400000000000000" pitchFamily="50" charset="-128"/>
                <a:ea typeface="BIZ UDPゴシック" panose="020B0400000000000000" pitchFamily="50" charset="-128"/>
              </a:rPr>
              <a:t>ステークホルダー</a:t>
            </a:r>
            <a:endParaRPr lang="en-US" altLang="ja-JP" sz="1400" b="1" dirty="0">
              <a:latin typeface="BIZ UDPゴシック" panose="020B0400000000000000" pitchFamily="50" charset="-128"/>
              <a:ea typeface="BIZ UDPゴシック" panose="020B0400000000000000" pitchFamily="50" charset="-128"/>
            </a:endParaRPr>
          </a:p>
          <a:p>
            <a:pPr algn="l"/>
            <a:r>
              <a:rPr kumimoji="1" lang="ja-JP" altLang="en-US" sz="1400" dirty="0">
                <a:latin typeface="BIZ UDPゴシック" panose="020B0400000000000000" pitchFamily="50" charset="-128"/>
                <a:ea typeface="BIZ UDPゴシック" panose="020B0400000000000000" pitchFamily="50" charset="-128"/>
              </a:rPr>
              <a:t>政府</a:t>
            </a:r>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家計</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22435EAC-D381-516A-3E86-107998AC608D}"/>
              </a:ext>
            </a:extLst>
          </p:cNvPr>
          <p:cNvSpPr txBox="1"/>
          <p:nvPr/>
        </p:nvSpPr>
        <p:spPr>
          <a:xfrm>
            <a:off x="3758826" y="1268413"/>
            <a:ext cx="3456621" cy="5221287"/>
          </a:xfrm>
          <a:prstGeom prst="rect">
            <a:avLst/>
          </a:prstGeom>
          <a:noFill/>
        </p:spPr>
        <p:txBody>
          <a:bodyPr wrap="square" lIns="0" tIns="0" rIns="0" bIns="0" rtlCol="0" anchor="t" anchorCtr="0">
            <a:noAutofit/>
          </a:bodyPr>
          <a:lstStyle/>
          <a:p>
            <a:r>
              <a:rPr lang="ja-JP" altLang="en-US" sz="1400" b="1" dirty="0">
                <a:latin typeface="BIZ UDPゴシック" panose="020B0400000000000000" pitchFamily="50" charset="-128"/>
                <a:ea typeface="BIZ UDPゴシック" panose="020B0400000000000000" pitchFamily="50" charset="-128"/>
              </a:rPr>
              <a:t>判断指標</a:t>
            </a:r>
            <a:endParaRPr lang="en-US" altLang="ja-JP" sz="1400" b="1"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インセンティブコストの現在価値</a:t>
            </a:r>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インセンティブコストの名目価値</a:t>
            </a:r>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投資家への現金流出額の名目価値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投資家への現金流出額の現金価値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インセンティブに対する現金の割合</a:t>
            </a:r>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インセンティブに対する繰延収益の割合</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繰延インセンティブの現在価値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繰延インセンティブの名目価値</a:t>
            </a:r>
            <a:endParaRPr lang="en-US" altLang="ja-JP" sz="1400" dirty="0">
              <a:latin typeface="BIZ UDPゴシック" panose="020B0400000000000000" pitchFamily="50" charset="-128"/>
              <a:ea typeface="BIZ UDPゴシック" panose="020B0400000000000000" pitchFamily="50" charset="-128"/>
            </a:endParaRPr>
          </a:p>
          <a:p>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オペレーション開始前のインセンティブ割合</a:t>
            </a:r>
            <a:endParaRPr lang="en-US" altLang="ja-JP" sz="1400" dirty="0">
              <a:latin typeface="BIZ UDPゴシック" panose="020B0400000000000000" pitchFamily="50" charset="-128"/>
              <a:ea typeface="BIZ UDPゴシック" panose="020B0400000000000000" pitchFamily="50" charset="-128"/>
            </a:endParaRPr>
          </a:p>
          <a:p>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プロジェクトの内部収益率</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株主資本の内部収益率</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プロジェクト正味収益率</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株主資本正味現在価値</a:t>
            </a:r>
            <a:endParaRPr lang="en-US" altLang="ja-JP" sz="1400" dirty="0">
              <a:latin typeface="BIZ UDPゴシック" panose="020B0400000000000000" pitchFamily="50" charset="-128"/>
              <a:ea typeface="BIZ UDPゴシック" panose="020B0400000000000000" pitchFamily="50" charset="-128"/>
            </a:endParaRPr>
          </a:p>
          <a:p>
            <a:endParaRPr kumimoji="1"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投資家への現金流出額の名目価値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投資家への現金流出額の現金価値</a:t>
            </a:r>
            <a:endParaRPr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インセンティブに対する現金の割合</a:t>
            </a:r>
            <a:endParaRPr lang="en-US" altLang="ja-JP" sz="1400" dirty="0">
              <a:latin typeface="BIZ UDPゴシック" panose="020B0400000000000000" pitchFamily="50" charset="-128"/>
              <a:ea typeface="BIZ UDPゴシック" panose="020B0400000000000000" pitchFamily="50" charset="-128"/>
            </a:endParaRPr>
          </a:p>
          <a:p>
            <a:endParaRPr kumimoji="1" lang="en-US" altLang="ja-JP" sz="1400" dirty="0">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2A5A92A4-0159-230D-AF63-953CA70AE308}"/>
              </a:ext>
            </a:extLst>
          </p:cNvPr>
          <p:cNvSpPr txBox="1"/>
          <p:nvPr/>
        </p:nvSpPr>
        <p:spPr>
          <a:xfrm>
            <a:off x="2274499" y="1268412"/>
            <a:ext cx="1134005" cy="5221287"/>
          </a:xfrm>
          <a:prstGeom prst="rect">
            <a:avLst/>
          </a:prstGeom>
          <a:noFill/>
        </p:spPr>
        <p:txBody>
          <a:bodyPr wrap="square" lIns="0" tIns="0" rIns="0" bIns="0" rtlCol="0" anchor="t" anchorCtr="0">
            <a:noAutofit/>
          </a:bodyPr>
          <a:lstStyle/>
          <a:p>
            <a:r>
              <a:rPr lang="ja-JP" altLang="en-US" sz="1400" b="1" dirty="0">
                <a:latin typeface="BIZ UDPゴシック" panose="020B0400000000000000" pitchFamily="50" charset="-128"/>
                <a:ea typeface="BIZ UDPゴシック" panose="020B0400000000000000" pitchFamily="50" charset="-128"/>
              </a:rPr>
              <a:t>切り口</a:t>
            </a:r>
            <a:endParaRPr lang="en-US" altLang="ja-JP" sz="1400" b="1" dirty="0">
              <a:latin typeface="BIZ UDPゴシック" panose="020B0400000000000000" pitchFamily="50" charset="-128"/>
              <a:ea typeface="BIZ UDPゴシック" panose="020B0400000000000000" pitchFamily="50" charset="-128"/>
            </a:endParaRPr>
          </a:p>
          <a:p>
            <a:pPr algn="l"/>
            <a:r>
              <a:rPr kumimoji="1" lang="ja-JP" altLang="en-US" sz="1400" dirty="0">
                <a:latin typeface="BIZ UDPゴシック" panose="020B0400000000000000" pitchFamily="50" charset="-128"/>
                <a:ea typeface="BIZ UDPゴシック" panose="020B0400000000000000" pitchFamily="50" charset="-128"/>
              </a:rPr>
              <a:t>政府のコスト</a:t>
            </a:r>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r>
              <a:rPr lang="ja-JP" altLang="en-US" sz="1400" dirty="0">
                <a:latin typeface="BIZ UDPゴシック" panose="020B0400000000000000" pitchFamily="50" charset="-128"/>
                <a:ea typeface="BIZ UDPゴシック" panose="020B0400000000000000" pitchFamily="50" charset="-128"/>
              </a:rPr>
              <a:t>キャッシュ</a:t>
            </a:r>
            <a:endParaRPr lang="en-US" altLang="ja-JP" sz="1400" dirty="0">
              <a:latin typeface="BIZ UDPゴシック" panose="020B0400000000000000" pitchFamily="50" charset="-128"/>
              <a:ea typeface="BIZ UDPゴシック" panose="020B0400000000000000" pitchFamily="50" charset="-128"/>
            </a:endParaRPr>
          </a:p>
          <a:p>
            <a:pPr algn="l"/>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繰延収益</a:t>
            </a:r>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タイミング</a:t>
            </a:r>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収益性</a:t>
            </a:r>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lang="ja-JP" altLang="en-US" sz="1400" dirty="0">
                <a:latin typeface="BIZ UDPゴシック" panose="020B0400000000000000" pitchFamily="50" charset="-128"/>
                <a:ea typeface="BIZ UDPゴシック" panose="020B0400000000000000" pitchFamily="50" charset="-128"/>
              </a:rPr>
              <a:t>キャッシュ</a:t>
            </a:r>
            <a:endParaRPr lang="en-US" altLang="ja-JP"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E71B0E1B-2B0A-10BE-8B48-1DF275E454DE}"/>
              </a:ext>
            </a:extLst>
          </p:cNvPr>
          <p:cNvSpPr txBox="1"/>
          <p:nvPr/>
        </p:nvSpPr>
        <p:spPr>
          <a:xfrm>
            <a:off x="8730105" y="2506633"/>
            <a:ext cx="1889808" cy="1938992"/>
          </a:xfrm>
          <a:prstGeom prst="rect">
            <a:avLst/>
          </a:prstGeom>
          <a:no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予測正味現在価値割合への限界効果</a:t>
            </a:r>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kumimoji="1" lang="en-US" altLang="ja-JP" sz="1400" dirty="0">
                <a:latin typeface="BIZ UDPゴシック" panose="020B0400000000000000" pitchFamily="50" charset="-128"/>
                <a:ea typeface="BIZ UDPゴシック" panose="020B0400000000000000" pitchFamily="50" charset="-128"/>
              </a:rPr>
              <a:t>=</a:t>
            </a:r>
          </a:p>
          <a:p>
            <a:pPr algn="l"/>
            <a:endParaRPr lang="en-US" altLang="ja-JP" sz="1400" dirty="0">
              <a:latin typeface="BIZ UDPゴシック" panose="020B0400000000000000" pitchFamily="50" charset="-128"/>
              <a:ea typeface="BIZ UDPゴシック" panose="020B0400000000000000" pitchFamily="50" charset="-128"/>
            </a:endParaRPr>
          </a:p>
          <a:p>
            <a:pPr algn="l"/>
            <a:r>
              <a:rPr kumimoji="1" lang="ja-JP" altLang="en-US" sz="1400" dirty="0">
                <a:latin typeface="BIZ UDPゴシック" panose="020B0400000000000000" pitchFamily="50" charset="-128"/>
                <a:ea typeface="BIZ UDPゴシック" panose="020B0400000000000000" pitchFamily="50" charset="-128"/>
              </a:rPr>
              <a:t>株主資本正味現在価値</a:t>
            </a:r>
            <a:endParaRPr kumimoji="1" lang="en-US" altLang="ja-JP" sz="1400" dirty="0">
              <a:latin typeface="BIZ UDPゴシック" panose="020B0400000000000000" pitchFamily="50" charset="-128"/>
              <a:ea typeface="BIZ UDPゴシック" panose="020B0400000000000000" pitchFamily="50" charset="-128"/>
            </a:endParaRPr>
          </a:p>
          <a:p>
            <a:pPr algn="l"/>
            <a:endParaRPr lang="en-US" altLang="ja-JP" sz="1400" dirty="0">
              <a:latin typeface="BIZ UDPゴシック" panose="020B0400000000000000" pitchFamily="50" charset="-128"/>
              <a:ea typeface="BIZ UDPゴシック" panose="020B0400000000000000" pitchFamily="50" charset="-128"/>
            </a:endParaRPr>
          </a:p>
          <a:p>
            <a:pPr algn="l"/>
            <a:r>
              <a:rPr kumimoji="1" lang="ja-JP" altLang="en-US" sz="1400" dirty="0">
                <a:latin typeface="BIZ UDPゴシック" panose="020B0400000000000000" pitchFamily="50" charset="-128"/>
                <a:ea typeface="BIZ UDPゴシック" panose="020B0400000000000000" pitchFamily="50" charset="-128"/>
              </a:rPr>
              <a:t>インセンティブコストの現在価値</a:t>
            </a:r>
            <a:endParaRPr kumimoji="1" lang="en-US" altLang="ja-JP" sz="1400" dirty="0">
              <a:latin typeface="BIZ UDPゴシック" panose="020B0400000000000000" pitchFamily="50" charset="-128"/>
              <a:ea typeface="BIZ UDPゴシック" panose="020B0400000000000000" pitchFamily="50" charset="-128"/>
            </a:endParaRPr>
          </a:p>
        </p:txBody>
      </p:sp>
      <p:sp>
        <p:nvSpPr>
          <p:cNvPr id="30" name="楕円 29">
            <a:extLst>
              <a:ext uri="{FF2B5EF4-FFF2-40B4-BE49-F238E27FC236}">
                <a16:creationId xmlns:a16="http://schemas.microsoft.com/office/drawing/2014/main" id="{A9E934AA-9440-4C74-265D-8605644BE666}"/>
              </a:ext>
            </a:extLst>
          </p:cNvPr>
          <p:cNvSpPr/>
          <p:nvPr/>
        </p:nvSpPr>
        <p:spPr>
          <a:xfrm>
            <a:off x="7565769" y="3241801"/>
            <a:ext cx="379225" cy="37439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1"/>
          <a:lstStyle/>
          <a:p>
            <a:pPr algn="ctr"/>
            <a:r>
              <a:rPr lang="en-US" altLang="ja-JP" sz="1400" dirty="0">
                <a:solidFill>
                  <a:schemeClr val="tx1"/>
                </a:solidFill>
                <a:latin typeface="BIZ UDPゴシック" panose="020B0400000000000000" pitchFamily="50" charset="-128"/>
                <a:ea typeface="BIZ UDPゴシック" panose="020B0400000000000000" pitchFamily="50" charset="-128"/>
              </a:rPr>
              <a:t>&gt;</a:t>
            </a:r>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177507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E6E1C-EE48-A24E-00DD-0B057EE5C14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68F44E-A2A1-765C-4976-9E3E9B7F994B}"/>
              </a:ext>
            </a:extLst>
          </p:cNvPr>
          <p:cNvSpPr>
            <a:spLocks noGrp="1"/>
          </p:cNvSpPr>
          <p:nvPr>
            <p:ph type="ctrTitle"/>
          </p:nvPr>
        </p:nvSpPr>
        <p:spPr/>
        <p:txBody>
          <a:bodyPr/>
          <a:lstStyle/>
          <a:p>
            <a:r>
              <a:rPr lang="ja-JP" altLang="en-US" dirty="0"/>
              <a:t>提案</a:t>
            </a:r>
            <a:endParaRPr kumimoji="1" lang="ja-JP" altLang="en-US" dirty="0"/>
          </a:p>
        </p:txBody>
      </p:sp>
      <p:sp>
        <p:nvSpPr>
          <p:cNvPr id="3" name="字幕 2">
            <a:extLst>
              <a:ext uri="{FF2B5EF4-FFF2-40B4-BE49-F238E27FC236}">
                <a16:creationId xmlns:a16="http://schemas.microsoft.com/office/drawing/2014/main" id="{BD3B55D8-3929-2C52-4F9B-7E266F41890F}"/>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8E7DA3F-CEC5-F237-9D29-142C90FE2350}"/>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41</a:t>
            </a:fld>
            <a:endParaRPr lang="ja-JP" altLang="en-US"/>
          </a:p>
        </p:txBody>
      </p:sp>
      <p:sp>
        <p:nvSpPr>
          <p:cNvPr id="5" name="フッター プレースホルダー 4">
            <a:extLst>
              <a:ext uri="{FF2B5EF4-FFF2-40B4-BE49-F238E27FC236}">
                <a16:creationId xmlns:a16="http://schemas.microsoft.com/office/drawing/2014/main" id="{0F4D6549-4C8D-119F-FFF4-366CBF64A9E1}"/>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41509350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C66C6EE-CD74-D6F1-EE14-CC157886E5AC}"/>
              </a:ext>
            </a:extLst>
          </p:cNvPr>
          <p:cNvSpPr>
            <a:spLocks noGrp="1"/>
          </p:cNvSpPr>
          <p:nvPr>
            <p:ph type="title"/>
          </p:nvPr>
        </p:nvSpPr>
        <p:spPr/>
        <p:txBody>
          <a:bodyPr/>
          <a:lstStyle/>
          <a:p>
            <a:r>
              <a:rPr lang="ja-JP" altLang="en-US" dirty="0"/>
              <a:t>規定類を変更する際に申請者から同意を得ないケースのご提案</a:t>
            </a:r>
            <a:endParaRPr kumimoji="1" lang="ja-JP" altLang="en-US" dirty="0"/>
          </a:p>
        </p:txBody>
      </p:sp>
      <p:sp>
        <p:nvSpPr>
          <p:cNvPr id="3" name="フッター プレースホルダー 2">
            <a:extLst>
              <a:ext uri="{FF2B5EF4-FFF2-40B4-BE49-F238E27FC236}">
                <a16:creationId xmlns:a16="http://schemas.microsoft.com/office/drawing/2014/main" id="{F07A8548-627F-17B6-EDB9-B6A3F9AE364B}"/>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E01FDE31-89A7-1530-2639-B49F1709D756}"/>
              </a:ext>
            </a:extLst>
          </p:cNvPr>
          <p:cNvSpPr>
            <a:spLocks noGrp="1"/>
          </p:cNvSpPr>
          <p:nvPr>
            <p:ph type="sldNum" sz="quarter" idx="12"/>
          </p:nvPr>
        </p:nvSpPr>
        <p:spPr/>
        <p:txBody>
          <a:bodyPr/>
          <a:lstStyle/>
          <a:p>
            <a:fld id="{DCB5AA93-092B-49A1-87A7-3C88D5F38AD7}" type="slidenum">
              <a:rPr lang="ja-JP" altLang="en-US" smtClean="0"/>
              <a:pPr/>
              <a:t>42</a:t>
            </a:fld>
            <a:endParaRPr lang="ja-JP" altLang="en-US" sz="900" dirty="0"/>
          </a:p>
        </p:txBody>
      </p:sp>
      <p:sp>
        <p:nvSpPr>
          <p:cNvPr id="5" name="テキスト プレースホルダー 4">
            <a:extLst>
              <a:ext uri="{FF2B5EF4-FFF2-40B4-BE49-F238E27FC236}">
                <a16:creationId xmlns:a16="http://schemas.microsoft.com/office/drawing/2014/main" id="{3E412288-8500-8D82-3CB3-15A0F8FFC785}"/>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A16C77A6-DAA8-29A0-1C5C-328E24C4997D}"/>
              </a:ext>
            </a:extLst>
          </p:cNvPr>
          <p:cNvSpPr/>
          <p:nvPr/>
        </p:nvSpPr>
        <p:spPr>
          <a:xfrm>
            <a:off x="334963" y="1268413"/>
            <a:ext cx="914400" cy="91440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前提</a:t>
            </a:r>
          </a:p>
        </p:txBody>
      </p:sp>
      <p:sp>
        <p:nvSpPr>
          <p:cNvPr id="7" name="テキスト ボックス 6">
            <a:extLst>
              <a:ext uri="{FF2B5EF4-FFF2-40B4-BE49-F238E27FC236}">
                <a16:creationId xmlns:a16="http://schemas.microsoft.com/office/drawing/2014/main" id="{554B32A1-8AFE-0E60-E85B-087CE525F701}"/>
              </a:ext>
            </a:extLst>
          </p:cNvPr>
          <p:cNvSpPr txBox="1"/>
          <p:nvPr/>
        </p:nvSpPr>
        <p:spPr>
          <a:xfrm>
            <a:off x="1249362" y="1268413"/>
            <a:ext cx="10607675" cy="861774"/>
          </a:xfrm>
          <a:prstGeom prst="rect">
            <a:avLst/>
          </a:prstGeom>
          <a:noFill/>
        </p:spPr>
        <p:txBody>
          <a:bodyPr wrap="square" lIns="0" tIns="0" rIns="0" bIns="0" rtlCol="0" anchor="t" anchorCtr="0">
            <a:spAutoFit/>
          </a:bodyPr>
          <a:lstStyle/>
          <a:p>
            <a:pPr marL="176213" indent="-17621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本事業の特性から、プラットフォーム上でサービスを提供し、収集したユーザーの情報を基に多様なビジネスを展開している企業として、</a:t>
            </a:r>
            <a:r>
              <a:rPr kumimoji="1" lang="en-US" altLang="ja-JP" sz="1400" dirty="0">
                <a:latin typeface="BIZ UDPゴシック" panose="020B0400000000000000" pitchFamily="50" charset="-128"/>
                <a:ea typeface="BIZ UDPゴシック" panose="020B0400000000000000" pitchFamily="50" charset="-128"/>
              </a:rPr>
              <a:t>Amazon</a:t>
            </a:r>
            <a:r>
              <a:rPr kumimoji="1" lang="ja-JP" altLang="en-US" sz="1400" dirty="0">
                <a:latin typeface="BIZ UDPゴシック" panose="020B0400000000000000" pitchFamily="50" charset="-128"/>
                <a:ea typeface="BIZ UDPゴシック" panose="020B0400000000000000" pitchFamily="50" charset="-128"/>
              </a:rPr>
              <a:t>や楽天等の、プラットフォーマー型の企業を対象に利用規約を調査した。結果、原則として企業が規約の内容を変更することができる状況となっている。</a:t>
            </a:r>
            <a:endParaRPr kumimoji="1" lang="en-US" altLang="ja-JP" sz="1400" dirty="0">
              <a:latin typeface="BIZ UDPゴシック" panose="020B0400000000000000" pitchFamily="50" charset="-128"/>
              <a:ea typeface="BIZ UDPゴシック" panose="020B0400000000000000" pitchFamily="50" charset="-128"/>
            </a:endParaRPr>
          </a:p>
          <a:p>
            <a:pPr marL="176213" indent="-17621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そのため、中小企業庁の事業に関わる想定類の変更において、申請者から同意を取得する必要性を検討する。</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8" name="正方形/長方形 7">
            <a:extLst>
              <a:ext uri="{FF2B5EF4-FFF2-40B4-BE49-F238E27FC236}">
                <a16:creationId xmlns:a16="http://schemas.microsoft.com/office/drawing/2014/main" id="{9985FF94-EF57-FBDE-74F4-043D295C59E1}"/>
              </a:ext>
            </a:extLst>
          </p:cNvPr>
          <p:cNvSpPr/>
          <p:nvPr/>
        </p:nvSpPr>
        <p:spPr>
          <a:xfrm>
            <a:off x="334963" y="2736362"/>
            <a:ext cx="914400" cy="914400"/>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対応方法</a:t>
            </a:r>
          </a:p>
        </p:txBody>
      </p:sp>
      <p:sp>
        <p:nvSpPr>
          <p:cNvPr id="9" name="正方形/長方形 8">
            <a:extLst>
              <a:ext uri="{FF2B5EF4-FFF2-40B4-BE49-F238E27FC236}">
                <a16:creationId xmlns:a16="http://schemas.microsoft.com/office/drawing/2014/main" id="{587A5921-F6AF-08AC-4134-2E36455420E6}"/>
              </a:ext>
            </a:extLst>
          </p:cNvPr>
          <p:cNvSpPr/>
          <p:nvPr/>
        </p:nvSpPr>
        <p:spPr>
          <a:xfrm>
            <a:off x="2402754" y="2736362"/>
            <a:ext cx="1493546" cy="91440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ユースケース追加時に同意取得を実施しない対応</a:t>
            </a:r>
          </a:p>
        </p:txBody>
      </p:sp>
      <p:sp>
        <p:nvSpPr>
          <p:cNvPr id="10" name="正方形/長方形 9">
            <a:extLst>
              <a:ext uri="{FF2B5EF4-FFF2-40B4-BE49-F238E27FC236}">
                <a16:creationId xmlns:a16="http://schemas.microsoft.com/office/drawing/2014/main" id="{B7CFCAB0-17D5-40E8-18CE-E2E19B38FF87}"/>
              </a:ext>
            </a:extLst>
          </p:cNvPr>
          <p:cNvSpPr/>
          <p:nvPr/>
        </p:nvSpPr>
        <p:spPr>
          <a:xfrm>
            <a:off x="2402754" y="5033963"/>
            <a:ext cx="1493546" cy="914400"/>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ユースケース追加時に同意取得を実施する対応</a:t>
            </a:r>
          </a:p>
        </p:txBody>
      </p:sp>
      <p:sp>
        <p:nvSpPr>
          <p:cNvPr id="11" name="テキスト ボックス 10">
            <a:extLst>
              <a:ext uri="{FF2B5EF4-FFF2-40B4-BE49-F238E27FC236}">
                <a16:creationId xmlns:a16="http://schemas.microsoft.com/office/drawing/2014/main" id="{AEEAF363-A6F6-CAAC-0AA9-EB1A929E7EAE}"/>
              </a:ext>
            </a:extLst>
          </p:cNvPr>
          <p:cNvSpPr txBox="1"/>
          <p:nvPr/>
        </p:nvSpPr>
        <p:spPr>
          <a:xfrm>
            <a:off x="3896300" y="2736362"/>
            <a:ext cx="7960738" cy="646331"/>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規定類にユースケースを追加し、申請者から変更箇所に関する同意の回答を得ずに、奇蹄類の変更を完了したとみなす。</a:t>
            </a:r>
            <a:endParaRPr kumimoji="1" lang="en-US" altLang="ja-JP" sz="1400" dirty="0">
              <a:latin typeface="BIZ UDPゴシック" panose="020B0400000000000000" pitchFamily="50" charset="-128"/>
              <a:ea typeface="BIZ UDPゴシック" panose="020B0400000000000000" pitchFamily="50" charset="-128"/>
            </a:endParaRPr>
          </a:p>
          <a:p>
            <a:pPr marL="182563" indent="-182563"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なお、奇蹄類の変更内容に関しては申請者に事前に通知する</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7F1F2C8B-B67C-D551-F398-29A02B20BF57}"/>
              </a:ext>
            </a:extLst>
          </p:cNvPr>
          <p:cNvSpPr txBox="1"/>
          <p:nvPr/>
        </p:nvSpPr>
        <p:spPr>
          <a:xfrm>
            <a:off x="3896300" y="5033963"/>
            <a:ext cx="7960738" cy="861774"/>
          </a:xfrm>
          <a:prstGeom prst="rect">
            <a:avLst/>
          </a:prstGeom>
          <a:noFill/>
        </p:spPr>
        <p:txBody>
          <a:bodyPr wrap="square" lIns="0" tIns="0" rIns="0" bIns="0" rtlCol="0" anchor="t" anchorCtr="0">
            <a:spAutoFit/>
          </a:bodyPr>
          <a:lstStyle/>
          <a:p>
            <a:pPr marL="182563" indent="-182563"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規定類にユースケースを追加した上で、改めて申請者から変更に関する同意を取得する。</a:t>
            </a:r>
            <a:endParaRPr kumimoji="1" lang="en-US" altLang="ja-JP" sz="1400" dirty="0">
              <a:latin typeface="BIZ UDPゴシック" panose="020B0400000000000000" pitchFamily="50" charset="-128"/>
              <a:ea typeface="BIZ UDPゴシック" panose="020B0400000000000000" pitchFamily="50" charset="-128"/>
            </a:endParaRPr>
          </a:p>
          <a:p>
            <a:pPr algn="l"/>
            <a:r>
              <a:rPr lang="en-US" altLang="ja-JP" sz="1400" dirty="0">
                <a:latin typeface="BIZ UDPゴシック" panose="020B0400000000000000" pitchFamily="50" charset="-128"/>
                <a:ea typeface="BIZ UDPゴシック" panose="020B0400000000000000" pitchFamily="50" charset="-128"/>
              </a:rPr>
              <a:t>【</a:t>
            </a:r>
            <a:r>
              <a:rPr lang="ja-JP" altLang="en-US" sz="1400" dirty="0">
                <a:latin typeface="BIZ UDPゴシック" panose="020B0400000000000000" pitchFamily="50" charset="-128"/>
                <a:ea typeface="BIZ UDPゴシック" panose="020B0400000000000000" pitchFamily="50" charset="-128"/>
              </a:rPr>
              <a:t>同意取得のタイミング</a:t>
            </a:r>
            <a:r>
              <a:rPr lang="en-US" altLang="ja-JP" sz="1400" dirty="0">
                <a:latin typeface="BIZ UDPゴシック" panose="020B0400000000000000" pitchFamily="50" charset="-128"/>
                <a:ea typeface="BIZ UDPゴシック" panose="020B0400000000000000" pitchFamily="50" charset="-128"/>
              </a:rPr>
              <a:t>】</a:t>
            </a:r>
          </a:p>
          <a:p>
            <a:pPr marL="363538" indent="-187325" algn="l">
              <a:buFont typeface="Arial" panose="020B0604020202020204" pitchFamily="34" charset="0"/>
              <a:buChar char="•"/>
            </a:pPr>
            <a:r>
              <a:rPr kumimoji="1" lang="ja-JP" altLang="en-US" sz="1400" dirty="0">
                <a:latin typeface="BIZ UDPゴシック" panose="020B0400000000000000" pitchFamily="50" charset="-128"/>
                <a:ea typeface="BIZ UDPゴシック" panose="020B0400000000000000" pitchFamily="50" charset="-128"/>
              </a:rPr>
              <a:t>新規申請：</a:t>
            </a:r>
            <a:endParaRPr kumimoji="1" lang="en-US" altLang="ja-JP" sz="1400" dirty="0">
              <a:latin typeface="BIZ UDPゴシック" panose="020B0400000000000000" pitchFamily="50" charset="-128"/>
              <a:ea typeface="BIZ UDPゴシック" panose="020B0400000000000000" pitchFamily="50" charset="-128"/>
            </a:endParaRPr>
          </a:p>
          <a:p>
            <a:pPr marL="363538" indent="-187325" algn="l">
              <a:buFont typeface="Arial" panose="020B0604020202020204" pitchFamily="34" charset="0"/>
              <a:buChar char="•"/>
            </a:pPr>
            <a:r>
              <a:rPr lang="ja-JP" altLang="en-US" sz="1400" dirty="0">
                <a:latin typeface="BIZ UDPゴシック" panose="020B0400000000000000" pitchFamily="50" charset="-128"/>
                <a:ea typeface="BIZ UDPゴシック" panose="020B0400000000000000" pitchFamily="50" charset="-128"/>
              </a:rPr>
              <a:t>変更申請：</a:t>
            </a:r>
            <a:endParaRPr kumimoji="1" lang="ja-JP" altLang="en-US" sz="1400" dirty="0">
              <a:latin typeface="BIZ UDPゴシック" panose="020B0400000000000000" pitchFamily="50" charset="-128"/>
              <a:ea typeface="BIZ UDPゴシック" panose="020B0400000000000000" pitchFamily="50" charset="-128"/>
            </a:endParaRPr>
          </a:p>
        </p:txBody>
      </p:sp>
      <p:sp>
        <p:nvSpPr>
          <p:cNvPr id="13" name="正方形/長方形 12">
            <a:extLst>
              <a:ext uri="{FF2B5EF4-FFF2-40B4-BE49-F238E27FC236}">
                <a16:creationId xmlns:a16="http://schemas.microsoft.com/office/drawing/2014/main" id="{2DC3CFAE-D575-2D65-0E4A-79733CBDF5DF}"/>
              </a:ext>
            </a:extLst>
          </p:cNvPr>
          <p:cNvSpPr/>
          <p:nvPr/>
        </p:nvSpPr>
        <p:spPr>
          <a:xfrm>
            <a:off x="3449491" y="3765933"/>
            <a:ext cx="2057400" cy="646331"/>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nchorCtr="0"/>
          <a:lstStyle/>
          <a:p>
            <a:pPr algn="ctr"/>
            <a:r>
              <a:rPr kumimoji="1" lang="ja-JP" altLang="en-US" sz="1400" dirty="0">
                <a:solidFill>
                  <a:schemeClr val="bg1"/>
                </a:solidFill>
                <a:latin typeface="BIZ UDPゴシック" panose="020B0400000000000000" pitchFamily="50" charset="-128"/>
                <a:ea typeface="BIZ UDPゴシック" panose="020B0400000000000000" pitchFamily="50" charset="-128"/>
              </a:rPr>
              <a:t>同意取得を実施しない対応を選択するための論点</a:t>
            </a:r>
          </a:p>
        </p:txBody>
      </p:sp>
      <p:sp>
        <p:nvSpPr>
          <p:cNvPr id="14" name="テキスト ボックス 13">
            <a:extLst>
              <a:ext uri="{FF2B5EF4-FFF2-40B4-BE49-F238E27FC236}">
                <a16:creationId xmlns:a16="http://schemas.microsoft.com/office/drawing/2014/main" id="{D1F998C3-893F-026C-81E8-82F0C7B38C8C}"/>
              </a:ext>
            </a:extLst>
          </p:cNvPr>
          <p:cNvSpPr txBox="1"/>
          <p:nvPr/>
        </p:nvSpPr>
        <p:spPr>
          <a:xfrm>
            <a:off x="5506890" y="3765933"/>
            <a:ext cx="6350147" cy="646331"/>
          </a:xfrm>
          <a:prstGeom prst="rect">
            <a:avLst/>
          </a:prstGeom>
          <a:noFill/>
        </p:spPr>
        <p:txBody>
          <a:bodyPr wrap="squar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同意取得を得ずに奇蹄類を変更するためには以下の条件を満たす必要がある</a:t>
            </a:r>
            <a:endParaRPr kumimoji="1" lang="en-US" altLang="ja-JP" sz="1400" dirty="0">
              <a:latin typeface="BIZ UDPゴシック" panose="020B0400000000000000" pitchFamily="50" charset="-128"/>
              <a:ea typeface="BIZ UDPゴシック" panose="020B0400000000000000" pitchFamily="50" charset="-128"/>
            </a:endParaRPr>
          </a:p>
          <a:p>
            <a:pPr marL="342900" indent="-342900" algn="l">
              <a:buFont typeface="+mj-lt"/>
              <a:buAutoNum type="alphaUcParenR"/>
            </a:pPr>
            <a:r>
              <a:rPr lang="ja-JP" altLang="en-US" sz="1400" dirty="0">
                <a:latin typeface="BIZ UDPゴシック" panose="020B0400000000000000" pitchFamily="50" charset="-128"/>
                <a:ea typeface="BIZ UDPゴシック" panose="020B0400000000000000" pitchFamily="50" charset="-128"/>
              </a:rPr>
              <a:t>提携約款とみなせるかどうか</a:t>
            </a:r>
            <a:endParaRPr lang="en-US" altLang="ja-JP" sz="1400" dirty="0">
              <a:latin typeface="BIZ UDPゴシック" panose="020B0400000000000000" pitchFamily="50" charset="-128"/>
              <a:ea typeface="BIZ UDPゴシック" panose="020B0400000000000000" pitchFamily="50" charset="-128"/>
            </a:endParaRPr>
          </a:p>
          <a:p>
            <a:pPr marL="342900" indent="-342900" algn="l">
              <a:buFont typeface="+mj-lt"/>
              <a:buAutoNum type="alphaUcParenR"/>
            </a:pPr>
            <a:r>
              <a:rPr kumimoji="1" lang="ja-JP" altLang="en-US" sz="1400" dirty="0">
                <a:latin typeface="BIZ UDPゴシック" panose="020B0400000000000000" pitchFamily="50" charset="-128"/>
                <a:ea typeface="BIZ UDPゴシック" panose="020B0400000000000000" pitchFamily="50" charset="-128"/>
              </a:rPr>
              <a:t>提携約款とした場合、同意取得無で対応可能な範囲の変更</a:t>
            </a:r>
          </a:p>
        </p:txBody>
      </p:sp>
      <p:sp>
        <p:nvSpPr>
          <p:cNvPr id="15" name="テキスト ボックス 14">
            <a:extLst>
              <a:ext uri="{FF2B5EF4-FFF2-40B4-BE49-F238E27FC236}">
                <a16:creationId xmlns:a16="http://schemas.microsoft.com/office/drawing/2014/main" id="{3D534EB9-F486-EF53-50A6-06AC1F337811}"/>
              </a:ext>
            </a:extLst>
          </p:cNvPr>
          <p:cNvSpPr txBox="1"/>
          <p:nvPr/>
        </p:nvSpPr>
        <p:spPr>
          <a:xfrm>
            <a:off x="2402754" y="4818519"/>
            <a:ext cx="359073" cy="215444"/>
          </a:xfrm>
          <a:prstGeom prst="rect">
            <a:avLst/>
          </a:prstGeom>
          <a:solidFill>
            <a:schemeClr val="accent2">
              <a:lumMod val="40000"/>
              <a:lumOff val="60000"/>
            </a:schemeClr>
          </a:solidFill>
        </p:spPr>
        <p:txBody>
          <a:bodyPr wrap="none" lIns="0" tIns="0" rIns="0" bIns="0" rtlCol="0" anchor="t" anchorCtr="0">
            <a:spAutoFit/>
          </a:bodyPr>
          <a:lstStyle/>
          <a:p>
            <a:pPr algn="l"/>
            <a:r>
              <a:rPr kumimoji="1" lang="ja-JP" altLang="en-US" sz="1400" dirty="0">
                <a:latin typeface="BIZ UDPゴシック" panose="020B0400000000000000" pitchFamily="50" charset="-128"/>
                <a:ea typeface="BIZ UDPゴシック" panose="020B0400000000000000" pitchFamily="50" charset="-128"/>
              </a:rPr>
              <a:t>推奨</a:t>
            </a:r>
          </a:p>
        </p:txBody>
      </p:sp>
      <p:cxnSp>
        <p:nvCxnSpPr>
          <p:cNvPr id="16" name="コネクタ: カギ線 15">
            <a:extLst>
              <a:ext uri="{FF2B5EF4-FFF2-40B4-BE49-F238E27FC236}">
                <a16:creationId xmlns:a16="http://schemas.microsoft.com/office/drawing/2014/main" id="{1EFEB315-4BE2-C2B9-15F1-38CC8FB54056}"/>
              </a:ext>
            </a:extLst>
          </p:cNvPr>
          <p:cNvCxnSpPr>
            <a:cxnSpLocks/>
            <a:stCxn id="8" idx="3"/>
            <a:endCxn id="10" idx="1"/>
          </p:cNvCxnSpPr>
          <p:nvPr/>
        </p:nvCxnSpPr>
        <p:spPr>
          <a:xfrm>
            <a:off x="1249363" y="3193562"/>
            <a:ext cx="1153391" cy="2297601"/>
          </a:xfrm>
          <a:prstGeom prst="bentConnector3">
            <a:avLst/>
          </a:prstGeom>
          <a:ln>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7" name="コネクタ: カギ線 16">
            <a:extLst>
              <a:ext uri="{FF2B5EF4-FFF2-40B4-BE49-F238E27FC236}">
                <a16:creationId xmlns:a16="http://schemas.microsoft.com/office/drawing/2014/main" id="{901BB80A-FA33-6B48-FF8B-D523773FEA70}"/>
              </a:ext>
            </a:extLst>
          </p:cNvPr>
          <p:cNvCxnSpPr>
            <a:cxnSpLocks/>
            <a:stCxn id="8" idx="3"/>
            <a:endCxn id="9" idx="1"/>
          </p:cNvCxnSpPr>
          <p:nvPr/>
        </p:nvCxnSpPr>
        <p:spPr>
          <a:xfrm>
            <a:off x="1249363" y="3193562"/>
            <a:ext cx="1153391" cy="12700"/>
          </a:xfrm>
          <a:prstGeom prst="bentConnector3">
            <a:avLst>
              <a:gd name="adj1" fmla="val 50000"/>
            </a:avLst>
          </a:prstGeom>
          <a:ln>
            <a:solidFill>
              <a:schemeClr val="bg1">
                <a:lumMod val="6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8" name="コネクタ: カギ線 17">
            <a:extLst>
              <a:ext uri="{FF2B5EF4-FFF2-40B4-BE49-F238E27FC236}">
                <a16:creationId xmlns:a16="http://schemas.microsoft.com/office/drawing/2014/main" id="{345791D6-253F-8C97-BCBF-95BB4A7E9F58}"/>
              </a:ext>
            </a:extLst>
          </p:cNvPr>
          <p:cNvCxnSpPr>
            <a:cxnSpLocks/>
            <a:stCxn id="9" idx="2"/>
            <a:endCxn id="13" idx="1"/>
          </p:cNvCxnSpPr>
          <p:nvPr/>
        </p:nvCxnSpPr>
        <p:spPr>
          <a:xfrm rot="16200000" flipH="1">
            <a:off x="3080341" y="3719948"/>
            <a:ext cx="438337" cy="299964"/>
          </a:xfrm>
          <a:prstGeom prst="bentConnector2">
            <a:avLst/>
          </a:prstGeom>
          <a:ln>
            <a:solidFill>
              <a:schemeClr val="bg1">
                <a:lumMod val="65000"/>
              </a:schemeClr>
            </a:solidFill>
            <a:prstDash val="sysDash"/>
            <a:tailEnd type="triangle"/>
          </a:ln>
        </p:spPr>
        <p:style>
          <a:lnRef idx="2">
            <a:schemeClr val="accent1"/>
          </a:lnRef>
          <a:fillRef idx="0">
            <a:schemeClr val="accent1"/>
          </a:fillRef>
          <a:effectRef idx="1">
            <a:schemeClr val="accent1"/>
          </a:effectRef>
          <a:fontRef idx="minor">
            <a:schemeClr val="tx1"/>
          </a:fontRef>
        </p:style>
      </p:cxnSp>
      <p:sp>
        <p:nvSpPr>
          <p:cNvPr id="19" name="二等辺三角形 18">
            <a:extLst>
              <a:ext uri="{FF2B5EF4-FFF2-40B4-BE49-F238E27FC236}">
                <a16:creationId xmlns:a16="http://schemas.microsoft.com/office/drawing/2014/main" id="{2EAF8F1F-1ADA-E03B-F7B5-0F0B34A08754}"/>
              </a:ext>
            </a:extLst>
          </p:cNvPr>
          <p:cNvSpPr/>
          <p:nvPr/>
        </p:nvSpPr>
        <p:spPr>
          <a:xfrm rot="10800000">
            <a:off x="602613" y="2357188"/>
            <a:ext cx="379100" cy="221578"/>
          </a:xfrm>
          <a:prstGeom prst="triangle">
            <a:avLst/>
          </a:prstGeom>
          <a:solidFill>
            <a:schemeClr val="accent2">
              <a:lumMod val="7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t" anchorCtr="0"/>
          <a:lstStyle/>
          <a:p>
            <a:pPr algn="l"/>
            <a:endParaRPr kumimoji="1" lang="ja-JP" altLang="en-US" sz="14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448291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F695D2-A53A-2F6E-9F94-2E0F83A6DEC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04A20C1-D556-6917-8E2A-65C46A840EFE}"/>
              </a:ext>
            </a:extLst>
          </p:cNvPr>
          <p:cNvSpPr>
            <a:spLocks noGrp="1"/>
          </p:cNvSpPr>
          <p:nvPr>
            <p:ph type="ctrTitle"/>
          </p:nvPr>
        </p:nvSpPr>
        <p:spPr/>
        <p:txBody>
          <a:bodyPr/>
          <a:lstStyle/>
          <a:p>
            <a:r>
              <a:rPr lang="ja-JP" altLang="en-US" dirty="0"/>
              <a:t>その他</a:t>
            </a:r>
            <a:endParaRPr kumimoji="1" lang="ja-JP" altLang="en-US" dirty="0"/>
          </a:p>
        </p:txBody>
      </p:sp>
      <p:sp>
        <p:nvSpPr>
          <p:cNvPr id="3" name="字幕 2">
            <a:extLst>
              <a:ext uri="{FF2B5EF4-FFF2-40B4-BE49-F238E27FC236}">
                <a16:creationId xmlns:a16="http://schemas.microsoft.com/office/drawing/2014/main" id="{705619FB-3839-CB25-0125-42272D5FF823}"/>
              </a:ext>
            </a:extLst>
          </p:cNvPr>
          <p:cNvSpPr>
            <a:spLocks noGrp="1"/>
          </p:cNvSpPr>
          <p:nvPr>
            <p:ph type="subTitle"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BD7BAEB-4B82-06EE-3C0C-3FC87087681C}"/>
              </a:ext>
            </a:extLst>
          </p:cNvPr>
          <p:cNvSpPr>
            <a:spLocks noGrp="1"/>
          </p:cNvSpPr>
          <p:nvPr>
            <p:ph type="sldNum" sz="quarter" idx="12"/>
          </p:nvPr>
        </p:nvSpPr>
        <p:spPr>
          <a:xfrm>
            <a:off x="8610604" y="6500553"/>
            <a:ext cx="3173412" cy="220927"/>
          </a:xfrm>
        </p:spPr>
        <p:txBody>
          <a:bodyPr/>
          <a:lstStyle/>
          <a:p>
            <a:fld id="{DCB5AA93-092B-49A1-87A7-3C88D5F38AD7}" type="slidenum">
              <a:rPr lang="ja-JP" altLang="en-US" smtClean="0"/>
              <a:pPr/>
              <a:t>43</a:t>
            </a:fld>
            <a:endParaRPr lang="ja-JP" altLang="en-US"/>
          </a:p>
        </p:txBody>
      </p:sp>
      <p:sp>
        <p:nvSpPr>
          <p:cNvPr id="5" name="フッター プレースホルダー 4">
            <a:extLst>
              <a:ext uri="{FF2B5EF4-FFF2-40B4-BE49-F238E27FC236}">
                <a16:creationId xmlns:a16="http://schemas.microsoft.com/office/drawing/2014/main" id="{C846B6E3-D5D9-3499-AE02-352F433D385C}"/>
              </a:ext>
            </a:extLst>
          </p:cNvPr>
          <p:cNvSpPr>
            <a:spLocks noGrp="1"/>
          </p:cNvSpPr>
          <p:nvPr>
            <p:ph type="ftr" sz="quarter" idx="11"/>
          </p:nvPr>
        </p:nvSpPr>
        <p:spPr>
          <a:xfrm>
            <a:off x="407990" y="6500553"/>
            <a:ext cx="7745413" cy="220927"/>
          </a:xfrm>
        </p:spPr>
        <p:txBody>
          <a:bodyPr/>
          <a:lstStyle/>
          <a:p>
            <a:r>
              <a:rPr lang="ja-JP" altLang="en-US"/>
              <a:t>プロジェクト</a:t>
            </a:r>
            <a:r>
              <a:rPr lang="en-US" altLang="ja-JP"/>
              <a:t>/</a:t>
            </a:r>
            <a:r>
              <a:rPr lang="ja-JP" altLang="en-US"/>
              <a:t>部署</a:t>
            </a:r>
            <a:r>
              <a:rPr lang="en-US" altLang="ja-JP"/>
              <a:t>/</a:t>
            </a:r>
            <a:r>
              <a:rPr lang="ja-JP" altLang="en-US"/>
              <a:t>書類管理情報</a:t>
            </a:r>
            <a:endParaRPr lang="en-US" altLang="ja-JP" dirty="0"/>
          </a:p>
        </p:txBody>
      </p:sp>
    </p:spTree>
    <p:extLst>
      <p:ext uri="{BB962C8B-B14F-4D97-AF65-F5344CB8AC3E}">
        <p14:creationId xmlns:p14="http://schemas.microsoft.com/office/powerpoint/2010/main" val="24631809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9FF0053-D623-DC7D-9D41-17CBBCD73BB7}"/>
              </a:ext>
            </a:extLst>
          </p:cNvPr>
          <p:cNvSpPr>
            <a:spLocks noGrp="1"/>
          </p:cNvSpPr>
          <p:nvPr>
            <p:ph type="title"/>
          </p:nvPr>
        </p:nvSpPr>
        <p:spPr/>
        <p:txBody>
          <a:bodyPr/>
          <a:lstStyle/>
          <a:p>
            <a:endParaRPr kumimoji="1" lang="ja-JP" altLang="en-US"/>
          </a:p>
        </p:txBody>
      </p:sp>
      <p:sp>
        <p:nvSpPr>
          <p:cNvPr id="3" name="フッター プレースホルダー 2">
            <a:extLst>
              <a:ext uri="{FF2B5EF4-FFF2-40B4-BE49-F238E27FC236}">
                <a16:creationId xmlns:a16="http://schemas.microsoft.com/office/drawing/2014/main" id="{464DEB74-DD1F-63DD-3A7B-305FA5A0799D}"/>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3B72939C-206F-D4C4-940D-CC31769522D8}"/>
              </a:ext>
            </a:extLst>
          </p:cNvPr>
          <p:cNvSpPr>
            <a:spLocks noGrp="1"/>
          </p:cNvSpPr>
          <p:nvPr>
            <p:ph type="sldNum" sz="quarter" idx="12"/>
          </p:nvPr>
        </p:nvSpPr>
        <p:spPr/>
        <p:txBody>
          <a:bodyPr/>
          <a:lstStyle/>
          <a:p>
            <a:fld id="{DCB5AA93-092B-49A1-87A7-3C88D5F38AD7}" type="slidenum">
              <a:rPr lang="ja-JP" altLang="en-US" smtClean="0"/>
              <a:pPr/>
              <a:t>44</a:t>
            </a:fld>
            <a:endParaRPr lang="ja-JP" altLang="en-US" sz="900" dirty="0"/>
          </a:p>
        </p:txBody>
      </p:sp>
      <p:sp>
        <p:nvSpPr>
          <p:cNvPr id="5" name="テキスト プレースホルダー 4">
            <a:extLst>
              <a:ext uri="{FF2B5EF4-FFF2-40B4-BE49-F238E27FC236}">
                <a16:creationId xmlns:a16="http://schemas.microsoft.com/office/drawing/2014/main" id="{4935909E-1B6B-DAC8-04BA-FB71F2157EB9}"/>
              </a:ext>
            </a:extLst>
          </p:cNvPr>
          <p:cNvSpPr>
            <a:spLocks noGrp="1"/>
          </p:cNvSpPr>
          <p:nvPr>
            <p:ph type="body" sz="quarter" idx="13"/>
          </p:nvPr>
        </p:nvSpPr>
        <p:spPr/>
        <p:txBody>
          <a:bodyPr/>
          <a:lstStyle/>
          <a:p>
            <a:endParaRPr kumimoji="1" lang="ja-JP" altLang="en-US"/>
          </a:p>
        </p:txBody>
      </p:sp>
      <p:sp>
        <p:nvSpPr>
          <p:cNvPr id="6" name="正方形/長方形 5">
            <a:extLst>
              <a:ext uri="{FF2B5EF4-FFF2-40B4-BE49-F238E27FC236}">
                <a16:creationId xmlns:a16="http://schemas.microsoft.com/office/drawing/2014/main" id="{C14838ED-9B2E-F72B-4AB4-57E6E05068C2}"/>
              </a:ext>
            </a:extLst>
          </p:cNvPr>
          <p:cNvSpPr/>
          <p:nvPr/>
        </p:nvSpPr>
        <p:spPr>
          <a:xfrm>
            <a:off x="770466" y="4934875"/>
            <a:ext cx="2188634" cy="914400"/>
          </a:xfrm>
          <a:prstGeom prst="rect">
            <a:avLst/>
          </a:prstGeom>
          <a:solidFill>
            <a:schemeClr val="tx1">
              <a:lumMod val="65000"/>
              <a:lumOff val="3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2117" b="1" dirty="0">
                <a:solidFill>
                  <a:schemeClr val="tx1">
                    <a:lumMod val="75000"/>
                    <a:lumOff val="25000"/>
                  </a:schemeClr>
                </a:solidFill>
                <a:latin typeface="BIZ UDPゴシック" panose="020B0400000000000000" pitchFamily="50" charset="-128"/>
                <a:ea typeface="BIZ UDPゴシック" panose="020B0400000000000000" pitchFamily="50" charset="-128"/>
              </a:rPr>
              <a:t>送ってはダメ</a:t>
            </a:r>
            <a:endParaRPr lang="en-US" altLang="ja-JP" sz="2117"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きっと後悔します</a:t>
            </a:r>
          </a:p>
        </p:txBody>
      </p:sp>
      <p:sp>
        <p:nvSpPr>
          <p:cNvPr id="7" name="正方形/長方形 6">
            <a:extLst>
              <a:ext uri="{FF2B5EF4-FFF2-40B4-BE49-F238E27FC236}">
                <a16:creationId xmlns:a16="http://schemas.microsoft.com/office/drawing/2014/main" id="{AD6CE316-5E83-6952-60F0-816B8F6E5B51}"/>
              </a:ext>
            </a:extLst>
          </p:cNvPr>
          <p:cNvSpPr/>
          <p:nvPr/>
        </p:nvSpPr>
        <p:spPr>
          <a:xfrm>
            <a:off x="3591277" y="4934875"/>
            <a:ext cx="2188634" cy="914400"/>
          </a:xfrm>
          <a:prstGeom prst="rect">
            <a:avLst/>
          </a:prstGeom>
          <a:solidFill>
            <a:schemeClr val="tx1">
              <a:lumMod val="65000"/>
              <a:lumOff val="3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2117" b="1" dirty="0">
                <a:solidFill>
                  <a:schemeClr val="tx1">
                    <a:lumMod val="75000"/>
                    <a:lumOff val="25000"/>
                  </a:schemeClr>
                </a:solidFill>
                <a:latin typeface="BIZ UDPゴシック" panose="020B0400000000000000" pitchFamily="50" charset="-128"/>
                <a:ea typeface="BIZ UDPゴシック" panose="020B0400000000000000" pitchFamily="50" charset="-128"/>
              </a:rPr>
              <a:t>送ってはダメ</a:t>
            </a:r>
            <a:endParaRPr lang="en-US" altLang="ja-JP" sz="2117"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冷たい視線</a:t>
            </a:r>
          </a:p>
        </p:txBody>
      </p:sp>
      <p:sp>
        <p:nvSpPr>
          <p:cNvPr id="8" name="正方形/長方形 7">
            <a:extLst>
              <a:ext uri="{FF2B5EF4-FFF2-40B4-BE49-F238E27FC236}">
                <a16:creationId xmlns:a16="http://schemas.microsoft.com/office/drawing/2014/main" id="{1D0594D2-76B1-AE6B-6561-9D9D1F430F3C}"/>
              </a:ext>
            </a:extLst>
          </p:cNvPr>
          <p:cNvSpPr/>
          <p:nvPr/>
        </p:nvSpPr>
        <p:spPr>
          <a:xfrm>
            <a:off x="6412088" y="4934875"/>
            <a:ext cx="2188634" cy="914400"/>
          </a:xfrm>
          <a:prstGeom prst="rect">
            <a:avLst/>
          </a:prstGeom>
          <a:solidFill>
            <a:schemeClr val="tx1">
              <a:lumMod val="65000"/>
              <a:lumOff val="3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2117" b="1" dirty="0">
                <a:solidFill>
                  <a:schemeClr val="tx1">
                    <a:lumMod val="75000"/>
                    <a:lumOff val="25000"/>
                  </a:schemeClr>
                </a:solidFill>
                <a:latin typeface="BIZ UDPゴシック" panose="020B0400000000000000" pitchFamily="50" charset="-128"/>
                <a:ea typeface="BIZ UDPゴシック" panose="020B0400000000000000" pitchFamily="50" charset="-128"/>
              </a:rPr>
              <a:t>送っちゃえ</a:t>
            </a:r>
            <a:endParaRPr lang="en-US" altLang="ja-JP" sz="2117"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申し訳なさそうに</a:t>
            </a:r>
          </a:p>
        </p:txBody>
      </p:sp>
      <p:sp>
        <p:nvSpPr>
          <p:cNvPr id="9" name="正方形/長方形 8">
            <a:extLst>
              <a:ext uri="{FF2B5EF4-FFF2-40B4-BE49-F238E27FC236}">
                <a16:creationId xmlns:a16="http://schemas.microsoft.com/office/drawing/2014/main" id="{B31996C2-2D95-80F5-2EE0-83F55C00EC0C}"/>
              </a:ext>
            </a:extLst>
          </p:cNvPr>
          <p:cNvSpPr/>
          <p:nvPr/>
        </p:nvSpPr>
        <p:spPr>
          <a:xfrm>
            <a:off x="9232900" y="4934875"/>
            <a:ext cx="2188634" cy="914400"/>
          </a:xfrm>
          <a:prstGeom prst="rect">
            <a:avLst/>
          </a:prstGeom>
          <a:solidFill>
            <a:schemeClr val="tx1">
              <a:lumMod val="65000"/>
              <a:lumOff val="3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2117" b="1" dirty="0">
                <a:solidFill>
                  <a:schemeClr val="tx1">
                    <a:lumMod val="75000"/>
                    <a:lumOff val="25000"/>
                  </a:schemeClr>
                </a:solidFill>
                <a:latin typeface="BIZ UDPゴシック" panose="020B0400000000000000" pitchFamily="50" charset="-128"/>
                <a:ea typeface="BIZ UDPゴシック" panose="020B0400000000000000" pitchFamily="50" charset="-128"/>
              </a:rPr>
              <a:t>送ってはダメ</a:t>
            </a:r>
            <a:endParaRPr lang="en-US" altLang="ja-JP" sz="2117"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学習しないやつ</a:t>
            </a:r>
            <a:endParaRPr lang="en-US" altLang="ja-JP" sz="1400" b="1"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b="1" dirty="0">
                <a:solidFill>
                  <a:schemeClr val="tx1">
                    <a:lumMod val="75000"/>
                    <a:lumOff val="25000"/>
                  </a:schemeClr>
                </a:solidFill>
                <a:latin typeface="BIZ UDPゴシック" panose="020B0400000000000000" pitchFamily="50" charset="-128"/>
                <a:ea typeface="BIZ UDPゴシック" panose="020B0400000000000000" pitchFamily="50" charset="-128"/>
              </a:rPr>
              <a:t>とみなされる</a:t>
            </a:r>
          </a:p>
        </p:txBody>
      </p:sp>
      <p:sp>
        <p:nvSpPr>
          <p:cNvPr id="10" name="四角形: 角を丸くする 9">
            <a:extLst>
              <a:ext uri="{FF2B5EF4-FFF2-40B4-BE49-F238E27FC236}">
                <a16:creationId xmlns:a16="http://schemas.microsoft.com/office/drawing/2014/main" id="{27EEE5EA-2518-9D64-851A-802D4348F776}"/>
              </a:ext>
            </a:extLst>
          </p:cNvPr>
          <p:cNvSpPr/>
          <p:nvPr/>
        </p:nvSpPr>
        <p:spPr>
          <a:xfrm>
            <a:off x="770466" y="2495088"/>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昨日は飲み会</a:t>
            </a:r>
            <a:r>
              <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rPr>
              <a:t>?</a:t>
            </a:r>
            <a:endPar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p:txBody>
      </p:sp>
      <p:sp>
        <p:nvSpPr>
          <p:cNvPr id="11" name="四角形: 角を丸くする 10">
            <a:extLst>
              <a:ext uri="{FF2B5EF4-FFF2-40B4-BE49-F238E27FC236}">
                <a16:creationId xmlns:a16="http://schemas.microsoft.com/office/drawing/2014/main" id="{4BF9FE42-CBDC-64F6-4CEA-21975504B2A7}"/>
              </a:ext>
            </a:extLst>
          </p:cNvPr>
          <p:cNvSpPr/>
          <p:nvPr/>
        </p:nvSpPr>
        <p:spPr>
          <a:xfrm>
            <a:off x="3591277" y="2495088"/>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その上司とは</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親しい？</a:t>
            </a:r>
          </a:p>
        </p:txBody>
      </p:sp>
      <p:sp>
        <p:nvSpPr>
          <p:cNvPr id="12" name="四角形: 角を丸くする 11">
            <a:extLst>
              <a:ext uri="{FF2B5EF4-FFF2-40B4-BE49-F238E27FC236}">
                <a16:creationId xmlns:a16="http://schemas.microsoft.com/office/drawing/2014/main" id="{E96F6B39-DC4B-4276-326B-57C47C552E33}"/>
              </a:ext>
            </a:extLst>
          </p:cNvPr>
          <p:cNvSpPr/>
          <p:nvPr/>
        </p:nvSpPr>
        <p:spPr>
          <a:xfrm>
            <a:off x="6412088" y="2495088"/>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これまでにメールで遅刻連絡をしたことがある？</a:t>
            </a:r>
          </a:p>
        </p:txBody>
      </p:sp>
      <p:sp>
        <p:nvSpPr>
          <p:cNvPr id="13" name="四角形: 角を丸くする 12">
            <a:extLst>
              <a:ext uri="{FF2B5EF4-FFF2-40B4-BE49-F238E27FC236}">
                <a16:creationId xmlns:a16="http://schemas.microsoft.com/office/drawing/2014/main" id="{88747E70-5076-9B52-F6ED-4AD512A820BB}"/>
              </a:ext>
            </a:extLst>
          </p:cNvPr>
          <p:cNvSpPr/>
          <p:nvPr/>
        </p:nvSpPr>
        <p:spPr>
          <a:xfrm>
            <a:off x="6413500" y="3613150"/>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そのときに</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怒られたことは</a:t>
            </a:r>
            <a:endParaRPr lang="en-US" altLang="ja-JP" sz="1400" dirty="0">
              <a:solidFill>
                <a:schemeClr val="tx1">
                  <a:lumMod val="75000"/>
                  <a:lumOff val="25000"/>
                </a:schemeClr>
              </a:solidFill>
              <a:latin typeface="BIZ UDPゴシック" panose="020B0400000000000000" pitchFamily="50" charset="-128"/>
              <a:ea typeface="BIZ UDPゴシック" panose="020B0400000000000000" pitchFamily="50" charset="-128"/>
            </a:endParaRPr>
          </a:p>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ある？</a:t>
            </a:r>
          </a:p>
        </p:txBody>
      </p:sp>
      <p:sp>
        <p:nvSpPr>
          <p:cNvPr id="14" name="四角形: 角を丸くする 13">
            <a:extLst>
              <a:ext uri="{FF2B5EF4-FFF2-40B4-BE49-F238E27FC236}">
                <a16:creationId xmlns:a16="http://schemas.microsoft.com/office/drawing/2014/main" id="{6B2CE91B-3C77-F517-4F8B-04E0735869B8}"/>
              </a:ext>
            </a:extLst>
          </p:cNvPr>
          <p:cNvSpPr/>
          <p:nvPr/>
        </p:nvSpPr>
        <p:spPr>
          <a:xfrm>
            <a:off x="9232900" y="2495088"/>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メール以外に連絡手段がない？</a:t>
            </a:r>
          </a:p>
        </p:txBody>
      </p:sp>
      <p:sp>
        <p:nvSpPr>
          <p:cNvPr id="15" name="四角形: 角を丸くする 14">
            <a:extLst>
              <a:ext uri="{FF2B5EF4-FFF2-40B4-BE49-F238E27FC236}">
                <a16:creationId xmlns:a16="http://schemas.microsoft.com/office/drawing/2014/main" id="{F6747871-050B-5AC8-C464-D6E7100D2AB6}"/>
              </a:ext>
            </a:extLst>
          </p:cNvPr>
          <p:cNvSpPr/>
          <p:nvPr/>
        </p:nvSpPr>
        <p:spPr>
          <a:xfrm>
            <a:off x="9232900" y="3613150"/>
            <a:ext cx="2188634" cy="914400"/>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メールで連絡したことに怒っていた？</a:t>
            </a:r>
          </a:p>
        </p:txBody>
      </p:sp>
      <p:cxnSp>
        <p:nvCxnSpPr>
          <p:cNvPr id="16" name="直線コネクタ 15">
            <a:extLst>
              <a:ext uri="{FF2B5EF4-FFF2-40B4-BE49-F238E27FC236}">
                <a16:creationId xmlns:a16="http://schemas.microsoft.com/office/drawing/2014/main" id="{296BB191-0862-D9D6-D3B7-BF81E10C4C39}"/>
              </a:ext>
              <a:ext uri="{C183D7F6-B498-43B3-948B-1728B52AA6E4}">
                <adec:decorative xmlns:adec="http://schemas.microsoft.com/office/drawing/2017/decorative" val="1"/>
              </a:ext>
            </a:extLst>
          </p:cNvPr>
          <p:cNvCxnSpPr>
            <a:cxnSpLocks/>
            <a:stCxn id="10" idx="2"/>
            <a:endCxn id="6" idx="0"/>
          </p:cNvCxnSpPr>
          <p:nvPr/>
        </p:nvCxnSpPr>
        <p:spPr>
          <a:xfrm>
            <a:off x="1864783" y="3409491"/>
            <a:ext cx="0" cy="1525387"/>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45418CD5-C70A-310B-75E4-859AA24DF758}"/>
              </a:ext>
              <a:ext uri="{C183D7F6-B498-43B3-948B-1728B52AA6E4}">
                <adec:decorative xmlns:adec="http://schemas.microsoft.com/office/drawing/2017/decorative" val="1"/>
              </a:ext>
            </a:extLst>
          </p:cNvPr>
          <p:cNvCxnSpPr>
            <a:cxnSpLocks/>
            <a:stCxn id="11" idx="2"/>
            <a:endCxn id="7" idx="0"/>
          </p:cNvCxnSpPr>
          <p:nvPr/>
        </p:nvCxnSpPr>
        <p:spPr>
          <a:xfrm>
            <a:off x="4685594" y="3409491"/>
            <a:ext cx="0" cy="1525387"/>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6AB1C37A-A8C8-1758-41A0-734BD3531B15}"/>
              </a:ext>
              <a:ext uri="{C183D7F6-B498-43B3-948B-1728B52AA6E4}">
                <adec:decorative xmlns:adec="http://schemas.microsoft.com/office/drawing/2017/decorative" val="1"/>
              </a:ext>
            </a:extLst>
          </p:cNvPr>
          <p:cNvCxnSpPr>
            <a:cxnSpLocks/>
            <a:endCxn id="13" idx="0"/>
          </p:cNvCxnSpPr>
          <p:nvPr/>
        </p:nvCxnSpPr>
        <p:spPr>
          <a:xfrm>
            <a:off x="7497940" y="3427556"/>
            <a:ext cx="9878" cy="185594"/>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E20E469E-01F1-16F3-24BB-5EDBE8B8ACC3}"/>
              </a:ext>
              <a:ext uri="{C183D7F6-B498-43B3-948B-1728B52AA6E4}">
                <adec:decorative xmlns:adec="http://schemas.microsoft.com/office/drawing/2017/decorative" val="1"/>
              </a:ext>
            </a:extLst>
          </p:cNvPr>
          <p:cNvCxnSpPr>
            <a:cxnSpLocks/>
            <a:stCxn id="13" idx="2"/>
            <a:endCxn id="8" idx="0"/>
          </p:cNvCxnSpPr>
          <p:nvPr/>
        </p:nvCxnSpPr>
        <p:spPr>
          <a:xfrm flipH="1">
            <a:off x="7506407" y="4527555"/>
            <a:ext cx="1412" cy="407325"/>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20" name="吹き出し: 角を丸めた四角形 19">
            <a:extLst>
              <a:ext uri="{FF2B5EF4-FFF2-40B4-BE49-F238E27FC236}">
                <a16:creationId xmlns:a16="http://schemas.microsoft.com/office/drawing/2014/main" id="{F94BA5EB-839A-46D3-3A96-C6238B00A5F9}"/>
              </a:ext>
            </a:extLst>
          </p:cNvPr>
          <p:cNvSpPr/>
          <p:nvPr/>
        </p:nvSpPr>
        <p:spPr>
          <a:xfrm>
            <a:off x="770466" y="1628775"/>
            <a:ext cx="2188634" cy="612648"/>
          </a:xfrm>
          <a:prstGeom prst="wedgeRoundRectCallout">
            <a:avLst>
              <a:gd name="adj1" fmla="val -20833"/>
              <a:gd name="adj2" fmla="val 77702"/>
              <a:gd name="adj3" fmla="val 16667"/>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遅刻の連絡をメールで上司に伝えてよい？</a:t>
            </a:r>
          </a:p>
        </p:txBody>
      </p:sp>
      <p:cxnSp>
        <p:nvCxnSpPr>
          <p:cNvPr id="21" name="直線コネクタ 20">
            <a:extLst>
              <a:ext uri="{FF2B5EF4-FFF2-40B4-BE49-F238E27FC236}">
                <a16:creationId xmlns:a16="http://schemas.microsoft.com/office/drawing/2014/main" id="{0A853D09-C9A6-760A-4ECE-9ADD85585807}"/>
              </a:ext>
              <a:ext uri="{C183D7F6-B498-43B3-948B-1728B52AA6E4}">
                <adec:decorative xmlns:adec="http://schemas.microsoft.com/office/drawing/2017/decorative" val="1"/>
              </a:ext>
            </a:extLst>
          </p:cNvPr>
          <p:cNvCxnSpPr>
            <a:cxnSpLocks/>
            <a:stCxn id="10" idx="3"/>
            <a:endCxn id="11" idx="1"/>
          </p:cNvCxnSpPr>
          <p:nvPr/>
        </p:nvCxnSpPr>
        <p:spPr>
          <a:xfrm>
            <a:off x="2959103" y="2952288"/>
            <a:ext cx="632177"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直線コネクタ 21">
            <a:extLst>
              <a:ext uri="{FF2B5EF4-FFF2-40B4-BE49-F238E27FC236}">
                <a16:creationId xmlns:a16="http://schemas.microsoft.com/office/drawing/2014/main" id="{ED16DE9E-8817-F9D0-F204-C1690E75EFF9}"/>
              </a:ext>
              <a:ext uri="{C183D7F6-B498-43B3-948B-1728B52AA6E4}">
                <adec:decorative xmlns:adec="http://schemas.microsoft.com/office/drawing/2017/decorative" val="1"/>
              </a:ext>
            </a:extLst>
          </p:cNvPr>
          <p:cNvCxnSpPr>
            <a:cxnSpLocks/>
            <a:stCxn id="11" idx="3"/>
            <a:endCxn id="12" idx="1"/>
          </p:cNvCxnSpPr>
          <p:nvPr/>
        </p:nvCxnSpPr>
        <p:spPr>
          <a:xfrm>
            <a:off x="5779913" y="2952288"/>
            <a:ext cx="632177"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DA8AEB1-887F-24DF-E600-8F7FCD2A06AA}"/>
              </a:ext>
              <a:ext uri="{C183D7F6-B498-43B3-948B-1728B52AA6E4}">
                <adec:decorative xmlns:adec="http://schemas.microsoft.com/office/drawing/2017/decorative" val="1"/>
              </a:ext>
            </a:extLst>
          </p:cNvPr>
          <p:cNvCxnSpPr>
            <a:cxnSpLocks/>
            <a:stCxn id="12" idx="3"/>
            <a:endCxn id="14" idx="1"/>
          </p:cNvCxnSpPr>
          <p:nvPr/>
        </p:nvCxnSpPr>
        <p:spPr>
          <a:xfrm>
            <a:off x="8600724" y="2952288"/>
            <a:ext cx="632178"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2C238F6D-9BB5-7C7E-1A61-E931530B00C7}"/>
              </a:ext>
              <a:ext uri="{C183D7F6-B498-43B3-948B-1728B52AA6E4}">
                <adec:decorative xmlns:adec="http://schemas.microsoft.com/office/drawing/2017/decorative" val="1"/>
              </a:ext>
            </a:extLst>
          </p:cNvPr>
          <p:cNvCxnSpPr>
            <a:cxnSpLocks/>
            <a:stCxn id="13" idx="3"/>
            <a:endCxn id="15" idx="1"/>
          </p:cNvCxnSpPr>
          <p:nvPr/>
        </p:nvCxnSpPr>
        <p:spPr>
          <a:xfrm>
            <a:off x="8602134" y="4070350"/>
            <a:ext cx="630766"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コネクタ: カギ線 24">
            <a:extLst>
              <a:ext uri="{FF2B5EF4-FFF2-40B4-BE49-F238E27FC236}">
                <a16:creationId xmlns:a16="http://schemas.microsoft.com/office/drawing/2014/main" id="{875C8C25-3A5E-A509-9893-C482C4CF65C2}"/>
              </a:ext>
              <a:ext uri="{C183D7F6-B498-43B3-948B-1728B52AA6E4}">
                <adec:decorative xmlns:adec="http://schemas.microsoft.com/office/drawing/2017/decorative" val="1"/>
              </a:ext>
            </a:extLst>
          </p:cNvPr>
          <p:cNvCxnSpPr>
            <a:cxnSpLocks/>
            <a:stCxn id="15" idx="3"/>
            <a:endCxn id="9" idx="0"/>
          </p:cNvCxnSpPr>
          <p:nvPr/>
        </p:nvCxnSpPr>
        <p:spPr>
          <a:xfrm flipH="1">
            <a:off x="10327220" y="4070355"/>
            <a:ext cx="1094317" cy="864525"/>
          </a:xfrm>
          <a:prstGeom prst="bentConnector4">
            <a:avLst>
              <a:gd name="adj1" fmla="val -20890"/>
              <a:gd name="adj2" fmla="val 76442"/>
            </a:avLst>
          </a:prstGeom>
          <a:ln w="28575">
            <a:solidFill>
              <a:schemeClr val="accent2">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6" name="楕円 25">
            <a:extLst>
              <a:ext uri="{FF2B5EF4-FFF2-40B4-BE49-F238E27FC236}">
                <a16:creationId xmlns:a16="http://schemas.microsoft.com/office/drawing/2014/main" id="{0F9D2F01-9917-E5C1-1AC5-02E916099D1E}"/>
              </a:ext>
            </a:extLst>
          </p:cNvPr>
          <p:cNvSpPr/>
          <p:nvPr/>
        </p:nvSpPr>
        <p:spPr>
          <a:xfrm>
            <a:off x="3086102" y="1657144"/>
            <a:ext cx="774700" cy="277956"/>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はい</a:t>
            </a:r>
          </a:p>
        </p:txBody>
      </p:sp>
      <p:sp>
        <p:nvSpPr>
          <p:cNvPr id="27" name="楕円 26">
            <a:extLst>
              <a:ext uri="{FF2B5EF4-FFF2-40B4-BE49-F238E27FC236}">
                <a16:creationId xmlns:a16="http://schemas.microsoft.com/office/drawing/2014/main" id="{322E43DB-100A-F4C2-751B-6550A9D9F7C5}"/>
              </a:ext>
            </a:extLst>
          </p:cNvPr>
          <p:cNvSpPr/>
          <p:nvPr/>
        </p:nvSpPr>
        <p:spPr>
          <a:xfrm>
            <a:off x="3086102" y="1950510"/>
            <a:ext cx="774700" cy="277956"/>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いいえ</a:t>
            </a:r>
          </a:p>
        </p:txBody>
      </p:sp>
      <p:cxnSp>
        <p:nvCxnSpPr>
          <p:cNvPr id="28" name="直線コネクタ 27">
            <a:extLst>
              <a:ext uri="{FF2B5EF4-FFF2-40B4-BE49-F238E27FC236}">
                <a16:creationId xmlns:a16="http://schemas.microsoft.com/office/drawing/2014/main" id="{4FD81FA8-F436-DE99-CE84-E375F93D7369}"/>
              </a:ext>
              <a:ext uri="{C183D7F6-B498-43B3-948B-1728B52AA6E4}">
                <adec:decorative xmlns:adec="http://schemas.microsoft.com/office/drawing/2017/decorative" val="1"/>
              </a:ext>
            </a:extLst>
          </p:cNvPr>
          <p:cNvCxnSpPr>
            <a:cxnSpLocks/>
          </p:cNvCxnSpPr>
          <p:nvPr/>
        </p:nvCxnSpPr>
        <p:spPr>
          <a:xfrm>
            <a:off x="3860800" y="1787654"/>
            <a:ext cx="258234" cy="0"/>
          </a:xfrm>
          <a:prstGeom prst="line">
            <a:avLst/>
          </a:prstGeom>
          <a:ln w="28575">
            <a:solidFill>
              <a:schemeClr val="accent2">
                <a:lumMod val="60000"/>
                <a:lumOff val="40000"/>
              </a:schemeClr>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E87EBE1F-CB8F-D031-B4FC-BFE6E854590C}"/>
              </a:ext>
              <a:ext uri="{C183D7F6-B498-43B3-948B-1728B52AA6E4}">
                <adec:decorative xmlns:adec="http://schemas.microsoft.com/office/drawing/2017/decorative" val="1"/>
              </a:ext>
            </a:extLst>
          </p:cNvPr>
          <p:cNvCxnSpPr>
            <a:cxnSpLocks/>
          </p:cNvCxnSpPr>
          <p:nvPr/>
        </p:nvCxnSpPr>
        <p:spPr>
          <a:xfrm>
            <a:off x="3860800" y="2081019"/>
            <a:ext cx="258234" cy="0"/>
          </a:xfrm>
          <a:prstGeom prst="line">
            <a:avLst/>
          </a:prstGeom>
          <a:ln w="28575">
            <a:solidFill>
              <a:schemeClr val="accent2">
                <a:lumMod val="60000"/>
                <a:lumOff val="40000"/>
              </a:schemeClr>
            </a:solidFill>
            <a:prstDash val="sysDot"/>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6736105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B02284-51DF-C5E9-C708-8901A7124932}"/>
              </a:ext>
            </a:extLst>
          </p:cNvPr>
          <p:cNvSpPr>
            <a:spLocks noGrp="1"/>
          </p:cNvSpPr>
          <p:nvPr>
            <p:ph type="title"/>
          </p:nvPr>
        </p:nvSpPr>
        <p:spPr/>
        <p:txBody>
          <a:bodyPr/>
          <a:lstStyle/>
          <a:p>
            <a:r>
              <a:rPr lang="ja-JP" altLang="en-US" dirty="0"/>
              <a:t>データ越境のヒアリング調査対象企業</a:t>
            </a:r>
            <a:endParaRPr kumimoji="1" lang="ja-JP" altLang="en-US" dirty="0"/>
          </a:p>
        </p:txBody>
      </p:sp>
      <p:sp>
        <p:nvSpPr>
          <p:cNvPr id="3" name="フッター プレースホルダー 2">
            <a:extLst>
              <a:ext uri="{FF2B5EF4-FFF2-40B4-BE49-F238E27FC236}">
                <a16:creationId xmlns:a16="http://schemas.microsoft.com/office/drawing/2014/main" id="{B8716B11-7257-C124-D772-D477C227E680}"/>
              </a:ext>
            </a:extLst>
          </p:cNvPr>
          <p:cNvSpPr>
            <a:spLocks noGrp="1"/>
          </p:cNvSpPr>
          <p:nvPr>
            <p:ph type="ftr" sz="quarter" idx="11"/>
          </p:nvPr>
        </p:nvSpPr>
        <p:spPr/>
        <p:txBody>
          <a:bodyPr/>
          <a:lstStyle/>
          <a:p>
            <a:r>
              <a:rPr lang="ja-JP" altLang="en-US"/>
              <a:t>出所：</a:t>
            </a:r>
            <a:endParaRPr lang="ja-JP" altLang="en-US" sz="900" dirty="0"/>
          </a:p>
        </p:txBody>
      </p:sp>
      <p:sp>
        <p:nvSpPr>
          <p:cNvPr id="4" name="スライド番号プレースホルダー 3">
            <a:extLst>
              <a:ext uri="{FF2B5EF4-FFF2-40B4-BE49-F238E27FC236}">
                <a16:creationId xmlns:a16="http://schemas.microsoft.com/office/drawing/2014/main" id="{835D6128-DE78-69F3-7BE2-DB5358E674F8}"/>
              </a:ext>
            </a:extLst>
          </p:cNvPr>
          <p:cNvSpPr>
            <a:spLocks noGrp="1"/>
          </p:cNvSpPr>
          <p:nvPr>
            <p:ph type="sldNum" sz="quarter" idx="12"/>
          </p:nvPr>
        </p:nvSpPr>
        <p:spPr/>
        <p:txBody>
          <a:bodyPr/>
          <a:lstStyle/>
          <a:p>
            <a:fld id="{DCB5AA93-092B-49A1-87A7-3C88D5F38AD7}" type="slidenum">
              <a:rPr lang="ja-JP" altLang="en-US" smtClean="0"/>
              <a:pPr/>
              <a:t>45</a:t>
            </a:fld>
            <a:endParaRPr lang="ja-JP" altLang="en-US" sz="900" dirty="0"/>
          </a:p>
        </p:txBody>
      </p:sp>
      <p:sp>
        <p:nvSpPr>
          <p:cNvPr id="5" name="テキスト プレースホルダー 4">
            <a:extLst>
              <a:ext uri="{FF2B5EF4-FFF2-40B4-BE49-F238E27FC236}">
                <a16:creationId xmlns:a16="http://schemas.microsoft.com/office/drawing/2014/main" id="{4AAEF4AB-63C5-E212-3314-F526EB2C7B05}"/>
              </a:ext>
            </a:extLst>
          </p:cNvPr>
          <p:cNvSpPr>
            <a:spLocks noGrp="1"/>
          </p:cNvSpPr>
          <p:nvPr>
            <p:ph type="body" sz="quarter" idx="13"/>
          </p:nvPr>
        </p:nvSpPr>
        <p:spPr/>
        <p:txBody>
          <a:bodyPr/>
          <a:lstStyle/>
          <a:p>
            <a:endParaRPr kumimoji="1" lang="ja-JP" altLang="en-US"/>
          </a:p>
        </p:txBody>
      </p:sp>
      <p:cxnSp>
        <p:nvCxnSpPr>
          <p:cNvPr id="6" name="直線コネクタ 5">
            <a:extLst>
              <a:ext uri="{FF2B5EF4-FFF2-40B4-BE49-F238E27FC236}">
                <a16:creationId xmlns:a16="http://schemas.microsoft.com/office/drawing/2014/main" id="{56447016-B73C-6ACE-A8DD-F6158D59098E}"/>
              </a:ext>
              <a:ext uri="{C183D7F6-B498-43B3-948B-1728B52AA6E4}">
                <adec:decorative xmlns:adec="http://schemas.microsoft.com/office/drawing/2017/decorative" val="1"/>
              </a:ext>
            </a:extLst>
          </p:cNvPr>
          <p:cNvCxnSpPr>
            <a:cxnSpLocks/>
          </p:cNvCxnSpPr>
          <p:nvPr/>
        </p:nvCxnSpPr>
        <p:spPr>
          <a:xfrm flipV="1">
            <a:off x="3954361" y="1453276"/>
            <a:ext cx="7875894" cy="26528"/>
          </a:xfrm>
          <a:prstGeom prst="line">
            <a:avLst/>
          </a:prstGeom>
          <a:ln w="9525">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7" name="テキスト ボックス 6">
            <a:extLst>
              <a:ext uri="{FF2B5EF4-FFF2-40B4-BE49-F238E27FC236}">
                <a16:creationId xmlns:a16="http://schemas.microsoft.com/office/drawing/2014/main" id="{80AA26E9-E39A-69A0-56E1-63CDBA5BC4DB}"/>
              </a:ext>
            </a:extLst>
          </p:cNvPr>
          <p:cNvSpPr txBox="1"/>
          <p:nvPr/>
        </p:nvSpPr>
        <p:spPr>
          <a:xfrm>
            <a:off x="4121832" y="1268610"/>
            <a:ext cx="615553" cy="184666"/>
          </a:xfrm>
          <a:prstGeom prst="rect">
            <a:avLst/>
          </a:prstGeom>
          <a:noFill/>
        </p:spPr>
        <p:txBody>
          <a:bodyPr wrap="none" lIns="0" tIns="0" rIns="0" bIns="0" rtlCol="0">
            <a:spAutoFit/>
          </a:bodyPr>
          <a:lstStyle/>
          <a:p>
            <a:r>
              <a:rPr lang="ja-JP" altLang="en-US" sz="1200" b="1" dirty="0">
                <a:latin typeface="BIZ UDPゴシック" panose="020B0400000000000000" pitchFamily="50" charset="-128"/>
                <a:ea typeface="BIZ UDPゴシック" panose="020B0400000000000000" pitchFamily="50" charset="-128"/>
              </a:rPr>
              <a:t>事業運営</a:t>
            </a:r>
            <a:endParaRPr lang="en-US" altLang="ja-JP" sz="1200" b="1" dirty="0">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9DD7279D-A4FF-3644-3F69-9AABC1081516}"/>
              </a:ext>
            </a:extLst>
          </p:cNvPr>
          <p:cNvSpPr txBox="1"/>
          <p:nvPr/>
        </p:nvSpPr>
        <p:spPr>
          <a:xfrm>
            <a:off x="1433457" y="1674950"/>
            <a:ext cx="2358458" cy="369332"/>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a:p>
            <a:r>
              <a:rPr lang="ja-JP" altLang="en-US" sz="1200" dirty="0">
                <a:solidFill>
                  <a:schemeClr val="accent3"/>
                </a:solidFill>
                <a:latin typeface="BIZ UDPゴシック" panose="020B0400000000000000" pitchFamily="50" charset="-128"/>
                <a:ea typeface="BIZ UDPゴシック" panose="020B0400000000000000" pitchFamily="50" charset="-128"/>
              </a:rPr>
              <a:t>    充分制認定取得地域</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4047A8F6-CD0E-8B1A-0FFF-36CC5AF47A8D}"/>
              </a:ext>
            </a:extLst>
          </p:cNvPr>
          <p:cNvSpPr txBox="1"/>
          <p:nvPr/>
        </p:nvSpPr>
        <p:spPr>
          <a:xfrm>
            <a:off x="4121832" y="1674950"/>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2B1B341B-9A09-444B-3123-ABE2B9F77D5B}"/>
              </a:ext>
            </a:extLst>
          </p:cNvPr>
          <p:cNvSpPr txBox="1"/>
          <p:nvPr/>
        </p:nvSpPr>
        <p:spPr>
          <a:xfrm>
            <a:off x="1433457" y="3137221"/>
            <a:ext cx="2520904" cy="184666"/>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日本市場における売上拡大</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494B72F7-D1B1-8329-EC5E-4479F90E9A73}"/>
              </a:ext>
            </a:extLst>
          </p:cNvPr>
          <p:cNvSpPr txBox="1"/>
          <p:nvPr/>
        </p:nvSpPr>
        <p:spPr>
          <a:xfrm>
            <a:off x="4121832" y="23822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cxnSp>
        <p:nvCxnSpPr>
          <p:cNvPr id="12" name="直線コネクタ 11">
            <a:extLst>
              <a:ext uri="{FF2B5EF4-FFF2-40B4-BE49-F238E27FC236}">
                <a16:creationId xmlns:a16="http://schemas.microsoft.com/office/drawing/2014/main" id="{492170AE-7337-2D09-8A7D-B2B5346EFB85}"/>
              </a:ext>
            </a:extLst>
          </p:cNvPr>
          <p:cNvCxnSpPr>
            <a:cxnSpLocks/>
          </p:cNvCxnSpPr>
          <p:nvPr/>
        </p:nvCxnSpPr>
        <p:spPr>
          <a:xfrm>
            <a:off x="328708" y="2999040"/>
            <a:ext cx="11501547" cy="9339"/>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13" name="正方形/長方形 12">
            <a:extLst>
              <a:ext uri="{FF2B5EF4-FFF2-40B4-BE49-F238E27FC236}">
                <a16:creationId xmlns:a16="http://schemas.microsoft.com/office/drawing/2014/main" id="{A3E83CE1-7F1E-72AD-0C84-24D7E4178EB3}"/>
              </a:ext>
            </a:extLst>
          </p:cNvPr>
          <p:cNvSpPr/>
          <p:nvPr/>
        </p:nvSpPr>
        <p:spPr>
          <a:xfrm>
            <a:off x="328709" y="1674950"/>
            <a:ext cx="565427" cy="123570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欧州型</a:t>
            </a:r>
          </a:p>
        </p:txBody>
      </p:sp>
      <p:sp>
        <p:nvSpPr>
          <p:cNvPr id="14" name="正方形/長方形 13">
            <a:extLst>
              <a:ext uri="{FF2B5EF4-FFF2-40B4-BE49-F238E27FC236}">
                <a16:creationId xmlns:a16="http://schemas.microsoft.com/office/drawing/2014/main" id="{CD81C04D-9850-8B5C-EC43-874CB03862A6}"/>
              </a:ext>
            </a:extLst>
          </p:cNvPr>
          <p:cNvSpPr/>
          <p:nvPr/>
        </p:nvSpPr>
        <p:spPr>
          <a:xfrm>
            <a:off x="328709" y="3114488"/>
            <a:ext cx="565427" cy="385038"/>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中国型</a:t>
            </a:r>
          </a:p>
        </p:txBody>
      </p:sp>
      <p:sp>
        <p:nvSpPr>
          <p:cNvPr id="15" name="テキスト ボックス 14">
            <a:extLst>
              <a:ext uri="{FF2B5EF4-FFF2-40B4-BE49-F238E27FC236}">
                <a16:creationId xmlns:a16="http://schemas.microsoft.com/office/drawing/2014/main" id="{816A781C-954E-C29D-8599-C0E9CF457566}"/>
              </a:ext>
            </a:extLst>
          </p:cNvPr>
          <p:cNvSpPr txBox="1"/>
          <p:nvPr/>
        </p:nvSpPr>
        <p:spPr>
          <a:xfrm>
            <a:off x="1433457" y="2381310"/>
            <a:ext cx="2358458" cy="184666"/>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 → 他地域</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0052BE44-CE63-E6D9-A147-F781D9A80386}"/>
              </a:ext>
            </a:extLst>
          </p:cNvPr>
          <p:cNvSpPr txBox="1"/>
          <p:nvPr/>
        </p:nvSpPr>
        <p:spPr>
          <a:xfrm>
            <a:off x="1433457" y="2720293"/>
            <a:ext cx="2358458" cy="184666"/>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 → 米国</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C32D8CCC-B4C1-E26B-4A36-B90957ED7A45}"/>
              </a:ext>
            </a:extLst>
          </p:cNvPr>
          <p:cNvSpPr txBox="1"/>
          <p:nvPr/>
        </p:nvSpPr>
        <p:spPr>
          <a:xfrm>
            <a:off x="4121832" y="2720293"/>
            <a:ext cx="2358458" cy="184666"/>
          </a:xfrm>
          <a:prstGeom prst="rect">
            <a:avLst/>
          </a:prstGeom>
          <a:noFill/>
        </p:spPr>
        <p:txBody>
          <a:bodyPr wrap="squar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t>
            </a:r>
          </a:p>
        </p:txBody>
      </p:sp>
      <p:sp>
        <p:nvSpPr>
          <p:cNvPr id="18" name="テキスト ボックス 17">
            <a:extLst>
              <a:ext uri="{FF2B5EF4-FFF2-40B4-BE49-F238E27FC236}">
                <a16:creationId xmlns:a16="http://schemas.microsoft.com/office/drawing/2014/main" id="{32965BFE-3B60-D102-A8E6-63A07E9A624E}"/>
              </a:ext>
            </a:extLst>
          </p:cNvPr>
          <p:cNvSpPr txBox="1"/>
          <p:nvPr/>
        </p:nvSpPr>
        <p:spPr>
          <a:xfrm>
            <a:off x="6810206" y="1283999"/>
            <a:ext cx="615553" cy="184666"/>
          </a:xfrm>
          <a:prstGeom prst="rect">
            <a:avLst/>
          </a:prstGeom>
          <a:noFill/>
        </p:spPr>
        <p:txBody>
          <a:bodyPr wrap="none" lIns="0" tIns="0" rIns="0" bIns="0" rtlCol="0">
            <a:spAutoFit/>
          </a:bodyPr>
          <a:lstStyle/>
          <a:p>
            <a:r>
              <a:rPr lang="ja-JP" altLang="en-US" sz="1200" b="1" dirty="0">
                <a:latin typeface="BIZ UDPゴシック" panose="020B0400000000000000" pitchFamily="50" charset="-128"/>
                <a:ea typeface="BIZ UDPゴシック" panose="020B0400000000000000" pitchFamily="50" charset="-128"/>
              </a:rPr>
              <a:t>研究開発</a:t>
            </a:r>
            <a:endParaRPr lang="en-US" altLang="ja-JP" sz="1200" b="1" dirty="0">
              <a:latin typeface="BIZ UDPゴシック" panose="020B0400000000000000" pitchFamily="50" charset="-128"/>
              <a:ea typeface="BIZ UDPゴシック" panose="020B0400000000000000" pitchFamily="50" charset="-128"/>
            </a:endParaRPr>
          </a:p>
        </p:txBody>
      </p:sp>
      <p:sp>
        <p:nvSpPr>
          <p:cNvPr id="19" name="テキスト ボックス 18">
            <a:extLst>
              <a:ext uri="{FF2B5EF4-FFF2-40B4-BE49-F238E27FC236}">
                <a16:creationId xmlns:a16="http://schemas.microsoft.com/office/drawing/2014/main" id="{6C48192B-0797-9DD9-862B-8EE23050D68C}"/>
              </a:ext>
            </a:extLst>
          </p:cNvPr>
          <p:cNvSpPr txBox="1"/>
          <p:nvPr/>
        </p:nvSpPr>
        <p:spPr>
          <a:xfrm>
            <a:off x="9498580" y="1276305"/>
            <a:ext cx="615553" cy="184666"/>
          </a:xfrm>
          <a:prstGeom prst="rect">
            <a:avLst/>
          </a:prstGeom>
          <a:noFill/>
        </p:spPr>
        <p:txBody>
          <a:bodyPr wrap="none" lIns="0" tIns="0" rIns="0" bIns="0" rtlCol="0">
            <a:spAutoFit/>
          </a:bodyPr>
          <a:lstStyle/>
          <a:p>
            <a:r>
              <a:rPr lang="ja-JP" altLang="en-US" sz="1200" b="1" dirty="0">
                <a:latin typeface="BIZ UDPゴシック" panose="020B0400000000000000" pitchFamily="50" charset="-128"/>
                <a:ea typeface="BIZ UDPゴシック" panose="020B0400000000000000" pitchFamily="50" charset="-128"/>
              </a:rPr>
              <a:t>社内運営</a:t>
            </a:r>
            <a:endParaRPr lang="en-US" altLang="ja-JP" sz="1200" b="1" dirty="0">
              <a:latin typeface="BIZ UDPゴシック" panose="020B0400000000000000" pitchFamily="50" charset="-128"/>
              <a:ea typeface="BIZ UDPゴシック" panose="020B0400000000000000" pitchFamily="50" charset="-128"/>
            </a:endParaRPr>
          </a:p>
        </p:txBody>
      </p:sp>
      <p:cxnSp>
        <p:nvCxnSpPr>
          <p:cNvPr id="20" name="直線コネクタ 19">
            <a:extLst>
              <a:ext uri="{FF2B5EF4-FFF2-40B4-BE49-F238E27FC236}">
                <a16:creationId xmlns:a16="http://schemas.microsoft.com/office/drawing/2014/main" id="{A57CB53C-B2CF-47F0-F9B2-F2B64E5E30C4}"/>
              </a:ext>
            </a:extLst>
          </p:cNvPr>
          <p:cNvCxnSpPr>
            <a:cxnSpLocks/>
          </p:cNvCxnSpPr>
          <p:nvPr/>
        </p:nvCxnSpPr>
        <p:spPr>
          <a:xfrm>
            <a:off x="1433457" y="2258966"/>
            <a:ext cx="10396798" cy="2462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C588DC9-6824-7366-86FB-D52E8F551CB2}"/>
              </a:ext>
            </a:extLst>
          </p:cNvPr>
          <p:cNvCxnSpPr>
            <a:cxnSpLocks/>
          </p:cNvCxnSpPr>
          <p:nvPr/>
        </p:nvCxnSpPr>
        <p:spPr>
          <a:xfrm>
            <a:off x="1433457" y="2649811"/>
            <a:ext cx="10396798" cy="24620"/>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2" name="直線コネクタ 21">
            <a:extLst>
              <a:ext uri="{FF2B5EF4-FFF2-40B4-BE49-F238E27FC236}">
                <a16:creationId xmlns:a16="http://schemas.microsoft.com/office/drawing/2014/main" id="{FF37CD46-0749-D4AF-0506-5165487EC7D9}"/>
              </a:ext>
            </a:extLst>
          </p:cNvPr>
          <p:cNvCxnSpPr>
            <a:cxnSpLocks/>
          </p:cNvCxnSpPr>
          <p:nvPr/>
        </p:nvCxnSpPr>
        <p:spPr>
          <a:xfrm flipV="1">
            <a:off x="328708" y="3639712"/>
            <a:ext cx="11501547" cy="18344"/>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466DDEF5-D9A5-5039-3231-4FC93F0BE6AB}"/>
              </a:ext>
            </a:extLst>
          </p:cNvPr>
          <p:cNvSpPr txBox="1"/>
          <p:nvPr/>
        </p:nvSpPr>
        <p:spPr>
          <a:xfrm>
            <a:off x="1433457" y="3846483"/>
            <a:ext cx="2358458" cy="369332"/>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a:p>
            <a:r>
              <a:rPr lang="ja-JP" altLang="en-US" sz="1200" dirty="0">
                <a:solidFill>
                  <a:schemeClr val="accent3"/>
                </a:solidFill>
                <a:latin typeface="BIZ UDPゴシック" panose="020B0400000000000000" pitchFamily="50" charset="-128"/>
                <a:ea typeface="BIZ UDPゴシック" panose="020B0400000000000000" pitchFamily="50" charset="-128"/>
              </a:rPr>
              <a:t>    充分制認定取得地域</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24" name="テキスト ボックス 23">
            <a:extLst>
              <a:ext uri="{FF2B5EF4-FFF2-40B4-BE49-F238E27FC236}">
                <a16:creationId xmlns:a16="http://schemas.microsoft.com/office/drawing/2014/main" id="{9F6E7BAC-F57E-E6D4-0240-0FF1F70D945D}"/>
              </a:ext>
            </a:extLst>
          </p:cNvPr>
          <p:cNvSpPr txBox="1"/>
          <p:nvPr/>
        </p:nvSpPr>
        <p:spPr>
          <a:xfrm>
            <a:off x="4121832" y="3846483"/>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cxnSp>
        <p:nvCxnSpPr>
          <p:cNvPr id="25" name="直線コネクタ 24">
            <a:extLst>
              <a:ext uri="{FF2B5EF4-FFF2-40B4-BE49-F238E27FC236}">
                <a16:creationId xmlns:a16="http://schemas.microsoft.com/office/drawing/2014/main" id="{3A4FBA2C-7519-E825-514D-ADD73C4A6D96}"/>
              </a:ext>
            </a:extLst>
          </p:cNvPr>
          <p:cNvCxnSpPr>
            <a:cxnSpLocks/>
          </p:cNvCxnSpPr>
          <p:nvPr/>
        </p:nvCxnSpPr>
        <p:spPr>
          <a:xfrm>
            <a:off x="1433457" y="4430499"/>
            <a:ext cx="10317102" cy="24431"/>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26" name="正方形/長方形 25">
            <a:extLst>
              <a:ext uri="{FF2B5EF4-FFF2-40B4-BE49-F238E27FC236}">
                <a16:creationId xmlns:a16="http://schemas.microsoft.com/office/drawing/2014/main" id="{42B76963-82C0-9676-5CE3-813856F78AFE}"/>
              </a:ext>
            </a:extLst>
          </p:cNvPr>
          <p:cNvSpPr/>
          <p:nvPr/>
        </p:nvSpPr>
        <p:spPr>
          <a:xfrm>
            <a:off x="328709" y="3846483"/>
            <a:ext cx="565427" cy="933299"/>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米国型</a:t>
            </a:r>
          </a:p>
        </p:txBody>
      </p:sp>
      <p:sp>
        <p:nvSpPr>
          <p:cNvPr id="27" name="テキスト ボックス 26">
            <a:extLst>
              <a:ext uri="{FF2B5EF4-FFF2-40B4-BE49-F238E27FC236}">
                <a16:creationId xmlns:a16="http://schemas.microsoft.com/office/drawing/2014/main" id="{B896B9F8-AA29-B16D-DB3D-81FC7D9D04E0}"/>
              </a:ext>
            </a:extLst>
          </p:cNvPr>
          <p:cNvSpPr txBox="1"/>
          <p:nvPr/>
        </p:nvSpPr>
        <p:spPr>
          <a:xfrm>
            <a:off x="4121832" y="4596094"/>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32A987FA-E51B-ADF8-E119-7B9285116005}"/>
              </a:ext>
            </a:extLst>
          </p:cNvPr>
          <p:cNvSpPr txBox="1"/>
          <p:nvPr/>
        </p:nvSpPr>
        <p:spPr>
          <a:xfrm>
            <a:off x="1433457" y="4595116"/>
            <a:ext cx="2358458" cy="184666"/>
          </a:xfrm>
          <a:prstGeom prst="rect">
            <a:avLst/>
          </a:prstGeom>
          <a:noFill/>
        </p:spPr>
        <p:txBody>
          <a:bodyPr wrap="square" lIns="0" tIns="0" rIns="0" bIns="0" rtlCol="0">
            <a:spAutoFit/>
          </a:bodyPr>
          <a:lstStyle/>
          <a:p>
            <a:pPr marL="228600" indent="-228600">
              <a:buFont typeface="+mj-ea"/>
              <a:buAutoNum type="circleNumDbPlain"/>
            </a:pPr>
            <a:r>
              <a:rPr lang="ja-JP" altLang="en-US" sz="1200" dirty="0">
                <a:solidFill>
                  <a:schemeClr val="accent3"/>
                </a:solidFill>
                <a:latin typeface="BIZ UDPゴシック" panose="020B0400000000000000" pitchFamily="50" charset="-128"/>
                <a:ea typeface="BIZ UDPゴシック" panose="020B0400000000000000" pitchFamily="50" charset="-128"/>
              </a:rPr>
              <a:t>欧州 → 他地域</a:t>
            </a:r>
            <a:endParaRPr lang="en-US" altLang="ja-JP" sz="1200" dirty="0">
              <a:solidFill>
                <a:schemeClr val="accent3"/>
              </a:solidFill>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B724F168-286C-3B46-4F83-9064A30ACD5E}"/>
              </a:ext>
            </a:extLst>
          </p:cNvPr>
          <p:cNvSpPr txBox="1"/>
          <p:nvPr/>
        </p:nvSpPr>
        <p:spPr>
          <a:xfrm>
            <a:off x="6810206" y="1674950"/>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制約会社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機器メーカー</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自動車部品メーカー</a:t>
            </a:r>
            <a:endParaRPr lang="en-US" altLang="ja-JP" sz="1200" dirty="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A123F174-1152-5396-8F0B-A2E2A6005FFB}"/>
              </a:ext>
            </a:extLst>
          </p:cNvPr>
          <p:cNvSpPr txBox="1"/>
          <p:nvPr/>
        </p:nvSpPr>
        <p:spPr>
          <a:xfrm>
            <a:off x="6810206" y="23822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米国機器メーカー</a:t>
            </a:r>
            <a:endParaRPr lang="en-US" altLang="ja-JP" sz="1200" dirty="0">
              <a:latin typeface="BIZ UDPゴシック" panose="020B0400000000000000" pitchFamily="50" charset="-128"/>
              <a:ea typeface="BIZ UDPゴシック" panose="020B0400000000000000" pitchFamily="50" charset="-128"/>
            </a:endParaRPr>
          </a:p>
        </p:txBody>
      </p:sp>
      <p:sp>
        <p:nvSpPr>
          <p:cNvPr id="31" name="テキスト ボックス 30">
            <a:extLst>
              <a:ext uri="{FF2B5EF4-FFF2-40B4-BE49-F238E27FC236}">
                <a16:creationId xmlns:a16="http://schemas.microsoft.com/office/drawing/2014/main" id="{D6192AE5-06C6-B229-A522-80FCE4AEEC46}"/>
              </a:ext>
            </a:extLst>
          </p:cNvPr>
          <p:cNvSpPr txBox="1"/>
          <p:nvPr/>
        </p:nvSpPr>
        <p:spPr>
          <a:xfrm>
            <a:off x="6810206" y="2720293"/>
            <a:ext cx="2358458" cy="184666"/>
          </a:xfrm>
          <a:prstGeom prst="rect">
            <a:avLst/>
          </a:prstGeom>
          <a:noFill/>
        </p:spPr>
        <p:txBody>
          <a:bodyPr wrap="squar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t>
            </a:r>
          </a:p>
        </p:txBody>
      </p:sp>
      <p:sp>
        <p:nvSpPr>
          <p:cNvPr id="32" name="テキスト ボックス 31">
            <a:extLst>
              <a:ext uri="{FF2B5EF4-FFF2-40B4-BE49-F238E27FC236}">
                <a16:creationId xmlns:a16="http://schemas.microsoft.com/office/drawing/2014/main" id="{6875328D-1FC3-149F-922E-B8D3399FF844}"/>
              </a:ext>
            </a:extLst>
          </p:cNvPr>
          <p:cNvSpPr txBox="1"/>
          <p:nvPr/>
        </p:nvSpPr>
        <p:spPr>
          <a:xfrm>
            <a:off x="6810206" y="3846483"/>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3" name="テキスト ボックス 32">
            <a:extLst>
              <a:ext uri="{FF2B5EF4-FFF2-40B4-BE49-F238E27FC236}">
                <a16:creationId xmlns:a16="http://schemas.microsoft.com/office/drawing/2014/main" id="{DA3B83B9-AEAF-745F-7B0B-646B3BA84DCC}"/>
              </a:ext>
            </a:extLst>
          </p:cNvPr>
          <p:cNvSpPr txBox="1"/>
          <p:nvPr/>
        </p:nvSpPr>
        <p:spPr>
          <a:xfrm>
            <a:off x="6810206" y="4596094"/>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DC2FFA2C-C842-D59E-341C-F93521DB422A}"/>
              </a:ext>
            </a:extLst>
          </p:cNvPr>
          <p:cNvSpPr txBox="1"/>
          <p:nvPr/>
        </p:nvSpPr>
        <p:spPr>
          <a:xfrm>
            <a:off x="9498580" y="1674950"/>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F1B9F28D-BF92-4F74-80CF-C1DB4AA854D1}"/>
              </a:ext>
            </a:extLst>
          </p:cNvPr>
          <p:cNvSpPr txBox="1"/>
          <p:nvPr/>
        </p:nvSpPr>
        <p:spPr>
          <a:xfrm>
            <a:off x="9498580" y="23822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B88BA833-ECB2-3B7D-4FE8-D412ED034E98}"/>
              </a:ext>
            </a:extLst>
          </p:cNvPr>
          <p:cNvSpPr txBox="1"/>
          <p:nvPr/>
        </p:nvSpPr>
        <p:spPr>
          <a:xfrm>
            <a:off x="9498580" y="2720293"/>
            <a:ext cx="2358458" cy="184666"/>
          </a:xfrm>
          <a:prstGeom prst="rect">
            <a:avLst/>
          </a:prstGeom>
          <a:noFill/>
        </p:spPr>
        <p:txBody>
          <a:bodyPr wrap="square" lIns="0" tIns="0" rIns="0" bIns="0" rtlCol="0">
            <a:spAutoFit/>
          </a:bodyPr>
          <a:lstStyle/>
          <a:p>
            <a:r>
              <a:rPr lang="en-US" altLang="ja-JP" sz="1200" dirty="0">
                <a:latin typeface="BIZ UDPゴシック" panose="020B0400000000000000" pitchFamily="50" charset="-128"/>
                <a:ea typeface="BIZ UDPゴシック" panose="020B0400000000000000" pitchFamily="50" charset="-128"/>
              </a:rPr>
              <a:t>-</a:t>
            </a:r>
          </a:p>
        </p:txBody>
      </p:sp>
      <p:sp>
        <p:nvSpPr>
          <p:cNvPr id="37" name="テキスト ボックス 36">
            <a:extLst>
              <a:ext uri="{FF2B5EF4-FFF2-40B4-BE49-F238E27FC236}">
                <a16:creationId xmlns:a16="http://schemas.microsoft.com/office/drawing/2014/main" id="{5CED8D68-7CA6-9790-9A36-BD81EE2D8C76}"/>
              </a:ext>
            </a:extLst>
          </p:cNvPr>
          <p:cNvSpPr txBox="1"/>
          <p:nvPr/>
        </p:nvSpPr>
        <p:spPr>
          <a:xfrm>
            <a:off x="9498580" y="3846483"/>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39E0B8D5-F308-53D6-243F-0F6C01408497}"/>
              </a:ext>
            </a:extLst>
          </p:cNvPr>
          <p:cNvSpPr txBox="1"/>
          <p:nvPr/>
        </p:nvSpPr>
        <p:spPr>
          <a:xfrm>
            <a:off x="9498580" y="4596094"/>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39" name="テキスト ボックス 38">
            <a:extLst>
              <a:ext uri="{FF2B5EF4-FFF2-40B4-BE49-F238E27FC236}">
                <a16:creationId xmlns:a16="http://schemas.microsoft.com/office/drawing/2014/main" id="{65BE2BA3-9C4A-438B-A7D9-19E86796F50F}"/>
              </a:ext>
            </a:extLst>
          </p:cNvPr>
          <p:cNvSpPr txBox="1"/>
          <p:nvPr/>
        </p:nvSpPr>
        <p:spPr>
          <a:xfrm>
            <a:off x="4121832" y="31144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33D04C62-06EF-E84D-3D89-FF2083AEB1EA}"/>
              </a:ext>
            </a:extLst>
          </p:cNvPr>
          <p:cNvSpPr txBox="1"/>
          <p:nvPr/>
        </p:nvSpPr>
        <p:spPr>
          <a:xfrm>
            <a:off x="6810206" y="31144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米国機器メーカー</a:t>
            </a:r>
            <a:endParaRPr lang="en-US" altLang="ja-JP" sz="1200" dirty="0">
              <a:latin typeface="BIZ UDPゴシック" panose="020B0400000000000000" pitchFamily="50" charset="-128"/>
              <a:ea typeface="BIZ UDPゴシック" panose="020B0400000000000000" pitchFamily="50" charset="-128"/>
            </a:endParaRPr>
          </a:p>
        </p:txBody>
      </p:sp>
      <p:sp>
        <p:nvSpPr>
          <p:cNvPr id="41" name="テキスト ボックス 40">
            <a:extLst>
              <a:ext uri="{FF2B5EF4-FFF2-40B4-BE49-F238E27FC236}">
                <a16:creationId xmlns:a16="http://schemas.microsoft.com/office/drawing/2014/main" id="{7441D505-281C-F214-F7F0-36B647E9DDF3}"/>
              </a:ext>
            </a:extLst>
          </p:cNvPr>
          <p:cNvSpPr txBox="1"/>
          <p:nvPr/>
        </p:nvSpPr>
        <p:spPr>
          <a:xfrm>
            <a:off x="9498580" y="3114488"/>
            <a:ext cx="2358458" cy="184666"/>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cxnSp>
        <p:nvCxnSpPr>
          <p:cNvPr id="42" name="直線コネクタ 41">
            <a:extLst>
              <a:ext uri="{FF2B5EF4-FFF2-40B4-BE49-F238E27FC236}">
                <a16:creationId xmlns:a16="http://schemas.microsoft.com/office/drawing/2014/main" id="{24CDCEA6-EE32-8F03-210F-60BDDFA7B49F}"/>
              </a:ext>
            </a:extLst>
          </p:cNvPr>
          <p:cNvCxnSpPr>
            <a:cxnSpLocks/>
          </p:cNvCxnSpPr>
          <p:nvPr/>
        </p:nvCxnSpPr>
        <p:spPr>
          <a:xfrm flipV="1">
            <a:off x="328708" y="4928917"/>
            <a:ext cx="11501547" cy="18344"/>
          </a:xfrm>
          <a:prstGeom prst="line">
            <a:avLst/>
          </a:prstGeom>
          <a:ln>
            <a:solidFill>
              <a:schemeClr val="bg1">
                <a:lumMod val="75000"/>
              </a:schemeClr>
            </a:solidFill>
            <a:prstDash val="sysDash"/>
            <a:headEnd type="none" w="med" len="med"/>
            <a:tailEnd type="none" w="med" len="med"/>
          </a:ln>
        </p:spPr>
        <p:style>
          <a:lnRef idx="2">
            <a:schemeClr val="accent1"/>
          </a:lnRef>
          <a:fillRef idx="0">
            <a:schemeClr val="accent1"/>
          </a:fillRef>
          <a:effectRef idx="1">
            <a:schemeClr val="accent1"/>
          </a:effectRef>
          <a:fontRef idx="minor">
            <a:schemeClr val="tx1"/>
          </a:fontRef>
        </p:style>
      </p:cxnSp>
      <p:sp>
        <p:nvSpPr>
          <p:cNvPr id="43" name="テキスト ボックス 42">
            <a:extLst>
              <a:ext uri="{FF2B5EF4-FFF2-40B4-BE49-F238E27FC236}">
                <a16:creationId xmlns:a16="http://schemas.microsoft.com/office/drawing/2014/main" id="{63DCB16B-F989-FC7F-5AD6-CED32B47F4F6}"/>
              </a:ext>
            </a:extLst>
          </p:cNvPr>
          <p:cNvSpPr txBox="1"/>
          <p:nvPr/>
        </p:nvSpPr>
        <p:spPr>
          <a:xfrm>
            <a:off x="4121832" y="5135688"/>
            <a:ext cx="2358458" cy="369332"/>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ネットワーク機器メーカー</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クラウドベンダー</a:t>
            </a:r>
            <a:endParaRPr lang="en-US" altLang="ja-JP" sz="1200" dirty="0">
              <a:latin typeface="BIZ UDPゴシック" panose="020B0400000000000000" pitchFamily="50" charset="-128"/>
              <a:ea typeface="BIZ UDPゴシック" panose="020B0400000000000000" pitchFamily="50" charset="-128"/>
            </a:endParaRPr>
          </a:p>
        </p:txBody>
      </p:sp>
      <p:sp>
        <p:nvSpPr>
          <p:cNvPr id="44" name="正方形/長方形 43">
            <a:extLst>
              <a:ext uri="{FF2B5EF4-FFF2-40B4-BE49-F238E27FC236}">
                <a16:creationId xmlns:a16="http://schemas.microsoft.com/office/drawing/2014/main" id="{0ADA2256-840C-D54C-11A7-75ED966CFB5F}"/>
              </a:ext>
            </a:extLst>
          </p:cNvPr>
          <p:cNvSpPr/>
          <p:nvPr/>
        </p:nvSpPr>
        <p:spPr>
          <a:xfrm>
            <a:off x="328709" y="5135688"/>
            <a:ext cx="3295736" cy="671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r>
              <a:rPr lang="ja-JP" altLang="en-US" sz="1400" dirty="0">
                <a:solidFill>
                  <a:schemeClr val="tx1">
                    <a:lumMod val="75000"/>
                    <a:lumOff val="25000"/>
                  </a:schemeClr>
                </a:solidFill>
                <a:latin typeface="BIZ UDPゴシック" panose="020B0400000000000000" pitchFamily="50" charset="-128"/>
                <a:ea typeface="BIZ UDPゴシック" panose="020B0400000000000000" pitchFamily="50" charset="-128"/>
              </a:rPr>
              <a:t>グローバル統一基準で管理</a:t>
            </a:r>
          </a:p>
        </p:txBody>
      </p:sp>
      <p:sp>
        <p:nvSpPr>
          <p:cNvPr id="45" name="テキスト ボックス 44">
            <a:extLst>
              <a:ext uri="{FF2B5EF4-FFF2-40B4-BE49-F238E27FC236}">
                <a16:creationId xmlns:a16="http://schemas.microsoft.com/office/drawing/2014/main" id="{6AF712EC-329D-C967-093F-FAF2A9551A40}"/>
              </a:ext>
            </a:extLst>
          </p:cNvPr>
          <p:cNvSpPr txBox="1"/>
          <p:nvPr/>
        </p:nvSpPr>
        <p:spPr>
          <a:xfrm>
            <a:off x="6810206" y="5135688"/>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
        <p:nvSpPr>
          <p:cNvPr id="46" name="テキスト ボックス 45">
            <a:extLst>
              <a:ext uri="{FF2B5EF4-FFF2-40B4-BE49-F238E27FC236}">
                <a16:creationId xmlns:a16="http://schemas.microsoft.com/office/drawing/2014/main" id="{35003496-3D53-2364-C80E-0CE26CC25490}"/>
              </a:ext>
            </a:extLst>
          </p:cNvPr>
          <p:cNvSpPr txBox="1"/>
          <p:nvPr/>
        </p:nvSpPr>
        <p:spPr>
          <a:xfrm>
            <a:off x="9498580" y="5135688"/>
            <a:ext cx="2358458" cy="553998"/>
          </a:xfrm>
          <a:prstGeom prst="rect">
            <a:avLst/>
          </a:prstGeom>
          <a:noFill/>
        </p:spPr>
        <p:txBody>
          <a:bodyPr wrap="square" lIns="0" tIns="0" rIns="0" bIns="0" rtlCol="0">
            <a:spAutoFit/>
          </a:bodyPr>
          <a:lstStyle/>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インターネットサービス会社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鉄道会社</a:t>
            </a:r>
            <a:endParaRPr lang="en-US" altLang="ja-JP" sz="1200" dirty="0">
              <a:latin typeface="BIZ UDPゴシック" panose="020B0400000000000000" pitchFamily="50" charset="-128"/>
              <a:ea typeface="BIZ UDPゴシック" panose="020B0400000000000000" pitchFamily="50" charset="-128"/>
            </a:endParaRPr>
          </a:p>
          <a:p>
            <a:pPr marL="228600" indent="-228600">
              <a:buFont typeface="+mj-lt"/>
              <a:buAutoNum type="arabicPeriod"/>
            </a:pPr>
            <a:r>
              <a:rPr lang="ja-JP" altLang="en-US" sz="1200" dirty="0">
                <a:latin typeface="BIZ UDPゴシック" panose="020B0400000000000000" pitchFamily="50" charset="-128"/>
                <a:ea typeface="BIZ UDPゴシック" panose="020B0400000000000000" pitchFamily="50" charset="-128"/>
              </a:rPr>
              <a:t>アパレル会社</a:t>
            </a:r>
            <a:endParaRPr lang="en-US" altLang="ja-JP" sz="12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00284960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Arial-MeiryoUI">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85000"/>
          </a:schemeClr>
        </a:solidFill>
        <a:ln>
          <a:noFill/>
        </a:ln>
      </a:spPr>
      <a:bodyPr lIns="0" tIns="0" rIns="0" bIns="0" rtlCol="0" anchor="t" anchorCtr="0"/>
      <a:lstStyle>
        <a:defPPr algn="l">
          <a:defRPr kumimoji="1" sz="1400" dirty="0" smtClean="0">
            <a:solidFill>
              <a:schemeClr val="tx1"/>
            </a:solidFill>
            <a:latin typeface="BIZ UDPゴシック" panose="020B0400000000000000" pitchFamily="50" charset="-128"/>
            <a:ea typeface="BIZ UDPゴシック" panose="020B0400000000000000" pitchFamily="50" charset="-128"/>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2">
              <a:lumMod val="25000"/>
              <a:lumOff val="75000"/>
            </a:schemeClr>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square" lIns="0" tIns="0" rIns="0" bIns="0" rtlCol="0" anchor="t" anchorCtr="0">
        <a:noAutofit/>
      </a:bodyPr>
      <a:lstStyle>
        <a:defPPr marL="87312" algn="l">
          <a:defRPr kumimoji="1" sz="1400" dirty="0" smtClean="0">
            <a:latin typeface="BIZ UDPゴシック" panose="020B0400000000000000" pitchFamily="50" charset="-128"/>
            <a:ea typeface="BIZ UDPゴシック" panose="020B0400000000000000" pitchFamily="50" charset="-128"/>
          </a:defRPr>
        </a:defPPr>
      </a:lstStyle>
    </a:txDef>
  </a:objectDefaults>
  <a:extraClrSchemeLst/>
  <a:extLst>
    <a:ext uri="{05A4C25C-085E-4340-85A3-A5531E510DB2}">
      <thm15:themeFamily xmlns:thm15="http://schemas.microsoft.com/office/thememl/2012/main" name="Blank.potx" id="{86DCC9D2-09DE-453C-8BEB-C98B14784413}" vid="{83EF77FF-0E20-44FC-9349-9251D0082598}"/>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Blank</Template>
  <TotalTime>3</TotalTime>
  <Words>7024</Words>
  <Application>Microsoft Office PowerPoint</Application>
  <PresentationFormat>ワイド画面</PresentationFormat>
  <Paragraphs>1276</Paragraphs>
  <Slides>45</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45</vt:i4>
      </vt:variant>
    </vt:vector>
  </HeadingPairs>
  <TitlesOfParts>
    <vt:vector size="51" baseType="lpstr">
      <vt:lpstr>BIZ UDPゴシック</vt:lpstr>
      <vt:lpstr>メイリオ</vt:lpstr>
      <vt:lpstr>游ゴシック</vt:lpstr>
      <vt:lpstr>Arial</vt:lpstr>
      <vt:lpstr>Wingdings</vt:lpstr>
      <vt:lpstr>Office テーマ</vt:lpstr>
      <vt:lpstr>第回 打合せ名</vt:lpstr>
      <vt:lpstr>第回 打合せ名</vt:lpstr>
      <vt:lpstr>PowerPoint プレゼンテーション</vt:lpstr>
      <vt:lpstr>概要・目次・結論</vt:lpstr>
      <vt:lpstr>フレームワーク一覧</vt:lpstr>
      <vt:lpstr>サプライチェーン構造</vt:lpstr>
      <vt:lpstr>フレームワーク一覧</vt:lpstr>
      <vt:lpstr>フレームワーク一覧</vt:lpstr>
      <vt:lpstr>カスタマージャーニーの作成方法</vt:lpstr>
      <vt:lpstr>新たなライフスタイルを構築した社会イメージ実現に向けた検討ステップ</vt:lpstr>
      <vt:lpstr>進め方の全体像</vt:lpstr>
      <vt:lpstr>IPO</vt:lpstr>
      <vt:lpstr>一覧</vt:lpstr>
      <vt:lpstr>心理的安全性を作るリーダーの具体的行動</vt:lpstr>
      <vt:lpstr>経歴紹介</vt:lpstr>
      <vt:lpstr>背景目的</vt:lpstr>
      <vt:lpstr>背景/目的</vt:lpstr>
      <vt:lpstr>本事業の背景/目的 と 基本方針</vt:lpstr>
      <vt:lpstr>背景・プロジェクト目的</vt:lpstr>
      <vt:lpstr>全体像</vt:lpstr>
      <vt:lpstr>本事業における調査・検討内容の全体像</vt:lpstr>
      <vt:lpstr>プロマネ</vt:lpstr>
      <vt:lpstr>プロジェクト憲章</vt:lpstr>
      <vt:lpstr>体制</vt:lpstr>
      <vt:lpstr>コミュニケーションルール</vt:lpstr>
      <vt:lpstr>責任分担表</vt:lpstr>
      <vt:lpstr>RACIチャート</vt:lpstr>
      <vt:lpstr>課題ログ</vt:lpstr>
      <vt:lpstr>成果物構造</vt:lpstr>
      <vt:lpstr>動機付け構造</vt:lpstr>
      <vt:lpstr>分析：詳細化</vt:lpstr>
      <vt:lpstr>昨年度までの課題と対応検討</vt:lpstr>
      <vt:lpstr>示唆</vt:lpstr>
      <vt:lpstr>洋上風力産業の集積事例</vt:lpstr>
      <vt:lpstr>各産業別に異なる投資阻害要因が存在</vt:lpstr>
      <vt:lpstr>オンライン化の機運醸成に向けた取り組み案</vt:lpstr>
      <vt:lpstr>CN対応のための組織/体制構築と人材育成</vt:lpstr>
      <vt:lpstr>集計</vt:lpstr>
      <vt:lpstr>各国企業における事業機会と連携の課題</vt:lpstr>
      <vt:lpstr>どのようなインセンティブを選択するか、どのような水準とするか、複数の指標によって評価</vt:lpstr>
      <vt:lpstr>提案</vt:lpstr>
      <vt:lpstr>規定類を変更する際に申請者から同意を得ないケースのご提案</vt:lpstr>
      <vt:lpstr>その他</vt:lpstr>
      <vt:lpstr>PowerPoint プレゼンテーション</vt:lpstr>
      <vt:lpstr>データ越境のヒアリング調査対象企業</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Kazu ENDO</dc:creator>
  <cp:lastModifiedBy>Kazu ENDO</cp:lastModifiedBy>
  <cp:revision>1</cp:revision>
  <dcterms:created xsi:type="dcterms:W3CDTF">2025-11-09T01:29:07Z</dcterms:created>
  <dcterms:modified xsi:type="dcterms:W3CDTF">2026-04-11T13:24:55Z</dcterms:modified>
</cp:coreProperties>
</file>